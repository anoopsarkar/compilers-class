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4" r:id="rId1"/>
  </p:sldMasterIdLst>
  <p:notesMasterIdLst>
    <p:notesMasterId r:id="rId23"/>
  </p:notesMasterIdLst>
  <p:handoutMasterIdLst>
    <p:handoutMasterId r:id="rId24"/>
  </p:handoutMasterIdLst>
  <p:sldIdLst>
    <p:sldId id="336" r:id="rId2"/>
    <p:sldId id="328" r:id="rId3"/>
    <p:sldId id="274" r:id="rId4"/>
    <p:sldId id="275" r:id="rId5"/>
    <p:sldId id="296" r:id="rId6"/>
    <p:sldId id="333" r:id="rId7"/>
    <p:sldId id="334" r:id="rId8"/>
    <p:sldId id="335" r:id="rId9"/>
    <p:sldId id="338" r:id="rId10"/>
    <p:sldId id="283" r:id="rId11"/>
    <p:sldId id="276" r:id="rId12"/>
    <p:sldId id="297" r:id="rId13"/>
    <p:sldId id="329" r:id="rId14"/>
    <p:sldId id="330" r:id="rId15"/>
    <p:sldId id="331" r:id="rId16"/>
    <p:sldId id="332" r:id="rId17"/>
    <p:sldId id="342" r:id="rId18"/>
    <p:sldId id="282" r:id="rId19"/>
    <p:sldId id="339" r:id="rId20"/>
    <p:sldId id="340" r:id="rId21"/>
    <p:sldId id="341" r:id="rId22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/>
  <p:clrMru>
    <a:srgbClr val="008080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24" autoAdjust="0"/>
    <p:restoredTop sz="91020"/>
  </p:normalViewPr>
  <p:slideViewPr>
    <p:cSldViewPr>
      <p:cViewPr varScale="1">
        <p:scale>
          <a:sx n="149" d="100"/>
          <a:sy n="149" d="100"/>
        </p:scale>
        <p:origin x="504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464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464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1A65EC3-97E0-8C42-8462-B73B7D059010}" type="slidenum">
              <a:rPr lang="en-US">
                <a:latin typeface="Calibri" panose="020F0502020204030204" pitchFamily="34" charset="0"/>
              </a:rPr>
              <a:pPr/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7109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72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97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fld id="{0145A6CB-08E3-524B-8C9B-64D562E3780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9546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ＭＳ Ｐゴシック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ＭＳ Ｐゴシック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ＭＳ Ｐゴシック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94" name="Shape 19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965804-6383-4C46-A360-7729EB0C25DE}" type="slidenum">
              <a:rPr lang="en-US"/>
              <a:pPr/>
              <a:t>2</a:t>
            </a:fld>
            <a:endParaRPr lang="en-US"/>
          </a:p>
        </p:txBody>
      </p:sp>
      <p:sp>
        <p:nvSpPr>
          <p:cNvPr id="18944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398AE2-AC9E-3C4C-9D31-DE6709593479}" type="slidenum">
              <a:rPr lang="en-US"/>
              <a:pPr/>
              <a:t>3</a:t>
            </a:fld>
            <a:endParaRPr lang="en-US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F4E2AA-209D-914A-AA14-E8A1CA15624F}" type="slidenum">
              <a:rPr lang="en-US"/>
              <a:pPr/>
              <a:t>4</a:t>
            </a:fld>
            <a:endParaRPr lang="en-US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DBCF34-22C1-CA47-B25B-EF8B1BAC838B}" type="slidenum">
              <a:rPr lang="en-US"/>
              <a:pPr/>
              <a:t>5</a:t>
            </a:fld>
            <a:endParaRPr lang="en-US"/>
          </a:p>
        </p:txBody>
      </p:sp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DBCF34-22C1-CA47-B25B-EF8B1BAC838B}" type="slidenum">
              <a:rPr lang="en-US"/>
              <a:pPr/>
              <a:t>9</a:t>
            </a:fld>
            <a:endParaRPr lang="en-US"/>
          </a:p>
        </p:txBody>
      </p:sp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76793D-F3F2-9C41-AFC3-173DDA81DB9B}" type="slidenum">
              <a:rPr lang="en-US"/>
              <a:pPr/>
              <a:t>10</a:t>
            </a:fld>
            <a:endParaRPr lang="en-US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BBA4C8-934C-E044-B337-5D91AD55E855}" type="slidenum">
              <a:rPr lang="en-US"/>
              <a:pPr/>
              <a:t>11</a:t>
            </a:fld>
            <a:endParaRPr lang="en-US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CC6463-6402-9444-9D24-C1AA7A3F904B}" type="slidenum">
              <a:rPr lang="en-US"/>
              <a:pPr/>
              <a:t>12</a:t>
            </a:fld>
            <a:endParaRPr lang="en-US"/>
          </a:p>
        </p:txBody>
      </p:sp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45A6CB-08E3-524B-8C9B-64D562E3780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5734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EF7010-A84E-704E-888E-925FF3BC72A8}" type="slidenum">
              <a:rPr lang="en-US"/>
              <a:pPr/>
              <a:t>18</a:t>
            </a:fld>
            <a:endParaRPr lang="en-US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76793D-F3F2-9C41-AFC3-173DDA81DB9B}" type="slidenum">
              <a:rPr lang="en-US"/>
              <a:pPr/>
              <a:t>19</a:t>
            </a:fld>
            <a:endParaRPr lang="en-US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0CE162-726B-C849-BD5F-2C7393811307}" type="slidenum">
              <a:rPr lang="en-US"/>
              <a:pPr/>
              <a:t>20</a:t>
            </a:fld>
            <a:endParaRPr lang="en-US"/>
          </a:p>
        </p:txBody>
      </p:sp>
      <p:sp>
        <p:nvSpPr>
          <p:cNvPr id="14541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76793D-F3F2-9C41-AFC3-173DDA81DB9B}" type="slidenum">
              <a:rPr lang="en-US"/>
              <a:pPr/>
              <a:t>21</a:t>
            </a:fld>
            <a:endParaRPr lang="en-US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190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806C3-0D37-1E4B-AB06-F67F2304B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74DE2-44F0-154B-9FE6-BCB6D1E86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E33B0-B879-9D40-9953-106C0922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DC762-1116-2146-A47C-D79A5A5DBAFD}" type="datetime1">
              <a:rPr lang="en-CA" smtClean="0"/>
              <a:t>2025-06-09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1F4B7-24D8-504D-91CD-3E8202E86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91076-2E3A-CF41-96E4-D4E77A0C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314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10978-DDE8-6144-A6B8-517FFF2E3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37744-5627-D646-9036-52ED7E568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0F3F8-FC0C-1B43-BB73-11800B42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9525-9B7D-5945-A782-775278635E42}" type="datetime1">
              <a:rPr lang="en-CA" smtClean="0"/>
              <a:t>2025-06-09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0E874-E612-CA46-B18E-0C8FA220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7269F-A49C-1948-BC2E-ABADCE191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270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0754-0214-DF47-9D67-A716F6494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34BCA-78F6-F745-9EBE-EE525CDE7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707FE-6251-4E4B-BDFF-5C0B1706B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E1499-BDD1-6940-8C79-13A8B8E63D57}" type="datetime1">
              <a:rPr lang="en-CA" smtClean="0"/>
              <a:t>2025-06-09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AF015-083F-9840-9A9E-9E31B7D7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0E270-7D4E-DB45-B70B-D033519B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22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48785-840A-474A-B8BA-27207C013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C8B25-A9AD-F143-AD1A-17A95F44E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209DA-22E0-B146-A689-48B1E9D38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82A87-E151-8641-8C5C-327C5209D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70EF3-18A7-4644-8DA2-1EB9CA66C736}" type="datetime1">
              <a:rPr lang="en-CA" smtClean="0"/>
              <a:t>2025-06-09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32E4D-CFE1-864C-892F-C0510CC3C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37C13-4A25-3440-9E41-0DB77345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781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B1DBC-EEEB-1C44-A4C7-02D9BB9CB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D77D7-D2B1-0841-9C20-538058B42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D616F-C61F-5B43-8094-DFDD05AE6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AF8CD-147D-0A4A-BE13-69AAC57DB7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EBD089-7443-DF4A-B93B-FC32F414CA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C8830C-AD3A-A446-BF5B-7A77BA98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8FC1-2481-FB4A-91E5-87F3422DE2D5}" type="datetime1">
              <a:rPr lang="en-CA" smtClean="0"/>
              <a:t>2025-06-09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AAD4C6-8A32-E04D-85DA-37391648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50648-37B9-F641-A809-40BEBE4CD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534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2026B-B6A3-EF4D-842B-9C96C95E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243C6-3123-ED41-BC4A-2F8A58F1A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5C515-1622-C840-89B2-A4A55D34866A}" type="datetime1">
              <a:rPr lang="en-CA" smtClean="0"/>
              <a:t>2025-06-09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8FF4D9-A959-C943-9751-31FDE7548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8D117-E466-BD48-A108-6422DCF14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944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1BBCE3-E514-D54F-B044-7DF10F00B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7E75-6C88-BB47-AC6F-0DCA859E7113}" type="datetime1">
              <a:rPr lang="en-CA" smtClean="0"/>
              <a:t>2025-06-09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219DF5-0E3C-2C40-BDE6-94E98A9F3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5E4FB-2E36-024F-9776-AFED77F0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249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621DF-5A92-D94F-88C5-5DB1A9683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DA461-75EB-C94E-A41A-1280134B9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D39AE-0AA2-2B40-B6F4-B24A10D9A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93C8F-B5C1-0D4A-8556-73269A2E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2F8B-7E05-A047-BAC3-EE71BEBBE5BE}" type="datetime1">
              <a:rPr lang="en-CA" smtClean="0"/>
              <a:t>2025-06-09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A6773-21F3-7040-BF77-4C1D0B809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52BF5-D92E-A14D-B1B8-704532D27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821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B85D-520A-BD48-A297-F7A9EDDB9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2093CD-6667-AD4E-93F7-F3B21EF98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CED6C-F32A-6A44-B857-EBD308B3E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4EDF9-2E61-C346-AEC1-C5515D51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9F72A-E93E-B546-8268-6408A6E1DA62}" type="datetime1">
              <a:rPr lang="en-CA" smtClean="0"/>
              <a:t>2025-06-09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F289B-5706-A047-960A-6FDB1750F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12078-4758-934E-BFE9-86E98A44E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805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4CE0D-89FC-894E-837F-75025627F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0ACAA-2C0A-304E-83F1-4EB51F17E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2CE1A-ECCD-7C45-9EC1-935CBB99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FEDD1-5A1B-2342-BAF0-F7C5511A73CE}" type="datetime1">
              <a:rPr lang="en-CA" smtClean="0"/>
              <a:t>2025-06-09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B26C1-B795-194B-A2F7-B95309E54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43C09-DCC3-4E4C-AE13-B0962DDB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222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84669-9A93-654D-9A2F-8081C87784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B22E1-C8CF-4B47-B5A2-1EE8384A2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452BC-8E3F-AD42-BB94-46241CB0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E59AE-0AE1-4048-8BD6-D39FC0EBB194}" type="datetime1">
              <a:rPr lang="en-CA" smtClean="0"/>
              <a:t>2025-06-09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2FCD2-719C-FC4A-8ADE-C7C90A064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1E3A0-1E32-BB4E-B406-C1247893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041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725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2700"/>
            </a:lvl1pPr>
            <a:lvl2pPr lvl="1" algn="ctr">
              <a:spcBef>
                <a:spcPts val="0"/>
              </a:spcBef>
              <a:buSzPct val="100000"/>
              <a:defRPr sz="2700"/>
            </a:lvl2pPr>
            <a:lvl3pPr lvl="2" algn="ctr">
              <a:spcBef>
                <a:spcPts val="0"/>
              </a:spcBef>
              <a:buSzPct val="100000"/>
              <a:defRPr sz="2700"/>
            </a:lvl3pPr>
            <a:lvl4pPr lvl="3" algn="ctr">
              <a:spcBef>
                <a:spcPts val="0"/>
              </a:spcBef>
              <a:buSzPct val="100000"/>
              <a:defRPr sz="2700"/>
            </a:lvl4pPr>
            <a:lvl5pPr lvl="4" algn="ctr">
              <a:spcBef>
                <a:spcPts val="0"/>
              </a:spcBef>
              <a:buSzPct val="100000"/>
              <a:defRPr sz="2700"/>
            </a:lvl5pPr>
            <a:lvl6pPr lvl="5" algn="ctr">
              <a:spcBef>
                <a:spcPts val="0"/>
              </a:spcBef>
              <a:buSzPct val="100000"/>
              <a:defRPr sz="2700"/>
            </a:lvl6pPr>
            <a:lvl7pPr lvl="6" algn="ctr">
              <a:spcBef>
                <a:spcPts val="0"/>
              </a:spcBef>
              <a:buSzPct val="100000"/>
              <a:defRPr sz="2700"/>
            </a:lvl7pPr>
            <a:lvl8pPr lvl="7" algn="ctr">
              <a:spcBef>
                <a:spcPts val="0"/>
              </a:spcBef>
              <a:buSzPct val="100000"/>
              <a:defRPr sz="2700"/>
            </a:lvl8pPr>
            <a:lvl9pPr lvl="8" algn="ctr">
              <a:spcBef>
                <a:spcPts val="0"/>
              </a:spcBef>
              <a:buSzPct val="100000"/>
              <a:defRPr sz="2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4302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3429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6858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10287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13716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1"/>
          </p:nvPr>
        </p:nvSpPr>
        <p:spPr>
          <a:xfrm>
            <a:off x="685801" y="1485900"/>
            <a:ext cx="3809999" cy="3086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7175" marR="0" lvl="0" indent="-104775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57213" marR="0" lvl="1" indent="-80963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57250" marR="0" lvl="2" indent="-571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0150" marR="0" lvl="3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3050" marR="0" lvl="4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85950" marR="0" lvl="5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228850" marR="0" lvl="6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571750" marR="0" lvl="7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914650" marR="0" lvl="8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2"/>
          </p:nvPr>
        </p:nvSpPr>
        <p:spPr>
          <a:xfrm>
            <a:off x="4648201" y="1485900"/>
            <a:ext cx="3809999" cy="3086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7175" marR="0" lvl="0" indent="-104775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57213" marR="0" lvl="1" indent="-80963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57250" marR="0" lvl="2" indent="-571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0150" marR="0" lvl="3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3050" marR="0" lvl="4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85950" marR="0" lvl="5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228850" marR="0" lvl="6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571750" marR="0" lvl="7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914650" marR="0" lvl="8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dt" idx="10"/>
          </p:nvPr>
        </p:nvSpPr>
        <p:spPr>
          <a:xfrm>
            <a:off x="685801" y="4686300"/>
            <a:ext cx="1904999" cy="34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ft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ldNum" idx="12"/>
          </p:nvPr>
        </p:nvSpPr>
        <p:spPr>
          <a:xfrm>
            <a:off x="6553201" y="4686300"/>
            <a:ext cx="1904999" cy="342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en-US" sz="105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‹#›</a:t>
            </a:fld>
            <a:endParaRPr lang="en-US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2323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5FBF36-3AE9-6F4F-9D44-FDF1EDE69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33E42-24FB-9E4C-A197-FBE95A397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9F3E4-CCFD-A546-BD98-34B6A6B34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97DF4AC7-DB73-7444-A2A7-FD79FE1A2B2B}" type="datetime1">
              <a:rPr lang="en-CA" smtClean="0"/>
              <a:pPr/>
              <a:t>2025-06-09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AAA39-D2DE-7B4A-BB24-AAC6C28B6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1F2AD-686E-E445-9758-B74AC410C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7B252BF6-6A9C-D04A-BBE8-37A07D64A1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546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wrap="square" lIns="68569" tIns="34275" rIns="68569" bIns="34275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ct val="25000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Context-Free Grammars</a:t>
            </a:r>
          </a:p>
        </p:txBody>
      </p:sp>
      <p:sp>
        <p:nvSpPr>
          <p:cNvPr id="197" name="Shape 19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</a:pPr>
            <a:r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CMPT 379: Compilers</a:t>
            </a:r>
          </a:p>
          <a:p>
            <a:pPr>
              <a:spcBef>
                <a:spcPts val="480"/>
              </a:spcBef>
              <a:buClr>
                <a:srgbClr val="888888"/>
              </a:buClr>
              <a:buSzPct val="25000"/>
            </a:pPr>
            <a:r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Instructor: Anoop Sarkar</a:t>
            </a:r>
          </a:p>
          <a:p>
            <a:pPr>
              <a:spcBef>
                <a:spcPts val="480"/>
              </a:spcBef>
              <a:buClr>
                <a:srgbClr val="888888"/>
              </a:buClr>
              <a:buSzPct val="25000"/>
            </a:pPr>
            <a:r>
              <a:rPr lang="en-US"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anoopsarkar.github.io/compilers-class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631A1C-8733-2F46-969B-B912AB692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C67CD-6733-D04F-B9BE-AD105949F24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98" name="Shape 198"/>
          <p:cNvSpPr/>
          <p:nvPr/>
        </p:nvSpPr>
        <p:spPr>
          <a:xfrm>
            <a:off x="6149025" y="273525"/>
            <a:ext cx="2366325" cy="383175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 anchor="t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ct val="25000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CFG2: Ambiguity</a:t>
            </a:r>
          </a:p>
        </p:txBody>
      </p:sp>
    </p:spTree>
    <p:extLst>
      <p:ext uri="{BB962C8B-B14F-4D97-AF65-F5344CB8AC3E}">
        <p14:creationId xmlns:p14="http://schemas.microsoft.com/office/powerpoint/2010/main" val="1797156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Ambiguity </a:t>
            </a:r>
            <a:br>
              <a:rPr lang="en-US" dirty="0"/>
            </a:br>
            <a:endParaRPr lang="en-US" dirty="0"/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4305-8C68-CD41-9BC8-3C2C6F32F372}" type="slidenum">
              <a:rPr lang="en-US"/>
              <a:pPr/>
              <a:t>2</a:t>
            </a:fld>
            <a:endParaRPr lang="en-US"/>
          </a:p>
        </p:txBody>
      </p:sp>
      <p:grpSp>
        <p:nvGrpSpPr>
          <p:cNvPr id="188424" name="Group 8"/>
          <p:cNvGrpSpPr>
            <a:grpSpLocks/>
          </p:cNvGrpSpPr>
          <p:nvPr/>
        </p:nvGrpSpPr>
        <p:grpSpPr bwMode="auto">
          <a:xfrm>
            <a:off x="4996682" y="1943101"/>
            <a:ext cx="2414589" cy="2381250"/>
            <a:chOff x="2642" y="1670"/>
            <a:chExt cx="2028" cy="2000"/>
          </a:xfrm>
        </p:grpSpPr>
        <p:sp>
          <p:nvSpPr>
            <p:cNvPr id="188425" name="Text Box 9"/>
            <p:cNvSpPr txBox="1">
              <a:spLocks noChangeArrowheads="1"/>
            </p:cNvSpPr>
            <p:nvPr/>
          </p:nvSpPr>
          <p:spPr bwMode="auto">
            <a:xfrm>
              <a:off x="3836" y="1670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188426" name="Text Box 10"/>
            <p:cNvSpPr txBox="1">
              <a:spLocks noChangeArrowheads="1"/>
            </p:cNvSpPr>
            <p:nvPr/>
          </p:nvSpPr>
          <p:spPr bwMode="auto">
            <a:xfrm>
              <a:off x="4394" y="2304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188427" name="Text Box 11"/>
            <p:cNvSpPr txBox="1">
              <a:spLocks noChangeArrowheads="1"/>
            </p:cNvSpPr>
            <p:nvPr/>
          </p:nvSpPr>
          <p:spPr bwMode="auto">
            <a:xfrm>
              <a:off x="3102" y="2304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188428" name="Text Box 12"/>
            <p:cNvSpPr txBox="1">
              <a:spLocks noChangeArrowheads="1"/>
            </p:cNvSpPr>
            <p:nvPr/>
          </p:nvSpPr>
          <p:spPr bwMode="auto">
            <a:xfrm>
              <a:off x="3846" y="2304"/>
              <a:ext cx="23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/</a:t>
              </a:r>
            </a:p>
          </p:txBody>
        </p:sp>
        <p:sp>
          <p:nvSpPr>
            <p:cNvPr id="188429" name="Text Box 13"/>
            <p:cNvSpPr txBox="1">
              <a:spLocks noChangeArrowheads="1"/>
            </p:cNvSpPr>
            <p:nvPr/>
          </p:nvSpPr>
          <p:spPr bwMode="auto">
            <a:xfrm>
              <a:off x="2668" y="2832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188430" name="Text Box 14"/>
            <p:cNvSpPr txBox="1">
              <a:spLocks noChangeArrowheads="1"/>
            </p:cNvSpPr>
            <p:nvPr/>
          </p:nvSpPr>
          <p:spPr bwMode="auto">
            <a:xfrm>
              <a:off x="3674" y="2832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188431" name="Text Box 15"/>
            <p:cNvSpPr txBox="1">
              <a:spLocks noChangeArrowheads="1"/>
            </p:cNvSpPr>
            <p:nvPr/>
          </p:nvSpPr>
          <p:spPr bwMode="auto">
            <a:xfrm>
              <a:off x="3129" y="2880"/>
              <a:ext cx="22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-</a:t>
              </a:r>
            </a:p>
          </p:txBody>
        </p:sp>
        <p:sp>
          <p:nvSpPr>
            <p:cNvPr id="188432" name="Text Box 16"/>
            <p:cNvSpPr txBox="1">
              <a:spLocks noChangeArrowheads="1"/>
            </p:cNvSpPr>
            <p:nvPr/>
          </p:nvSpPr>
          <p:spPr bwMode="auto">
            <a:xfrm>
              <a:off x="4368" y="2832"/>
              <a:ext cx="30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188433" name="Text Box 17"/>
            <p:cNvSpPr txBox="1">
              <a:spLocks noChangeArrowheads="1"/>
            </p:cNvSpPr>
            <p:nvPr/>
          </p:nvSpPr>
          <p:spPr bwMode="auto">
            <a:xfrm>
              <a:off x="2642" y="3360"/>
              <a:ext cx="30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188434" name="Text Box 18"/>
            <p:cNvSpPr txBox="1">
              <a:spLocks noChangeArrowheads="1"/>
            </p:cNvSpPr>
            <p:nvPr/>
          </p:nvSpPr>
          <p:spPr bwMode="auto">
            <a:xfrm>
              <a:off x="3648" y="3360"/>
              <a:ext cx="30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cxnSp>
          <p:nvCxnSpPr>
            <p:cNvPr id="188435" name="AutoShape 19"/>
            <p:cNvCxnSpPr>
              <a:cxnSpLocks noChangeShapeType="1"/>
              <a:stCxn id="188425" idx="2"/>
              <a:endCxn id="188426" idx="0"/>
            </p:cNvCxnSpPr>
            <p:nvPr/>
          </p:nvCxnSpPr>
          <p:spPr bwMode="auto">
            <a:xfrm>
              <a:off x="3960" y="1980"/>
              <a:ext cx="558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8436" name="AutoShape 20"/>
            <p:cNvCxnSpPr>
              <a:cxnSpLocks noChangeShapeType="1"/>
              <a:stCxn id="188425" idx="2"/>
              <a:endCxn id="188428" idx="0"/>
            </p:cNvCxnSpPr>
            <p:nvPr/>
          </p:nvCxnSpPr>
          <p:spPr bwMode="auto">
            <a:xfrm>
              <a:off x="3960" y="1980"/>
              <a:ext cx="0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8437" name="AutoShape 21"/>
            <p:cNvCxnSpPr>
              <a:cxnSpLocks noChangeShapeType="1"/>
              <a:stCxn id="188425" idx="2"/>
              <a:endCxn id="188427" idx="0"/>
            </p:cNvCxnSpPr>
            <p:nvPr/>
          </p:nvCxnSpPr>
          <p:spPr bwMode="auto">
            <a:xfrm flipH="1">
              <a:off x="3227" y="1980"/>
              <a:ext cx="734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8438" name="AutoShape 22"/>
            <p:cNvCxnSpPr>
              <a:cxnSpLocks noChangeShapeType="1"/>
              <a:stCxn id="188426" idx="2"/>
              <a:endCxn id="188432" idx="0"/>
            </p:cNvCxnSpPr>
            <p:nvPr/>
          </p:nvCxnSpPr>
          <p:spPr bwMode="auto">
            <a:xfrm>
              <a:off x="4518" y="2614"/>
              <a:ext cx="1" cy="2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8439" name="AutoShape 23"/>
            <p:cNvCxnSpPr>
              <a:cxnSpLocks noChangeShapeType="1"/>
              <a:stCxn id="188427" idx="2"/>
              <a:endCxn id="188429" idx="0"/>
            </p:cNvCxnSpPr>
            <p:nvPr/>
          </p:nvCxnSpPr>
          <p:spPr bwMode="auto">
            <a:xfrm flipH="1">
              <a:off x="2792" y="2614"/>
              <a:ext cx="434" cy="2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8440" name="AutoShape 24"/>
            <p:cNvCxnSpPr>
              <a:cxnSpLocks noChangeShapeType="1"/>
              <a:stCxn id="188429" idx="2"/>
              <a:endCxn id="188433" idx="0"/>
            </p:cNvCxnSpPr>
            <p:nvPr/>
          </p:nvCxnSpPr>
          <p:spPr bwMode="auto">
            <a:xfrm>
              <a:off x="2792" y="3142"/>
              <a:ext cx="1" cy="2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8441" name="AutoShape 25"/>
            <p:cNvCxnSpPr>
              <a:cxnSpLocks noChangeShapeType="1"/>
              <a:stCxn id="188427" idx="2"/>
              <a:endCxn id="188431" idx="0"/>
            </p:cNvCxnSpPr>
            <p:nvPr/>
          </p:nvCxnSpPr>
          <p:spPr bwMode="auto">
            <a:xfrm>
              <a:off x="3227" y="2614"/>
              <a:ext cx="13" cy="2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8442" name="AutoShape 26"/>
            <p:cNvCxnSpPr>
              <a:cxnSpLocks noChangeShapeType="1"/>
              <a:stCxn id="188427" idx="2"/>
              <a:endCxn id="188430" idx="0"/>
            </p:cNvCxnSpPr>
            <p:nvPr/>
          </p:nvCxnSpPr>
          <p:spPr bwMode="auto">
            <a:xfrm>
              <a:off x="3227" y="2614"/>
              <a:ext cx="572" cy="2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8443" name="AutoShape 27"/>
            <p:cNvCxnSpPr>
              <a:cxnSpLocks noChangeShapeType="1"/>
              <a:stCxn id="188430" idx="2"/>
              <a:endCxn id="188434" idx="0"/>
            </p:cNvCxnSpPr>
            <p:nvPr/>
          </p:nvCxnSpPr>
          <p:spPr bwMode="auto">
            <a:xfrm>
              <a:off x="3799" y="3142"/>
              <a:ext cx="0" cy="2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2" name="Rectangle 1"/>
          <p:cNvSpPr/>
          <p:nvPr/>
        </p:nvSpPr>
        <p:spPr>
          <a:xfrm>
            <a:off x="4108187" y="1485097"/>
            <a:ext cx="13708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id - id / id</a:t>
            </a:r>
            <a:endParaRPr lang="en-CA" dirty="0">
              <a:latin typeface="Calibri" panose="020F0502020204030204" pitchFamily="34" charset="0"/>
            </a:endParaRPr>
          </a:p>
        </p:txBody>
      </p:sp>
      <p:grpSp>
        <p:nvGrpSpPr>
          <p:cNvPr id="29" name="Group 26"/>
          <p:cNvGrpSpPr>
            <a:grpSpLocks/>
          </p:cNvGrpSpPr>
          <p:nvPr/>
        </p:nvGrpSpPr>
        <p:grpSpPr bwMode="auto">
          <a:xfrm>
            <a:off x="2528127" y="1815667"/>
            <a:ext cx="2128839" cy="2552700"/>
            <a:chOff x="3314" y="1670"/>
            <a:chExt cx="1788" cy="2144"/>
          </a:xfrm>
        </p:grpSpPr>
        <p:sp>
          <p:nvSpPr>
            <p:cNvPr id="30" name="Text Box 7"/>
            <p:cNvSpPr txBox="1">
              <a:spLocks noChangeArrowheads="1"/>
            </p:cNvSpPr>
            <p:nvPr/>
          </p:nvSpPr>
          <p:spPr bwMode="auto">
            <a:xfrm>
              <a:off x="3830" y="1670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31" name="Text Box 8"/>
            <p:cNvSpPr txBox="1">
              <a:spLocks noChangeArrowheads="1"/>
            </p:cNvSpPr>
            <p:nvPr/>
          </p:nvSpPr>
          <p:spPr bwMode="auto">
            <a:xfrm>
              <a:off x="3340" y="2304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32" name="Text Box 9"/>
            <p:cNvSpPr txBox="1">
              <a:spLocks noChangeArrowheads="1"/>
            </p:cNvSpPr>
            <p:nvPr/>
          </p:nvSpPr>
          <p:spPr bwMode="auto">
            <a:xfrm>
              <a:off x="4327" y="2304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33" name="Text Box 10"/>
            <p:cNvSpPr txBox="1">
              <a:spLocks noChangeArrowheads="1"/>
            </p:cNvSpPr>
            <p:nvPr/>
          </p:nvSpPr>
          <p:spPr bwMode="auto">
            <a:xfrm>
              <a:off x="3844" y="2304"/>
              <a:ext cx="22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-</a:t>
              </a:r>
            </a:p>
          </p:txBody>
        </p:sp>
        <p:sp>
          <p:nvSpPr>
            <p:cNvPr id="34" name="Text Box 11"/>
            <p:cNvSpPr txBox="1">
              <a:spLocks noChangeArrowheads="1"/>
            </p:cNvSpPr>
            <p:nvPr/>
          </p:nvSpPr>
          <p:spPr bwMode="auto">
            <a:xfrm>
              <a:off x="3820" y="2976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35" name="Text Box 12"/>
            <p:cNvSpPr txBox="1">
              <a:spLocks noChangeArrowheads="1"/>
            </p:cNvSpPr>
            <p:nvPr/>
          </p:nvSpPr>
          <p:spPr bwMode="auto">
            <a:xfrm>
              <a:off x="4826" y="2976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36" name="Text Box 13"/>
            <p:cNvSpPr txBox="1">
              <a:spLocks noChangeArrowheads="1"/>
            </p:cNvSpPr>
            <p:nvPr/>
          </p:nvSpPr>
          <p:spPr bwMode="auto">
            <a:xfrm>
              <a:off x="4336" y="2976"/>
              <a:ext cx="23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/</a:t>
              </a:r>
            </a:p>
          </p:txBody>
        </p:sp>
        <p:sp>
          <p:nvSpPr>
            <p:cNvPr id="37" name="Text Box 14"/>
            <p:cNvSpPr txBox="1">
              <a:spLocks noChangeArrowheads="1"/>
            </p:cNvSpPr>
            <p:nvPr/>
          </p:nvSpPr>
          <p:spPr bwMode="auto">
            <a:xfrm>
              <a:off x="3314" y="2880"/>
              <a:ext cx="30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38" name="Text Box 15"/>
            <p:cNvSpPr txBox="1">
              <a:spLocks noChangeArrowheads="1"/>
            </p:cNvSpPr>
            <p:nvPr/>
          </p:nvSpPr>
          <p:spPr bwMode="auto">
            <a:xfrm>
              <a:off x="3794" y="3504"/>
              <a:ext cx="30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39" name="Text Box 16"/>
            <p:cNvSpPr txBox="1">
              <a:spLocks noChangeArrowheads="1"/>
            </p:cNvSpPr>
            <p:nvPr/>
          </p:nvSpPr>
          <p:spPr bwMode="auto">
            <a:xfrm>
              <a:off x="4800" y="3504"/>
              <a:ext cx="30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cxnSp>
          <p:nvCxnSpPr>
            <p:cNvPr id="40" name="AutoShape 17"/>
            <p:cNvCxnSpPr>
              <a:cxnSpLocks noChangeShapeType="1"/>
              <a:stCxn id="30" idx="2"/>
              <a:endCxn id="31" idx="0"/>
            </p:cNvCxnSpPr>
            <p:nvPr/>
          </p:nvCxnSpPr>
          <p:spPr bwMode="auto">
            <a:xfrm flipH="1">
              <a:off x="3464" y="1980"/>
              <a:ext cx="490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1" name="AutoShape 18"/>
            <p:cNvCxnSpPr>
              <a:cxnSpLocks noChangeShapeType="1"/>
              <a:stCxn id="30" idx="2"/>
              <a:endCxn id="33" idx="0"/>
            </p:cNvCxnSpPr>
            <p:nvPr/>
          </p:nvCxnSpPr>
          <p:spPr bwMode="auto">
            <a:xfrm flipH="1">
              <a:off x="3954" y="1980"/>
              <a:ext cx="0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2" name="AutoShape 19"/>
            <p:cNvCxnSpPr>
              <a:cxnSpLocks noChangeShapeType="1"/>
              <a:stCxn id="30" idx="2"/>
              <a:endCxn id="32" idx="0"/>
            </p:cNvCxnSpPr>
            <p:nvPr/>
          </p:nvCxnSpPr>
          <p:spPr bwMode="auto">
            <a:xfrm>
              <a:off x="3955" y="1980"/>
              <a:ext cx="497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3" name="AutoShape 20"/>
            <p:cNvCxnSpPr>
              <a:cxnSpLocks noChangeShapeType="1"/>
              <a:stCxn id="31" idx="2"/>
              <a:endCxn id="37" idx="0"/>
            </p:cNvCxnSpPr>
            <p:nvPr/>
          </p:nvCxnSpPr>
          <p:spPr bwMode="auto">
            <a:xfrm>
              <a:off x="3464" y="2614"/>
              <a:ext cx="1" cy="2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4" name="AutoShape 21"/>
            <p:cNvCxnSpPr>
              <a:cxnSpLocks noChangeShapeType="1"/>
              <a:stCxn id="32" idx="2"/>
              <a:endCxn id="34" idx="0"/>
            </p:cNvCxnSpPr>
            <p:nvPr/>
          </p:nvCxnSpPr>
          <p:spPr bwMode="auto">
            <a:xfrm flipH="1">
              <a:off x="3945" y="2614"/>
              <a:ext cx="507" cy="3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5" name="AutoShape 22"/>
            <p:cNvCxnSpPr>
              <a:cxnSpLocks noChangeShapeType="1"/>
              <a:stCxn id="34" idx="2"/>
              <a:endCxn id="38" idx="0"/>
            </p:cNvCxnSpPr>
            <p:nvPr/>
          </p:nvCxnSpPr>
          <p:spPr bwMode="auto">
            <a:xfrm>
              <a:off x="3945" y="3286"/>
              <a:ext cx="0" cy="2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6" name="AutoShape 23"/>
            <p:cNvCxnSpPr>
              <a:cxnSpLocks noChangeShapeType="1"/>
              <a:stCxn id="32" idx="2"/>
              <a:endCxn id="36" idx="0"/>
            </p:cNvCxnSpPr>
            <p:nvPr/>
          </p:nvCxnSpPr>
          <p:spPr bwMode="auto">
            <a:xfrm flipH="1">
              <a:off x="4451" y="2614"/>
              <a:ext cx="0" cy="3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7" name="AutoShape 24"/>
            <p:cNvCxnSpPr>
              <a:cxnSpLocks noChangeShapeType="1"/>
              <a:stCxn id="32" idx="2"/>
              <a:endCxn id="35" idx="0"/>
            </p:cNvCxnSpPr>
            <p:nvPr/>
          </p:nvCxnSpPr>
          <p:spPr bwMode="auto">
            <a:xfrm>
              <a:off x="4452" y="2614"/>
              <a:ext cx="499" cy="3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8" name="AutoShape 25"/>
            <p:cNvCxnSpPr>
              <a:cxnSpLocks noChangeShapeType="1"/>
              <a:stCxn id="35" idx="2"/>
              <a:endCxn id="39" idx="0"/>
            </p:cNvCxnSpPr>
            <p:nvPr/>
          </p:nvCxnSpPr>
          <p:spPr bwMode="auto">
            <a:xfrm>
              <a:off x="4950" y="3286"/>
              <a:ext cx="1" cy="2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49" name="Text Box 6"/>
          <p:cNvSpPr txBox="1">
            <a:spLocks noChangeArrowheads="1"/>
          </p:cNvSpPr>
          <p:nvPr/>
        </p:nvSpPr>
        <p:spPr bwMode="auto">
          <a:xfrm>
            <a:off x="1257300" y="1608535"/>
            <a:ext cx="1050288" cy="1366528"/>
          </a:xfrm>
          <a:prstGeom prst="rect">
            <a:avLst/>
          </a:prstGeom>
          <a:solidFill>
            <a:srgbClr val="00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</a:rPr>
              <a:t>E </a:t>
            </a:r>
            <a:r>
              <a:rPr lang="en-US" sz="1800" dirty="0">
                <a:latin typeface="Calibri" panose="020F0502020204030204" pitchFamily="34" charset="0"/>
                <a:sym typeface="Symbol" charset="2"/>
              </a:rPr>
              <a:t> E - E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E  E / E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E  ( E )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E  id</a:t>
            </a:r>
            <a:r>
              <a:rPr lang="en-US" sz="1800" dirty="0">
                <a:latin typeface="Calibri" panose="020F0502020204030204" pitchFamily="34" charset="0"/>
              </a:rPr>
              <a:t> </a:t>
            </a:r>
            <a:endParaRPr lang="en-US" sz="1350" dirty="0"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ED69B7-760F-C444-AD46-7335BB490D2F}"/>
              </a:ext>
            </a:extLst>
          </p:cNvPr>
          <p:cNvSpPr txBox="1"/>
          <p:nvPr/>
        </p:nvSpPr>
        <p:spPr>
          <a:xfrm>
            <a:off x="778422" y="160543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+mn-lt"/>
              </a:rPr>
              <a:t>r1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829F2DA-0A16-834F-A4F6-591AEC9ACBA7}"/>
              </a:ext>
            </a:extLst>
          </p:cNvPr>
          <p:cNvSpPr txBox="1"/>
          <p:nvPr/>
        </p:nvSpPr>
        <p:spPr>
          <a:xfrm>
            <a:off x="778422" y="1941405"/>
            <a:ext cx="38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n-lt"/>
              </a:rPr>
              <a:t>r2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18DFC1-42D5-2242-B5EE-79A3B777B3FF}"/>
              </a:ext>
            </a:extLst>
          </p:cNvPr>
          <p:cNvSpPr txBox="1"/>
          <p:nvPr/>
        </p:nvSpPr>
        <p:spPr>
          <a:xfrm>
            <a:off x="778422" y="2277371"/>
            <a:ext cx="38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n-lt"/>
              </a:rPr>
              <a:t>r3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92CD81-E768-0F49-BC49-CBA72EA75EF6}"/>
              </a:ext>
            </a:extLst>
          </p:cNvPr>
          <p:cNvSpPr txBox="1"/>
          <p:nvPr/>
        </p:nvSpPr>
        <p:spPr>
          <a:xfrm>
            <a:off x="778422" y="2613336"/>
            <a:ext cx="38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n-lt"/>
              </a:rPr>
              <a:t>r4</a:t>
            </a:r>
          </a:p>
        </p:txBody>
      </p:sp>
    </p:spTree>
    <p:extLst>
      <p:ext uri="{BB962C8B-B14F-4D97-AF65-F5344CB8AC3E}">
        <p14:creationId xmlns:p14="http://schemas.microsoft.com/office/powerpoint/2010/main" val="1894966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Ambiguity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100" dirty="0"/>
              <a:t>Grammar is ambiguous if more than one parse tree is possible for some sentences</a:t>
            </a:r>
          </a:p>
          <a:p>
            <a:pPr lvl="1"/>
            <a:r>
              <a:rPr lang="en-US" sz="1500" dirty="0"/>
              <a:t>There is more than one leftmost (or rightmost) derivations</a:t>
            </a:r>
          </a:p>
          <a:p>
            <a:r>
              <a:rPr lang="en-US" sz="2100" dirty="0"/>
              <a:t>Ambiguity is not acceptable in programming languages</a:t>
            </a:r>
          </a:p>
          <a:p>
            <a:pPr lvl="1"/>
            <a:r>
              <a:rPr lang="en-US" sz="1800" dirty="0"/>
              <a:t>Leaves meaning of some programs ill-defined</a:t>
            </a:r>
          </a:p>
          <a:p>
            <a:pPr lvl="1"/>
            <a:r>
              <a:rPr lang="en-US" sz="1800" dirty="0"/>
              <a:t>Unfortunately, it’s undecidable to check whether a given CFG is ambiguous</a:t>
            </a:r>
          </a:p>
          <a:p>
            <a:pPr lvl="1"/>
            <a:r>
              <a:rPr lang="en-US" sz="1800" dirty="0"/>
              <a:t>Some CFLs are inherently ambiguous (do not have an unambiguous CFG)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0702A-C812-D84D-B387-7B8E9F65DA12}" type="slidenum">
              <a:rPr lang="en-US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Ambiguity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100" dirty="0"/>
              <a:t>Handle ambiguity: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Rewrite the grammar unambiguously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Augment parser by enforcing precedence and associativity </a:t>
            </a:r>
          </a:p>
          <a:p>
            <a:pPr>
              <a:lnSpc>
                <a:spcPct val="90000"/>
              </a:lnSpc>
            </a:pPr>
            <a:r>
              <a:rPr lang="en-US" dirty="0"/>
              <a:t>Consider the original ambiguous grammar: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800" dirty="0"/>
              <a:t>E </a:t>
            </a:r>
            <a:r>
              <a:rPr lang="en-US" sz="1800" b="1" dirty="0">
                <a:sym typeface="Symbol" charset="2"/>
              </a:rPr>
              <a:t> </a:t>
            </a:r>
            <a:r>
              <a:rPr lang="en-US" sz="1800" dirty="0">
                <a:sym typeface="Symbol" charset="2"/>
              </a:rPr>
              <a:t>E - E          </a:t>
            </a:r>
            <a:r>
              <a:rPr lang="en-US" sz="1800" dirty="0" err="1">
                <a:sym typeface="Symbol" charset="2"/>
              </a:rPr>
              <a:t>E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b="1" dirty="0">
                <a:sym typeface="Symbol" charset="2"/>
              </a:rPr>
              <a:t> </a:t>
            </a:r>
            <a:r>
              <a:rPr lang="en-US" sz="1800" dirty="0">
                <a:sym typeface="Symbol" charset="2"/>
              </a:rPr>
              <a:t>E / 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charset="2"/>
              </a:rPr>
              <a:t>E </a:t>
            </a:r>
            <a:r>
              <a:rPr lang="en-US" sz="1800" b="1" dirty="0">
                <a:sym typeface="Symbol" charset="2"/>
              </a:rPr>
              <a:t> </a:t>
            </a:r>
            <a:r>
              <a:rPr lang="en-US" sz="1800" dirty="0">
                <a:sym typeface="Symbol" charset="2"/>
              </a:rPr>
              <a:t>( E )           E </a:t>
            </a:r>
            <a:r>
              <a:rPr lang="en-US" sz="1800" b="1" dirty="0">
                <a:sym typeface="Symbol" charset="2"/>
              </a:rPr>
              <a:t> id</a:t>
            </a:r>
            <a:r>
              <a:rPr lang="en-US" sz="1800" dirty="0"/>
              <a:t> 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How can we change the grammar to get only one tree for the input string: </a:t>
            </a:r>
            <a:r>
              <a:rPr lang="en-US" sz="2100" b="1" dirty="0"/>
              <a:t>id - id / id</a:t>
            </a:r>
            <a:endParaRPr lang="en-US" sz="2100" dirty="0"/>
          </a:p>
          <a:p>
            <a:pPr lvl="1">
              <a:lnSpc>
                <a:spcPct val="90000"/>
              </a:lnSpc>
            </a:pPr>
            <a:endParaRPr lang="en-US" sz="15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C6BB7-659C-D841-85E5-5486447048BA}" type="slidenum">
              <a:rPr lang="en-US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37" name="Rectangle 4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Precedence </a:t>
            </a:r>
          </a:p>
        </p:txBody>
      </p:sp>
      <p:sp>
        <p:nvSpPr>
          <p:cNvPr id="132138" name="Rectangle 4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100" dirty="0"/>
              <a:t>Original ambiguous grammar: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E </a:t>
            </a:r>
            <a:r>
              <a:rPr lang="en-US" sz="1800" dirty="0">
                <a:sym typeface="Symbol" charset="2"/>
              </a:rPr>
              <a:t> E - E          </a:t>
            </a:r>
            <a:r>
              <a:rPr lang="en-US" sz="1800" dirty="0" err="1">
                <a:sym typeface="Symbol" charset="2"/>
              </a:rPr>
              <a:t>E</a:t>
            </a:r>
            <a:r>
              <a:rPr lang="en-US" sz="1800" dirty="0">
                <a:sym typeface="Symbol" charset="2"/>
              </a:rPr>
              <a:t>  E / E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ym typeface="Symbol" charset="2"/>
              </a:rPr>
              <a:t>E  ( E )            E  </a:t>
            </a:r>
            <a:r>
              <a:rPr lang="en-US" sz="1800" b="1" dirty="0">
                <a:sym typeface="Symbol" charset="2"/>
              </a:rPr>
              <a:t>id</a:t>
            </a:r>
            <a:r>
              <a:rPr lang="en-US" sz="1800" dirty="0"/>
              <a:t> 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Use different non-terminals for each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100" dirty="0"/>
              <a:t>     Precedence level: </a:t>
            </a:r>
            <a:r>
              <a:rPr lang="en-US" sz="1500" dirty="0"/>
              <a:t>(start from lowest level)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E </a:t>
            </a:r>
            <a:r>
              <a:rPr lang="en-US" sz="1800" dirty="0">
                <a:sym typeface="Symbol" charset="2"/>
              </a:rPr>
              <a:t> E - E	</a:t>
            </a:r>
            <a:r>
              <a:rPr lang="en-US" sz="1800" dirty="0"/>
              <a:t> 	E </a:t>
            </a:r>
            <a:r>
              <a:rPr lang="en-US" sz="1800" dirty="0">
                <a:sym typeface="Symbol" charset="2"/>
              </a:rPr>
              <a:t> T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ym typeface="Symbol" charset="2"/>
              </a:rPr>
              <a:t>T  T / T 	T  F 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ym typeface="Symbol" charset="2"/>
              </a:rPr>
              <a:t>F  </a:t>
            </a:r>
            <a:r>
              <a:rPr lang="en-US" sz="1800" b="1" dirty="0">
                <a:sym typeface="Symbol" charset="2"/>
              </a:rPr>
              <a:t>id</a:t>
            </a:r>
            <a:r>
              <a:rPr lang="en-US" sz="1800" dirty="0">
                <a:sym typeface="Symbol" charset="2"/>
              </a:rPr>
              <a:t>     	 	F  ( E )</a:t>
            </a:r>
            <a:r>
              <a:rPr lang="en-US" sz="1800" dirty="0"/>
              <a:t> </a:t>
            </a:r>
            <a:endParaRPr lang="en-US" sz="1800" dirty="0">
              <a:sym typeface="Symbol" charset="2"/>
            </a:endParaRPr>
          </a:p>
          <a:p>
            <a:pPr>
              <a:lnSpc>
                <a:spcPct val="90000"/>
              </a:lnSpc>
            </a:pPr>
            <a:r>
              <a:rPr lang="en-US" sz="2100" dirty="0"/>
              <a:t>Input: id - id / id</a:t>
            </a:r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8A65F-089F-6D4C-BE64-D207CF56F52E}" type="slidenum">
              <a:rPr lang="en-US"/>
              <a:pPr/>
              <a:t>5</a:t>
            </a:fld>
            <a:endParaRPr lang="en-US"/>
          </a:p>
        </p:txBody>
      </p:sp>
      <p:sp>
        <p:nvSpPr>
          <p:cNvPr id="132104" name="Text Box 8"/>
          <p:cNvSpPr txBox="1">
            <a:spLocks noChangeArrowheads="1"/>
          </p:cNvSpPr>
          <p:nvPr/>
        </p:nvSpPr>
        <p:spPr bwMode="auto">
          <a:xfrm>
            <a:off x="6572250" y="1343807"/>
            <a:ext cx="2968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</a:rPr>
              <a:t>E</a:t>
            </a:r>
          </a:p>
        </p:txBody>
      </p:sp>
      <p:grpSp>
        <p:nvGrpSpPr>
          <p:cNvPr id="132129" name="Group 33"/>
          <p:cNvGrpSpPr>
            <a:grpSpLocks/>
          </p:cNvGrpSpPr>
          <p:nvPr/>
        </p:nvGrpSpPr>
        <p:grpSpPr bwMode="auto">
          <a:xfrm>
            <a:off x="6134096" y="1712902"/>
            <a:ext cx="1110853" cy="539354"/>
            <a:chOff x="4192" y="1462"/>
            <a:chExt cx="933" cy="453"/>
          </a:xfrm>
        </p:grpSpPr>
        <p:sp>
          <p:nvSpPr>
            <p:cNvPr id="132105" name="Text Box 9"/>
            <p:cNvSpPr txBox="1">
              <a:spLocks noChangeArrowheads="1"/>
            </p:cNvSpPr>
            <p:nvPr/>
          </p:nvSpPr>
          <p:spPr bwMode="auto">
            <a:xfrm>
              <a:off x="4192" y="1569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132106" name="Text Box 10"/>
            <p:cNvSpPr txBox="1">
              <a:spLocks noChangeArrowheads="1"/>
            </p:cNvSpPr>
            <p:nvPr/>
          </p:nvSpPr>
          <p:spPr bwMode="auto">
            <a:xfrm>
              <a:off x="4558" y="1605"/>
              <a:ext cx="22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dirty="0">
                  <a:latin typeface="Calibri" panose="020F0502020204030204" pitchFamily="34" charset="0"/>
                </a:rPr>
                <a:t>-</a:t>
              </a:r>
            </a:p>
          </p:txBody>
        </p:sp>
        <p:sp>
          <p:nvSpPr>
            <p:cNvPr id="132107" name="Text Box 11"/>
            <p:cNvSpPr txBox="1">
              <a:spLocks noChangeArrowheads="1"/>
            </p:cNvSpPr>
            <p:nvPr/>
          </p:nvSpPr>
          <p:spPr bwMode="auto">
            <a:xfrm>
              <a:off x="4876" y="1560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cxnSp>
          <p:nvCxnSpPr>
            <p:cNvPr id="132113" name="AutoShape 17"/>
            <p:cNvCxnSpPr>
              <a:cxnSpLocks noChangeShapeType="1"/>
              <a:stCxn id="132104" idx="2"/>
              <a:endCxn id="132105" idx="0"/>
            </p:cNvCxnSpPr>
            <p:nvPr/>
          </p:nvCxnSpPr>
          <p:spPr bwMode="auto">
            <a:xfrm flipH="1">
              <a:off x="4317" y="1462"/>
              <a:ext cx="368" cy="1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32114" name="AutoShape 18"/>
            <p:cNvCxnSpPr>
              <a:cxnSpLocks noChangeShapeType="1"/>
              <a:stCxn id="132104" idx="2"/>
              <a:endCxn id="132106" idx="0"/>
            </p:cNvCxnSpPr>
            <p:nvPr/>
          </p:nvCxnSpPr>
          <p:spPr bwMode="auto">
            <a:xfrm flipH="1">
              <a:off x="4671" y="1462"/>
              <a:ext cx="14" cy="14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32115" name="AutoShape 19"/>
            <p:cNvCxnSpPr>
              <a:cxnSpLocks noChangeShapeType="1"/>
              <a:stCxn id="132104" idx="2"/>
              <a:endCxn id="132107" idx="0"/>
            </p:cNvCxnSpPr>
            <p:nvPr/>
          </p:nvCxnSpPr>
          <p:spPr bwMode="auto">
            <a:xfrm>
              <a:off x="4685" y="1462"/>
              <a:ext cx="316" cy="9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132130" name="Group 34"/>
          <p:cNvGrpSpPr>
            <a:grpSpLocks/>
          </p:cNvGrpSpPr>
          <p:nvPr/>
        </p:nvGrpSpPr>
        <p:grpSpPr bwMode="auto">
          <a:xfrm>
            <a:off x="6134092" y="2209352"/>
            <a:ext cx="296465" cy="483394"/>
            <a:chOff x="4192" y="1723"/>
            <a:chExt cx="249" cy="406"/>
          </a:xfrm>
        </p:grpSpPr>
        <p:sp>
          <p:nvSpPr>
            <p:cNvPr id="132108" name="Text Box 12"/>
            <p:cNvSpPr txBox="1">
              <a:spLocks noChangeArrowheads="1"/>
            </p:cNvSpPr>
            <p:nvPr/>
          </p:nvSpPr>
          <p:spPr bwMode="auto">
            <a:xfrm>
              <a:off x="4192" y="1819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T</a:t>
              </a:r>
            </a:p>
          </p:txBody>
        </p:sp>
        <p:cxnSp>
          <p:nvCxnSpPr>
            <p:cNvPr id="132116" name="AutoShape 20"/>
            <p:cNvCxnSpPr>
              <a:cxnSpLocks noChangeShapeType="1"/>
              <a:stCxn id="132105" idx="2"/>
              <a:endCxn id="132108" idx="0"/>
            </p:cNvCxnSpPr>
            <p:nvPr/>
          </p:nvCxnSpPr>
          <p:spPr bwMode="auto">
            <a:xfrm flipH="1">
              <a:off x="4317" y="1723"/>
              <a:ext cx="0" cy="9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132131" name="Group 35"/>
          <p:cNvGrpSpPr>
            <a:grpSpLocks/>
          </p:cNvGrpSpPr>
          <p:nvPr/>
        </p:nvGrpSpPr>
        <p:grpSpPr bwMode="auto">
          <a:xfrm>
            <a:off x="6140061" y="2692751"/>
            <a:ext cx="290514" cy="539355"/>
            <a:chOff x="4197" y="2129"/>
            <a:chExt cx="244" cy="453"/>
          </a:xfrm>
        </p:grpSpPr>
        <p:sp>
          <p:nvSpPr>
            <p:cNvPr id="132109" name="Text Box 13"/>
            <p:cNvSpPr txBox="1">
              <a:spLocks noChangeArrowheads="1"/>
            </p:cNvSpPr>
            <p:nvPr/>
          </p:nvSpPr>
          <p:spPr bwMode="auto">
            <a:xfrm>
              <a:off x="4197" y="2272"/>
              <a:ext cx="24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F</a:t>
              </a:r>
            </a:p>
          </p:txBody>
        </p:sp>
        <p:cxnSp>
          <p:nvCxnSpPr>
            <p:cNvPr id="132117" name="AutoShape 21"/>
            <p:cNvCxnSpPr>
              <a:cxnSpLocks noChangeShapeType="1"/>
              <a:stCxn id="132108" idx="2"/>
              <a:endCxn id="132109" idx="0"/>
            </p:cNvCxnSpPr>
            <p:nvPr/>
          </p:nvCxnSpPr>
          <p:spPr bwMode="auto">
            <a:xfrm>
              <a:off x="4316" y="2129"/>
              <a:ext cx="3" cy="14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132132" name="Group 36"/>
          <p:cNvGrpSpPr>
            <a:grpSpLocks/>
          </p:cNvGrpSpPr>
          <p:nvPr/>
        </p:nvGrpSpPr>
        <p:grpSpPr bwMode="auto">
          <a:xfrm>
            <a:off x="6107915" y="3232102"/>
            <a:ext cx="359570" cy="502444"/>
            <a:chOff x="4170" y="2582"/>
            <a:chExt cx="302" cy="422"/>
          </a:xfrm>
        </p:grpSpPr>
        <p:sp>
          <p:nvSpPr>
            <p:cNvPr id="132118" name="Text Box 22"/>
            <p:cNvSpPr txBox="1">
              <a:spLocks noChangeArrowheads="1"/>
            </p:cNvSpPr>
            <p:nvPr/>
          </p:nvSpPr>
          <p:spPr bwMode="auto">
            <a:xfrm>
              <a:off x="4170" y="2694"/>
              <a:ext cx="30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cxnSp>
          <p:nvCxnSpPr>
            <p:cNvPr id="132119" name="AutoShape 23"/>
            <p:cNvCxnSpPr>
              <a:cxnSpLocks noChangeShapeType="1"/>
              <a:stCxn id="132109" idx="2"/>
              <a:endCxn id="132118" idx="0"/>
            </p:cNvCxnSpPr>
            <p:nvPr/>
          </p:nvCxnSpPr>
          <p:spPr bwMode="auto">
            <a:xfrm>
              <a:off x="4319" y="2582"/>
              <a:ext cx="2" cy="1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132133" name="Group 37"/>
          <p:cNvGrpSpPr>
            <a:grpSpLocks/>
          </p:cNvGrpSpPr>
          <p:nvPr/>
        </p:nvGrpSpPr>
        <p:grpSpPr bwMode="auto">
          <a:xfrm>
            <a:off x="6634941" y="2698233"/>
            <a:ext cx="871537" cy="554832"/>
            <a:chOff x="4680" y="1806"/>
            <a:chExt cx="732" cy="466"/>
          </a:xfrm>
        </p:grpSpPr>
        <p:sp>
          <p:nvSpPr>
            <p:cNvPr id="132110" name="Text Box 14"/>
            <p:cNvSpPr txBox="1">
              <a:spLocks noChangeArrowheads="1"/>
            </p:cNvSpPr>
            <p:nvPr/>
          </p:nvSpPr>
          <p:spPr bwMode="auto">
            <a:xfrm>
              <a:off x="4680" y="1954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T</a:t>
              </a:r>
            </a:p>
          </p:txBody>
        </p:sp>
        <p:sp>
          <p:nvSpPr>
            <p:cNvPr id="132111" name="Text Box 15"/>
            <p:cNvSpPr txBox="1">
              <a:spLocks noChangeArrowheads="1"/>
            </p:cNvSpPr>
            <p:nvPr/>
          </p:nvSpPr>
          <p:spPr bwMode="auto">
            <a:xfrm>
              <a:off x="5163" y="1954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T</a:t>
              </a:r>
            </a:p>
          </p:txBody>
        </p:sp>
        <p:sp>
          <p:nvSpPr>
            <p:cNvPr id="132112" name="Text Box 16"/>
            <p:cNvSpPr txBox="1">
              <a:spLocks noChangeArrowheads="1"/>
            </p:cNvSpPr>
            <p:nvPr/>
          </p:nvSpPr>
          <p:spPr bwMode="auto">
            <a:xfrm>
              <a:off x="4955" y="1962"/>
              <a:ext cx="23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/</a:t>
              </a:r>
            </a:p>
          </p:txBody>
        </p:sp>
        <p:cxnSp>
          <p:nvCxnSpPr>
            <p:cNvPr id="132120" name="AutoShape 24"/>
            <p:cNvCxnSpPr>
              <a:cxnSpLocks noChangeShapeType="1"/>
              <a:stCxn id="47" idx="2"/>
              <a:endCxn id="132110" idx="0"/>
            </p:cNvCxnSpPr>
            <p:nvPr/>
          </p:nvCxnSpPr>
          <p:spPr bwMode="auto">
            <a:xfrm flipH="1">
              <a:off x="4805" y="1806"/>
              <a:ext cx="263" cy="14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32121" name="AutoShape 25"/>
            <p:cNvCxnSpPr>
              <a:cxnSpLocks noChangeShapeType="1"/>
              <a:stCxn id="47" idx="2"/>
              <a:endCxn id="132112" idx="0"/>
            </p:cNvCxnSpPr>
            <p:nvPr/>
          </p:nvCxnSpPr>
          <p:spPr bwMode="auto">
            <a:xfrm>
              <a:off x="5068" y="1806"/>
              <a:ext cx="2" cy="1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32122" name="AutoShape 26"/>
            <p:cNvCxnSpPr>
              <a:cxnSpLocks noChangeShapeType="1"/>
              <a:stCxn id="47" idx="2"/>
              <a:endCxn id="132111" idx="0"/>
            </p:cNvCxnSpPr>
            <p:nvPr/>
          </p:nvCxnSpPr>
          <p:spPr bwMode="auto">
            <a:xfrm>
              <a:off x="5068" y="1806"/>
              <a:ext cx="220" cy="14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132134" name="Group 38"/>
          <p:cNvGrpSpPr>
            <a:grpSpLocks/>
          </p:cNvGrpSpPr>
          <p:nvPr/>
        </p:nvGrpSpPr>
        <p:grpSpPr bwMode="auto">
          <a:xfrm>
            <a:off x="6633746" y="3243007"/>
            <a:ext cx="290512" cy="471489"/>
            <a:chOff x="4679" y="2223"/>
            <a:chExt cx="244" cy="396"/>
          </a:xfrm>
        </p:grpSpPr>
        <p:sp>
          <p:nvSpPr>
            <p:cNvPr id="132123" name="Text Box 27"/>
            <p:cNvSpPr txBox="1">
              <a:spLocks noChangeArrowheads="1"/>
            </p:cNvSpPr>
            <p:nvPr/>
          </p:nvSpPr>
          <p:spPr bwMode="auto">
            <a:xfrm>
              <a:off x="4679" y="2309"/>
              <a:ext cx="24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F</a:t>
              </a:r>
            </a:p>
          </p:txBody>
        </p:sp>
        <p:cxnSp>
          <p:nvCxnSpPr>
            <p:cNvPr id="132124" name="AutoShape 28"/>
            <p:cNvCxnSpPr>
              <a:cxnSpLocks noChangeShapeType="1"/>
              <a:stCxn id="132110" idx="2"/>
              <a:endCxn id="132123" idx="0"/>
            </p:cNvCxnSpPr>
            <p:nvPr/>
          </p:nvCxnSpPr>
          <p:spPr bwMode="auto">
            <a:xfrm flipH="1">
              <a:off x="4801" y="2223"/>
              <a:ext cx="4" cy="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132135" name="Group 39"/>
          <p:cNvGrpSpPr>
            <a:grpSpLocks/>
          </p:cNvGrpSpPr>
          <p:nvPr/>
        </p:nvGrpSpPr>
        <p:grpSpPr bwMode="auto">
          <a:xfrm>
            <a:off x="6599644" y="3714486"/>
            <a:ext cx="359570" cy="503634"/>
            <a:chOff x="4583" y="2619"/>
            <a:chExt cx="302" cy="423"/>
          </a:xfrm>
        </p:grpSpPr>
        <p:sp>
          <p:nvSpPr>
            <p:cNvPr id="132125" name="Text Box 29"/>
            <p:cNvSpPr txBox="1">
              <a:spLocks noChangeArrowheads="1"/>
            </p:cNvSpPr>
            <p:nvPr/>
          </p:nvSpPr>
          <p:spPr bwMode="auto">
            <a:xfrm>
              <a:off x="4583" y="2732"/>
              <a:ext cx="30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cxnSp>
          <p:nvCxnSpPr>
            <p:cNvPr id="132126" name="AutoShape 30"/>
            <p:cNvCxnSpPr>
              <a:cxnSpLocks noChangeShapeType="1"/>
              <a:stCxn id="132123" idx="2"/>
              <a:endCxn id="132125" idx="0"/>
            </p:cNvCxnSpPr>
            <p:nvPr/>
          </p:nvCxnSpPr>
          <p:spPr bwMode="auto">
            <a:xfrm>
              <a:off x="4734" y="2619"/>
              <a:ext cx="0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132136" name="Group 40"/>
          <p:cNvGrpSpPr>
            <a:grpSpLocks/>
          </p:cNvGrpSpPr>
          <p:nvPr/>
        </p:nvGrpSpPr>
        <p:grpSpPr bwMode="auto">
          <a:xfrm>
            <a:off x="7212418" y="3243008"/>
            <a:ext cx="290514" cy="492920"/>
            <a:chOff x="5165" y="2223"/>
            <a:chExt cx="244" cy="414"/>
          </a:xfrm>
        </p:grpSpPr>
        <p:sp>
          <p:nvSpPr>
            <p:cNvPr id="132127" name="Text Box 31"/>
            <p:cNvSpPr txBox="1">
              <a:spLocks noChangeArrowheads="1"/>
            </p:cNvSpPr>
            <p:nvPr/>
          </p:nvSpPr>
          <p:spPr bwMode="auto">
            <a:xfrm>
              <a:off x="5165" y="2327"/>
              <a:ext cx="24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F</a:t>
              </a:r>
            </a:p>
          </p:txBody>
        </p:sp>
        <p:cxnSp>
          <p:nvCxnSpPr>
            <p:cNvPr id="132128" name="AutoShape 32"/>
            <p:cNvCxnSpPr>
              <a:cxnSpLocks noChangeShapeType="1"/>
              <a:stCxn id="132111" idx="2"/>
              <a:endCxn id="132127" idx="0"/>
            </p:cNvCxnSpPr>
            <p:nvPr/>
          </p:nvCxnSpPr>
          <p:spPr bwMode="auto">
            <a:xfrm flipH="1">
              <a:off x="5287" y="2223"/>
              <a:ext cx="0" cy="1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46" name="Group 35"/>
          <p:cNvGrpSpPr>
            <a:grpSpLocks/>
          </p:cNvGrpSpPr>
          <p:nvPr/>
        </p:nvGrpSpPr>
        <p:grpSpPr bwMode="auto">
          <a:xfrm>
            <a:off x="6948254" y="2199085"/>
            <a:ext cx="296466" cy="498873"/>
            <a:chOff x="4202" y="2323"/>
            <a:chExt cx="249" cy="419"/>
          </a:xfrm>
        </p:grpSpPr>
        <p:sp>
          <p:nvSpPr>
            <p:cNvPr id="47" name="Text Box 13"/>
            <p:cNvSpPr txBox="1">
              <a:spLocks noChangeArrowheads="1"/>
            </p:cNvSpPr>
            <p:nvPr/>
          </p:nvSpPr>
          <p:spPr bwMode="auto">
            <a:xfrm>
              <a:off x="4202" y="2432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T</a:t>
              </a:r>
            </a:p>
          </p:txBody>
        </p:sp>
        <p:cxnSp>
          <p:nvCxnSpPr>
            <p:cNvPr id="48" name="AutoShape 21"/>
            <p:cNvCxnSpPr>
              <a:cxnSpLocks noChangeShapeType="1"/>
              <a:stCxn id="132107" idx="2"/>
              <a:endCxn id="47" idx="0"/>
            </p:cNvCxnSpPr>
            <p:nvPr/>
          </p:nvCxnSpPr>
          <p:spPr bwMode="auto">
            <a:xfrm flipH="1">
              <a:off x="4327" y="2323"/>
              <a:ext cx="0" cy="10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22" name="Group 21"/>
          <p:cNvGrpSpPr/>
          <p:nvPr/>
        </p:nvGrpSpPr>
        <p:grpSpPr>
          <a:xfrm>
            <a:off x="7177978" y="3735926"/>
            <a:ext cx="359394" cy="482431"/>
            <a:chOff x="8046635" y="4981241"/>
            <a:chExt cx="479191" cy="643242"/>
          </a:xfrm>
        </p:grpSpPr>
        <p:sp>
          <p:nvSpPr>
            <p:cNvPr id="64" name="Text Box 31"/>
            <p:cNvSpPr txBox="1">
              <a:spLocks noChangeArrowheads="1"/>
            </p:cNvSpPr>
            <p:nvPr/>
          </p:nvSpPr>
          <p:spPr bwMode="auto">
            <a:xfrm>
              <a:off x="8046635" y="5132040"/>
              <a:ext cx="479191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cxnSp>
          <p:nvCxnSpPr>
            <p:cNvPr id="65" name="AutoShape 30"/>
            <p:cNvCxnSpPr>
              <a:cxnSpLocks noChangeShapeType="1"/>
              <a:stCxn id="132127" idx="2"/>
              <a:endCxn id="64" idx="0"/>
            </p:cNvCxnSpPr>
            <p:nvPr/>
          </p:nvCxnSpPr>
          <p:spPr bwMode="auto">
            <a:xfrm>
              <a:off x="8286231" y="4981241"/>
              <a:ext cx="0" cy="15079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62" name="Rectangular Callout 61">
            <a:extLst>
              <a:ext uri="{FF2B5EF4-FFF2-40B4-BE49-F238E27FC236}">
                <a16:creationId xmlns:a16="http://schemas.microsoft.com/office/drawing/2014/main" id="{BC1A4C09-6131-D840-B04D-114BEF06D102}"/>
              </a:ext>
            </a:extLst>
          </p:cNvPr>
          <p:cNvSpPr/>
          <p:nvPr/>
        </p:nvSpPr>
        <p:spPr>
          <a:xfrm>
            <a:off x="3034586" y="4298466"/>
            <a:ext cx="3744416" cy="525141"/>
          </a:xfrm>
          <a:prstGeom prst="wedgeRectCallout">
            <a:avLst>
              <a:gd name="adj1" fmla="val -52322"/>
              <a:gd name="adj2" fmla="val -418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Q: Using this CFG write down two leftmost derivations for input string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id-id-id</a:t>
            </a:r>
            <a:r>
              <a:rPr lang="en-US" sz="16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38" grpId="0" build="p" autoUpdateAnimBg="0"/>
      <p:bldP spid="132104" grpId="0"/>
      <p:bldP spid="6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Associativity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Grammar captures operator precedence 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E </a:t>
            </a:r>
            <a:r>
              <a:rPr lang="en-US" sz="1800" dirty="0">
                <a:sym typeface="Symbol" charset="2"/>
              </a:rPr>
              <a:t> E - E	</a:t>
            </a:r>
            <a:r>
              <a:rPr lang="en-US" sz="1800" dirty="0"/>
              <a:t> 	E </a:t>
            </a:r>
            <a:r>
              <a:rPr lang="en-US" sz="1800" dirty="0">
                <a:sym typeface="Symbol" charset="2"/>
              </a:rPr>
              <a:t> T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ym typeface="Symbol" charset="2"/>
              </a:rPr>
              <a:t>T  T / T 	T  F 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ym typeface="Symbol" charset="2"/>
              </a:rPr>
              <a:t>F  </a:t>
            </a:r>
            <a:r>
              <a:rPr lang="en-US" sz="1800" b="1" dirty="0">
                <a:sym typeface="Symbol" charset="2"/>
              </a:rPr>
              <a:t>id</a:t>
            </a:r>
            <a:r>
              <a:rPr lang="en-US" sz="1800" dirty="0">
                <a:sym typeface="Symbol" charset="2"/>
              </a:rPr>
              <a:t>     	F  ( E )</a:t>
            </a:r>
            <a:endParaRPr lang="en-CA" sz="1800" dirty="0"/>
          </a:p>
          <a:p>
            <a:r>
              <a:rPr lang="en-CA" dirty="0"/>
              <a:t>Still ambiguous!!</a:t>
            </a:r>
          </a:p>
          <a:p>
            <a:pPr lvl="1"/>
            <a:r>
              <a:rPr lang="en-CA" dirty="0"/>
              <a:t>Consider: </a:t>
            </a:r>
            <a:r>
              <a:rPr lang="en-CA" dirty="0">
                <a:solidFill>
                  <a:schemeClr val="accent2"/>
                </a:solidFill>
              </a:rPr>
              <a:t>id - id – id</a:t>
            </a:r>
          </a:p>
          <a:p>
            <a:pPr lvl="1"/>
            <a:r>
              <a:rPr lang="en-CA"/>
              <a:t>'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-'</a:t>
            </a:r>
            <a:r>
              <a:rPr lang="en-CA"/>
              <a:t> </a:t>
            </a:r>
            <a:r>
              <a:rPr lang="en-CA" dirty="0"/>
              <a:t>is left associative</a:t>
            </a:r>
          </a:p>
          <a:p>
            <a:pPr lvl="1"/>
            <a:r>
              <a:rPr lang="en-CA" dirty="0"/>
              <a:t>Operations are grouped from left to right</a:t>
            </a:r>
          </a:p>
          <a:p>
            <a:endParaRPr lang="en-CA" dirty="0">
              <a:solidFill>
                <a:schemeClr val="accent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1BD-6681-B946-ACD9-A8F6D28AC38D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54" name="Group 53"/>
          <p:cNvGrpSpPr/>
          <p:nvPr/>
        </p:nvGrpSpPr>
        <p:grpSpPr>
          <a:xfrm>
            <a:off x="5803417" y="2893111"/>
            <a:ext cx="2092758" cy="1789636"/>
            <a:chOff x="4936659" y="3687415"/>
            <a:chExt cx="2597201" cy="3166916"/>
          </a:xfrm>
        </p:grpSpPr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5757915" y="3687415"/>
              <a:ext cx="368436" cy="653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4978436" y="4479501"/>
              <a:ext cx="368436" cy="653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6542732" y="4536132"/>
              <a:ext cx="368436" cy="653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5782466" y="4708068"/>
              <a:ext cx="324669" cy="653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-</a:t>
              </a: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5971739" y="5343600"/>
              <a:ext cx="368436" cy="653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6566170" y="5507656"/>
              <a:ext cx="324669" cy="653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-</a:t>
              </a:r>
            </a:p>
          </p:txBody>
        </p:sp>
        <p:cxnSp>
          <p:nvCxnSpPr>
            <p:cNvPr id="13" name="AutoShape 17"/>
            <p:cNvCxnSpPr>
              <a:cxnSpLocks noChangeShapeType="1"/>
              <a:stCxn id="7" idx="2"/>
              <a:endCxn id="8" idx="0"/>
            </p:cNvCxnSpPr>
            <p:nvPr/>
          </p:nvCxnSpPr>
          <p:spPr bwMode="auto">
            <a:xfrm flipH="1">
              <a:off x="5162654" y="4340980"/>
              <a:ext cx="779479" cy="1385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" name="AutoShape 18"/>
            <p:cNvCxnSpPr>
              <a:cxnSpLocks noChangeShapeType="1"/>
              <a:stCxn id="7" idx="2"/>
              <a:endCxn id="10" idx="0"/>
            </p:cNvCxnSpPr>
            <p:nvPr/>
          </p:nvCxnSpPr>
          <p:spPr bwMode="auto">
            <a:xfrm>
              <a:off x="5942133" y="4340980"/>
              <a:ext cx="2668" cy="3670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" name="AutoShape 19"/>
            <p:cNvCxnSpPr>
              <a:cxnSpLocks noChangeShapeType="1"/>
              <a:stCxn id="7" idx="2"/>
              <a:endCxn id="9" idx="0"/>
            </p:cNvCxnSpPr>
            <p:nvPr/>
          </p:nvCxnSpPr>
          <p:spPr bwMode="auto">
            <a:xfrm>
              <a:off x="5942133" y="4340980"/>
              <a:ext cx="784816" cy="19515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" name="AutoShape 21"/>
            <p:cNvCxnSpPr>
              <a:cxnSpLocks noChangeShapeType="1"/>
              <a:stCxn id="9" idx="2"/>
              <a:endCxn id="11" idx="0"/>
            </p:cNvCxnSpPr>
            <p:nvPr/>
          </p:nvCxnSpPr>
          <p:spPr bwMode="auto">
            <a:xfrm flipH="1">
              <a:off x="6155957" y="5189697"/>
              <a:ext cx="570992" cy="1539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" name="AutoShape 24"/>
            <p:cNvCxnSpPr>
              <a:cxnSpLocks noChangeShapeType="1"/>
              <a:stCxn id="9" idx="2"/>
              <a:endCxn id="12" idx="0"/>
            </p:cNvCxnSpPr>
            <p:nvPr/>
          </p:nvCxnSpPr>
          <p:spPr bwMode="auto">
            <a:xfrm>
              <a:off x="6726949" y="5189697"/>
              <a:ext cx="1555" cy="31795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8" name="Text Box 12"/>
            <p:cNvSpPr txBox="1">
              <a:spLocks noChangeArrowheads="1"/>
            </p:cNvSpPr>
            <p:nvPr/>
          </p:nvSpPr>
          <p:spPr bwMode="auto">
            <a:xfrm>
              <a:off x="7124124" y="5359770"/>
              <a:ext cx="368436" cy="653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cxnSp>
          <p:nvCxnSpPr>
            <p:cNvPr id="19" name="AutoShape 24"/>
            <p:cNvCxnSpPr>
              <a:cxnSpLocks noChangeShapeType="1"/>
              <a:stCxn id="9" idx="2"/>
              <a:endCxn id="18" idx="0"/>
            </p:cNvCxnSpPr>
            <p:nvPr/>
          </p:nvCxnSpPr>
          <p:spPr bwMode="auto">
            <a:xfrm>
              <a:off x="6726949" y="5189697"/>
              <a:ext cx="581392" cy="17007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1" name="AutoShape 17"/>
            <p:cNvCxnSpPr>
              <a:cxnSpLocks noChangeShapeType="1"/>
              <a:stCxn id="8" idx="2"/>
              <a:endCxn id="22" idx="0"/>
            </p:cNvCxnSpPr>
            <p:nvPr/>
          </p:nvCxnSpPr>
          <p:spPr bwMode="auto">
            <a:xfrm>
              <a:off x="5162654" y="5133066"/>
              <a:ext cx="0" cy="23544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</p:cxnSp>
        <p:sp>
          <p:nvSpPr>
            <p:cNvPr id="22" name="Text Box 8"/>
            <p:cNvSpPr txBox="1">
              <a:spLocks noChangeArrowheads="1"/>
            </p:cNvSpPr>
            <p:nvPr/>
          </p:nvSpPr>
          <p:spPr bwMode="auto">
            <a:xfrm>
              <a:off x="4936659" y="5368508"/>
              <a:ext cx="451990" cy="653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25" name="Text Box 11"/>
            <p:cNvSpPr txBox="1">
              <a:spLocks noChangeArrowheads="1"/>
            </p:cNvSpPr>
            <p:nvPr/>
          </p:nvSpPr>
          <p:spPr bwMode="auto">
            <a:xfrm>
              <a:off x="5929962" y="6200766"/>
              <a:ext cx="451990" cy="653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cxnSp>
          <p:nvCxnSpPr>
            <p:cNvPr id="26" name="AutoShape 21"/>
            <p:cNvCxnSpPr>
              <a:cxnSpLocks noChangeShapeType="1"/>
              <a:stCxn id="11" idx="2"/>
              <a:endCxn id="25" idx="0"/>
            </p:cNvCxnSpPr>
            <p:nvPr/>
          </p:nvCxnSpPr>
          <p:spPr bwMode="auto">
            <a:xfrm>
              <a:off x="6155957" y="5997164"/>
              <a:ext cx="0" cy="20360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</p:cxnSp>
        <p:sp>
          <p:nvSpPr>
            <p:cNvPr id="29" name="Text Box 12"/>
            <p:cNvSpPr txBox="1">
              <a:spLocks noChangeArrowheads="1"/>
            </p:cNvSpPr>
            <p:nvPr/>
          </p:nvSpPr>
          <p:spPr bwMode="auto">
            <a:xfrm>
              <a:off x="7081870" y="6200766"/>
              <a:ext cx="451990" cy="653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cxnSp>
          <p:nvCxnSpPr>
            <p:cNvPr id="30" name="AutoShape 24"/>
            <p:cNvCxnSpPr>
              <a:cxnSpLocks noChangeShapeType="1"/>
              <a:stCxn id="18" idx="2"/>
              <a:endCxn id="29" idx="0"/>
            </p:cNvCxnSpPr>
            <p:nvPr/>
          </p:nvCxnSpPr>
          <p:spPr bwMode="auto">
            <a:xfrm flipH="1">
              <a:off x="7307865" y="6013335"/>
              <a:ext cx="477" cy="1874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</p:cxnSp>
      </p:grpSp>
      <p:grpSp>
        <p:nvGrpSpPr>
          <p:cNvPr id="53" name="Group 52"/>
          <p:cNvGrpSpPr/>
          <p:nvPr/>
        </p:nvGrpSpPr>
        <p:grpSpPr>
          <a:xfrm>
            <a:off x="5873796" y="609565"/>
            <a:ext cx="1933164" cy="1835801"/>
            <a:chOff x="1109162" y="3645024"/>
            <a:chExt cx="2438226" cy="3142775"/>
          </a:xfrm>
        </p:grpSpPr>
        <p:sp>
          <p:nvSpPr>
            <p:cNvPr id="34" name="Text Box 7"/>
            <p:cNvSpPr txBox="1">
              <a:spLocks noChangeArrowheads="1"/>
            </p:cNvSpPr>
            <p:nvPr/>
          </p:nvSpPr>
          <p:spPr bwMode="auto">
            <a:xfrm>
              <a:off x="2449963" y="3645024"/>
              <a:ext cx="374438" cy="6322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35" name="Text Box 8"/>
            <p:cNvSpPr txBox="1">
              <a:spLocks noChangeArrowheads="1"/>
            </p:cNvSpPr>
            <p:nvPr/>
          </p:nvSpPr>
          <p:spPr bwMode="auto">
            <a:xfrm>
              <a:off x="3130492" y="4437113"/>
              <a:ext cx="374438" cy="6322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36" name="Text Box 9"/>
            <p:cNvSpPr txBox="1">
              <a:spLocks noChangeArrowheads="1"/>
            </p:cNvSpPr>
            <p:nvPr/>
          </p:nvSpPr>
          <p:spPr bwMode="auto">
            <a:xfrm>
              <a:off x="1722612" y="4493740"/>
              <a:ext cx="374438" cy="6322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37" name="Text Box 10"/>
            <p:cNvSpPr txBox="1">
              <a:spLocks noChangeArrowheads="1"/>
            </p:cNvSpPr>
            <p:nvPr/>
          </p:nvSpPr>
          <p:spPr bwMode="auto">
            <a:xfrm>
              <a:off x="2472203" y="4563973"/>
              <a:ext cx="329959" cy="6322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-</a:t>
              </a:r>
            </a:p>
          </p:txBody>
        </p:sp>
        <p:sp>
          <p:nvSpPr>
            <p:cNvPr id="38" name="Text Box 11"/>
            <p:cNvSpPr txBox="1">
              <a:spLocks noChangeArrowheads="1"/>
            </p:cNvSpPr>
            <p:nvPr/>
          </p:nvSpPr>
          <p:spPr bwMode="auto">
            <a:xfrm>
              <a:off x="1151620" y="5301207"/>
              <a:ext cx="374438" cy="6322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39" name="Text Box 12"/>
            <p:cNvSpPr txBox="1">
              <a:spLocks noChangeArrowheads="1"/>
            </p:cNvSpPr>
            <p:nvPr/>
          </p:nvSpPr>
          <p:spPr bwMode="auto">
            <a:xfrm>
              <a:off x="1748430" y="5376318"/>
              <a:ext cx="329959" cy="6322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-</a:t>
              </a:r>
            </a:p>
          </p:txBody>
        </p:sp>
        <p:cxnSp>
          <p:nvCxnSpPr>
            <p:cNvPr id="40" name="AutoShape 17"/>
            <p:cNvCxnSpPr>
              <a:cxnSpLocks noChangeShapeType="1"/>
              <a:stCxn id="34" idx="2"/>
              <a:endCxn id="35" idx="0"/>
            </p:cNvCxnSpPr>
            <p:nvPr/>
          </p:nvCxnSpPr>
          <p:spPr bwMode="auto">
            <a:xfrm>
              <a:off x="2637182" y="4277297"/>
              <a:ext cx="680529" cy="159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1" name="AutoShape 18"/>
            <p:cNvCxnSpPr>
              <a:cxnSpLocks noChangeShapeType="1"/>
              <a:stCxn id="34" idx="2"/>
              <a:endCxn id="37" idx="0"/>
            </p:cNvCxnSpPr>
            <p:nvPr/>
          </p:nvCxnSpPr>
          <p:spPr bwMode="auto">
            <a:xfrm>
              <a:off x="2637182" y="4277297"/>
              <a:ext cx="0" cy="2866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2" name="AutoShape 19"/>
            <p:cNvCxnSpPr>
              <a:cxnSpLocks noChangeShapeType="1"/>
              <a:stCxn id="34" idx="2"/>
              <a:endCxn id="36" idx="0"/>
            </p:cNvCxnSpPr>
            <p:nvPr/>
          </p:nvCxnSpPr>
          <p:spPr bwMode="auto">
            <a:xfrm flipH="1">
              <a:off x="1909831" y="4277297"/>
              <a:ext cx="727351" cy="21644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3" name="AutoShape 21"/>
            <p:cNvCxnSpPr>
              <a:cxnSpLocks noChangeShapeType="1"/>
              <a:stCxn id="36" idx="2"/>
              <a:endCxn id="38" idx="0"/>
            </p:cNvCxnSpPr>
            <p:nvPr/>
          </p:nvCxnSpPr>
          <p:spPr bwMode="auto">
            <a:xfrm flipH="1">
              <a:off x="1338839" y="5126013"/>
              <a:ext cx="570992" cy="1751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4" name="AutoShape 24"/>
            <p:cNvCxnSpPr>
              <a:cxnSpLocks noChangeShapeType="1"/>
              <a:stCxn id="36" idx="2"/>
              <a:endCxn id="39" idx="0"/>
            </p:cNvCxnSpPr>
            <p:nvPr/>
          </p:nvCxnSpPr>
          <p:spPr bwMode="auto">
            <a:xfrm>
              <a:off x="1909831" y="5126014"/>
              <a:ext cx="3578" cy="2503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45" name="Text Box 12"/>
            <p:cNvSpPr txBox="1">
              <a:spLocks noChangeArrowheads="1"/>
            </p:cNvSpPr>
            <p:nvPr/>
          </p:nvSpPr>
          <p:spPr bwMode="auto">
            <a:xfrm>
              <a:off x="2304006" y="5317378"/>
              <a:ext cx="374438" cy="6322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cxnSp>
          <p:nvCxnSpPr>
            <p:cNvPr id="46" name="AutoShape 24"/>
            <p:cNvCxnSpPr>
              <a:cxnSpLocks noChangeShapeType="1"/>
              <a:stCxn id="36" idx="2"/>
              <a:endCxn id="45" idx="0"/>
            </p:cNvCxnSpPr>
            <p:nvPr/>
          </p:nvCxnSpPr>
          <p:spPr bwMode="auto">
            <a:xfrm>
              <a:off x="1909831" y="5126013"/>
              <a:ext cx="581394" cy="1913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7" name="AutoShape 17"/>
            <p:cNvCxnSpPr>
              <a:cxnSpLocks noChangeShapeType="1"/>
              <a:stCxn id="35" idx="2"/>
              <a:endCxn id="48" idx="0"/>
            </p:cNvCxnSpPr>
            <p:nvPr/>
          </p:nvCxnSpPr>
          <p:spPr bwMode="auto">
            <a:xfrm>
              <a:off x="3317711" y="5069386"/>
              <a:ext cx="0" cy="253719"/>
            </a:xfrm>
            <a:prstGeom prst="straightConnector1">
              <a:avLst/>
            </a:prstGeom>
            <a:noFill/>
            <a:ln w="952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</p:spPr>
        </p:cxnSp>
        <p:sp>
          <p:nvSpPr>
            <p:cNvPr id="48" name="Text Box 8"/>
            <p:cNvSpPr txBox="1">
              <a:spLocks noChangeArrowheads="1"/>
            </p:cNvSpPr>
            <p:nvPr/>
          </p:nvSpPr>
          <p:spPr bwMode="auto">
            <a:xfrm>
              <a:off x="3088034" y="5323105"/>
              <a:ext cx="459354" cy="6322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49" name="Text Box 11"/>
            <p:cNvSpPr txBox="1">
              <a:spLocks noChangeArrowheads="1"/>
            </p:cNvSpPr>
            <p:nvPr/>
          </p:nvSpPr>
          <p:spPr bwMode="auto">
            <a:xfrm>
              <a:off x="1109162" y="6108675"/>
              <a:ext cx="459354" cy="6322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cxnSp>
          <p:nvCxnSpPr>
            <p:cNvPr id="50" name="AutoShape 21"/>
            <p:cNvCxnSpPr>
              <a:cxnSpLocks noChangeShapeType="1"/>
              <a:stCxn id="38" idx="2"/>
              <a:endCxn id="49" idx="0"/>
            </p:cNvCxnSpPr>
            <p:nvPr/>
          </p:nvCxnSpPr>
          <p:spPr bwMode="auto">
            <a:xfrm>
              <a:off x="1338839" y="5933481"/>
              <a:ext cx="0" cy="1751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</p:cxnSp>
        <p:sp>
          <p:nvSpPr>
            <p:cNvPr id="51" name="Text Box 12"/>
            <p:cNvSpPr txBox="1">
              <a:spLocks noChangeArrowheads="1"/>
            </p:cNvSpPr>
            <p:nvPr/>
          </p:nvSpPr>
          <p:spPr bwMode="auto">
            <a:xfrm>
              <a:off x="2259560" y="6155526"/>
              <a:ext cx="459354" cy="6322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cxnSp>
          <p:nvCxnSpPr>
            <p:cNvPr id="52" name="AutoShape 24"/>
            <p:cNvCxnSpPr>
              <a:cxnSpLocks noChangeShapeType="1"/>
              <a:stCxn id="45" idx="2"/>
              <a:endCxn id="51" idx="0"/>
            </p:cNvCxnSpPr>
            <p:nvPr/>
          </p:nvCxnSpPr>
          <p:spPr bwMode="auto">
            <a:xfrm flipH="1">
              <a:off x="2489237" y="5949650"/>
              <a:ext cx="1988" cy="2058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</p:cxnSp>
      </p:grpSp>
      <p:sp>
        <p:nvSpPr>
          <p:cNvPr id="6" name="Rectangle 5"/>
          <p:cNvSpPr/>
          <p:nvPr/>
        </p:nvSpPr>
        <p:spPr>
          <a:xfrm>
            <a:off x="6516151" y="161820"/>
            <a:ext cx="684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1800" dirty="0">
                <a:solidFill>
                  <a:schemeClr val="accent2"/>
                </a:solidFill>
                <a:latin typeface="Calibri" panose="020F0502020204030204" pitchFamily="34" charset="0"/>
              </a:rPr>
              <a:t>5-3-2</a:t>
            </a:r>
            <a:endParaRPr lang="en-CA" sz="1800" dirty="0">
              <a:latin typeface="Calibri" panose="020F0502020204030204" pitchFamily="34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439207" y="4683692"/>
            <a:ext cx="83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1800" dirty="0">
                <a:solidFill>
                  <a:schemeClr val="accent2"/>
                </a:solidFill>
                <a:latin typeface="Calibri" panose="020F0502020204030204" pitchFamily="34" charset="0"/>
              </a:rPr>
              <a:t>5-(3-2)</a:t>
            </a:r>
            <a:endParaRPr lang="en-CA" sz="1800" dirty="0">
              <a:latin typeface="Calibri" panose="020F0502020204030204" pitchFamily="34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6439207" y="2445366"/>
            <a:ext cx="83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1800" dirty="0">
                <a:solidFill>
                  <a:schemeClr val="accent2"/>
                </a:solidFill>
                <a:latin typeface="Calibri" panose="020F0502020204030204" pitchFamily="34" charset="0"/>
              </a:rPr>
              <a:t>(5-3)-2</a:t>
            </a:r>
            <a:endParaRPr lang="en-CA" sz="1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298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5" grpId="0"/>
      <p:bldP spid="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Recursion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CA" sz="2100" dirty="0"/>
                  <a:t>Grammar is </a:t>
                </a:r>
                <a:r>
                  <a:rPr lang="en-CA" sz="2100" dirty="0">
                    <a:solidFill>
                      <a:schemeClr val="accent2"/>
                    </a:solidFill>
                  </a:rPr>
                  <a:t>recursive</a:t>
                </a:r>
                <a:r>
                  <a:rPr lang="en-CA" sz="2100" dirty="0"/>
                  <a:t> in nonterminal X if: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sz="1800" i="1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𝑋</m:t>
                    </m:r>
                    <m:sSup>
                      <m:sSupPr>
                        <m:ctrlPr>
                          <a:rPr lang="en-CA" sz="1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800" dirty="0">
                            <a:sym typeface="Symbol" charset="2"/>
                          </a:rPr>
                          <m:t></m:t>
                        </m:r>
                      </m:e>
                      <m:sup>
                        <m:r>
                          <a:rPr lang="en-CA" sz="1800" i="1">
                            <a:solidFill>
                              <a:schemeClr val="accent2"/>
                            </a:solidFill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  <m:r>
                      <a:rPr lang="en-CA" sz="1800" i="1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… </m:t>
                    </m:r>
                    <m:r>
                      <a:rPr lang="en-CA" sz="1800" i="1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𝑋</m:t>
                    </m:r>
                    <m:r>
                      <a:rPr lang="en-CA" sz="1800" i="1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 …</m:t>
                    </m:r>
                  </m:oMath>
                </a14:m>
                <a:endParaRPr lang="en-CA" sz="1800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CA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>
                            <a:sym typeface="Symbol" charset="2"/>
                          </a:rPr>
                          <m:t></m:t>
                        </m:r>
                      </m:e>
                      <m:sup>
                        <m:r>
                          <a:rPr lang="en-CA" i="1">
                            <a:solidFill>
                              <a:schemeClr val="accent2"/>
                            </a:solidFill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CA" dirty="0"/>
                  <a:t> means in one or more steps, X derives a sequence of symbols that includes X</a:t>
                </a:r>
              </a:p>
              <a:p>
                <a:r>
                  <a:rPr lang="en-CA" sz="2100" dirty="0"/>
                  <a:t>Grammar is </a:t>
                </a:r>
                <a:r>
                  <a:rPr lang="en-CA" sz="2100" dirty="0">
                    <a:solidFill>
                      <a:schemeClr val="accent2"/>
                    </a:solidFill>
                  </a:rPr>
                  <a:t>left recursive</a:t>
                </a:r>
                <a:r>
                  <a:rPr lang="en-CA" sz="2100" dirty="0"/>
                  <a:t> in X if: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sz="1800" i="1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𝑋</m:t>
                    </m:r>
                    <m:sSup>
                      <m:sSupPr>
                        <m:ctrlPr>
                          <a:rPr lang="en-CA" sz="1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800" dirty="0">
                            <a:sym typeface="Symbol" charset="2"/>
                          </a:rPr>
                          <m:t></m:t>
                        </m:r>
                      </m:e>
                      <m:sup>
                        <m:r>
                          <a:rPr lang="en-CA" sz="1800" i="1">
                            <a:solidFill>
                              <a:schemeClr val="accent2"/>
                            </a:solidFill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  <m:r>
                      <a:rPr lang="en-CA" sz="1800" i="1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𝑋</m:t>
                    </m:r>
                    <m:r>
                      <a:rPr lang="en-CA" sz="1800" i="1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 …</m:t>
                    </m:r>
                  </m:oMath>
                </a14:m>
                <a:endParaRPr lang="en-CA" sz="1800" dirty="0">
                  <a:solidFill>
                    <a:schemeClr val="accent2"/>
                  </a:solidFill>
                  <a:ea typeface="Cambria Math"/>
                </a:endParaRPr>
              </a:p>
              <a:p>
                <a:pPr lvl="2"/>
                <a:r>
                  <a:rPr lang="en-CA" dirty="0"/>
                  <a:t>In one or more steps, X derives a sequence of symbols that </a:t>
                </a:r>
                <a:r>
                  <a:rPr lang="en-CA" dirty="0">
                    <a:solidFill>
                      <a:schemeClr val="accent2"/>
                    </a:solidFill>
                  </a:rPr>
                  <a:t>starts</a:t>
                </a:r>
                <a:r>
                  <a:rPr lang="en-CA" dirty="0"/>
                  <a:t> with X</a:t>
                </a:r>
              </a:p>
              <a:p>
                <a:r>
                  <a:rPr lang="en-CA" sz="2100" dirty="0"/>
                  <a:t>Grammar is </a:t>
                </a:r>
                <a:r>
                  <a:rPr lang="en-CA" sz="2100" dirty="0">
                    <a:solidFill>
                      <a:schemeClr val="accent2"/>
                    </a:solidFill>
                  </a:rPr>
                  <a:t>right recursive</a:t>
                </a:r>
                <a:r>
                  <a:rPr lang="en-CA" sz="2100" dirty="0"/>
                  <a:t> in X if: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sz="1800" i="1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𝑋</m:t>
                    </m:r>
                    <m:sSup>
                      <m:sSupPr>
                        <m:ctrlPr>
                          <a:rPr lang="en-CA" sz="1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800" dirty="0">
                            <a:sym typeface="Symbol" charset="2"/>
                          </a:rPr>
                          <m:t></m:t>
                        </m:r>
                      </m:e>
                      <m:sup>
                        <m:r>
                          <a:rPr lang="en-CA" sz="1800" i="1">
                            <a:solidFill>
                              <a:schemeClr val="accent2"/>
                            </a:solidFill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  <m:r>
                      <a:rPr lang="en-CA" sz="1800" i="1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…</m:t>
                    </m:r>
                    <m:r>
                      <a:rPr lang="en-CA" sz="1800" i="1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𝑋</m:t>
                    </m:r>
                  </m:oMath>
                </a14:m>
                <a:endParaRPr lang="en-CA" sz="1800" dirty="0">
                  <a:solidFill>
                    <a:schemeClr val="accent2"/>
                  </a:solidFill>
                  <a:ea typeface="Cambria Math"/>
                </a:endParaRPr>
              </a:p>
              <a:p>
                <a:pPr lvl="2"/>
                <a:r>
                  <a:rPr lang="en-CA" dirty="0"/>
                  <a:t>In one or more steps, X derives a sequence of symbols that </a:t>
                </a:r>
                <a:r>
                  <a:rPr lang="en-CA" dirty="0">
                    <a:solidFill>
                      <a:schemeClr val="accent2"/>
                    </a:solidFill>
                  </a:rPr>
                  <a:t>ends</a:t>
                </a:r>
                <a:r>
                  <a:rPr lang="en-CA" dirty="0"/>
                  <a:t> with X</a:t>
                </a:r>
              </a:p>
              <a:p>
                <a:endParaRPr lang="en-CA" dirty="0"/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2" t="-2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1BD-6681-B946-ACD9-A8F6D28AC38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904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Fix Associativity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CA" sz="2100" dirty="0"/>
              <a:t>Left and right recursive in non-terminals E and T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E </a:t>
            </a:r>
            <a:r>
              <a:rPr lang="en-US" sz="1800" dirty="0">
                <a:sym typeface="Symbol" charset="2"/>
              </a:rPr>
              <a:t> E - E	</a:t>
            </a:r>
            <a:r>
              <a:rPr lang="en-US" sz="1800" dirty="0"/>
              <a:t> 	E </a:t>
            </a:r>
            <a:r>
              <a:rPr lang="en-US" sz="1800" dirty="0">
                <a:sym typeface="Symbol" charset="2"/>
              </a:rPr>
              <a:t> T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ym typeface="Symbol" charset="2"/>
              </a:rPr>
              <a:t>T  T / T 	T  F 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ym typeface="Symbol" charset="2"/>
              </a:rPr>
              <a:t>F  </a:t>
            </a:r>
            <a:r>
              <a:rPr lang="en-US" sz="1800" b="1" dirty="0">
                <a:sym typeface="Symbol" charset="2"/>
              </a:rPr>
              <a:t>id</a:t>
            </a:r>
            <a:r>
              <a:rPr lang="en-US" sz="1800" dirty="0">
                <a:sym typeface="Symbol" charset="2"/>
              </a:rPr>
              <a:t>     	F  ( E )</a:t>
            </a:r>
            <a:endParaRPr lang="en-CA" sz="1800" dirty="0"/>
          </a:p>
          <a:p>
            <a:r>
              <a:rPr lang="en-CA" sz="2100" dirty="0"/>
              <a:t>Express operator associativity:</a:t>
            </a:r>
          </a:p>
          <a:p>
            <a:pPr lvl="1"/>
            <a:r>
              <a:rPr lang="en-CA" sz="1800" dirty="0">
                <a:solidFill>
                  <a:schemeClr val="accent2"/>
                </a:solidFill>
              </a:rPr>
              <a:t>For left associativity use left recursion</a:t>
            </a:r>
          </a:p>
          <a:p>
            <a:pPr lvl="1"/>
            <a:r>
              <a:rPr lang="en-CA" sz="1800" dirty="0">
                <a:solidFill>
                  <a:schemeClr val="accent2"/>
                </a:solidFill>
              </a:rPr>
              <a:t>For right associativity use right recursion</a:t>
            </a:r>
          </a:p>
          <a:p>
            <a:endParaRPr lang="en-CA" dirty="0">
              <a:solidFill>
                <a:schemeClr val="accent2"/>
              </a:solidFill>
            </a:endParaRPr>
          </a:p>
          <a:p>
            <a:endParaRPr lang="en-CA" dirty="0">
              <a:solidFill>
                <a:schemeClr val="accent2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D1A200-F1F0-C248-A742-A9D0437248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CA" dirty="0"/>
              <a:t>Unambiguous grammar</a:t>
            </a:r>
          </a:p>
          <a:p>
            <a:pPr lvl="1"/>
            <a:r>
              <a:rPr lang="en-US" dirty="0"/>
              <a:t>E </a:t>
            </a:r>
            <a:r>
              <a:rPr lang="en-US" dirty="0">
                <a:sym typeface="Symbol" charset="2"/>
              </a:rPr>
              <a:t> E - T	</a:t>
            </a:r>
            <a:r>
              <a:rPr lang="en-US" dirty="0"/>
              <a:t> 	E </a:t>
            </a:r>
            <a:r>
              <a:rPr lang="en-US" dirty="0">
                <a:sym typeface="Symbol" charset="2"/>
              </a:rPr>
              <a:t> T</a:t>
            </a:r>
          </a:p>
          <a:p>
            <a:pPr lvl="1"/>
            <a:r>
              <a:rPr lang="en-US" dirty="0">
                <a:sym typeface="Symbol" charset="2"/>
              </a:rPr>
              <a:t>T  T / F 	T  F </a:t>
            </a:r>
          </a:p>
          <a:p>
            <a:pPr lvl="1"/>
            <a:r>
              <a:rPr lang="en-US" dirty="0">
                <a:sym typeface="Symbol" charset="2"/>
              </a:rPr>
              <a:t>F  </a:t>
            </a:r>
            <a:r>
              <a:rPr lang="en-US" b="1" dirty="0">
                <a:sym typeface="Symbol" charset="2"/>
              </a:rPr>
              <a:t>id</a:t>
            </a:r>
            <a:r>
              <a:rPr lang="en-US" dirty="0">
                <a:sym typeface="Symbol" charset="2"/>
              </a:rPr>
              <a:t>     	F  ( E )</a:t>
            </a:r>
            <a:endParaRPr lang="en-CA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1BD-6681-B946-ACD9-A8F6D28AC38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Rectangular Callout 5">
            <a:extLst>
              <a:ext uri="{FF2B5EF4-FFF2-40B4-BE49-F238E27FC236}">
                <a16:creationId xmlns:a16="http://schemas.microsoft.com/office/drawing/2014/main" id="{B11CE37B-624C-814C-B28A-8EA90D177EC6}"/>
              </a:ext>
            </a:extLst>
          </p:cNvPr>
          <p:cNvSpPr/>
          <p:nvPr/>
        </p:nvSpPr>
        <p:spPr>
          <a:xfrm>
            <a:off x="4866130" y="3147814"/>
            <a:ext cx="2874222" cy="1586112"/>
          </a:xfrm>
          <a:prstGeom prst="wedgeRectCallout">
            <a:avLst>
              <a:gd name="adj1" fmla="val -16996"/>
              <a:gd name="adj2" fmla="val -660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Q: Using this CFG write down all possible leftmost derivations for each input string below: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id-id-id</a:t>
            </a:r>
            <a:r>
              <a:rPr lang="en-US" sz="1600" dirty="0"/>
              <a:t> 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id-id/id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(id-id)/id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35103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37" name="Rectangle 4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Precedence and Associativity</a:t>
            </a:r>
          </a:p>
        </p:txBody>
      </p:sp>
      <p:sp>
        <p:nvSpPr>
          <p:cNvPr id="132138" name="Rectangle 4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2100" dirty="0"/>
              <a:t>Original ambiguous grammar: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E </a:t>
            </a:r>
            <a:r>
              <a:rPr lang="en-US" sz="1800" dirty="0">
                <a:sym typeface="Symbol" charset="2"/>
              </a:rPr>
              <a:t> E + E          E  E * E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ym typeface="Symbol" charset="2"/>
              </a:rPr>
              <a:t>E  ( E )            E  - E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ym typeface="Symbol" charset="2"/>
              </a:rPr>
              <a:t>E  id</a:t>
            </a:r>
            <a:r>
              <a:rPr lang="en-US" sz="1800" dirty="0"/>
              <a:t> 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Unambiguous grammar: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E </a:t>
            </a:r>
            <a:r>
              <a:rPr lang="en-US" sz="1800" dirty="0">
                <a:sym typeface="Symbol" charset="2"/>
              </a:rPr>
              <a:t> E + T		T  T * F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E </a:t>
            </a:r>
            <a:r>
              <a:rPr lang="en-US" sz="1800" dirty="0">
                <a:sym typeface="Symbol" charset="2"/>
              </a:rPr>
              <a:t> T		T  F 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ym typeface="Symbol" charset="2"/>
              </a:rPr>
              <a:t>F  ( E )	              F  - E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ym typeface="Symbol" charset="2"/>
              </a:rPr>
              <a:t>F  id</a:t>
            </a:r>
            <a:r>
              <a:rPr lang="en-US" sz="1800" dirty="0"/>
              <a:t> 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Input: id + id * id</a:t>
            </a:r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8A65F-089F-6D4C-BE64-D207CF56F52E}" type="slidenum">
              <a:rPr lang="en-US"/>
              <a:pPr/>
              <a:t>9</a:t>
            </a:fld>
            <a:endParaRPr lang="en-US"/>
          </a:p>
        </p:txBody>
      </p:sp>
      <p:sp>
        <p:nvSpPr>
          <p:cNvPr id="132104" name="Text Box 8"/>
          <p:cNvSpPr txBox="1">
            <a:spLocks noChangeArrowheads="1"/>
          </p:cNvSpPr>
          <p:nvPr/>
        </p:nvSpPr>
        <p:spPr bwMode="auto">
          <a:xfrm>
            <a:off x="6552258" y="1249017"/>
            <a:ext cx="2968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</a:rPr>
              <a:t>E</a:t>
            </a:r>
          </a:p>
        </p:txBody>
      </p:sp>
      <p:grpSp>
        <p:nvGrpSpPr>
          <p:cNvPr id="132129" name="Group 33"/>
          <p:cNvGrpSpPr>
            <a:grpSpLocks/>
          </p:cNvGrpSpPr>
          <p:nvPr/>
        </p:nvGrpSpPr>
        <p:grpSpPr bwMode="auto">
          <a:xfrm>
            <a:off x="6140052" y="1618059"/>
            <a:ext cx="1243012" cy="621506"/>
            <a:chOff x="4197" y="1359"/>
            <a:chExt cx="1044" cy="522"/>
          </a:xfrm>
        </p:grpSpPr>
        <p:sp>
          <p:nvSpPr>
            <p:cNvPr id="132105" name="Text Box 9"/>
            <p:cNvSpPr txBox="1">
              <a:spLocks noChangeArrowheads="1"/>
            </p:cNvSpPr>
            <p:nvPr/>
          </p:nvSpPr>
          <p:spPr bwMode="auto">
            <a:xfrm>
              <a:off x="4197" y="1560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132106" name="Text Box 10"/>
            <p:cNvSpPr txBox="1">
              <a:spLocks noChangeArrowheads="1"/>
            </p:cNvSpPr>
            <p:nvPr/>
          </p:nvSpPr>
          <p:spPr bwMode="auto">
            <a:xfrm>
              <a:off x="4559" y="1571"/>
              <a:ext cx="22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dirty="0">
                  <a:latin typeface="Calibri" panose="020F0502020204030204" pitchFamily="34" charset="0"/>
                </a:rPr>
                <a:t>+</a:t>
              </a:r>
            </a:p>
          </p:txBody>
        </p:sp>
        <p:sp>
          <p:nvSpPr>
            <p:cNvPr id="132107" name="Text Box 11"/>
            <p:cNvSpPr txBox="1">
              <a:spLocks noChangeArrowheads="1"/>
            </p:cNvSpPr>
            <p:nvPr/>
          </p:nvSpPr>
          <p:spPr bwMode="auto">
            <a:xfrm>
              <a:off x="4992" y="1560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T</a:t>
              </a:r>
            </a:p>
          </p:txBody>
        </p:sp>
        <p:cxnSp>
          <p:nvCxnSpPr>
            <p:cNvPr id="132113" name="AutoShape 17"/>
            <p:cNvCxnSpPr>
              <a:cxnSpLocks noChangeShapeType="1"/>
              <a:stCxn id="132104" idx="2"/>
              <a:endCxn id="132105" idx="0"/>
            </p:cNvCxnSpPr>
            <p:nvPr/>
          </p:nvCxnSpPr>
          <p:spPr bwMode="auto">
            <a:xfrm flipH="1">
              <a:off x="4322" y="1359"/>
              <a:ext cx="346" cy="20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32114" name="AutoShape 18"/>
            <p:cNvCxnSpPr>
              <a:cxnSpLocks noChangeShapeType="1"/>
              <a:stCxn id="132104" idx="2"/>
              <a:endCxn id="132106" idx="0"/>
            </p:cNvCxnSpPr>
            <p:nvPr/>
          </p:nvCxnSpPr>
          <p:spPr bwMode="auto">
            <a:xfrm>
              <a:off x="4668" y="1359"/>
              <a:ext cx="4" cy="2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32115" name="AutoShape 19"/>
            <p:cNvCxnSpPr>
              <a:cxnSpLocks noChangeShapeType="1"/>
              <a:stCxn id="132104" idx="2"/>
              <a:endCxn id="132107" idx="0"/>
            </p:cNvCxnSpPr>
            <p:nvPr/>
          </p:nvCxnSpPr>
          <p:spPr bwMode="auto">
            <a:xfrm>
              <a:off x="4668" y="1359"/>
              <a:ext cx="449" cy="20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132130" name="Group 34"/>
          <p:cNvGrpSpPr>
            <a:grpSpLocks/>
          </p:cNvGrpSpPr>
          <p:nvPr/>
        </p:nvGrpSpPr>
        <p:grpSpPr bwMode="auto">
          <a:xfrm>
            <a:off x="6140045" y="2226468"/>
            <a:ext cx="296465" cy="542925"/>
            <a:chOff x="4197" y="1870"/>
            <a:chExt cx="249" cy="456"/>
          </a:xfrm>
        </p:grpSpPr>
        <p:sp>
          <p:nvSpPr>
            <p:cNvPr id="132108" name="Text Box 12"/>
            <p:cNvSpPr txBox="1">
              <a:spLocks noChangeArrowheads="1"/>
            </p:cNvSpPr>
            <p:nvPr/>
          </p:nvSpPr>
          <p:spPr bwMode="auto">
            <a:xfrm>
              <a:off x="4197" y="2016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T</a:t>
              </a:r>
            </a:p>
          </p:txBody>
        </p:sp>
        <p:cxnSp>
          <p:nvCxnSpPr>
            <p:cNvPr id="132116" name="AutoShape 20"/>
            <p:cNvCxnSpPr>
              <a:cxnSpLocks noChangeShapeType="1"/>
              <a:stCxn id="132105" idx="2"/>
              <a:endCxn id="132108" idx="0"/>
            </p:cNvCxnSpPr>
            <p:nvPr/>
          </p:nvCxnSpPr>
          <p:spPr bwMode="auto">
            <a:xfrm flipH="1">
              <a:off x="4322" y="1870"/>
              <a:ext cx="0" cy="14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132131" name="Group 35"/>
          <p:cNvGrpSpPr>
            <a:grpSpLocks/>
          </p:cNvGrpSpPr>
          <p:nvPr/>
        </p:nvGrpSpPr>
        <p:grpSpPr bwMode="auto">
          <a:xfrm>
            <a:off x="6146014" y="2769394"/>
            <a:ext cx="290514" cy="571500"/>
            <a:chOff x="4202" y="2326"/>
            <a:chExt cx="244" cy="480"/>
          </a:xfrm>
        </p:grpSpPr>
        <p:sp>
          <p:nvSpPr>
            <p:cNvPr id="132109" name="Text Box 13"/>
            <p:cNvSpPr txBox="1">
              <a:spLocks noChangeArrowheads="1"/>
            </p:cNvSpPr>
            <p:nvPr/>
          </p:nvSpPr>
          <p:spPr bwMode="auto">
            <a:xfrm>
              <a:off x="4202" y="2496"/>
              <a:ext cx="24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F</a:t>
              </a:r>
            </a:p>
          </p:txBody>
        </p:sp>
        <p:cxnSp>
          <p:nvCxnSpPr>
            <p:cNvPr id="132117" name="AutoShape 21"/>
            <p:cNvCxnSpPr>
              <a:cxnSpLocks noChangeShapeType="1"/>
              <a:stCxn id="132108" idx="2"/>
              <a:endCxn id="132109" idx="0"/>
            </p:cNvCxnSpPr>
            <p:nvPr/>
          </p:nvCxnSpPr>
          <p:spPr bwMode="auto">
            <a:xfrm>
              <a:off x="4321" y="2326"/>
              <a:ext cx="3" cy="17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132132" name="Group 36"/>
          <p:cNvGrpSpPr>
            <a:grpSpLocks/>
          </p:cNvGrpSpPr>
          <p:nvPr/>
        </p:nvGrpSpPr>
        <p:grpSpPr bwMode="auto">
          <a:xfrm>
            <a:off x="6115059" y="3340893"/>
            <a:ext cx="359570" cy="571500"/>
            <a:chOff x="4176" y="2806"/>
            <a:chExt cx="302" cy="480"/>
          </a:xfrm>
        </p:grpSpPr>
        <p:sp>
          <p:nvSpPr>
            <p:cNvPr id="132118" name="Text Box 22"/>
            <p:cNvSpPr txBox="1">
              <a:spLocks noChangeArrowheads="1"/>
            </p:cNvSpPr>
            <p:nvPr/>
          </p:nvSpPr>
          <p:spPr bwMode="auto">
            <a:xfrm>
              <a:off x="4176" y="2976"/>
              <a:ext cx="30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cxnSp>
          <p:nvCxnSpPr>
            <p:cNvPr id="132119" name="AutoShape 23"/>
            <p:cNvCxnSpPr>
              <a:cxnSpLocks noChangeShapeType="1"/>
              <a:stCxn id="132109" idx="2"/>
              <a:endCxn id="132118" idx="0"/>
            </p:cNvCxnSpPr>
            <p:nvPr/>
          </p:nvCxnSpPr>
          <p:spPr bwMode="auto">
            <a:xfrm>
              <a:off x="4324" y="2806"/>
              <a:ext cx="3" cy="17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132133" name="Group 37"/>
          <p:cNvGrpSpPr>
            <a:grpSpLocks/>
          </p:cNvGrpSpPr>
          <p:nvPr/>
        </p:nvGrpSpPr>
        <p:grpSpPr bwMode="auto">
          <a:xfrm>
            <a:off x="6715119" y="2226467"/>
            <a:ext cx="937021" cy="510778"/>
            <a:chOff x="4680" y="1870"/>
            <a:chExt cx="787" cy="429"/>
          </a:xfrm>
        </p:grpSpPr>
        <p:sp>
          <p:nvSpPr>
            <p:cNvPr id="132110" name="Text Box 14"/>
            <p:cNvSpPr txBox="1">
              <a:spLocks noChangeArrowheads="1"/>
            </p:cNvSpPr>
            <p:nvPr/>
          </p:nvSpPr>
          <p:spPr bwMode="auto">
            <a:xfrm>
              <a:off x="4680" y="1968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T</a:t>
              </a:r>
            </a:p>
          </p:txBody>
        </p:sp>
        <p:sp>
          <p:nvSpPr>
            <p:cNvPr id="132111" name="Text Box 15"/>
            <p:cNvSpPr txBox="1">
              <a:spLocks noChangeArrowheads="1"/>
            </p:cNvSpPr>
            <p:nvPr/>
          </p:nvSpPr>
          <p:spPr bwMode="auto">
            <a:xfrm>
              <a:off x="5223" y="1968"/>
              <a:ext cx="24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F</a:t>
              </a:r>
            </a:p>
          </p:txBody>
        </p:sp>
        <p:sp>
          <p:nvSpPr>
            <p:cNvPr id="132112" name="Text Box 16"/>
            <p:cNvSpPr txBox="1">
              <a:spLocks noChangeArrowheads="1"/>
            </p:cNvSpPr>
            <p:nvPr/>
          </p:nvSpPr>
          <p:spPr bwMode="auto">
            <a:xfrm>
              <a:off x="4995" y="1989"/>
              <a:ext cx="25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*</a:t>
              </a:r>
            </a:p>
          </p:txBody>
        </p:sp>
        <p:cxnSp>
          <p:nvCxnSpPr>
            <p:cNvPr id="132120" name="AutoShape 24"/>
            <p:cNvCxnSpPr>
              <a:cxnSpLocks noChangeShapeType="1"/>
              <a:stCxn id="132107" idx="2"/>
              <a:endCxn id="132110" idx="0"/>
            </p:cNvCxnSpPr>
            <p:nvPr/>
          </p:nvCxnSpPr>
          <p:spPr bwMode="auto">
            <a:xfrm flipH="1">
              <a:off x="4805" y="1870"/>
              <a:ext cx="312" cy="9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32121" name="AutoShape 25"/>
            <p:cNvCxnSpPr>
              <a:cxnSpLocks noChangeShapeType="1"/>
              <a:stCxn id="132107" idx="2"/>
              <a:endCxn id="132112" idx="0"/>
            </p:cNvCxnSpPr>
            <p:nvPr/>
          </p:nvCxnSpPr>
          <p:spPr bwMode="auto">
            <a:xfrm>
              <a:off x="5117" y="1870"/>
              <a:ext cx="4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32122" name="AutoShape 26"/>
            <p:cNvCxnSpPr>
              <a:cxnSpLocks noChangeShapeType="1"/>
              <a:stCxn id="132107" idx="2"/>
              <a:endCxn id="132111" idx="0"/>
            </p:cNvCxnSpPr>
            <p:nvPr/>
          </p:nvCxnSpPr>
          <p:spPr bwMode="auto">
            <a:xfrm>
              <a:off x="5117" y="1870"/>
              <a:ext cx="228" cy="9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132134" name="Group 38"/>
          <p:cNvGrpSpPr>
            <a:grpSpLocks/>
          </p:cNvGrpSpPr>
          <p:nvPr/>
        </p:nvGrpSpPr>
        <p:grpSpPr bwMode="auto">
          <a:xfrm>
            <a:off x="6721071" y="2712244"/>
            <a:ext cx="290512" cy="514350"/>
            <a:chOff x="4685" y="2278"/>
            <a:chExt cx="244" cy="432"/>
          </a:xfrm>
        </p:grpSpPr>
        <p:sp>
          <p:nvSpPr>
            <p:cNvPr id="132123" name="Text Box 27"/>
            <p:cNvSpPr txBox="1">
              <a:spLocks noChangeArrowheads="1"/>
            </p:cNvSpPr>
            <p:nvPr/>
          </p:nvSpPr>
          <p:spPr bwMode="auto">
            <a:xfrm>
              <a:off x="4685" y="2400"/>
              <a:ext cx="24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F</a:t>
              </a:r>
            </a:p>
          </p:txBody>
        </p:sp>
        <p:cxnSp>
          <p:nvCxnSpPr>
            <p:cNvPr id="132124" name="AutoShape 28"/>
            <p:cNvCxnSpPr>
              <a:cxnSpLocks noChangeShapeType="1"/>
              <a:stCxn id="132110" idx="2"/>
              <a:endCxn id="132123" idx="0"/>
            </p:cNvCxnSpPr>
            <p:nvPr/>
          </p:nvCxnSpPr>
          <p:spPr bwMode="auto">
            <a:xfrm>
              <a:off x="4805" y="2278"/>
              <a:ext cx="2" cy="12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132135" name="Group 39"/>
          <p:cNvGrpSpPr>
            <a:grpSpLocks/>
          </p:cNvGrpSpPr>
          <p:nvPr/>
        </p:nvGrpSpPr>
        <p:grpSpPr bwMode="auto">
          <a:xfrm>
            <a:off x="6688941" y="3226594"/>
            <a:ext cx="359570" cy="571500"/>
            <a:chOff x="4658" y="2710"/>
            <a:chExt cx="302" cy="480"/>
          </a:xfrm>
        </p:grpSpPr>
        <p:sp>
          <p:nvSpPr>
            <p:cNvPr id="132125" name="Text Box 29"/>
            <p:cNvSpPr txBox="1">
              <a:spLocks noChangeArrowheads="1"/>
            </p:cNvSpPr>
            <p:nvPr/>
          </p:nvSpPr>
          <p:spPr bwMode="auto">
            <a:xfrm>
              <a:off x="4658" y="2880"/>
              <a:ext cx="30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cxnSp>
          <p:nvCxnSpPr>
            <p:cNvPr id="132126" name="AutoShape 30"/>
            <p:cNvCxnSpPr>
              <a:cxnSpLocks noChangeShapeType="1"/>
              <a:stCxn id="132123" idx="2"/>
              <a:endCxn id="132125" idx="0"/>
            </p:cNvCxnSpPr>
            <p:nvPr/>
          </p:nvCxnSpPr>
          <p:spPr bwMode="auto">
            <a:xfrm>
              <a:off x="4807" y="2710"/>
              <a:ext cx="2" cy="17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132136" name="Group 40"/>
          <p:cNvGrpSpPr>
            <a:grpSpLocks/>
          </p:cNvGrpSpPr>
          <p:nvPr/>
        </p:nvGrpSpPr>
        <p:grpSpPr bwMode="auto">
          <a:xfrm>
            <a:off x="7329498" y="2712244"/>
            <a:ext cx="359570" cy="514350"/>
            <a:chOff x="5196" y="2278"/>
            <a:chExt cx="302" cy="432"/>
          </a:xfrm>
        </p:grpSpPr>
        <p:sp>
          <p:nvSpPr>
            <p:cNvPr id="132127" name="Text Box 31"/>
            <p:cNvSpPr txBox="1">
              <a:spLocks noChangeArrowheads="1"/>
            </p:cNvSpPr>
            <p:nvPr/>
          </p:nvSpPr>
          <p:spPr bwMode="auto">
            <a:xfrm>
              <a:off x="5196" y="2400"/>
              <a:ext cx="30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cxnSp>
          <p:nvCxnSpPr>
            <p:cNvPr id="132128" name="AutoShape 32"/>
            <p:cNvCxnSpPr>
              <a:cxnSpLocks noChangeShapeType="1"/>
              <a:stCxn id="132111" idx="2"/>
              <a:endCxn id="132127" idx="0"/>
            </p:cNvCxnSpPr>
            <p:nvPr/>
          </p:nvCxnSpPr>
          <p:spPr bwMode="auto">
            <a:xfrm>
              <a:off x="5345" y="2278"/>
              <a:ext cx="2" cy="12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132142" name="Group 46"/>
          <p:cNvGrpSpPr>
            <a:grpSpLocks/>
          </p:cNvGrpSpPr>
          <p:nvPr/>
        </p:nvGrpSpPr>
        <p:grpSpPr bwMode="auto">
          <a:xfrm>
            <a:off x="2627957" y="3587303"/>
            <a:ext cx="3956448" cy="1269208"/>
            <a:chOff x="1361" y="2754"/>
            <a:chExt cx="3323" cy="1066"/>
          </a:xfrm>
        </p:grpSpPr>
        <p:sp>
          <p:nvSpPr>
            <p:cNvPr id="132139" name="Rectangle 43"/>
            <p:cNvSpPr>
              <a:spLocks noChangeArrowheads="1"/>
            </p:cNvSpPr>
            <p:nvPr/>
          </p:nvSpPr>
          <p:spPr bwMode="auto">
            <a:xfrm>
              <a:off x="1361" y="2754"/>
              <a:ext cx="768" cy="288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132140" name="Text Box 44"/>
            <p:cNvSpPr txBox="1">
              <a:spLocks noChangeArrowheads="1"/>
            </p:cNvSpPr>
            <p:nvPr/>
          </p:nvSpPr>
          <p:spPr bwMode="auto">
            <a:xfrm>
              <a:off x="2078" y="3277"/>
              <a:ext cx="2606" cy="54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Warning! Is this unambiguous?</a:t>
              </a:r>
            </a:p>
            <a:p>
              <a:r>
                <a:rPr lang="en-US" sz="1800" dirty="0">
                  <a:latin typeface="Calibri" panose="020F0502020204030204" pitchFamily="34" charset="0"/>
                </a:rPr>
                <a:t>Check derivations for </a:t>
              </a:r>
              <a:r>
                <a:rPr lang="en-US" sz="1800" dirty="0">
                  <a:latin typeface="Consolas" panose="020B0609020204030204" pitchFamily="49" charset="0"/>
                  <a:cs typeface="Consolas" panose="020B0609020204030204" pitchFamily="49" charset="0"/>
                </a:rPr>
                <a:t>–</a:t>
              </a:r>
              <a:r>
                <a:rPr lang="en-US" sz="18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id+id</a:t>
              </a:r>
              <a:endParaRPr lang="en-US" sz="1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32141" name="AutoShape 45"/>
            <p:cNvCxnSpPr>
              <a:cxnSpLocks noChangeShapeType="1"/>
              <a:stCxn id="132140" idx="0"/>
              <a:endCxn id="132139" idx="3"/>
            </p:cNvCxnSpPr>
            <p:nvPr/>
          </p:nvCxnSpPr>
          <p:spPr bwMode="auto">
            <a:xfrm rot="16200000" flipV="1">
              <a:off x="2566" y="2461"/>
              <a:ext cx="379" cy="1252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sp>
        <p:nvSpPr>
          <p:cNvPr id="44" name="Rectangular Callout 43">
            <a:extLst>
              <a:ext uri="{FF2B5EF4-FFF2-40B4-BE49-F238E27FC236}">
                <a16:creationId xmlns:a16="http://schemas.microsoft.com/office/drawing/2014/main" id="{2DF43386-527C-ED45-85BE-5CD0954457C9}"/>
              </a:ext>
            </a:extLst>
          </p:cNvPr>
          <p:cNvSpPr/>
          <p:nvPr/>
        </p:nvSpPr>
        <p:spPr>
          <a:xfrm>
            <a:off x="6733927" y="4204371"/>
            <a:ext cx="1251745" cy="465340"/>
          </a:xfrm>
          <a:prstGeom prst="wedgeRectCallout">
            <a:avLst>
              <a:gd name="adj1" fmla="val -55225"/>
              <a:gd name="adj2" fmla="val -334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Q: </a:t>
            </a:r>
            <a:r>
              <a:rPr lang="en-US" sz="1600" dirty="0">
                <a:latin typeface="Calibri" panose="020F0502020204030204" pitchFamily="34" charset="0"/>
              </a:rPr>
              <a:t>Compare with F </a:t>
            </a:r>
            <a:r>
              <a:rPr lang="en-US" sz="1600" dirty="0">
                <a:latin typeface="Calibri" panose="020F0502020204030204" pitchFamily="34" charset="0"/>
                <a:sym typeface="Symbol" charset="2"/>
              </a:rPr>
              <a:t> - F</a:t>
            </a:r>
            <a:endParaRPr lang="en-US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6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38" grpId="0" build="p" autoUpdateAnimBg="0"/>
      <p:bldP spid="132104" grpId="0"/>
      <p:bldP spid="4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Dangling else ambiguity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Original Grammar (ambiguous)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800" dirty="0" err="1"/>
              <a:t>Stmt</a:t>
            </a:r>
            <a:r>
              <a:rPr lang="en-US" sz="1800" dirty="0"/>
              <a:t> </a:t>
            </a:r>
            <a:r>
              <a:rPr lang="en-US" sz="1800" b="1" dirty="0">
                <a:sym typeface="Symbol" charset="2"/>
              </a:rPr>
              <a:t>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b="1" dirty="0">
                <a:solidFill>
                  <a:schemeClr val="accent2"/>
                </a:solidFill>
                <a:sym typeface="Symbol" charset="2"/>
              </a:rPr>
              <a:t>if</a:t>
            </a:r>
            <a:r>
              <a:rPr lang="en-US" sz="1800" b="1" dirty="0">
                <a:sym typeface="Symbol" charset="2"/>
              </a:rPr>
              <a:t> </a:t>
            </a:r>
            <a:r>
              <a:rPr lang="en-US" sz="1800" dirty="0" err="1">
                <a:sym typeface="Symbol" charset="2"/>
              </a:rPr>
              <a:t>Expr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b="1" dirty="0">
                <a:solidFill>
                  <a:schemeClr val="accent2"/>
                </a:solidFill>
                <a:sym typeface="Symbol" charset="2"/>
              </a:rPr>
              <a:t>then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dirty="0" err="1">
                <a:sym typeface="Symbol" charset="2"/>
              </a:rPr>
              <a:t>Stmt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b="1" dirty="0">
                <a:solidFill>
                  <a:schemeClr val="accent2"/>
                </a:solidFill>
                <a:sym typeface="Symbol" charset="2"/>
              </a:rPr>
              <a:t>else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dirty="0" err="1">
                <a:sym typeface="Symbol" charset="2"/>
              </a:rPr>
              <a:t>Stmt</a:t>
            </a:r>
            <a:endParaRPr lang="en-US" sz="1800" dirty="0">
              <a:sym typeface="Symbol" charset="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800" dirty="0" err="1">
                <a:sym typeface="Symbol" charset="2"/>
              </a:rPr>
              <a:t>Stmt</a:t>
            </a:r>
            <a:r>
              <a:rPr lang="en-US" sz="1800" dirty="0"/>
              <a:t> </a:t>
            </a:r>
            <a:r>
              <a:rPr lang="en-US" sz="1800" b="1" dirty="0">
                <a:sym typeface="Symbol" charset="2"/>
              </a:rPr>
              <a:t>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b="1" dirty="0">
                <a:solidFill>
                  <a:schemeClr val="accent2"/>
                </a:solidFill>
                <a:sym typeface="Symbol" charset="2"/>
              </a:rPr>
              <a:t>if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dirty="0" err="1">
                <a:sym typeface="Symbol" charset="2"/>
              </a:rPr>
              <a:t>Expr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b="1" dirty="0">
                <a:solidFill>
                  <a:schemeClr val="accent2"/>
                </a:solidFill>
                <a:sym typeface="Symbol" charset="2"/>
              </a:rPr>
              <a:t>then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dirty="0" err="1">
                <a:sym typeface="Symbol" charset="2"/>
              </a:rPr>
              <a:t>Stmt</a:t>
            </a:r>
            <a:endParaRPr lang="en-US" sz="1800" dirty="0">
              <a:sym typeface="Symbol" charset="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800" dirty="0" err="1">
                <a:sym typeface="Symbol" charset="2"/>
              </a:rPr>
              <a:t>Stmt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b="1" dirty="0">
                <a:sym typeface="Symbol" charset="2"/>
              </a:rPr>
              <a:t></a:t>
            </a:r>
            <a:r>
              <a:rPr lang="en-US" sz="1800" dirty="0">
                <a:sym typeface="Symbol" charset="2"/>
              </a:rPr>
              <a:t> Other</a:t>
            </a:r>
          </a:p>
          <a:p>
            <a:pPr>
              <a:lnSpc>
                <a:spcPct val="90000"/>
              </a:lnSpc>
            </a:pPr>
            <a:r>
              <a:rPr lang="en-US" dirty="0">
                <a:sym typeface="Symbol" charset="2"/>
              </a:rPr>
              <a:t> </a:t>
            </a:r>
            <a:r>
              <a:rPr lang="en-US" dirty="0">
                <a:solidFill>
                  <a:schemeClr val="accent2"/>
                </a:solidFill>
                <a:sym typeface="Symbol" charset="2"/>
              </a:rPr>
              <a:t>if</a:t>
            </a:r>
            <a:r>
              <a:rPr lang="en-US" dirty="0">
                <a:sym typeface="Symbol" charset="2"/>
              </a:rPr>
              <a:t> E</a:t>
            </a:r>
            <a:r>
              <a:rPr lang="en-US" baseline="-25000" dirty="0">
                <a:sym typeface="Symbol" charset="2"/>
              </a:rPr>
              <a:t>1</a:t>
            </a:r>
            <a:r>
              <a:rPr lang="en-US" dirty="0">
                <a:sym typeface="Symbol" charset="2"/>
              </a:rPr>
              <a:t> </a:t>
            </a:r>
            <a:r>
              <a:rPr lang="en-US" dirty="0">
                <a:solidFill>
                  <a:schemeClr val="accent2"/>
                </a:solidFill>
                <a:sym typeface="Symbol" charset="2"/>
              </a:rPr>
              <a:t>then</a:t>
            </a:r>
            <a:r>
              <a:rPr lang="en-US" dirty="0">
                <a:sym typeface="Symbol" charset="2"/>
              </a:rPr>
              <a:t> </a:t>
            </a:r>
            <a:r>
              <a:rPr lang="en-US" dirty="0">
                <a:solidFill>
                  <a:schemeClr val="accent2"/>
                </a:solidFill>
                <a:sym typeface="Symbol" charset="2"/>
              </a:rPr>
              <a:t>if</a:t>
            </a:r>
            <a:r>
              <a:rPr lang="en-US" dirty="0">
                <a:sym typeface="Symbol" charset="2"/>
              </a:rPr>
              <a:t> E</a:t>
            </a:r>
            <a:r>
              <a:rPr lang="en-US" baseline="-25000" dirty="0">
                <a:sym typeface="Symbol" charset="2"/>
              </a:rPr>
              <a:t>2</a:t>
            </a:r>
            <a:r>
              <a:rPr lang="en-US" dirty="0">
                <a:sym typeface="Symbol" charset="2"/>
              </a:rPr>
              <a:t> </a:t>
            </a:r>
            <a:r>
              <a:rPr lang="en-US" dirty="0">
                <a:solidFill>
                  <a:schemeClr val="accent2"/>
                </a:solidFill>
                <a:sym typeface="Symbol" charset="2"/>
              </a:rPr>
              <a:t>then</a:t>
            </a:r>
            <a:r>
              <a:rPr lang="en-US" dirty="0">
                <a:sym typeface="Symbol" charset="2"/>
              </a:rPr>
              <a:t> E</a:t>
            </a:r>
            <a:r>
              <a:rPr lang="en-US" baseline="-25000" dirty="0">
                <a:sym typeface="Symbol" charset="2"/>
              </a:rPr>
              <a:t>3</a:t>
            </a:r>
            <a:r>
              <a:rPr lang="en-US" dirty="0">
                <a:sym typeface="Symbol" charset="2"/>
              </a:rPr>
              <a:t> </a:t>
            </a:r>
            <a:r>
              <a:rPr lang="en-US" dirty="0">
                <a:solidFill>
                  <a:schemeClr val="accent2"/>
                </a:solidFill>
                <a:sym typeface="Symbol" charset="2"/>
              </a:rPr>
              <a:t>else</a:t>
            </a:r>
            <a:r>
              <a:rPr lang="en-US" dirty="0">
                <a:sym typeface="Symbol" charset="2"/>
              </a:rPr>
              <a:t> E</a:t>
            </a:r>
            <a:r>
              <a:rPr lang="en-US" baseline="-25000" dirty="0">
                <a:sym typeface="Symbol" charset="2"/>
              </a:rPr>
              <a:t>4</a:t>
            </a:r>
            <a:r>
              <a:rPr lang="en-US" dirty="0">
                <a:sym typeface="Symbol" charset="2"/>
              </a:rPr>
              <a:t>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DC36A-F5D5-4F42-8A37-D23009BFA5B0}" type="slidenum">
              <a:rPr lang="en-US"/>
              <a:pPr/>
              <a:t>10</a:t>
            </a:fld>
            <a:endParaRPr lang="en-US" dirty="0"/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5160025" y="2923734"/>
            <a:ext cx="1966914" cy="1772842"/>
            <a:chOff x="3371" y="1670"/>
            <a:chExt cx="1652" cy="1489"/>
          </a:xfrm>
        </p:grpSpPr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3830" y="1670"/>
              <a:ext cx="25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  <a:latin typeface="Calibri" panose="020F0502020204030204" pitchFamily="34" charset="0"/>
                </a:rPr>
                <a:t>if</a:t>
              </a: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3371" y="2250"/>
              <a:ext cx="31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  <a:r>
                <a:rPr lang="en-US" sz="1800" baseline="-25000" dirty="0">
                  <a:latin typeface="Calibri" panose="020F0502020204030204" pitchFamily="34" charset="0"/>
                </a:rPr>
                <a:t>1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3851" y="2259"/>
              <a:ext cx="25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  <a:latin typeface="Calibri" panose="020F0502020204030204" pitchFamily="34" charset="0"/>
                </a:rPr>
                <a:t>if</a:t>
              </a:r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4350" y="2304"/>
              <a:ext cx="673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  <a:latin typeface="Calibri" panose="020F0502020204030204" pitchFamily="34" charset="0"/>
                </a:rPr>
                <a:t>else</a:t>
              </a:r>
              <a:r>
                <a:rPr lang="en-US" sz="1800" dirty="0">
                  <a:latin typeface="Calibri" panose="020F0502020204030204" pitchFamily="34" charset="0"/>
                </a:rPr>
                <a:t> E</a:t>
              </a:r>
              <a:r>
                <a:rPr lang="en-US" sz="1800" baseline="-25000" dirty="0">
                  <a:latin typeface="Calibri" panose="020F0502020204030204" pitchFamily="34" charset="0"/>
                </a:rPr>
                <a:t>4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3624" y="2839"/>
              <a:ext cx="31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  <a:r>
                <a:rPr lang="en-US" sz="1800" baseline="-25000" dirty="0">
                  <a:latin typeface="Calibri" panose="020F0502020204030204" pitchFamily="34" charset="0"/>
                </a:rPr>
                <a:t>2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4116" y="2849"/>
              <a:ext cx="31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  <a:r>
                <a:rPr lang="en-US" sz="1800" baseline="-25000" dirty="0">
                  <a:latin typeface="Calibri" panose="020F0502020204030204" pitchFamily="34" charset="0"/>
                </a:rPr>
                <a:t>3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  <p:cxnSp>
          <p:nvCxnSpPr>
            <p:cNvPr id="18" name="AutoShape 17"/>
            <p:cNvCxnSpPr>
              <a:cxnSpLocks noChangeShapeType="1"/>
              <a:stCxn id="8" idx="2"/>
              <a:endCxn id="9" idx="0"/>
            </p:cNvCxnSpPr>
            <p:nvPr/>
          </p:nvCxnSpPr>
          <p:spPr bwMode="auto">
            <a:xfrm flipH="1">
              <a:off x="3528" y="1980"/>
              <a:ext cx="432" cy="27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9" name="AutoShape 18"/>
            <p:cNvCxnSpPr>
              <a:cxnSpLocks noChangeShapeType="1"/>
              <a:stCxn id="8" idx="2"/>
              <a:endCxn id="11" idx="0"/>
            </p:cNvCxnSpPr>
            <p:nvPr/>
          </p:nvCxnSpPr>
          <p:spPr bwMode="auto">
            <a:xfrm>
              <a:off x="3959" y="1980"/>
              <a:ext cx="727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0" name="AutoShape 19"/>
            <p:cNvCxnSpPr>
              <a:cxnSpLocks noChangeShapeType="1"/>
              <a:stCxn id="8" idx="2"/>
              <a:endCxn id="10" idx="0"/>
            </p:cNvCxnSpPr>
            <p:nvPr/>
          </p:nvCxnSpPr>
          <p:spPr bwMode="auto">
            <a:xfrm>
              <a:off x="3959" y="1980"/>
              <a:ext cx="21" cy="27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2" name="AutoShape 21"/>
            <p:cNvCxnSpPr>
              <a:cxnSpLocks noChangeShapeType="1"/>
              <a:stCxn id="10" idx="2"/>
              <a:endCxn id="12" idx="0"/>
            </p:cNvCxnSpPr>
            <p:nvPr/>
          </p:nvCxnSpPr>
          <p:spPr bwMode="auto">
            <a:xfrm flipH="1">
              <a:off x="3781" y="2569"/>
              <a:ext cx="200" cy="27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5" name="AutoShape 24"/>
            <p:cNvCxnSpPr>
              <a:cxnSpLocks noChangeShapeType="1"/>
              <a:stCxn id="10" idx="2"/>
              <a:endCxn id="13" idx="0"/>
            </p:cNvCxnSpPr>
            <p:nvPr/>
          </p:nvCxnSpPr>
          <p:spPr bwMode="auto">
            <a:xfrm>
              <a:off x="3980" y="2569"/>
              <a:ext cx="292" cy="2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3" name="Group 2"/>
          <p:cNvGrpSpPr/>
          <p:nvPr/>
        </p:nvGrpSpPr>
        <p:grpSpPr>
          <a:xfrm>
            <a:off x="4923686" y="682612"/>
            <a:ext cx="2107416" cy="1773080"/>
            <a:chOff x="5279480" y="4119709"/>
            <a:chExt cx="2809887" cy="2364108"/>
          </a:xfrm>
        </p:grpSpPr>
        <p:grpSp>
          <p:nvGrpSpPr>
            <p:cNvPr id="27" name="Group 26"/>
            <p:cNvGrpSpPr>
              <a:grpSpLocks/>
            </p:cNvGrpSpPr>
            <p:nvPr/>
          </p:nvGrpSpPr>
          <p:grpSpPr bwMode="auto">
            <a:xfrm>
              <a:off x="5279480" y="4119709"/>
              <a:ext cx="1590675" cy="2363790"/>
              <a:chOff x="3371" y="1670"/>
              <a:chExt cx="1002" cy="1489"/>
            </a:xfrm>
          </p:grpSpPr>
          <p:sp>
            <p:nvSpPr>
              <p:cNvPr id="28" name="Text Box 7"/>
              <p:cNvSpPr txBox="1">
                <a:spLocks noChangeArrowheads="1"/>
              </p:cNvSpPr>
              <p:nvPr/>
            </p:nvSpPr>
            <p:spPr bwMode="auto">
              <a:xfrm>
                <a:off x="3830" y="1670"/>
                <a:ext cx="259" cy="3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800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if</a:t>
                </a:r>
              </a:p>
            </p:txBody>
          </p:sp>
          <p:sp>
            <p:nvSpPr>
              <p:cNvPr id="29" name="Text Box 8"/>
              <p:cNvSpPr txBox="1">
                <a:spLocks noChangeArrowheads="1"/>
              </p:cNvSpPr>
              <p:nvPr/>
            </p:nvSpPr>
            <p:spPr bwMode="auto">
              <a:xfrm>
                <a:off x="3371" y="2250"/>
                <a:ext cx="314" cy="3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800" dirty="0">
                    <a:latin typeface="Calibri" panose="020F0502020204030204" pitchFamily="34" charset="0"/>
                  </a:rPr>
                  <a:t>E</a:t>
                </a:r>
                <a:r>
                  <a:rPr lang="en-US" sz="1800" baseline="-25000" dirty="0">
                    <a:latin typeface="Calibri" panose="020F0502020204030204" pitchFamily="34" charset="0"/>
                  </a:rPr>
                  <a:t>1</a:t>
                </a:r>
                <a:endParaRPr lang="en-US" sz="18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30" name="Text Box 9"/>
              <p:cNvSpPr txBox="1">
                <a:spLocks noChangeArrowheads="1"/>
              </p:cNvSpPr>
              <p:nvPr/>
            </p:nvSpPr>
            <p:spPr bwMode="auto">
              <a:xfrm>
                <a:off x="4105" y="2259"/>
                <a:ext cx="259" cy="3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800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if</a:t>
                </a:r>
              </a:p>
            </p:txBody>
          </p:sp>
          <p:sp>
            <p:nvSpPr>
              <p:cNvPr id="32" name="Text Box 11"/>
              <p:cNvSpPr txBox="1">
                <a:spLocks noChangeArrowheads="1"/>
              </p:cNvSpPr>
              <p:nvPr/>
            </p:nvSpPr>
            <p:spPr bwMode="auto">
              <a:xfrm>
                <a:off x="3624" y="2839"/>
                <a:ext cx="314" cy="3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800" dirty="0">
                    <a:latin typeface="Calibri" panose="020F0502020204030204" pitchFamily="34" charset="0"/>
                  </a:rPr>
                  <a:t>E</a:t>
                </a:r>
                <a:r>
                  <a:rPr lang="en-US" sz="1800" baseline="-25000" dirty="0">
                    <a:latin typeface="Calibri" panose="020F0502020204030204" pitchFamily="34" charset="0"/>
                  </a:rPr>
                  <a:t>2</a:t>
                </a:r>
                <a:endParaRPr lang="en-US" sz="18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33" name="Text Box 12"/>
              <p:cNvSpPr txBox="1">
                <a:spLocks noChangeArrowheads="1"/>
              </p:cNvSpPr>
              <p:nvPr/>
            </p:nvSpPr>
            <p:spPr bwMode="auto">
              <a:xfrm>
                <a:off x="4059" y="2849"/>
                <a:ext cx="314" cy="3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800" dirty="0">
                    <a:latin typeface="Calibri" panose="020F0502020204030204" pitchFamily="34" charset="0"/>
                  </a:rPr>
                  <a:t>E</a:t>
                </a:r>
                <a:r>
                  <a:rPr lang="en-US" sz="1800" baseline="-25000" dirty="0">
                    <a:latin typeface="Calibri" panose="020F0502020204030204" pitchFamily="34" charset="0"/>
                  </a:rPr>
                  <a:t>3</a:t>
                </a:r>
                <a:endParaRPr lang="en-US" sz="1800" dirty="0">
                  <a:latin typeface="Calibri" panose="020F0502020204030204" pitchFamily="34" charset="0"/>
                </a:endParaRPr>
              </a:p>
            </p:txBody>
          </p:sp>
          <p:cxnSp>
            <p:nvCxnSpPr>
              <p:cNvPr id="34" name="AutoShape 17"/>
              <p:cNvCxnSpPr>
                <a:cxnSpLocks noChangeShapeType="1"/>
                <a:stCxn id="28" idx="2"/>
                <a:endCxn id="29" idx="0"/>
              </p:cNvCxnSpPr>
              <p:nvPr/>
            </p:nvCxnSpPr>
            <p:spPr bwMode="auto">
              <a:xfrm flipH="1">
                <a:off x="3528" y="1980"/>
                <a:ext cx="432" cy="27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6" name="AutoShape 19"/>
              <p:cNvCxnSpPr>
                <a:cxnSpLocks noChangeShapeType="1"/>
                <a:stCxn id="28" idx="2"/>
                <a:endCxn id="30" idx="0"/>
              </p:cNvCxnSpPr>
              <p:nvPr/>
            </p:nvCxnSpPr>
            <p:spPr bwMode="auto">
              <a:xfrm>
                <a:off x="3960" y="1980"/>
                <a:ext cx="275" cy="27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7" name="AutoShape 21"/>
              <p:cNvCxnSpPr>
                <a:cxnSpLocks noChangeShapeType="1"/>
                <a:stCxn id="30" idx="2"/>
                <a:endCxn id="32" idx="0"/>
              </p:cNvCxnSpPr>
              <p:nvPr/>
            </p:nvCxnSpPr>
            <p:spPr bwMode="auto">
              <a:xfrm flipH="1">
                <a:off x="3781" y="2569"/>
                <a:ext cx="454" cy="27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8" name="AutoShape 24"/>
              <p:cNvCxnSpPr>
                <a:cxnSpLocks noChangeShapeType="1"/>
                <a:stCxn id="30" idx="2"/>
                <a:endCxn id="33" idx="0"/>
              </p:cNvCxnSpPr>
              <p:nvPr/>
            </p:nvCxnSpPr>
            <p:spPr bwMode="auto">
              <a:xfrm flipH="1">
                <a:off x="4216" y="2569"/>
                <a:ext cx="19" cy="2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</p:grpSp>
        <p:sp>
          <p:nvSpPr>
            <p:cNvPr id="39" name="Text Box 12"/>
            <p:cNvSpPr txBox="1">
              <a:spLocks noChangeArrowheads="1"/>
            </p:cNvSpPr>
            <p:nvPr/>
          </p:nvSpPr>
          <p:spPr bwMode="auto">
            <a:xfrm>
              <a:off x="7020270" y="5991374"/>
              <a:ext cx="1069097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  <a:latin typeface="Calibri" panose="020F0502020204030204" pitchFamily="34" charset="0"/>
                </a:rPr>
                <a:t>else</a:t>
              </a:r>
              <a:r>
                <a:rPr lang="en-US" sz="1800" dirty="0">
                  <a:latin typeface="Calibri" panose="020F0502020204030204" pitchFamily="34" charset="0"/>
                </a:rPr>
                <a:t> E</a:t>
              </a:r>
              <a:r>
                <a:rPr lang="en-US" sz="1800" baseline="-25000" dirty="0">
                  <a:latin typeface="Calibri" panose="020F0502020204030204" pitchFamily="34" charset="0"/>
                </a:rPr>
                <a:t>4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  <p:cxnSp>
          <p:nvCxnSpPr>
            <p:cNvPr id="40" name="AutoShape 24"/>
            <p:cNvCxnSpPr>
              <a:cxnSpLocks noChangeShapeType="1"/>
              <a:stCxn id="30" idx="2"/>
              <a:endCxn id="39" idx="0"/>
            </p:cNvCxnSpPr>
            <p:nvPr/>
          </p:nvCxnSpPr>
          <p:spPr bwMode="auto">
            <a:xfrm>
              <a:off x="6650286" y="5546874"/>
              <a:ext cx="904533" cy="4445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35" name="Rectangle 34"/>
          <p:cNvSpPr/>
          <p:nvPr/>
        </p:nvSpPr>
        <p:spPr>
          <a:xfrm>
            <a:off x="861666" y="3629991"/>
            <a:ext cx="2905795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100" dirty="0">
                <a:solidFill>
                  <a:schemeClr val="accent2"/>
                </a:solidFill>
                <a:latin typeface="Calibri" panose="020F0502020204030204" pitchFamily="34" charset="0"/>
              </a:rPr>
              <a:t>else</a:t>
            </a:r>
            <a:r>
              <a:rPr lang="en-US" sz="2100" dirty="0">
                <a:latin typeface="Calibri" panose="020F0502020204030204" pitchFamily="34" charset="0"/>
              </a:rPr>
              <a:t> matches the closest </a:t>
            </a:r>
          </a:p>
          <a:p>
            <a:pPr algn="ctr"/>
            <a:r>
              <a:rPr lang="en-US" sz="2100" dirty="0">
                <a:latin typeface="Calibri" panose="020F0502020204030204" pitchFamily="34" charset="0"/>
              </a:rPr>
              <a:t>unmatched </a:t>
            </a:r>
            <a:r>
              <a:rPr lang="en-US" sz="2100" dirty="0">
                <a:solidFill>
                  <a:schemeClr val="accent2"/>
                </a:solidFill>
                <a:latin typeface="Calibri" panose="020F0502020204030204" pitchFamily="34" charset="0"/>
              </a:rPr>
              <a:t>then</a:t>
            </a:r>
            <a:endParaRPr lang="en-CA" sz="2100" dirty="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uiExpand="1" build="p" autoUpdateAnimBg="0"/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Dangling else ambiguity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369218"/>
            <a:ext cx="7886700" cy="357879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100" dirty="0"/>
              <a:t>Original Grammar (ambiguous)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800" dirty="0" err="1"/>
              <a:t>Stmt</a:t>
            </a:r>
            <a:r>
              <a:rPr lang="en-US" sz="1800" dirty="0"/>
              <a:t> </a:t>
            </a:r>
            <a:r>
              <a:rPr lang="en-US" sz="1800" b="1" dirty="0">
                <a:sym typeface="Symbol" charset="2"/>
              </a:rPr>
              <a:t>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b="1" dirty="0">
                <a:solidFill>
                  <a:schemeClr val="accent2"/>
                </a:solidFill>
                <a:sym typeface="Symbol" charset="2"/>
              </a:rPr>
              <a:t>if</a:t>
            </a:r>
            <a:r>
              <a:rPr lang="en-US" sz="1800" b="1" dirty="0">
                <a:sym typeface="Symbol" charset="2"/>
              </a:rPr>
              <a:t> </a:t>
            </a:r>
            <a:r>
              <a:rPr lang="en-US" sz="1800" dirty="0" err="1">
                <a:sym typeface="Symbol" charset="2"/>
              </a:rPr>
              <a:t>Expr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b="1" dirty="0">
                <a:solidFill>
                  <a:schemeClr val="accent2"/>
                </a:solidFill>
                <a:sym typeface="Symbol" charset="2"/>
              </a:rPr>
              <a:t>then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dirty="0" err="1">
                <a:sym typeface="Symbol" charset="2"/>
              </a:rPr>
              <a:t>Stmt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b="1" dirty="0">
                <a:solidFill>
                  <a:schemeClr val="accent2"/>
                </a:solidFill>
                <a:sym typeface="Symbol" charset="2"/>
              </a:rPr>
              <a:t>else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dirty="0" err="1">
                <a:sym typeface="Symbol" charset="2"/>
              </a:rPr>
              <a:t>Stmt</a:t>
            </a:r>
            <a:endParaRPr lang="en-US" sz="1800" dirty="0">
              <a:sym typeface="Symbol" charset="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800" dirty="0" err="1">
                <a:sym typeface="Symbol" charset="2"/>
              </a:rPr>
              <a:t>Stmt</a:t>
            </a:r>
            <a:r>
              <a:rPr lang="en-US" sz="1800" dirty="0"/>
              <a:t> </a:t>
            </a:r>
            <a:r>
              <a:rPr lang="en-US" sz="1800" b="1" dirty="0">
                <a:sym typeface="Symbol" charset="2"/>
              </a:rPr>
              <a:t>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b="1" dirty="0">
                <a:solidFill>
                  <a:schemeClr val="accent2"/>
                </a:solidFill>
                <a:sym typeface="Symbol" charset="2"/>
              </a:rPr>
              <a:t>if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dirty="0" err="1">
                <a:sym typeface="Symbol" charset="2"/>
              </a:rPr>
              <a:t>Expr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b="1" dirty="0">
                <a:solidFill>
                  <a:schemeClr val="accent2"/>
                </a:solidFill>
                <a:sym typeface="Symbol" charset="2"/>
              </a:rPr>
              <a:t>then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dirty="0" err="1">
                <a:sym typeface="Symbol" charset="2"/>
              </a:rPr>
              <a:t>Stmt</a:t>
            </a:r>
            <a:endParaRPr lang="en-US" sz="1800" dirty="0">
              <a:sym typeface="Symbol" charset="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800" dirty="0" err="1">
                <a:sym typeface="Symbol" charset="2"/>
              </a:rPr>
              <a:t>Stmt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b="1" dirty="0">
                <a:sym typeface="Symbol" charset="2"/>
              </a:rPr>
              <a:t></a:t>
            </a:r>
            <a:r>
              <a:rPr lang="en-US" sz="1800" dirty="0">
                <a:sym typeface="Symbol" charset="2"/>
              </a:rPr>
              <a:t> Other</a:t>
            </a:r>
            <a:endParaRPr lang="en-US" sz="1500" dirty="0">
              <a:sym typeface="Symbol" charset="2"/>
            </a:endParaRPr>
          </a:p>
          <a:p>
            <a:pPr>
              <a:lnSpc>
                <a:spcPct val="90000"/>
              </a:lnSpc>
            </a:pPr>
            <a:r>
              <a:rPr lang="en-US" sz="2100" dirty="0">
                <a:sym typeface="Symbol" charset="2"/>
              </a:rPr>
              <a:t>Unambiguous grammar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500" dirty="0" err="1"/>
              <a:t>Stmt</a:t>
            </a:r>
            <a:r>
              <a:rPr lang="en-US" sz="1500" dirty="0"/>
              <a:t> </a:t>
            </a:r>
            <a:r>
              <a:rPr lang="en-US" sz="1500" b="1" dirty="0">
                <a:sym typeface="Symbol" charset="2"/>
              </a:rPr>
              <a:t></a:t>
            </a:r>
            <a:r>
              <a:rPr lang="en-US" sz="1500" dirty="0">
                <a:sym typeface="Symbol" charset="2"/>
              </a:rPr>
              <a:t> </a:t>
            </a:r>
            <a:r>
              <a:rPr lang="en-US" sz="1500" dirty="0" err="1">
                <a:sym typeface="Symbol" charset="2"/>
              </a:rPr>
              <a:t>MatchedStmt</a:t>
            </a:r>
            <a:r>
              <a:rPr lang="en-US" sz="1500" dirty="0">
                <a:sym typeface="Symbol" charset="2"/>
              </a:rPr>
              <a:t>              /*all </a:t>
            </a:r>
            <a:r>
              <a:rPr lang="en-US" sz="1500" dirty="0">
                <a:solidFill>
                  <a:schemeClr val="accent2"/>
                </a:solidFill>
                <a:sym typeface="Symbol" charset="2"/>
              </a:rPr>
              <a:t>then</a:t>
            </a:r>
            <a:r>
              <a:rPr lang="en-US" sz="1500" dirty="0">
                <a:sym typeface="Symbol" charset="2"/>
              </a:rPr>
              <a:t> are matched*/        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500" dirty="0" err="1">
                <a:sym typeface="Symbol" charset="2"/>
              </a:rPr>
              <a:t>Stmt</a:t>
            </a:r>
            <a:r>
              <a:rPr lang="en-US" sz="1500" dirty="0">
                <a:sym typeface="Symbol" charset="2"/>
              </a:rPr>
              <a:t> </a:t>
            </a:r>
            <a:r>
              <a:rPr lang="en-US" sz="1500" b="1" dirty="0">
                <a:sym typeface="Symbol" charset="2"/>
              </a:rPr>
              <a:t></a:t>
            </a:r>
            <a:r>
              <a:rPr lang="en-US" sz="1500" dirty="0">
                <a:sym typeface="Symbol" charset="2"/>
              </a:rPr>
              <a:t> </a:t>
            </a:r>
            <a:r>
              <a:rPr lang="en-US" sz="1500" dirty="0" err="1">
                <a:sym typeface="Symbol" charset="2"/>
              </a:rPr>
              <a:t>UnmatchedStmt</a:t>
            </a:r>
            <a:r>
              <a:rPr lang="en-US" sz="1500" dirty="0">
                <a:sym typeface="Symbol" charset="2"/>
              </a:rPr>
              <a:t>        /*some </a:t>
            </a:r>
            <a:r>
              <a:rPr lang="en-US" sz="1500" dirty="0">
                <a:solidFill>
                  <a:schemeClr val="accent2"/>
                </a:solidFill>
                <a:sym typeface="Symbol" charset="2"/>
              </a:rPr>
              <a:t>then</a:t>
            </a:r>
            <a:r>
              <a:rPr lang="en-US" sz="1500" dirty="0">
                <a:sym typeface="Symbol" charset="2"/>
              </a:rPr>
              <a:t> are unmatched*/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500" dirty="0" err="1">
                <a:sym typeface="Symbol" charset="2"/>
              </a:rPr>
              <a:t>MatchedStmt</a:t>
            </a:r>
            <a:r>
              <a:rPr lang="en-US" sz="1500" dirty="0">
                <a:sym typeface="Symbol" charset="2"/>
              </a:rPr>
              <a:t> </a:t>
            </a:r>
            <a:r>
              <a:rPr lang="en-US" sz="1500" b="1" dirty="0">
                <a:sym typeface="Symbol" charset="2"/>
              </a:rPr>
              <a:t></a:t>
            </a:r>
            <a:r>
              <a:rPr lang="en-US" sz="1500" dirty="0">
                <a:sym typeface="Symbol" charset="2"/>
              </a:rPr>
              <a:t> </a:t>
            </a:r>
            <a:r>
              <a:rPr lang="en-US" sz="1500" b="1" dirty="0">
                <a:solidFill>
                  <a:schemeClr val="accent2"/>
                </a:solidFill>
                <a:sym typeface="Symbol" charset="2"/>
              </a:rPr>
              <a:t>if</a:t>
            </a:r>
            <a:r>
              <a:rPr lang="en-US" sz="1500" b="1" dirty="0">
                <a:sym typeface="Symbol" charset="2"/>
              </a:rPr>
              <a:t> </a:t>
            </a:r>
            <a:r>
              <a:rPr lang="en-US" sz="1500" dirty="0" err="1">
                <a:sym typeface="Symbol" charset="2"/>
              </a:rPr>
              <a:t>Expr</a:t>
            </a:r>
            <a:r>
              <a:rPr lang="en-US" sz="1500" dirty="0">
                <a:sym typeface="Symbol" charset="2"/>
              </a:rPr>
              <a:t> </a:t>
            </a:r>
            <a:r>
              <a:rPr lang="en-US" sz="1500" b="1" dirty="0">
                <a:solidFill>
                  <a:schemeClr val="accent2"/>
                </a:solidFill>
                <a:sym typeface="Symbol" charset="2"/>
              </a:rPr>
              <a:t>then</a:t>
            </a:r>
            <a:r>
              <a:rPr lang="en-US" sz="1500" dirty="0">
                <a:sym typeface="Symbol" charset="2"/>
              </a:rPr>
              <a:t> </a:t>
            </a:r>
            <a:r>
              <a:rPr lang="en-US" sz="1500" dirty="0" err="1">
                <a:sym typeface="Symbol" charset="2"/>
              </a:rPr>
              <a:t>MatchedStmt</a:t>
            </a:r>
            <a:r>
              <a:rPr lang="en-US" sz="1500" dirty="0">
                <a:sym typeface="Symbol" charset="2"/>
              </a:rPr>
              <a:t> </a:t>
            </a:r>
            <a:r>
              <a:rPr lang="en-US" sz="1500" b="1" dirty="0">
                <a:solidFill>
                  <a:schemeClr val="accent2"/>
                </a:solidFill>
                <a:sym typeface="Symbol" charset="2"/>
              </a:rPr>
              <a:t>else</a:t>
            </a:r>
            <a:r>
              <a:rPr lang="en-US" sz="1500" dirty="0">
                <a:sym typeface="Symbol" charset="2"/>
              </a:rPr>
              <a:t> </a:t>
            </a:r>
            <a:r>
              <a:rPr lang="en-US" sz="1500" dirty="0" err="1">
                <a:sym typeface="Symbol" charset="2"/>
              </a:rPr>
              <a:t>MatchedStmt</a:t>
            </a:r>
            <a:endParaRPr lang="en-US" sz="1500" dirty="0">
              <a:sym typeface="Symbol" charset="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500" dirty="0" err="1"/>
              <a:t>MatchedStmt</a:t>
            </a:r>
            <a:r>
              <a:rPr lang="en-US" sz="1500" dirty="0"/>
              <a:t> </a:t>
            </a:r>
            <a:r>
              <a:rPr lang="en-US" sz="1500" b="1" dirty="0">
                <a:sym typeface="Symbol" charset="2"/>
              </a:rPr>
              <a:t></a:t>
            </a:r>
            <a:r>
              <a:rPr lang="en-US" sz="1500" dirty="0">
                <a:sym typeface="Symbol" charset="2"/>
              </a:rPr>
              <a:t> Other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500" dirty="0" err="1">
                <a:sym typeface="Symbol" charset="2"/>
              </a:rPr>
              <a:t>UnmatchedStmt</a:t>
            </a:r>
            <a:r>
              <a:rPr lang="en-US" sz="1500" dirty="0"/>
              <a:t> </a:t>
            </a:r>
            <a:r>
              <a:rPr lang="en-US" sz="1500" b="1" dirty="0">
                <a:sym typeface="Symbol" charset="2"/>
              </a:rPr>
              <a:t> </a:t>
            </a:r>
            <a:r>
              <a:rPr lang="en-US" sz="1500" b="1" dirty="0">
                <a:solidFill>
                  <a:schemeClr val="accent2"/>
                </a:solidFill>
                <a:sym typeface="Symbol" charset="2"/>
              </a:rPr>
              <a:t>if</a:t>
            </a:r>
            <a:r>
              <a:rPr lang="en-US" sz="1500" b="1" dirty="0">
                <a:sym typeface="Symbol" charset="2"/>
              </a:rPr>
              <a:t> </a:t>
            </a:r>
            <a:r>
              <a:rPr lang="en-US" sz="1500" dirty="0" err="1">
                <a:sym typeface="Symbol" charset="2"/>
              </a:rPr>
              <a:t>Expr</a:t>
            </a:r>
            <a:r>
              <a:rPr lang="en-US" sz="1500" dirty="0">
                <a:sym typeface="Symbol" charset="2"/>
              </a:rPr>
              <a:t> </a:t>
            </a:r>
            <a:r>
              <a:rPr lang="en-US" sz="1500" b="1" dirty="0">
                <a:solidFill>
                  <a:schemeClr val="accent2"/>
                </a:solidFill>
                <a:sym typeface="Symbol" charset="2"/>
              </a:rPr>
              <a:t>then</a:t>
            </a:r>
            <a:r>
              <a:rPr lang="en-US" sz="1500" dirty="0">
                <a:sym typeface="Symbol" charset="2"/>
              </a:rPr>
              <a:t> </a:t>
            </a:r>
            <a:r>
              <a:rPr lang="en-US" sz="1500" dirty="0" err="1">
                <a:sym typeface="Symbol" charset="2"/>
              </a:rPr>
              <a:t>Stmt</a:t>
            </a:r>
            <a:endParaRPr lang="en-US" sz="1500" dirty="0">
              <a:sym typeface="Symbol" charset="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500" dirty="0" err="1">
                <a:sym typeface="Symbol" charset="2"/>
              </a:rPr>
              <a:t>UnmatchedStmt</a:t>
            </a:r>
            <a:r>
              <a:rPr lang="en-US" sz="1500" dirty="0"/>
              <a:t> </a:t>
            </a:r>
            <a:r>
              <a:rPr lang="en-US" sz="1500" b="1" dirty="0">
                <a:sym typeface="Symbol" charset="2"/>
              </a:rPr>
              <a:t> </a:t>
            </a:r>
            <a:r>
              <a:rPr lang="en-US" sz="1500" b="1" dirty="0">
                <a:solidFill>
                  <a:schemeClr val="accent2"/>
                </a:solidFill>
                <a:sym typeface="Symbol" charset="2"/>
              </a:rPr>
              <a:t>if</a:t>
            </a:r>
            <a:r>
              <a:rPr lang="en-US" sz="1500" b="1" dirty="0">
                <a:sym typeface="Symbol" charset="2"/>
              </a:rPr>
              <a:t> </a:t>
            </a:r>
            <a:r>
              <a:rPr lang="en-US" sz="1500" dirty="0" err="1">
                <a:sym typeface="Symbol" charset="2"/>
              </a:rPr>
              <a:t>Expr</a:t>
            </a:r>
            <a:r>
              <a:rPr lang="en-US" sz="1500" dirty="0">
                <a:sym typeface="Symbol" charset="2"/>
              </a:rPr>
              <a:t> </a:t>
            </a:r>
            <a:r>
              <a:rPr lang="en-US" sz="1500" b="1" dirty="0">
                <a:solidFill>
                  <a:schemeClr val="accent2"/>
                </a:solidFill>
                <a:sym typeface="Symbol" charset="2"/>
              </a:rPr>
              <a:t>then</a:t>
            </a:r>
            <a:r>
              <a:rPr lang="en-US" sz="1500" dirty="0">
                <a:sym typeface="Symbol" charset="2"/>
              </a:rPr>
              <a:t> </a:t>
            </a:r>
            <a:r>
              <a:rPr lang="en-US" sz="1500" dirty="0" err="1">
                <a:sym typeface="Symbol" charset="2"/>
              </a:rPr>
              <a:t>MatchedStmt</a:t>
            </a:r>
            <a:r>
              <a:rPr lang="en-US" sz="1500" dirty="0">
                <a:sym typeface="Symbol" charset="2"/>
              </a:rPr>
              <a:t> </a:t>
            </a:r>
            <a:r>
              <a:rPr lang="en-US" sz="1500" b="1" dirty="0">
                <a:solidFill>
                  <a:schemeClr val="accent2"/>
                </a:solidFill>
                <a:sym typeface="Symbol" charset="2"/>
              </a:rPr>
              <a:t>else</a:t>
            </a:r>
            <a:r>
              <a:rPr lang="en-US" sz="1500" dirty="0">
                <a:sym typeface="Symbol" charset="2"/>
              </a:rPr>
              <a:t> </a:t>
            </a:r>
            <a:r>
              <a:rPr lang="en-US" sz="1500" dirty="0" err="1">
                <a:sym typeface="Symbol" charset="2"/>
              </a:rPr>
              <a:t>UnmatchedStmt</a:t>
            </a:r>
            <a:endParaRPr lang="en-US" sz="1500" dirty="0">
              <a:sym typeface="Symbol" charset="2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E1FC-A366-FC4B-A361-FC3B4E4900C8}" type="slidenum">
              <a:rPr lang="en-US"/>
              <a:pPr/>
              <a:t>11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046873" y="2193708"/>
            <a:ext cx="2905795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100" dirty="0">
                <a:solidFill>
                  <a:schemeClr val="accent2"/>
                </a:solidFill>
                <a:latin typeface="Calibri" panose="020F0502020204030204" pitchFamily="34" charset="0"/>
              </a:rPr>
              <a:t>else</a:t>
            </a:r>
            <a:r>
              <a:rPr lang="en-US" sz="2100" dirty="0">
                <a:latin typeface="Calibri" panose="020F0502020204030204" pitchFamily="34" charset="0"/>
              </a:rPr>
              <a:t> matches the closest </a:t>
            </a:r>
          </a:p>
          <a:p>
            <a:pPr algn="ctr"/>
            <a:r>
              <a:rPr lang="en-US" sz="2100" dirty="0">
                <a:latin typeface="Calibri" panose="020F0502020204030204" pitchFamily="34" charset="0"/>
              </a:rPr>
              <a:t>unmatched </a:t>
            </a:r>
            <a:r>
              <a:rPr lang="en-US" sz="2100" dirty="0">
                <a:solidFill>
                  <a:schemeClr val="accent2"/>
                </a:solidFill>
                <a:latin typeface="Calibri" panose="020F0502020204030204" pitchFamily="34" charset="0"/>
              </a:rPr>
              <a:t>then</a:t>
            </a:r>
            <a:endParaRPr lang="en-CA" sz="2100" dirty="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uiExpand="1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Dangling else ambiguity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700" dirty="0"/>
              <a:t>Check unambiguous dangling-else grammar with the following inputs: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ym typeface="Symbol" charset="2"/>
              </a:rPr>
              <a:t>if Expr then </a:t>
            </a:r>
            <a:r>
              <a:rPr lang="en-US" sz="2000" dirty="0">
                <a:solidFill>
                  <a:schemeClr val="accent2"/>
                </a:solidFill>
                <a:sym typeface="Symbol" charset="2"/>
              </a:rPr>
              <a:t>if</a:t>
            </a:r>
            <a:r>
              <a:rPr lang="en-US" sz="2000" dirty="0">
                <a:sym typeface="Symbol" charset="2"/>
              </a:rPr>
              <a:t> Expr then Other </a:t>
            </a:r>
            <a:r>
              <a:rPr lang="en-US" sz="2000" dirty="0">
                <a:solidFill>
                  <a:schemeClr val="accent2"/>
                </a:solidFill>
                <a:sym typeface="Symbol" charset="2"/>
              </a:rPr>
              <a:t>else</a:t>
            </a:r>
            <a:r>
              <a:rPr lang="en-US" sz="2000" dirty="0">
                <a:sym typeface="Symbol" charset="2"/>
              </a:rPr>
              <a:t> Other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rgbClr val="808000"/>
                </a:solidFill>
                <a:sym typeface="Symbol" charset="2"/>
              </a:rPr>
              <a:t>if</a:t>
            </a:r>
            <a:r>
              <a:rPr lang="en-US" sz="2000" dirty="0">
                <a:sym typeface="Symbol" charset="2"/>
              </a:rPr>
              <a:t> Expr then </a:t>
            </a:r>
            <a:r>
              <a:rPr lang="en-US" sz="2000" dirty="0">
                <a:solidFill>
                  <a:schemeClr val="accent2"/>
                </a:solidFill>
                <a:sym typeface="Symbol" charset="2"/>
              </a:rPr>
              <a:t>if </a:t>
            </a:r>
            <a:r>
              <a:rPr lang="en-US" sz="2000" dirty="0">
                <a:sym typeface="Symbol" charset="2"/>
              </a:rPr>
              <a:t>Expr then Other</a:t>
            </a:r>
            <a:r>
              <a:rPr lang="en-US" sz="2000" dirty="0">
                <a:solidFill>
                  <a:schemeClr val="accent2"/>
                </a:solidFill>
                <a:sym typeface="Symbol" charset="2"/>
              </a:rPr>
              <a:t> else </a:t>
            </a:r>
            <a:r>
              <a:rPr lang="en-US" sz="2000" dirty="0">
                <a:sym typeface="Symbol" charset="2"/>
              </a:rPr>
              <a:t>Other </a:t>
            </a:r>
            <a:r>
              <a:rPr lang="en-US" sz="2000" dirty="0">
                <a:solidFill>
                  <a:srgbClr val="808000"/>
                </a:solidFill>
                <a:sym typeface="Symbol" charset="2"/>
              </a:rPr>
              <a:t>else</a:t>
            </a:r>
            <a:r>
              <a:rPr lang="en-US" sz="2000" dirty="0">
                <a:sym typeface="Symbol" charset="2"/>
              </a:rPr>
              <a:t> Other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ym typeface="Symbol" charset="2"/>
              </a:rPr>
              <a:t>if Expr then </a:t>
            </a:r>
            <a:r>
              <a:rPr lang="en-US" sz="2000" dirty="0">
                <a:solidFill>
                  <a:srgbClr val="808000"/>
                </a:solidFill>
                <a:sym typeface="Symbol" charset="2"/>
              </a:rPr>
              <a:t>if </a:t>
            </a:r>
            <a:r>
              <a:rPr lang="en-US" sz="2000" dirty="0">
                <a:sym typeface="Symbol" charset="2"/>
              </a:rPr>
              <a:t>Expr then Other</a:t>
            </a:r>
            <a:r>
              <a:rPr lang="en-US" sz="2000" dirty="0">
                <a:solidFill>
                  <a:srgbClr val="808000"/>
                </a:solidFill>
                <a:sym typeface="Symbol" charset="2"/>
              </a:rPr>
              <a:t> else</a:t>
            </a:r>
            <a:r>
              <a:rPr lang="en-US" sz="2000" dirty="0">
                <a:sym typeface="Symbol" charset="2"/>
              </a:rPr>
              <a:t> </a:t>
            </a:r>
            <a:r>
              <a:rPr lang="en-US" sz="2000" dirty="0">
                <a:solidFill>
                  <a:schemeClr val="accent2"/>
                </a:solidFill>
                <a:sym typeface="Symbol" charset="2"/>
              </a:rPr>
              <a:t>if </a:t>
            </a:r>
            <a:r>
              <a:rPr lang="en-US" sz="2000" dirty="0">
                <a:sym typeface="Symbol" charset="2"/>
              </a:rPr>
              <a:t>Expr then Other</a:t>
            </a:r>
            <a:r>
              <a:rPr lang="en-US" sz="2000" dirty="0">
                <a:solidFill>
                  <a:schemeClr val="accent2"/>
                </a:solidFill>
                <a:sym typeface="Symbol" charset="2"/>
              </a:rPr>
              <a:t> else </a:t>
            </a:r>
            <a:r>
              <a:rPr lang="en-US" sz="2000" dirty="0">
                <a:sym typeface="Symbol" charset="2"/>
              </a:rPr>
              <a:t>Other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56CC-244D-734D-BCCA-A740593180F2}" type="slidenum">
              <a:rPr lang="en-US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7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Precedence and Associativity Declaration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Impossible to automatically convert an ambiguous grammar to an unambiguous one</a:t>
            </a:r>
          </a:p>
          <a:p>
            <a:r>
              <a:rPr lang="en-CA" dirty="0"/>
              <a:t>Used with care, potentially ambiguous grammars can be useful: </a:t>
            </a:r>
          </a:p>
          <a:p>
            <a:pPr lvl="1"/>
            <a:r>
              <a:rPr lang="en-CA" dirty="0">
                <a:solidFill>
                  <a:schemeClr val="accent2"/>
                </a:solidFill>
              </a:rPr>
              <a:t>Allows a grammar that is easier to read for humans</a:t>
            </a:r>
          </a:p>
          <a:p>
            <a:pPr lvl="1"/>
            <a:r>
              <a:rPr lang="en-CA" dirty="0">
                <a:solidFill>
                  <a:schemeClr val="accent2"/>
                </a:solidFill>
              </a:rPr>
              <a:t>However it needs disambiguation mechanisms like precedence &amp; associativity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1BD-6681-B946-ACD9-A8F6D28AC38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579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Precedence and Associativity Declaration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Instead of re-writing the grammar </a:t>
            </a:r>
          </a:p>
          <a:p>
            <a:pPr lvl="1"/>
            <a:r>
              <a:rPr lang="en-CA" dirty="0"/>
              <a:t>Use the more natural (ambiguous) grammar</a:t>
            </a:r>
          </a:p>
          <a:p>
            <a:pPr lvl="1"/>
            <a:r>
              <a:rPr lang="en-CA" dirty="0"/>
              <a:t>Along with disambiguation declarations</a:t>
            </a:r>
          </a:p>
          <a:p>
            <a:r>
              <a:rPr lang="en-CA" dirty="0"/>
              <a:t>Most tools allow </a:t>
            </a:r>
            <a:r>
              <a:rPr lang="en-CA" dirty="0">
                <a:solidFill>
                  <a:schemeClr val="accent2"/>
                </a:solidFill>
              </a:rPr>
              <a:t>precedence and associativity declaration</a:t>
            </a:r>
            <a:r>
              <a:rPr lang="en-CA" dirty="0"/>
              <a:t> to disambiguate grammars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1BD-6681-B946-ACD9-A8F6D28AC38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670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Associativity Declaration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CA" dirty="0"/>
                  <a:t>Consider the grammar:</a:t>
                </a:r>
              </a:p>
              <a:p>
                <a:pPr lvl="1"/>
                <a:r>
                  <a:rPr lang="en-CA" dirty="0">
                    <a:solidFill>
                      <a:schemeClr val="accent2"/>
                    </a:solidFill>
                  </a:rPr>
                  <a:t>E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CA" dirty="0">
                    <a:solidFill>
                      <a:schemeClr val="accent2"/>
                    </a:solidFill>
                  </a:rPr>
                  <a:t> E - E | </a:t>
                </a:r>
                <a:r>
                  <a:rPr lang="en-CA" dirty="0" err="1">
                    <a:solidFill>
                      <a:schemeClr val="accent2"/>
                    </a:solidFill>
                  </a:rPr>
                  <a:t>int</a:t>
                </a:r>
                <a:endParaRPr lang="en-CA" dirty="0"/>
              </a:p>
              <a:p>
                <a:r>
                  <a:rPr lang="en-CA" dirty="0"/>
                  <a:t>Ambiguous: two parse trees  </a:t>
                </a:r>
                <a:r>
                  <a:rPr lang="en-CA" dirty="0" err="1">
                    <a:solidFill>
                      <a:schemeClr val="accent2"/>
                    </a:solidFill>
                  </a:rPr>
                  <a:t>int</a:t>
                </a:r>
                <a:r>
                  <a:rPr lang="en-CA" dirty="0">
                    <a:solidFill>
                      <a:schemeClr val="accent2"/>
                    </a:solidFill>
                  </a:rPr>
                  <a:t> - </a:t>
                </a:r>
                <a:r>
                  <a:rPr lang="en-CA" dirty="0" err="1">
                    <a:solidFill>
                      <a:schemeClr val="accent2"/>
                    </a:solidFill>
                  </a:rPr>
                  <a:t>int</a:t>
                </a:r>
                <a:r>
                  <a:rPr lang="en-CA" dirty="0">
                    <a:solidFill>
                      <a:schemeClr val="accent2"/>
                    </a:solidFill>
                  </a:rPr>
                  <a:t> - </a:t>
                </a:r>
                <a:r>
                  <a:rPr lang="en-CA" dirty="0" err="1">
                    <a:solidFill>
                      <a:schemeClr val="accent2"/>
                    </a:solidFill>
                  </a:rPr>
                  <a:t>int</a:t>
                </a:r>
                <a:endParaRPr lang="en-CA" dirty="0">
                  <a:solidFill>
                    <a:schemeClr val="accent2"/>
                  </a:solidFill>
                </a:endParaRPr>
              </a:p>
              <a:p>
                <a:endParaRPr lang="en-CA" dirty="0">
                  <a:solidFill>
                    <a:schemeClr val="accent2"/>
                  </a:solidFill>
                </a:endParaRPr>
              </a:p>
              <a:p>
                <a:endParaRPr lang="en-CA" dirty="0">
                  <a:solidFill>
                    <a:schemeClr val="accent2"/>
                  </a:solidFill>
                </a:endParaRPr>
              </a:p>
              <a:p>
                <a:endParaRPr lang="en-CA" dirty="0">
                  <a:solidFill>
                    <a:schemeClr val="accent2"/>
                  </a:solidFill>
                </a:endParaRPr>
              </a:p>
              <a:p>
                <a:endParaRPr lang="en-CA" dirty="0">
                  <a:solidFill>
                    <a:schemeClr val="accent2"/>
                  </a:solidFill>
                </a:endParaRPr>
              </a:p>
              <a:p>
                <a:endParaRPr lang="en-CA" dirty="0">
                  <a:solidFill>
                    <a:schemeClr val="tx2"/>
                  </a:solidFill>
                </a:endParaRPr>
              </a:p>
              <a:p>
                <a:r>
                  <a:rPr lang="en-CA" dirty="0">
                    <a:solidFill>
                      <a:schemeClr val="tx2"/>
                    </a:solidFill>
                  </a:rPr>
                  <a:t>Left associativity declaration:</a:t>
                </a:r>
                <a:r>
                  <a:rPr lang="en-CA" dirty="0">
                    <a:solidFill>
                      <a:schemeClr val="accent2"/>
                    </a:solidFill>
                  </a:rPr>
                  <a:t> %left -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2" t="-3502" b="-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1BD-6681-B946-ACD9-A8F6D28AC38D}" type="slidenum">
              <a:rPr lang="en-US" smtClean="0"/>
              <a:pPr/>
              <a:t>15</a:t>
            </a:fld>
            <a:endParaRPr lang="en-US"/>
          </a:p>
        </p:txBody>
      </p:sp>
      <p:grpSp>
        <p:nvGrpSpPr>
          <p:cNvPr id="54" name="Group 53"/>
          <p:cNvGrpSpPr/>
          <p:nvPr/>
        </p:nvGrpSpPr>
        <p:grpSpPr>
          <a:xfrm>
            <a:off x="5067915" y="2517745"/>
            <a:ext cx="2174887" cy="1712167"/>
            <a:chOff x="4927623" y="3687415"/>
            <a:chExt cx="2699127" cy="3029829"/>
          </a:xfrm>
        </p:grpSpPr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5757915" y="3687415"/>
              <a:ext cx="368436" cy="653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5012848" y="4479504"/>
              <a:ext cx="368436" cy="653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6542730" y="4536132"/>
              <a:ext cx="368436" cy="653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5779798" y="4565228"/>
              <a:ext cx="324669" cy="653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-</a:t>
              </a: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6020960" y="5343598"/>
              <a:ext cx="368436" cy="653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6564614" y="5359473"/>
              <a:ext cx="324669" cy="653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-</a:t>
              </a:r>
            </a:p>
          </p:txBody>
        </p:sp>
        <p:cxnSp>
          <p:nvCxnSpPr>
            <p:cNvPr id="13" name="AutoShape 17"/>
            <p:cNvCxnSpPr>
              <a:cxnSpLocks noChangeShapeType="1"/>
              <a:stCxn id="7" idx="2"/>
              <a:endCxn id="8" idx="0"/>
            </p:cNvCxnSpPr>
            <p:nvPr/>
          </p:nvCxnSpPr>
          <p:spPr bwMode="auto">
            <a:xfrm flipH="1">
              <a:off x="5197066" y="4340980"/>
              <a:ext cx="745067" cy="13852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" name="AutoShape 18"/>
            <p:cNvCxnSpPr>
              <a:cxnSpLocks noChangeShapeType="1"/>
              <a:stCxn id="7" idx="2"/>
              <a:endCxn id="10" idx="0"/>
            </p:cNvCxnSpPr>
            <p:nvPr/>
          </p:nvCxnSpPr>
          <p:spPr bwMode="auto">
            <a:xfrm>
              <a:off x="5942133" y="4340980"/>
              <a:ext cx="0" cy="2242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" name="AutoShape 19"/>
            <p:cNvCxnSpPr>
              <a:cxnSpLocks noChangeShapeType="1"/>
              <a:stCxn id="7" idx="2"/>
              <a:endCxn id="9" idx="0"/>
            </p:cNvCxnSpPr>
            <p:nvPr/>
          </p:nvCxnSpPr>
          <p:spPr bwMode="auto">
            <a:xfrm>
              <a:off x="5942133" y="4340980"/>
              <a:ext cx="784815" cy="19515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" name="AutoShape 21"/>
            <p:cNvCxnSpPr>
              <a:cxnSpLocks noChangeShapeType="1"/>
              <a:stCxn id="9" idx="2"/>
              <a:endCxn id="11" idx="0"/>
            </p:cNvCxnSpPr>
            <p:nvPr/>
          </p:nvCxnSpPr>
          <p:spPr bwMode="auto">
            <a:xfrm flipH="1">
              <a:off x="6205178" y="5189697"/>
              <a:ext cx="521770" cy="15390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" name="AutoShape 24"/>
            <p:cNvCxnSpPr>
              <a:cxnSpLocks noChangeShapeType="1"/>
              <a:stCxn id="9" idx="2"/>
              <a:endCxn id="12" idx="0"/>
            </p:cNvCxnSpPr>
            <p:nvPr/>
          </p:nvCxnSpPr>
          <p:spPr bwMode="auto">
            <a:xfrm>
              <a:off x="6726948" y="5189697"/>
              <a:ext cx="0" cy="1697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8" name="Text Box 12"/>
            <p:cNvSpPr txBox="1">
              <a:spLocks noChangeArrowheads="1"/>
            </p:cNvSpPr>
            <p:nvPr/>
          </p:nvSpPr>
          <p:spPr bwMode="auto">
            <a:xfrm>
              <a:off x="7173088" y="5359769"/>
              <a:ext cx="368436" cy="653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cxnSp>
          <p:nvCxnSpPr>
            <p:cNvPr id="19" name="AutoShape 24"/>
            <p:cNvCxnSpPr>
              <a:cxnSpLocks noChangeShapeType="1"/>
              <a:stCxn id="9" idx="2"/>
              <a:endCxn id="18" idx="0"/>
            </p:cNvCxnSpPr>
            <p:nvPr/>
          </p:nvCxnSpPr>
          <p:spPr bwMode="auto">
            <a:xfrm>
              <a:off x="6726948" y="5189697"/>
              <a:ext cx="630358" cy="1700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1" name="AutoShape 17"/>
            <p:cNvCxnSpPr>
              <a:cxnSpLocks noChangeShapeType="1"/>
              <a:stCxn id="8" idx="2"/>
              <a:endCxn id="22" idx="0"/>
            </p:cNvCxnSpPr>
            <p:nvPr/>
          </p:nvCxnSpPr>
          <p:spPr bwMode="auto">
            <a:xfrm>
              <a:off x="5197066" y="5133069"/>
              <a:ext cx="1" cy="13852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2" name="Text Box 8"/>
            <p:cNvSpPr txBox="1">
              <a:spLocks noChangeArrowheads="1"/>
            </p:cNvSpPr>
            <p:nvPr/>
          </p:nvSpPr>
          <p:spPr bwMode="auto">
            <a:xfrm>
              <a:off x="4927623" y="5271590"/>
              <a:ext cx="538887" cy="653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 err="1">
                  <a:latin typeface="Calibri" panose="020F0502020204030204" pitchFamily="34" charset="0"/>
                </a:rPr>
                <a:t>int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25" name="Text Box 11"/>
            <p:cNvSpPr txBox="1">
              <a:spLocks noChangeArrowheads="1"/>
            </p:cNvSpPr>
            <p:nvPr/>
          </p:nvSpPr>
          <p:spPr bwMode="auto">
            <a:xfrm>
              <a:off x="5935735" y="6063679"/>
              <a:ext cx="538887" cy="653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 err="1">
                  <a:latin typeface="Calibri" panose="020F0502020204030204" pitchFamily="34" charset="0"/>
                </a:rPr>
                <a:t>int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  <p:cxnSp>
          <p:nvCxnSpPr>
            <p:cNvPr id="26" name="AutoShape 21"/>
            <p:cNvCxnSpPr>
              <a:cxnSpLocks noChangeShapeType="1"/>
              <a:stCxn id="11" idx="2"/>
              <a:endCxn id="25" idx="0"/>
            </p:cNvCxnSpPr>
            <p:nvPr/>
          </p:nvCxnSpPr>
          <p:spPr bwMode="auto">
            <a:xfrm>
              <a:off x="6205178" y="5997164"/>
              <a:ext cx="1" cy="665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9" name="Text Box 12"/>
            <p:cNvSpPr txBox="1">
              <a:spLocks noChangeArrowheads="1"/>
            </p:cNvSpPr>
            <p:nvPr/>
          </p:nvSpPr>
          <p:spPr bwMode="auto">
            <a:xfrm>
              <a:off x="7087863" y="6063679"/>
              <a:ext cx="538887" cy="653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 err="1">
                  <a:latin typeface="Calibri" panose="020F0502020204030204" pitchFamily="34" charset="0"/>
                </a:rPr>
                <a:t>int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  <p:cxnSp>
          <p:nvCxnSpPr>
            <p:cNvPr id="30" name="AutoShape 24"/>
            <p:cNvCxnSpPr>
              <a:cxnSpLocks noChangeShapeType="1"/>
              <a:stCxn id="18" idx="2"/>
              <a:endCxn id="29" idx="0"/>
            </p:cNvCxnSpPr>
            <p:nvPr/>
          </p:nvCxnSpPr>
          <p:spPr bwMode="auto">
            <a:xfrm>
              <a:off x="7357306" y="6013334"/>
              <a:ext cx="1" cy="5034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53" name="Group 52"/>
          <p:cNvGrpSpPr/>
          <p:nvPr/>
        </p:nvGrpSpPr>
        <p:grpSpPr>
          <a:xfrm>
            <a:off x="2357754" y="2463739"/>
            <a:ext cx="2012494" cy="1757389"/>
            <a:chOff x="1115616" y="3645024"/>
            <a:chExt cx="2538280" cy="3008539"/>
          </a:xfrm>
        </p:grpSpPr>
        <p:sp>
          <p:nvSpPr>
            <p:cNvPr id="34" name="Text Box 7"/>
            <p:cNvSpPr txBox="1">
              <a:spLocks noChangeArrowheads="1"/>
            </p:cNvSpPr>
            <p:nvPr/>
          </p:nvSpPr>
          <p:spPr bwMode="auto">
            <a:xfrm>
              <a:off x="2449964" y="3645024"/>
              <a:ext cx="374438" cy="6322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35" name="Text Box 8"/>
            <p:cNvSpPr txBox="1">
              <a:spLocks noChangeArrowheads="1"/>
            </p:cNvSpPr>
            <p:nvPr/>
          </p:nvSpPr>
          <p:spPr bwMode="auto">
            <a:xfrm>
              <a:off x="3192843" y="4437112"/>
              <a:ext cx="374438" cy="6322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36" name="Text Box 9"/>
            <p:cNvSpPr txBox="1">
              <a:spLocks noChangeArrowheads="1"/>
            </p:cNvSpPr>
            <p:nvPr/>
          </p:nvSpPr>
          <p:spPr bwMode="auto">
            <a:xfrm>
              <a:off x="1722612" y="4493741"/>
              <a:ext cx="374438" cy="6322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37" name="Text Box 10"/>
            <p:cNvSpPr txBox="1">
              <a:spLocks noChangeArrowheads="1"/>
            </p:cNvSpPr>
            <p:nvPr/>
          </p:nvSpPr>
          <p:spPr bwMode="auto">
            <a:xfrm>
              <a:off x="2472204" y="4522837"/>
              <a:ext cx="329958" cy="6322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-</a:t>
              </a:r>
            </a:p>
          </p:txBody>
        </p:sp>
        <p:sp>
          <p:nvSpPr>
            <p:cNvPr id="38" name="Text Box 11"/>
            <p:cNvSpPr txBox="1">
              <a:spLocks noChangeArrowheads="1"/>
            </p:cNvSpPr>
            <p:nvPr/>
          </p:nvSpPr>
          <p:spPr bwMode="auto">
            <a:xfrm>
              <a:off x="1202229" y="5301208"/>
              <a:ext cx="374438" cy="6322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39" name="Text Box 12"/>
            <p:cNvSpPr txBox="1">
              <a:spLocks noChangeArrowheads="1"/>
            </p:cNvSpPr>
            <p:nvPr/>
          </p:nvSpPr>
          <p:spPr bwMode="auto">
            <a:xfrm>
              <a:off x="1744851" y="5317083"/>
              <a:ext cx="329958" cy="6322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-</a:t>
              </a:r>
            </a:p>
          </p:txBody>
        </p:sp>
        <p:cxnSp>
          <p:nvCxnSpPr>
            <p:cNvPr id="40" name="AutoShape 17"/>
            <p:cNvCxnSpPr>
              <a:cxnSpLocks noChangeShapeType="1"/>
              <a:stCxn id="34" idx="2"/>
              <a:endCxn id="35" idx="0"/>
            </p:cNvCxnSpPr>
            <p:nvPr/>
          </p:nvCxnSpPr>
          <p:spPr bwMode="auto">
            <a:xfrm>
              <a:off x="2637183" y="4277297"/>
              <a:ext cx="742879" cy="15981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1" name="AutoShape 18"/>
            <p:cNvCxnSpPr>
              <a:cxnSpLocks noChangeShapeType="1"/>
              <a:stCxn id="34" idx="2"/>
              <a:endCxn id="37" idx="0"/>
            </p:cNvCxnSpPr>
            <p:nvPr/>
          </p:nvCxnSpPr>
          <p:spPr bwMode="auto">
            <a:xfrm>
              <a:off x="2637183" y="4277297"/>
              <a:ext cx="0" cy="2455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2" name="AutoShape 19"/>
            <p:cNvCxnSpPr>
              <a:cxnSpLocks noChangeShapeType="1"/>
              <a:stCxn id="34" idx="2"/>
              <a:endCxn id="36" idx="0"/>
            </p:cNvCxnSpPr>
            <p:nvPr/>
          </p:nvCxnSpPr>
          <p:spPr bwMode="auto">
            <a:xfrm flipH="1">
              <a:off x="1909831" y="4277297"/>
              <a:ext cx="727353" cy="21644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3" name="AutoShape 21"/>
            <p:cNvCxnSpPr>
              <a:cxnSpLocks noChangeShapeType="1"/>
              <a:stCxn id="36" idx="2"/>
              <a:endCxn id="38" idx="0"/>
            </p:cNvCxnSpPr>
            <p:nvPr/>
          </p:nvCxnSpPr>
          <p:spPr bwMode="auto">
            <a:xfrm flipH="1">
              <a:off x="1389448" y="5126014"/>
              <a:ext cx="520382" cy="1751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4" name="AutoShape 24"/>
            <p:cNvCxnSpPr>
              <a:cxnSpLocks noChangeShapeType="1"/>
              <a:stCxn id="36" idx="2"/>
              <a:endCxn id="39" idx="0"/>
            </p:cNvCxnSpPr>
            <p:nvPr/>
          </p:nvCxnSpPr>
          <p:spPr bwMode="auto">
            <a:xfrm>
              <a:off x="1909831" y="5126014"/>
              <a:ext cx="0" cy="19106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45" name="Text Box 12"/>
            <p:cNvSpPr txBox="1">
              <a:spLocks noChangeArrowheads="1"/>
            </p:cNvSpPr>
            <p:nvPr/>
          </p:nvSpPr>
          <p:spPr bwMode="auto">
            <a:xfrm>
              <a:off x="2354357" y="5317379"/>
              <a:ext cx="374438" cy="6322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cxnSp>
          <p:nvCxnSpPr>
            <p:cNvPr id="46" name="AutoShape 24"/>
            <p:cNvCxnSpPr>
              <a:cxnSpLocks noChangeShapeType="1"/>
              <a:stCxn id="36" idx="2"/>
              <a:endCxn id="45" idx="0"/>
            </p:cNvCxnSpPr>
            <p:nvPr/>
          </p:nvCxnSpPr>
          <p:spPr bwMode="auto">
            <a:xfrm>
              <a:off x="1909831" y="5126014"/>
              <a:ext cx="631745" cy="1913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7" name="AutoShape 17"/>
            <p:cNvCxnSpPr>
              <a:cxnSpLocks noChangeShapeType="1"/>
              <a:stCxn id="35" idx="2"/>
              <a:endCxn id="48" idx="0"/>
            </p:cNvCxnSpPr>
            <p:nvPr/>
          </p:nvCxnSpPr>
          <p:spPr bwMode="auto">
            <a:xfrm>
              <a:off x="3380062" y="5069385"/>
              <a:ext cx="1" cy="159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48" name="Text Box 8"/>
            <p:cNvSpPr txBox="1">
              <a:spLocks noChangeArrowheads="1"/>
            </p:cNvSpPr>
            <p:nvPr/>
          </p:nvSpPr>
          <p:spPr bwMode="auto">
            <a:xfrm>
              <a:off x="3106230" y="5229201"/>
              <a:ext cx="547666" cy="6322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 err="1">
                  <a:latin typeface="Calibri" panose="020F0502020204030204" pitchFamily="34" charset="0"/>
                </a:rPr>
                <a:t>int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49" name="Text Box 11"/>
            <p:cNvSpPr txBox="1">
              <a:spLocks noChangeArrowheads="1"/>
            </p:cNvSpPr>
            <p:nvPr/>
          </p:nvSpPr>
          <p:spPr bwMode="auto">
            <a:xfrm>
              <a:off x="1115616" y="6021288"/>
              <a:ext cx="547666" cy="6322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 err="1">
                  <a:latin typeface="Calibri" panose="020F0502020204030204" pitchFamily="34" charset="0"/>
                </a:rPr>
                <a:t>int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  <p:cxnSp>
          <p:nvCxnSpPr>
            <p:cNvPr id="50" name="AutoShape 21"/>
            <p:cNvCxnSpPr>
              <a:cxnSpLocks noChangeShapeType="1"/>
              <a:stCxn id="38" idx="2"/>
              <a:endCxn id="49" idx="0"/>
            </p:cNvCxnSpPr>
            <p:nvPr/>
          </p:nvCxnSpPr>
          <p:spPr bwMode="auto">
            <a:xfrm>
              <a:off x="1389448" y="5933481"/>
              <a:ext cx="1" cy="878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51" name="Text Box 12"/>
            <p:cNvSpPr txBox="1">
              <a:spLocks noChangeArrowheads="1"/>
            </p:cNvSpPr>
            <p:nvPr/>
          </p:nvSpPr>
          <p:spPr bwMode="auto">
            <a:xfrm>
              <a:off x="2267744" y="6021290"/>
              <a:ext cx="547666" cy="6322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 err="1">
                  <a:latin typeface="Calibri" panose="020F0502020204030204" pitchFamily="34" charset="0"/>
                </a:rPr>
                <a:t>int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  <p:cxnSp>
          <p:nvCxnSpPr>
            <p:cNvPr id="52" name="AutoShape 24"/>
            <p:cNvCxnSpPr>
              <a:cxnSpLocks noChangeShapeType="1"/>
              <a:stCxn id="45" idx="2"/>
              <a:endCxn id="51" idx="0"/>
            </p:cNvCxnSpPr>
            <p:nvPr/>
          </p:nvCxnSpPr>
          <p:spPr bwMode="auto">
            <a:xfrm>
              <a:off x="2541576" y="5949652"/>
              <a:ext cx="1" cy="716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cxnSp>
        <p:nvCxnSpPr>
          <p:cNvPr id="59" name="Straight Connector 58"/>
          <p:cNvCxnSpPr/>
          <p:nvPr/>
        </p:nvCxnSpPr>
        <p:spPr bwMode="auto">
          <a:xfrm flipH="1">
            <a:off x="5149805" y="2648273"/>
            <a:ext cx="1717212" cy="134275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0" name="Straight Connector 59"/>
          <p:cNvCxnSpPr/>
          <p:nvPr/>
        </p:nvCxnSpPr>
        <p:spPr bwMode="auto">
          <a:xfrm flipH="1" flipV="1">
            <a:off x="5149804" y="2855043"/>
            <a:ext cx="2122496" cy="953837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91654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Precedence Declaration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8"/>
                <a:ext cx="7886700" cy="3578796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CA" dirty="0"/>
                  <a:t>Consider the grammar:</a:t>
                </a:r>
              </a:p>
              <a:p>
                <a:pPr lvl="1"/>
                <a:r>
                  <a:rPr lang="en-CA" dirty="0">
                    <a:solidFill>
                      <a:schemeClr val="accent2"/>
                    </a:solidFill>
                  </a:rPr>
                  <a:t>E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CA" dirty="0">
                    <a:solidFill>
                      <a:schemeClr val="accent2"/>
                    </a:solidFill>
                  </a:rPr>
                  <a:t> E - E | E / E | </a:t>
                </a:r>
                <a:r>
                  <a:rPr lang="en-CA" dirty="0" err="1">
                    <a:solidFill>
                      <a:schemeClr val="accent2"/>
                    </a:solidFill>
                  </a:rPr>
                  <a:t>int</a:t>
                </a:r>
                <a:endParaRPr lang="en-CA" dirty="0"/>
              </a:p>
              <a:p>
                <a:r>
                  <a:rPr lang="en-CA" dirty="0"/>
                  <a:t>Ambiguous: two parse trees  </a:t>
                </a:r>
                <a:r>
                  <a:rPr lang="en-CA" dirty="0" err="1">
                    <a:solidFill>
                      <a:schemeClr val="accent2"/>
                    </a:solidFill>
                  </a:rPr>
                  <a:t>int</a:t>
                </a:r>
                <a:r>
                  <a:rPr lang="en-CA" dirty="0">
                    <a:solidFill>
                      <a:schemeClr val="accent2"/>
                    </a:solidFill>
                  </a:rPr>
                  <a:t> - </a:t>
                </a:r>
                <a:r>
                  <a:rPr lang="en-CA" dirty="0" err="1">
                    <a:solidFill>
                      <a:schemeClr val="accent2"/>
                    </a:solidFill>
                  </a:rPr>
                  <a:t>int</a:t>
                </a:r>
                <a:r>
                  <a:rPr lang="en-CA" dirty="0">
                    <a:solidFill>
                      <a:schemeClr val="accent2"/>
                    </a:solidFill>
                  </a:rPr>
                  <a:t> / </a:t>
                </a:r>
                <a:r>
                  <a:rPr lang="en-CA" dirty="0" err="1">
                    <a:solidFill>
                      <a:schemeClr val="accent2"/>
                    </a:solidFill>
                  </a:rPr>
                  <a:t>int</a:t>
                </a:r>
                <a:endParaRPr lang="en-CA" dirty="0">
                  <a:solidFill>
                    <a:schemeClr val="accent2"/>
                  </a:solidFill>
                </a:endParaRPr>
              </a:p>
              <a:p>
                <a:endParaRPr lang="en-CA" dirty="0">
                  <a:solidFill>
                    <a:schemeClr val="accent2"/>
                  </a:solidFill>
                </a:endParaRPr>
              </a:p>
              <a:p>
                <a:endParaRPr lang="en-CA" dirty="0">
                  <a:solidFill>
                    <a:schemeClr val="accent2"/>
                  </a:solidFill>
                </a:endParaRPr>
              </a:p>
              <a:p>
                <a:endParaRPr lang="en-CA" dirty="0">
                  <a:solidFill>
                    <a:schemeClr val="accent2"/>
                  </a:solidFill>
                </a:endParaRPr>
              </a:p>
              <a:p>
                <a:endParaRPr lang="en-CA" dirty="0">
                  <a:solidFill>
                    <a:schemeClr val="accent2"/>
                  </a:solidFill>
                </a:endParaRPr>
              </a:p>
              <a:p>
                <a:endParaRPr lang="en-CA" dirty="0">
                  <a:solidFill>
                    <a:schemeClr val="tx2"/>
                  </a:solidFill>
                </a:endParaRPr>
              </a:p>
              <a:p>
                <a:r>
                  <a:rPr lang="en-CA" dirty="0">
                    <a:solidFill>
                      <a:schemeClr val="tx2"/>
                    </a:solidFill>
                  </a:rPr>
                  <a:t>Precedence declaration:</a:t>
                </a:r>
                <a:r>
                  <a:rPr lang="en-CA" dirty="0">
                    <a:solidFill>
                      <a:schemeClr val="accent2"/>
                    </a:solidFill>
                  </a:rPr>
                  <a:t> %left –</a:t>
                </a:r>
              </a:p>
              <a:p>
                <a:pPr marL="0" indent="0">
                  <a:buNone/>
                </a:pPr>
                <a:r>
                  <a:rPr lang="en-CA" dirty="0">
                    <a:solidFill>
                      <a:schemeClr val="accent2"/>
                    </a:solidFill>
                  </a:rPr>
                  <a:t>                                                %left /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8"/>
                <a:ext cx="7886700" cy="3578796"/>
              </a:xfrm>
              <a:blipFill>
                <a:blip r:embed="rId2"/>
                <a:stretch>
                  <a:fillRect l="-482" t="-3191" b="-1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1BD-6681-B946-ACD9-A8F6D28AC38D}" type="slidenum">
              <a:rPr lang="en-US" smtClean="0"/>
              <a:pPr/>
              <a:t>16</a:t>
            </a:fld>
            <a:endParaRPr lang="en-US"/>
          </a:p>
        </p:txBody>
      </p:sp>
      <p:grpSp>
        <p:nvGrpSpPr>
          <p:cNvPr id="54" name="Group 53"/>
          <p:cNvGrpSpPr/>
          <p:nvPr/>
        </p:nvGrpSpPr>
        <p:grpSpPr>
          <a:xfrm>
            <a:off x="5067915" y="2301720"/>
            <a:ext cx="2174887" cy="1831062"/>
            <a:chOff x="4927623" y="3687415"/>
            <a:chExt cx="2699127" cy="2976669"/>
          </a:xfrm>
        </p:grpSpPr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5757915" y="3687415"/>
              <a:ext cx="368436" cy="600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5012848" y="4479502"/>
              <a:ext cx="368436" cy="600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6549442" y="4536132"/>
              <a:ext cx="368436" cy="600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5779798" y="4565228"/>
              <a:ext cx="324669" cy="600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-</a:t>
              </a: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6020960" y="5343598"/>
              <a:ext cx="368436" cy="600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6563368" y="5359473"/>
              <a:ext cx="340584" cy="600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/</a:t>
              </a:r>
            </a:p>
          </p:txBody>
        </p:sp>
        <p:cxnSp>
          <p:nvCxnSpPr>
            <p:cNvPr id="13" name="AutoShape 17"/>
            <p:cNvCxnSpPr>
              <a:cxnSpLocks noChangeShapeType="1"/>
              <a:stCxn id="7" idx="2"/>
              <a:endCxn id="8" idx="0"/>
            </p:cNvCxnSpPr>
            <p:nvPr/>
          </p:nvCxnSpPr>
          <p:spPr bwMode="auto">
            <a:xfrm flipH="1">
              <a:off x="5197066" y="4287820"/>
              <a:ext cx="745067" cy="1916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" name="AutoShape 18"/>
            <p:cNvCxnSpPr>
              <a:cxnSpLocks noChangeShapeType="1"/>
              <a:stCxn id="7" idx="2"/>
              <a:endCxn id="10" idx="0"/>
            </p:cNvCxnSpPr>
            <p:nvPr/>
          </p:nvCxnSpPr>
          <p:spPr bwMode="auto">
            <a:xfrm>
              <a:off x="5942133" y="4287820"/>
              <a:ext cx="0" cy="27740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" name="AutoShape 19"/>
            <p:cNvCxnSpPr>
              <a:cxnSpLocks noChangeShapeType="1"/>
              <a:stCxn id="7" idx="2"/>
              <a:endCxn id="9" idx="0"/>
            </p:cNvCxnSpPr>
            <p:nvPr/>
          </p:nvCxnSpPr>
          <p:spPr bwMode="auto">
            <a:xfrm>
              <a:off x="5942133" y="4287820"/>
              <a:ext cx="791527" cy="2483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" name="AutoShape 21"/>
            <p:cNvCxnSpPr>
              <a:cxnSpLocks noChangeShapeType="1"/>
              <a:stCxn id="9" idx="2"/>
              <a:endCxn id="11" idx="0"/>
            </p:cNvCxnSpPr>
            <p:nvPr/>
          </p:nvCxnSpPr>
          <p:spPr bwMode="auto">
            <a:xfrm flipH="1">
              <a:off x="6205178" y="5136537"/>
              <a:ext cx="528482" cy="20706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" name="AutoShape 24"/>
            <p:cNvCxnSpPr>
              <a:cxnSpLocks noChangeShapeType="1"/>
              <a:stCxn id="9" idx="2"/>
              <a:endCxn id="12" idx="0"/>
            </p:cNvCxnSpPr>
            <p:nvPr/>
          </p:nvCxnSpPr>
          <p:spPr bwMode="auto">
            <a:xfrm>
              <a:off x="6733660" y="5136537"/>
              <a:ext cx="0" cy="2229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8" name="Text Box 12"/>
            <p:cNvSpPr txBox="1">
              <a:spLocks noChangeArrowheads="1"/>
            </p:cNvSpPr>
            <p:nvPr/>
          </p:nvSpPr>
          <p:spPr bwMode="auto">
            <a:xfrm>
              <a:off x="7173088" y="5359768"/>
              <a:ext cx="368436" cy="600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cxnSp>
          <p:nvCxnSpPr>
            <p:cNvPr id="19" name="AutoShape 24"/>
            <p:cNvCxnSpPr>
              <a:cxnSpLocks noChangeShapeType="1"/>
              <a:stCxn id="9" idx="2"/>
              <a:endCxn id="18" idx="0"/>
            </p:cNvCxnSpPr>
            <p:nvPr/>
          </p:nvCxnSpPr>
          <p:spPr bwMode="auto">
            <a:xfrm>
              <a:off x="6733660" y="5136537"/>
              <a:ext cx="623646" cy="2232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1" name="AutoShape 17"/>
            <p:cNvCxnSpPr>
              <a:cxnSpLocks noChangeShapeType="1"/>
              <a:stCxn id="8" idx="2"/>
              <a:endCxn id="22" idx="0"/>
            </p:cNvCxnSpPr>
            <p:nvPr/>
          </p:nvCxnSpPr>
          <p:spPr bwMode="auto">
            <a:xfrm>
              <a:off x="5197066" y="5079908"/>
              <a:ext cx="1" cy="1916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2" name="Text Box 8"/>
            <p:cNvSpPr txBox="1">
              <a:spLocks noChangeArrowheads="1"/>
            </p:cNvSpPr>
            <p:nvPr/>
          </p:nvSpPr>
          <p:spPr bwMode="auto">
            <a:xfrm>
              <a:off x="4927623" y="5271591"/>
              <a:ext cx="538887" cy="600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 err="1">
                  <a:latin typeface="Calibri" panose="020F0502020204030204" pitchFamily="34" charset="0"/>
                </a:rPr>
                <a:t>int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25" name="Text Box 11"/>
            <p:cNvSpPr txBox="1">
              <a:spLocks noChangeArrowheads="1"/>
            </p:cNvSpPr>
            <p:nvPr/>
          </p:nvSpPr>
          <p:spPr bwMode="auto">
            <a:xfrm>
              <a:off x="5935735" y="6063679"/>
              <a:ext cx="538887" cy="600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 err="1">
                  <a:latin typeface="Calibri" panose="020F0502020204030204" pitchFamily="34" charset="0"/>
                </a:rPr>
                <a:t>int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  <p:cxnSp>
          <p:nvCxnSpPr>
            <p:cNvPr id="26" name="AutoShape 21"/>
            <p:cNvCxnSpPr>
              <a:cxnSpLocks noChangeShapeType="1"/>
              <a:stCxn id="11" idx="2"/>
              <a:endCxn id="25" idx="0"/>
            </p:cNvCxnSpPr>
            <p:nvPr/>
          </p:nvCxnSpPr>
          <p:spPr bwMode="auto">
            <a:xfrm>
              <a:off x="6205178" y="5944003"/>
              <a:ext cx="1" cy="1196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9" name="Text Box 12"/>
            <p:cNvSpPr txBox="1">
              <a:spLocks noChangeArrowheads="1"/>
            </p:cNvSpPr>
            <p:nvPr/>
          </p:nvSpPr>
          <p:spPr bwMode="auto">
            <a:xfrm>
              <a:off x="7087863" y="6063679"/>
              <a:ext cx="538887" cy="600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 err="1">
                  <a:latin typeface="Calibri" panose="020F0502020204030204" pitchFamily="34" charset="0"/>
                </a:rPr>
                <a:t>int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  <p:cxnSp>
          <p:nvCxnSpPr>
            <p:cNvPr id="30" name="AutoShape 24"/>
            <p:cNvCxnSpPr>
              <a:cxnSpLocks noChangeShapeType="1"/>
              <a:stCxn id="18" idx="2"/>
              <a:endCxn id="29" idx="0"/>
            </p:cNvCxnSpPr>
            <p:nvPr/>
          </p:nvCxnSpPr>
          <p:spPr bwMode="auto">
            <a:xfrm>
              <a:off x="7357306" y="5960174"/>
              <a:ext cx="1" cy="1035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53" name="Group 52"/>
          <p:cNvGrpSpPr/>
          <p:nvPr/>
        </p:nvGrpSpPr>
        <p:grpSpPr>
          <a:xfrm>
            <a:off x="2357754" y="2247715"/>
            <a:ext cx="2012494" cy="1861609"/>
            <a:chOff x="1115616" y="3645024"/>
            <a:chExt cx="2538280" cy="2964380"/>
          </a:xfrm>
        </p:grpSpPr>
        <p:sp>
          <p:nvSpPr>
            <p:cNvPr id="34" name="Text Box 7"/>
            <p:cNvSpPr txBox="1">
              <a:spLocks noChangeArrowheads="1"/>
            </p:cNvSpPr>
            <p:nvPr/>
          </p:nvSpPr>
          <p:spPr bwMode="auto">
            <a:xfrm>
              <a:off x="2452481" y="3645024"/>
              <a:ext cx="374438" cy="588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35" name="Text Box 8"/>
            <p:cNvSpPr txBox="1">
              <a:spLocks noChangeArrowheads="1"/>
            </p:cNvSpPr>
            <p:nvPr/>
          </p:nvSpPr>
          <p:spPr bwMode="auto">
            <a:xfrm>
              <a:off x="3192843" y="4437113"/>
              <a:ext cx="374438" cy="588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36" name="Text Box 9"/>
            <p:cNvSpPr txBox="1">
              <a:spLocks noChangeArrowheads="1"/>
            </p:cNvSpPr>
            <p:nvPr/>
          </p:nvSpPr>
          <p:spPr bwMode="auto">
            <a:xfrm>
              <a:off x="1722612" y="4493739"/>
              <a:ext cx="374438" cy="588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37" name="Text Box 10"/>
            <p:cNvSpPr txBox="1">
              <a:spLocks noChangeArrowheads="1"/>
            </p:cNvSpPr>
            <p:nvPr/>
          </p:nvSpPr>
          <p:spPr bwMode="auto">
            <a:xfrm>
              <a:off x="2466633" y="4522837"/>
              <a:ext cx="346133" cy="588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/</a:t>
              </a:r>
            </a:p>
          </p:txBody>
        </p:sp>
        <p:sp>
          <p:nvSpPr>
            <p:cNvPr id="38" name="Text Box 11"/>
            <p:cNvSpPr txBox="1">
              <a:spLocks noChangeArrowheads="1"/>
            </p:cNvSpPr>
            <p:nvPr/>
          </p:nvSpPr>
          <p:spPr bwMode="auto">
            <a:xfrm>
              <a:off x="1202229" y="5301209"/>
              <a:ext cx="374438" cy="588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39" name="Text Box 12"/>
            <p:cNvSpPr txBox="1">
              <a:spLocks noChangeArrowheads="1"/>
            </p:cNvSpPr>
            <p:nvPr/>
          </p:nvSpPr>
          <p:spPr bwMode="auto">
            <a:xfrm>
              <a:off x="1744852" y="5317083"/>
              <a:ext cx="329958" cy="588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-</a:t>
              </a:r>
            </a:p>
          </p:txBody>
        </p:sp>
        <p:cxnSp>
          <p:nvCxnSpPr>
            <p:cNvPr id="40" name="AutoShape 17"/>
            <p:cNvCxnSpPr>
              <a:cxnSpLocks noChangeShapeType="1"/>
              <a:stCxn id="34" idx="2"/>
              <a:endCxn id="35" idx="0"/>
            </p:cNvCxnSpPr>
            <p:nvPr/>
          </p:nvCxnSpPr>
          <p:spPr bwMode="auto">
            <a:xfrm>
              <a:off x="2639700" y="4233139"/>
              <a:ext cx="740363" cy="2039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1" name="AutoShape 18"/>
            <p:cNvCxnSpPr>
              <a:cxnSpLocks noChangeShapeType="1"/>
              <a:stCxn id="34" idx="2"/>
              <a:endCxn id="37" idx="0"/>
            </p:cNvCxnSpPr>
            <p:nvPr/>
          </p:nvCxnSpPr>
          <p:spPr bwMode="auto">
            <a:xfrm>
              <a:off x="2639700" y="4233139"/>
              <a:ext cx="0" cy="28969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2" name="AutoShape 19"/>
            <p:cNvCxnSpPr>
              <a:cxnSpLocks noChangeShapeType="1"/>
              <a:stCxn id="34" idx="2"/>
              <a:endCxn id="36" idx="0"/>
            </p:cNvCxnSpPr>
            <p:nvPr/>
          </p:nvCxnSpPr>
          <p:spPr bwMode="auto">
            <a:xfrm flipH="1">
              <a:off x="1909831" y="4233139"/>
              <a:ext cx="729869" cy="260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3" name="AutoShape 21"/>
            <p:cNvCxnSpPr>
              <a:cxnSpLocks noChangeShapeType="1"/>
              <a:stCxn id="36" idx="2"/>
              <a:endCxn id="38" idx="0"/>
            </p:cNvCxnSpPr>
            <p:nvPr/>
          </p:nvCxnSpPr>
          <p:spPr bwMode="auto">
            <a:xfrm flipH="1">
              <a:off x="1389448" y="5081854"/>
              <a:ext cx="520382" cy="21935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4" name="AutoShape 24"/>
            <p:cNvCxnSpPr>
              <a:cxnSpLocks noChangeShapeType="1"/>
              <a:stCxn id="36" idx="2"/>
              <a:endCxn id="39" idx="0"/>
            </p:cNvCxnSpPr>
            <p:nvPr/>
          </p:nvCxnSpPr>
          <p:spPr bwMode="auto">
            <a:xfrm>
              <a:off x="1909831" y="5081854"/>
              <a:ext cx="0" cy="23522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45" name="Text Box 12"/>
            <p:cNvSpPr txBox="1">
              <a:spLocks noChangeArrowheads="1"/>
            </p:cNvSpPr>
            <p:nvPr/>
          </p:nvSpPr>
          <p:spPr bwMode="auto">
            <a:xfrm>
              <a:off x="2354357" y="5317378"/>
              <a:ext cx="374438" cy="588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cxnSp>
          <p:nvCxnSpPr>
            <p:cNvPr id="46" name="AutoShape 24"/>
            <p:cNvCxnSpPr>
              <a:cxnSpLocks noChangeShapeType="1"/>
              <a:stCxn id="36" idx="2"/>
              <a:endCxn id="45" idx="0"/>
            </p:cNvCxnSpPr>
            <p:nvPr/>
          </p:nvCxnSpPr>
          <p:spPr bwMode="auto">
            <a:xfrm>
              <a:off x="1909831" y="5081854"/>
              <a:ext cx="631745" cy="23552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7" name="AutoShape 17"/>
            <p:cNvCxnSpPr>
              <a:cxnSpLocks noChangeShapeType="1"/>
              <a:stCxn id="35" idx="2"/>
              <a:endCxn id="48" idx="0"/>
            </p:cNvCxnSpPr>
            <p:nvPr/>
          </p:nvCxnSpPr>
          <p:spPr bwMode="auto">
            <a:xfrm>
              <a:off x="3380062" y="5025228"/>
              <a:ext cx="1" cy="2039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48" name="Text Box 8"/>
            <p:cNvSpPr txBox="1">
              <a:spLocks noChangeArrowheads="1"/>
            </p:cNvSpPr>
            <p:nvPr/>
          </p:nvSpPr>
          <p:spPr bwMode="auto">
            <a:xfrm>
              <a:off x="3106230" y="5229198"/>
              <a:ext cx="547666" cy="588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 err="1">
                  <a:latin typeface="Calibri" panose="020F0502020204030204" pitchFamily="34" charset="0"/>
                </a:rPr>
                <a:t>int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49" name="Text Box 11"/>
            <p:cNvSpPr txBox="1">
              <a:spLocks noChangeArrowheads="1"/>
            </p:cNvSpPr>
            <p:nvPr/>
          </p:nvSpPr>
          <p:spPr bwMode="auto">
            <a:xfrm>
              <a:off x="1115616" y="6021289"/>
              <a:ext cx="547666" cy="588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 err="1">
                  <a:latin typeface="Calibri" panose="020F0502020204030204" pitchFamily="34" charset="0"/>
                </a:rPr>
                <a:t>int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  <p:cxnSp>
          <p:nvCxnSpPr>
            <p:cNvPr id="50" name="AutoShape 21"/>
            <p:cNvCxnSpPr>
              <a:cxnSpLocks noChangeShapeType="1"/>
              <a:stCxn id="38" idx="2"/>
              <a:endCxn id="49" idx="0"/>
            </p:cNvCxnSpPr>
            <p:nvPr/>
          </p:nvCxnSpPr>
          <p:spPr bwMode="auto">
            <a:xfrm>
              <a:off x="1389448" y="5889324"/>
              <a:ext cx="1" cy="1319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51" name="Text Box 12"/>
            <p:cNvSpPr txBox="1">
              <a:spLocks noChangeArrowheads="1"/>
            </p:cNvSpPr>
            <p:nvPr/>
          </p:nvSpPr>
          <p:spPr bwMode="auto">
            <a:xfrm>
              <a:off x="2267744" y="6021287"/>
              <a:ext cx="547666" cy="588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 err="1">
                  <a:latin typeface="Calibri" panose="020F0502020204030204" pitchFamily="34" charset="0"/>
                </a:rPr>
                <a:t>int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  <p:cxnSp>
          <p:nvCxnSpPr>
            <p:cNvPr id="52" name="AutoShape 24"/>
            <p:cNvCxnSpPr>
              <a:cxnSpLocks noChangeShapeType="1"/>
              <a:stCxn id="45" idx="2"/>
              <a:endCxn id="51" idx="0"/>
            </p:cNvCxnSpPr>
            <p:nvPr/>
          </p:nvCxnSpPr>
          <p:spPr bwMode="auto">
            <a:xfrm>
              <a:off x="2541576" y="5905493"/>
              <a:ext cx="1" cy="1157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cxnSp>
        <p:nvCxnSpPr>
          <p:cNvPr id="55" name="Straight Connector 54"/>
          <p:cNvCxnSpPr/>
          <p:nvPr/>
        </p:nvCxnSpPr>
        <p:spPr bwMode="auto">
          <a:xfrm flipH="1">
            <a:off x="2411760" y="2471137"/>
            <a:ext cx="1717212" cy="134275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Straight Connector 55"/>
          <p:cNvCxnSpPr/>
          <p:nvPr/>
        </p:nvCxnSpPr>
        <p:spPr bwMode="auto">
          <a:xfrm flipH="1" flipV="1">
            <a:off x="2411760" y="2677907"/>
            <a:ext cx="2122496" cy="953837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0761E-030C-5A40-A0B1-582ADDC623ED}"/>
              </a:ext>
            </a:extLst>
          </p:cNvPr>
          <p:cNvSpPr/>
          <p:nvPr/>
        </p:nvSpPr>
        <p:spPr>
          <a:xfrm>
            <a:off x="4153137" y="4590200"/>
            <a:ext cx="1478859" cy="2738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higher priority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1ED58819-0AFD-F444-8F99-1A5DA4D326C8}"/>
              </a:ext>
            </a:extLst>
          </p:cNvPr>
          <p:cNvSpPr/>
          <p:nvPr/>
        </p:nvSpPr>
        <p:spPr>
          <a:xfrm>
            <a:off x="4153136" y="4232287"/>
            <a:ext cx="1478859" cy="2738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lower priority</a:t>
            </a:r>
          </a:p>
        </p:txBody>
      </p:sp>
    </p:spTree>
    <p:extLst>
      <p:ext uri="{BB962C8B-B14F-4D97-AF65-F5344CB8AC3E}">
        <p14:creationId xmlns:p14="http://schemas.microsoft.com/office/powerpoint/2010/main" val="3500703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FE03-322D-7C43-9572-847B8FF50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Slides</a:t>
            </a:r>
          </a:p>
        </p:txBody>
      </p:sp>
    </p:spTree>
    <p:extLst>
      <p:ext uri="{BB962C8B-B14F-4D97-AF65-F5344CB8AC3E}">
        <p14:creationId xmlns:p14="http://schemas.microsoft.com/office/powerpoint/2010/main" val="68020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Ambiguous Grammars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grammar</a:t>
            </a:r>
          </a:p>
          <a:p>
            <a:endParaRPr lang="en-US" dirty="0">
              <a:sym typeface="Symbol" charset="2"/>
            </a:endParaRPr>
          </a:p>
          <a:p>
            <a:endParaRPr lang="en-US" dirty="0">
              <a:sym typeface="Symbol" charset="2"/>
            </a:endParaRPr>
          </a:p>
          <a:p>
            <a:endParaRPr lang="en-US" dirty="0">
              <a:sym typeface="Symbol" charset="2"/>
            </a:endParaRPr>
          </a:p>
          <a:p>
            <a:r>
              <a:rPr lang="en-US" dirty="0">
                <a:sym typeface="Symbol" charset="2"/>
              </a:rPr>
              <a:t>What does this grammar generate?</a:t>
            </a:r>
          </a:p>
          <a:p>
            <a:r>
              <a:rPr lang="en-US" dirty="0">
                <a:sym typeface="Symbol" charset="2"/>
              </a:rPr>
              <a:t>What is the parse tree for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  <a:sym typeface="Symbol" charset="2"/>
              </a:rPr>
              <a:t>a|b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  <a:sym typeface="Symbol" charset="2"/>
              </a:rPr>
              <a:t>*a</a:t>
            </a:r>
          </a:p>
          <a:p>
            <a:r>
              <a:rPr lang="en-US" dirty="0">
                <a:sym typeface="Symbol" charset="2"/>
              </a:rPr>
              <a:t>Is this grammar ambiguous?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02CBE-25FE-734C-8AD3-DE387DFD7035}" type="slidenum">
              <a:rPr lang="en-US"/>
              <a:pPr/>
              <a:t>18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283968" y="1342825"/>
            <a:ext cx="324036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FontTx/>
              <a:buNone/>
            </a:pPr>
            <a:r>
              <a:rPr lang="en-US" dirty="0">
                <a:latin typeface="Calibri" panose="020F0502020204030204" pitchFamily="34" charset="0"/>
              </a:rPr>
              <a:t>R </a:t>
            </a:r>
            <a:r>
              <a:rPr lang="en-US" dirty="0">
                <a:latin typeface="Calibri" panose="020F0502020204030204" pitchFamily="34" charset="0"/>
                <a:sym typeface="Symbol" charset="2"/>
              </a:rPr>
              <a:t> R ‘|’ R </a:t>
            </a:r>
          </a:p>
          <a:p>
            <a:pPr lvl="1">
              <a:buFontTx/>
              <a:buNone/>
            </a:pPr>
            <a:r>
              <a:rPr lang="en-US" dirty="0">
                <a:latin typeface="Calibri" panose="020F0502020204030204" pitchFamily="34" charset="0"/>
                <a:sym typeface="Symbol" charset="2"/>
              </a:rPr>
              <a:t>       | R </a:t>
            </a:r>
            <a:r>
              <a:rPr lang="en-US" dirty="0" err="1">
                <a:latin typeface="Calibri" panose="020F0502020204030204" pitchFamily="34" charset="0"/>
                <a:sym typeface="Symbol" charset="2"/>
              </a:rPr>
              <a:t>R</a:t>
            </a:r>
            <a:r>
              <a:rPr lang="en-US" dirty="0">
                <a:latin typeface="Calibri" panose="020F0502020204030204" pitchFamily="34" charset="0"/>
                <a:sym typeface="Symbol" charset="2"/>
              </a:rPr>
              <a:t> </a:t>
            </a:r>
          </a:p>
          <a:p>
            <a:pPr lvl="1">
              <a:buFontTx/>
              <a:buNone/>
            </a:pPr>
            <a:r>
              <a:rPr lang="en-US" dirty="0">
                <a:latin typeface="Calibri" panose="020F0502020204030204" pitchFamily="34" charset="0"/>
                <a:sym typeface="Symbol" charset="2"/>
              </a:rPr>
              <a:t>       | R ‘*’ </a:t>
            </a:r>
          </a:p>
          <a:p>
            <a:pPr lvl="1">
              <a:buFontTx/>
              <a:buNone/>
            </a:pPr>
            <a:r>
              <a:rPr lang="en-US" dirty="0">
                <a:latin typeface="Calibri" panose="020F0502020204030204" pitchFamily="34" charset="0"/>
                <a:sym typeface="Symbol" charset="2"/>
              </a:rPr>
              <a:t>       | ‘(‘ R ‘)’ </a:t>
            </a:r>
          </a:p>
          <a:p>
            <a:pPr lvl="1">
              <a:buFontTx/>
              <a:buNone/>
            </a:pPr>
            <a:r>
              <a:rPr lang="en-US" dirty="0">
                <a:latin typeface="Calibri" panose="020F0502020204030204" pitchFamily="34" charset="0"/>
                <a:sym typeface="Symbol" charset="2"/>
              </a:rPr>
              <a:t>       | a </a:t>
            </a:r>
          </a:p>
          <a:p>
            <a:pPr lvl="1">
              <a:buFontTx/>
              <a:buNone/>
            </a:pPr>
            <a:r>
              <a:rPr lang="en-US" dirty="0">
                <a:latin typeface="Calibri" panose="020F0502020204030204" pitchFamily="34" charset="0"/>
                <a:sym typeface="Symbol" charset="2"/>
              </a:rPr>
              <a:t>       | 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uiExpand="1" build="p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Dangling else ambiguity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/>
              <a:t>Original Grammar (ambiguous)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800"/>
              <a:t>Stmt </a:t>
            </a:r>
            <a:r>
              <a:rPr lang="en-US" sz="1800" b="1">
                <a:sym typeface="Symbol" charset="2"/>
              </a:rPr>
              <a:t></a:t>
            </a:r>
            <a:r>
              <a:rPr lang="en-US" sz="1800">
                <a:sym typeface="Symbol" charset="2"/>
              </a:rPr>
              <a:t> </a:t>
            </a:r>
            <a:r>
              <a:rPr lang="en-US" sz="1800" b="1">
                <a:solidFill>
                  <a:schemeClr val="accent2"/>
                </a:solidFill>
                <a:sym typeface="Symbol" charset="2"/>
              </a:rPr>
              <a:t>if</a:t>
            </a:r>
            <a:r>
              <a:rPr lang="en-US" sz="1800" b="1">
                <a:sym typeface="Symbol" charset="2"/>
              </a:rPr>
              <a:t> </a:t>
            </a:r>
            <a:r>
              <a:rPr lang="en-US" sz="1800">
                <a:sym typeface="Symbol" charset="2"/>
              </a:rPr>
              <a:t>Expr </a:t>
            </a:r>
            <a:r>
              <a:rPr lang="en-US" sz="1800" b="1">
                <a:solidFill>
                  <a:schemeClr val="accent2"/>
                </a:solidFill>
                <a:sym typeface="Symbol" charset="2"/>
              </a:rPr>
              <a:t>then</a:t>
            </a:r>
            <a:r>
              <a:rPr lang="en-US" sz="1800">
                <a:sym typeface="Symbol" charset="2"/>
              </a:rPr>
              <a:t> Stmt </a:t>
            </a:r>
            <a:r>
              <a:rPr lang="en-US" sz="1800" b="1">
                <a:solidFill>
                  <a:schemeClr val="accent2"/>
                </a:solidFill>
                <a:sym typeface="Symbol" charset="2"/>
              </a:rPr>
              <a:t>else</a:t>
            </a:r>
            <a:r>
              <a:rPr lang="en-US" sz="1800">
                <a:sym typeface="Symbol" charset="2"/>
              </a:rPr>
              <a:t> Stmt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800">
                <a:sym typeface="Symbol" charset="2"/>
              </a:rPr>
              <a:t>Stmt</a:t>
            </a:r>
            <a:r>
              <a:rPr lang="en-US" sz="1800"/>
              <a:t> </a:t>
            </a:r>
            <a:r>
              <a:rPr lang="en-US" sz="1800" b="1">
                <a:sym typeface="Symbol" charset="2"/>
              </a:rPr>
              <a:t></a:t>
            </a:r>
            <a:r>
              <a:rPr lang="en-US" sz="1800">
                <a:sym typeface="Symbol" charset="2"/>
              </a:rPr>
              <a:t> </a:t>
            </a:r>
            <a:r>
              <a:rPr lang="en-US" sz="1800" b="1">
                <a:solidFill>
                  <a:schemeClr val="accent2"/>
                </a:solidFill>
                <a:sym typeface="Symbol" charset="2"/>
              </a:rPr>
              <a:t>if</a:t>
            </a:r>
            <a:r>
              <a:rPr lang="en-US" sz="1800">
                <a:sym typeface="Symbol" charset="2"/>
              </a:rPr>
              <a:t> Expr </a:t>
            </a:r>
            <a:r>
              <a:rPr lang="en-US" sz="1800" b="1">
                <a:solidFill>
                  <a:schemeClr val="accent2"/>
                </a:solidFill>
                <a:sym typeface="Symbol" charset="2"/>
              </a:rPr>
              <a:t>then</a:t>
            </a:r>
            <a:r>
              <a:rPr lang="en-US" sz="1800">
                <a:sym typeface="Symbol" charset="2"/>
              </a:rPr>
              <a:t> Stmt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800">
                <a:sym typeface="Symbol" charset="2"/>
              </a:rPr>
              <a:t>Stmt </a:t>
            </a:r>
            <a:r>
              <a:rPr lang="en-US" sz="1800" b="1">
                <a:sym typeface="Symbol" charset="2"/>
              </a:rPr>
              <a:t></a:t>
            </a:r>
            <a:r>
              <a:rPr lang="en-US" sz="1800">
                <a:sym typeface="Symbol" charset="2"/>
              </a:rPr>
              <a:t> Other</a:t>
            </a:r>
          </a:p>
          <a:p>
            <a:pPr>
              <a:lnSpc>
                <a:spcPct val="90000"/>
              </a:lnSpc>
            </a:pPr>
            <a:r>
              <a:rPr lang="en-US">
                <a:sym typeface="Symbol" charset="2"/>
              </a:rPr>
              <a:t>Modified Grammar (unambiguous?)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800"/>
              <a:t>Stmt </a:t>
            </a:r>
            <a:r>
              <a:rPr lang="en-US" sz="1800" b="1">
                <a:sym typeface="Symbol" charset="2"/>
              </a:rPr>
              <a:t></a:t>
            </a:r>
            <a:r>
              <a:rPr lang="en-US" sz="1800">
                <a:sym typeface="Symbol" charset="2"/>
              </a:rPr>
              <a:t> </a:t>
            </a:r>
            <a:r>
              <a:rPr lang="en-US" sz="1800" b="1">
                <a:solidFill>
                  <a:schemeClr val="accent2"/>
                </a:solidFill>
                <a:sym typeface="Symbol" charset="2"/>
              </a:rPr>
              <a:t>if</a:t>
            </a:r>
            <a:r>
              <a:rPr lang="en-US" sz="1800" b="1">
                <a:sym typeface="Symbol" charset="2"/>
              </a:rPr>
              <a:t> </a:t>
            </a:r>
            <a:r>
              <a:rPr lang="en-US" sz="1800">
                <a:sym typeface="Symbol" charset="2"/>
              </a:rPr>
              <a:t>Expr </a:t>
            </a:r>
            <a:r>
              <a:rPr lang="en-US" sz="1800" b="1">
                <a:solidFill>
                  <a:schemeClr val="accent2"/>
                </a:solidFill>
                <a:sym typeface="Symbol" charset="2"/>
              </a:rPr>
              <a:t>then</a:t>
            </a:r>
            <a:r>
              <a:rPr lang="en-US" sz="1800">
                <a:sym typeface="Symbol" charset="2"/>
              </a:rPr>
              <a:t> Stmt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800"/>
              <a:t>Stmt </a:t>
            </a:r>
            <a:r>
              <a:rPr lang="en-US" sz="1800" b="1">
                <a:sym typeface="Symbol" charset="2"/>
              </a:rPr>
              <a:t></a:t>
            </a:r>
            <a:r>
              <a:rPr lang="en-US" sz="1800">
                <a:sym typeface="Symbol" charset="2"/>
              </a:rPr>
              <a:t> MatchedStmt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800"/>
              <a:t>MatchedStmt </a:t>
            </a:r>
            <a:r>
              <a:rPr lang="en-US" sz="1800" b="1">
                <a:sym typeface="Symbol" charset="2"/>
              </a:rPr>
              <a:t></a:t>
            </a:r>
            <a:r>
              <a:rPr lang="en-US" sz="1800">
                <a:sym typeface="Symbol" charset="2"/>
              </a:rPr>
              <a:t> </a:t>
            </a:r>
            <a:r>
              <a:rPr lang="en-US" sz="1800" b="1">
                <a:solidFill>
                  <a:schemeClr val="accent2"/>
                </a:solidFill>
                <a:sym typeface="Symbol" charset="2"/>
              </a:rPr>
              <a:t>if</a:t>
            </a:r>
            <a:r>
              <a:rPr lang="en-US" sz="1800">
                <a:sym typeface="Symbol" charset="2"/>
              </a:rPr>
              <a:t> Expr </a:t>
            </a:r>
            <a:r>
              <a:rPr lang="en-US" sz="1800" b="1">
                <a:solidFill>
                  <a:schemeClr val="accent2"/>
                </a:solidFill>
                <a:sym typeface="Symbol" charset="2"/>
              </a:rPr>
              <a:t>then</a:t>
            </a:r>
            <a:r>
              <a:rPr lang="en-US" sz="1800">
                <a:sym typeface="Symbol" charset="2"/>
              </a:rPr>
              <a:t> MatchedStmt </a:t>
            </a:r>
            <a:r>
              <a:rPr lang="en-US" sz="1800" b="1">
                <a:solidFill>
                  <a:schemeClr val="accent2"/>
                </a:solidFill>
                <a:sym typeface="Symbol" charset="2"/>
              </a:rPr>
              <a:t>else</a:t>
            </a:r>
            <a:r>
              <a:rPr lang="en-US" sz="1800">
                <a:sym typeface="Symbol" charset="2"/>
              </a:rPr>
              <a:t> Stmt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800"/>
              <a:t>MatchedStmt </a:t>
            </a:r>
            <a:r>
              <a:rPr lang="en-US" sz="1800" b="1">
                <a:sym typeface="Symbol" charset="2"/>
              </a:rPr>
              <a:t></a:t>
            </a:r>
            <a:r>
              <a:rPr lang="en-US" sz="1800">
                <a:sym typeface="Symbol" charset="2"/>
              </a:rPr>
              <a:t> Other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DC36A-F5D5-4F42-8A37-D23009BFA5B0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188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057900" y="4686300"/>
            <a:ext cx="1428750" cy="342900"/>
          </a:xfrm>
        </p:spPr>
        <p:txBody>
          <a:bodyPr/>
          <a:lstStyle/>
          <a:p>
            <a:fld id="{6874C137-97EB-6B47-9538-41D8FA9595C8}" type="slidenum">
              <a:rPr lang="en-US"/>
              <a:pPr/>
              <a:t>20</a:t>
            </a:fld>
            <a:endParaRPr lang="en-US"/>
          </a:p>
        </p:txBody>
      </p:sp>
      <p:pic>
        <p:nvPicPr>
          <p:cNvPr id="14438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536" y="411510"/>
            <a:ext cx="6858000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438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5536" y="2465784"/>
            <a:ext cx="6858000" cy="2563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212747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Dangling else ambiguity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sym typeface="Symbol" charset="2"/>
              </a:rPr>
              <a:t>Modified Grammar (check for ambiguity)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800" dirty="0" err="1"/>
              <a:t>Stmt</a:t>
            </a:r>
            <a:r>
              <a:rPr lang="en-US" sz="1800" dirty="0"/>
              <a:t> </a:t>
            </a:r>
            <a:r>
              <a:rPr lang="en-US" sz="1800" b="1" dirty="0">
                <a:sym typeface="Symbol" charset="2"/>
              </a:rPr>
              <a:t>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dirty="0" err="1">
                <a:sym typeface="Symbol" charset="2"/>
              </a:rPr>
              <a:t>MatchedStmt</a:t>
            </a:r>
            <a:endParaRPr lang="en-US" sz="1800" dirty="0">
              <a:sym typeface="Symbol" charset="2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sz="1800" dirty="0" err="1"/>
              <a:t>Stmt</a:t>
            </a:r>
            <a:r>
              <a:rPr lang="en-US" sz="1800" dirty="0"/>
              <a:t> </a:t>
            </a:r>
            <a:r>
              <a:rPr lang="en-US" sz="1800" b="1" dirty="0">
                <a:sym typeface="Symbol" charset="2"/>
              </a:rPr>
              <a:t>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dirty="0" err="1">
                <a:sym typeface="Symbol" charset="2"/>
              </a:rPr>
              <a:t>UnmatchedStmt</a:t>
            </a:r>
            <a:endParaRPr lang="en-US" sz="1800" dirty="0">
              <a:sym typeface="Symbol" charset="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800" dirty="0" err="1"/>
              <a:t>MatchedStmt</a:t>
            </a:r>
            <a:r>
              <a:rPr lang="en-US" sz="1800" dirty="0"/>
              <a:t> </a:t>
            </a:r>
            <a:r>
              <a:rPr lang="en-US" sz="1800" b="1" dirty="0">
                <a:sym typeface="Symbol" charset="2"/>
              </a:rPr>
              <a:t>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b="1" dirty="0">
                <a:solidFill>
                  <a:schemeClr val="accent2"/>
                </a:solidFill>
                <a:sym typeface="Symbol" charset="2"/>
              </a:rPr>
              <a:t>if</a:t>
            </a:r>
            <a:r>
              <a:rPr lang="en-US" sz="1800" dirty="0">
                <a:sym typeface="Symbol" charset="2"/>
              </a:rPr>
              <a:t> Expr </a:t>
            </a:r>
            <a:r>
              <a:rPr lang="en-US" sz="1800" b="1" dirty="0">
                <a:solidFill>
                  <a:schemeClr val="accent2"/>
                </a:solidFill>
                <a:sym typeface="Symbol" charset="2"/>
              </a:rPr>
              <a:t>then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dirty="0" err="1">
                <a:sym typeface="Symbol" charset="2"/>
              </a:rPr>
              <a:t>MatchedStmt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b="1" dirty="0">
                <a:solidFill>
                  <a:schemeClr val="accent2"/>
                </a:solidFill>
                <a:sym typeface="Symbol" charset="2"/>
              </a:rPr>
              <a:t>else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dirty="0" err="1">
                <a:sym typeface="Symbol" charset="2"/>
              </a:rPr>
              <a:t>MatchedStmt</a:t>
            </a:r>
            <a:endParaRPr lang="en-US" sz="1800" dirty="0">
              <a:sym typeface="Symbol" charset="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800" dirty="0" err="1"/>
              <a:t>MatchedStmt</a:t>
            </a:r>
            <a:r>
              <a:rPr lang="en-US" sz="1800" dirty="0"/>
              <a:t> </a:t>
            </a:r>
            <a:r>
              <a:rPr lang="en-US" sz="1800" b="1" dirty="0">
                <a:sym typeface="Symbol" charset="2"/>
              </a:rPr>
              <a:t></a:t>
            </a:r>
            <a:r>
              <a:rPr lang="en-US" sz="1800" dirty="0">
                <a:sym typeface="Symbol" charset="2"/>
              </a:rPr>
              <a:t> Other</a:t>
            </a:r>
          </a:p>
          <a:p>
            <a:pPr lvl="1">
              <a:lnSpc>
                <a:spcPct val="90000"/>
              </a:lnSpc>
              <a:buNone/>
            </a:pPr>
            <a:r>
              <a:rPr lang="en-US" sz="1800" dirty="0" err="1"/>
              <a:t>UnmatchedStmt</a:t>
            </a:r>
            <a:r>
              <a:rPr lang="en-US" sz="1800" dirty="0"/>
              <a:t> </a:t>
            </a:r>
            <a:r>
              <a:rPr lang="en-US" sz="1800" b="1" dirty="0">
                <a:sym typeface="Symbol" charset="2"/>
              </a:rPr>
              <a:t>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b="1" dirty="0">
                <a:solidFill>
                  <a:schemeClr val="accent2"/>
                </a:solidFill>
                <a:sym typeface="Symbol" charset="2"/>
              </a:rPr>
              <a:t>if</a:t>
            </a:r>
            <a:r>
              <a:rPr lang="en-US" sz="1800" b="1" dirty="0">
                <a:sym typeface="Symbol" charset="2"/>
              </a:rPr>
              <a:t> </a:t>
            </a:r>
            <a:r>
              <a:rPr lang="en-US" sz="1800" dirty="0">
                <a:sym typeface="Symbol" charset="2"/>
              </a:rPr>
              <a:t>Expr </a:t>
            </a:r>
            <a:r>
              <a:rPr lang="en-US" sz="1800" b="1" dirty="0">
                <a:solidFill>
                  <a:schemeClr val="accent2"/>
                </a:solidFill>
                <a:sym typeface="Symbol" charset="2"/>
              </a:rPr>
              <a:t>then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dirty="0" err="1">
                <a:sym typeface="Symbol" charset="2"/>
              </a:rPr>
              <a:t>Stmt</a:t>
            </a:r>
            <a:endParaRPr lang="en-US" sz="1800" dirty="0">
              <a:sym typeface="Symbol" charset="2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sz="1800" dirty="0" err="1"/>
              <a:t>UnmatchedStmt</a:t>
            </a:r>
            <a:r>
              <a:rPr lang="en-US" sz="1800" dirty="0"/>
              <a:t> </a:t>
            </a:r>
            <a:r>
              <a:rPr lang="en-US" sz="1800" b="1" dirty="0">
                <a:sym typeface="Symbol" charset="2"/>
              </a:rPr>
              <a:t>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b="1" dirty="0">
                <a:solidFill>
                  <a:schemeClr val="accent2"/>
                </a:solidFill>
                <a:sym typeface="Symbol" charset="2"/>
              </a:rPr>
              <a:t>if</a:t>
            </a:r>
            <a:r>
              <a:rPr lang="en-US" sz="1800" dirty="0">
                <a:sym typeface="Symbol" charset="2"/>
              </a:rPr>
              <a:t> Expr </a:t>
            </a:r>
            <a:r>
              <a:rPr lang="en-US" sz="1800" b="1" dirty="0">
                <a:solidFill>
                  <a:schemeClr val="accent2"/>
                </a:solidFill>
                <a:sym typeface="Symbol" charset="2"/>
              </a:rPr>
              <a:t>then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dirty="0" err="1">
                <a:sym typeface="Symbol" charset="2"/>
              </a:rPr>
              <a:t>MatchedStmt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b="1" dirty="0">
                <a:solidFill>
                  <a:schemeClr val="accent2"/>
                </a:solidFill>
                <a:sym typeface="Symbol" charset="2"/>
              </a:rPr>
              <a:t>else</a:t>
            </a:r>
            <a:r>
              <a:rPr lang="en-US" sz="1800" dirty="0">
                <a:sym typeface="Symbol" charset="2"/>
              </a:rPr>
              <a:t> </a:t>
            </a:r>
            <a:r>
              <a:rPr lang="en-US" sz="1800" dirty="0" err="1">
                <a:sym typeface="Symbol" charset="2"/>
              </a:rPr>
              <a:t>UnmatchedStmt</a:t>
            </a:r>
            <a:endParaRPr lang="en-US" sz="1800" dirty="0">
              <a:sym typeface="Symbol" charset="2"/>
            </a:endParaRPr>
          </a:p>
          <a:p>
            <a:pPr lvl="1">
              <a:lnSpc>
                <a:spcPct val="90000"/>
              </a:lnSpc>
              <a:buNone/>
            </a:pPr>
            <a:endParaRPr lang="en-US" sz="1800" dirty="0">
              <a:sym typeface="Symbol" charset="2"/>
            </a:endParaRPr>
          </a:p>
          <a:p>
            <a:pPr lvl="1">
              <a:lnSpc>
                <a:spcPct val="90000"/>
              </a:lnSpc>
              <a:buFontTx/>
              <a:buNone/>
            </a:pPr>
            <a:endParaRPr lang="en-US" sz="1800" dirty="0">
              <a:sym typeface="Symbol" charset="2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DC36A-F5D5-4F42-8A37-D23009BFA5B0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70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build="p" autoUpdateAnimBg="0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3899</TotalTime>
  <Words>1230</Words>
  <Application>Microsoft Macintosh PowerPoint</Application>
  <PresentationFormat>On-screen Show (16:9)</PresentationFormat>
  <Paragraphs>339</Paragraphs>
  <Slides>21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Times</vt:lpstr>
      <vt:lpstr>Arial</vt:lpstr>
      <vt:lpstr>Calibri</vt:lpstr>
      <vt:lpstr>Calibri Light</vt:lpstr>
      <vt:lpstr>Cambria Math</vt:lpstr>
      <vt:lpstr>Consolas</vt:lpstr>
      <vt:lpstr>Symbol</vt:lpstr>
      <vt:lpstr>Times New Roman</vt:lpstr>
      <vt:lpstr>1_Office Theme</vt:lpstr>
      <vt:lpstr>Context-Free Grammars</vt:lpstr>
      <vt:lpstr>Ambiguity  </vt:lpstr>
      <vt:lpstr>Ambiguity</vt:lpstr>
      <vt:lpstr>Ambiguity</vt:lpstr>
      <vt:lpstr>Precedence </vt:lpstr>
      <vt:lpstr>Associativity</vt:lpstr>
      <vt:lpstr>Recursion</vt:lpstr>
      <vt:lpstr>Fix Associativity</vt:lpstr>
      <vt:lpstr>Precedence and Associativity</vt:lpstr>
      <vt:lpstr>Dangling else ambiguity</vt:lpstr>
      <vt:lpstr>Dangling else ambiguity</vt:lpstr>
      <vt:lpstr>Dangling else ambiguity</vt:lpstr>
      <vt:lpstr>Precedence and Associativity Declaration </vt:lpstr>
      <vt:lpstr>Precedence and Associativity Declaration </vt:lpstr>
      <vt:lpstr>Associativity Declaration</vt:lpstr>
      <vt:lpstr>Precedence Declaration</vt:lpstr>
      <vt:lpstr>Extra Slides</vt:lpstr>
      <vt:lpstr>Other Ambiguous Grammars</vt:lpstr>
      <vt:lpstr>Dangling else ambiguity</vt:lpstr>
      <vt:lpstr>PowerPoint Presentation</vt:lpstr>
      <vt:lpstr>Dangling else ambiguity</vt:lpstr>
    </vt:vector>
  </TitlesOfParts>
  <Company>SFU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CMPT 825  Natural Language Processing</dc:title>
  <dc:creator>Anoop Sarkar</dc:creator>
  <cp:lastModifiedBy>Anoop Sarkar</cp:lastModifiedBy>
  <cp:revision>380</cp:revision>
  <cp:lastPrinted>2019-06-04T17:07:10Z</cp:lastPrinted>
  <dcterms:created xsi:type="dcterms:W3CDTF">2011-10-06T20:12:26Z</dcterms:created>
  <dcterms:modified xsi:type="dcterms:W3CDTF">2025-06-09T15:38:03Z</dcterms:modified>
</cp:coreProperties>
</file>