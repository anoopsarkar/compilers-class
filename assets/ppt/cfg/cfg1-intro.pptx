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4" r:id="rId1"/>
  </p:sldMasterIdLst>
  <p:notesMasterIdLst>
    <p:notesMasterId r:id="rId20"/>
  </p:notesMasterIdLst>
  <p:handoutMasterIdLst>
    <p:handoutMasterId r:id="rId21"/>
  </p:handoutMasterIdLst>
  <p:sldIdLst>
    <p:sldId id="328" r:id="rId2"/>
    <p:sldId id="258" r:id="rId3"/>
    <p:sldId id="310" r:id="rId4"/>
    <p:sldId id="311" r:id="rId5"/>
    <p:sldId id="312" r:id="rId6"/>
    <p:sldId id="313" r:id="rId7"/>
    <p:sldId id="314" r:id="rId8"/>
    <p:sldId id="322" r:id="rId9"/>
    <p:sldId id="329" r:id="rId10"/>
    <p:sldId id="315" r:id="rId11"/>
    <p:sldId id="316" r:id="rId12"/>
    <p:sldId id="317" r:id="rId13"/>
    <p:sldId id="318" r:id="rId14"/>
    <p:sldId id="319" r:id="rId15"/>
    <p:sldId id="324" r:id="rId16"/>
    <p:sldId id="325" r:id="rId17"/>
    <p:sldId id="326" r:id="rId18"/>
    <p:sldId id="327" r:id="rId19"/>
  </p:sldIdLst>
  <p:sldSz cx="9144000" cy="5143500" type="screen16x9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/>
  <p:clrMru>
    <a:srgbClr val="008080"/>
    <a:srgbClr val="8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030" autoAdjust="0"/>
    <p:restoredTop sz="91020"/>
  </p:normalViewPr>
  <p:slideViewPr>
    <p:cSldViewPr>
      <p:cViewPr varScale="1">
        <p:scale>
          <a:sx n="135" d="100"/>
          <a:sy n="135" d="100"/>
        </p:scale>
        <p:origin x="184" y="39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1464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1464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1464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1A65EC3-97E0-8C42-8462-B73B7D059010}" type="slidenum">
              <a:rPr lang="en-US">
                <a:latin typeface="Calibri" panose="020F0502020204030204" pitchFamily="34" charset="0"/>
              </a:rPr>
              <a:pPr/>
              <a:t>‹#›</a:t>
            </a:fld>
            <a:endParaRPr lang="en-US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37109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b="0" i="0"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72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b="0" i="0"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728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972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72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b="0" i="0"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72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 i="0">
                <a:latin typeface="Calibri" panose="020F0502020204030204" pitchFamily="34" charset="0"/>
              </a:defRPr>
            </a:lvl1pPr>
          </a:lstStyle>
          <a:p>
            <a:fld id="{0145A6CB-08E3-524B-8C9B-64D562E3780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95466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Calibri" panose="020F0502020204030204" pitchFamily="34" charset="0"/>
        <a:ea typeface="ＭＳ Ｐゴシック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Calibri" panose="020F0502020204030204" pitchFamily="34" charset="0"/>
        <a:ea typeface="ＭＳ Ｐゴシック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Calibri" panose="020F0502020204030204" pitchFamily="34" charset="0"/>
        <a:ea typeface="ＭＳ Ｐゴシック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Calibri" panose="020F0502020204030204" pitchFamily="34" charset="0"/>
        <a:ea typeface="ＭＳ Ｐゴシック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7" name="Shape 18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799C51F-8611-2846-B43F-DCE58985665C}" type="slidenum">
              <a:rPr lang="en-US"/>
              <a:pPr/>
              <a:t>2</a:t>
            </a:fld>
            <a:endParaRPr lang="en-US"/>
          </a:p>
        </p:txBody>
      </p:sp>
      <p:sp>
        <p:nvSpPr>
          <p:cNvPr id="99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993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F9787EC-BAFE-294A-8E90-66F7022EC2DD}" type="slidenum">
              <a:rPr lang="en-US"/>
              <a:pPr/>
              <a:t>11</a:t>
            </a:fld>
            <a:endParaRPr lang="en-US"/>
          </a:p>
        </p:txBody>
      </p:sp>
      <p:sp>
        <p:nvSpPr>
          <p:cNvPr id="1085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85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73710CBF-7FC4-5B49-9018-1706E27386AE}" type="slidenum">
              <a:rPr lang="en-US"/>
              <a:pPr/>
              <a:t>12</a:t>
            </a:fld>
            <a:endParaRPr lang="en-US"/>
          </a:p>
        </p:txBody>
      </p:sp>
      <p:sp>
        <p:nvSpPr>
          <p:cNvPr id="1095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95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4D03710-7A5A-2743-9FA5-26797524F547}" type="slidenum">
              <a:rPr lang="en-US"/>
              <a:pPr/>
              <a:t>13</a:t>
            </a:fld>
            <a:endParaRPr lang="en-US"/>
          </a:p>
        </p:txBody>
      </p:sp>
      <p:sp>
        <p:nvSpPr>
          <p:cNvPr id="1105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05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E0965804-6383-4C46-A360-7729EB0C25DE}" type="slidenum">
              <a:rPr lang="en-US"/>
              <a:pPr/>
              <a:t>14</a:t>
            </a:fld>
            <a:endParaRPr lang="en-US"/>
          </a:p>
        </p:txBody>
      </p:sp>
      <p:sp>
        <p:nvSpPr>
          <p:cNvPr id="189442" name="Rectangle 2"/>
          <p:cNvSpPr>
            <a:spLocks noGrp="1" noRot="1" noChangeAspect="1" noChangeArrowheads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944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EB415FA-3C37-834A-A1E6-2A4C5B46A4CD}" type="slidenum">
              <a:rPr lang="en-US"/>
              <a:pPr/>
              <a:t>16</a:t>
            </a:fld>
            <a:endParaRPr lang="en-US"/>
          </a:p>
        </p:txBody>
      </p:sp>
      <p:sp>
        <p:nvSpPr>
          <p:cNvPr id="1054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54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F9787EC-BAFE-294A-8E90-66F7022EC2DD}" type="slidenum">
              <a:rPr lang="en-US"/>
              <a:pPr/>
              <a:t>17</a:t>
            </a:fld>
            <a:endParaRPr lang="en-US"/>
          </a:p>
        </p:txBody>
      </p:sp>
      <p:sp>
        <p:nvSpPr>
          <p:cNvPr id="1085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85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96E42E6-9B4D-EC4C-A832-87241DDF3C93}" type="slidenum">
              <a:rPr lang="en-US"/>
              <a:pPr/>
              <a:t>18</a:t>
            </a:fld>
            <a:endParaRPr lang="en-US"/>
          </a:p>
        </p:txBody>
      </p:sp>
      <p:sp>
        <p:nvSpPr>
          <p:cNvPr id="1064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64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806C3-0D37-1E4B-AB06-F67F2304BA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474DE2-44F0-154B-9FE6-BCB6D1E865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E33B0-B879-9D40-9953-106C0922B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6DC762-1116-2146-A47C-D79A5A5DBAFD}" type="datetime1">
              <a:rPr lang="en-CA" smtClean="0"/>
              <a:t>2025-06-09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1F4B7-24D8-504D-91CD-3E8202E86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91076-2E3A-CF41-96E4-D4E77A0CF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851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10978-DDE8-6144-A6B8-517FFF2E3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A37744-5627-D646-9036-52ED7E568A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spcAft>
                <a:spcPts val="600"/>
              </a:spcAft>
              <a:defRPr/>
            </a:lvl1pPr>
            <a:lvl2pPr>
              <a:spcAft>
                <a:spcPts val="600"/>
              </a:spcAft>
              <a:defRPr/>
            </a:lvl2pPr>
            <a:lvl3pPr>
              <a:spcAft>
                <a:spcPts val="600"/>
              </a:spcAft>
              <a:defRPr/>
            </a:lvl3pPr>
            <a:lvl4pPr>
              <a:spcAft>
                <a:spcPts val="600"/>
              </a:spcAft>
              <a:defRPr/>
            </a:lvl4pPr>
            <a:lvl5pPr>
              <a:spcAft>
                <a:spcPts val="6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0F3F8-FC0C-1B43-BB73-11800B42E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49525-9B7D-5945-A782-775278635E42}" type="datetime1">
              <a:rPr lang="en-CA" smtClean="0"/>
              <a:t>2025-06-09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0E874-E612-CA46-B18E-0C8FA2206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7269F-A49C-1948-BC2E-ABADCE191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048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B0754-0214-DF47-9D67-A716F6494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234BCA-78F6-F745-9EBE-EE525CDE7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D707FE-6251-4E4B-BDFF-5C0B1706B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E1499-BDD1-6940-8C79-13A8B8E63D57}" type="datetime1">
              <a:rPr lang="en-CA" smtClean="0"/>
              <a:t>2025-06-09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AF015-083F-9840-9A9E-9E31B7D7B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A0E270-7D4E-DB45-B70B-D033519BA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868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48785-840A-474A-B8BA-27207C013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C8B25-A9AD-F143-AD1A-17A95F44E0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4209DA-22E0-B146-A689-48B1E9D383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A82A87-E151-8641-8C5C-327C5209D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0EF3-18A7-4644-8DA2-1EB9CA66C736}" type="datetime1">
              <a:rPr lang="en-CA" smtClean="0"/>
              <a:t>2025-06-09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32E4D-CFE1-864C-892F-C0510CC3C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737C13-4A25-3440-9E41-0DB773459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323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B1DBC-EEEB-1C44-A4C7-02D9BB9CB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D77D7-D2B1-0841-9C20-538058B42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0D616F-C61F-5B43-8094-DFDD05AE6B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AAF8CD-147D-0A4A-BE13-69AAC57DB7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EBD089-7443-DF4A-B93B-FC32F414CA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C8830C-AD3A-A446-BF5B-7A77BA98B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538FC1-2481-FB4A-91E5-87F3422DE2D5}" type="datetime1">
              <a:rPr lang="en-CA" smtClean="0"/>
              <a:t>2025-06-09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AAD4C6-8A32-E04D-85DA-373916480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150648-37B9-F641-A809-40BEBE4CD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475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2026B-B6A3-EF4D-842B-9C96C95E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B243C6-3123-ED41-BC4A-2F8A58F1A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5C515-1622-C840-89B2-A4A55D34866A}" type="datetime1">
              <a:rPr lang="en-CA" smtClean="0"/>
              <a:t>2025-06-09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8FF4D9-A959-C943-9751-31FDE7548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08D117-E466-BD48-A108-6422DCF14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223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1BBCE3-E514-D54F-B044-7DF10F00B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077E75-6C88-BB47-AC6F-0DCA859E7113}" type="datetime1">
              <a:rPr lang="en-CA" smtClean="0"/>
              <a:t>2025-06-09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219DF5-0E3C-2C40-BDE6-94E98A9F3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5E4FB-2E36-024F-9776-AFED77F03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846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621DF-5A92-D94F-88C5-5DB1A9683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DA461-75EB-C94E-A41A-1280134B9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1D39AE-0AA2-2B40-B6F4-B24A10D9AA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93C8F-B5C1-0D4A-8556-73269A2E3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12F8B-7E05-A047-BAC3-EE71BEBBE5BE}" type="datetime1">
              <a:rPr lang="en-CA" smtClean="0"/>
              <a:t>2025-06-09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9A6773-21F3-7040-BF77-4C1D0B809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52BF5-D92E-A14D-B1B8-704532D27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990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FB85D-520A-BD48-A297-F7A9EDDB9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2093CD-6667-AD4E-93F7-F3B21EF98B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CED6C-F32A-6A44-B857-EBD308B3E7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F4EDF9-2E61-C346-AEC1-C5515D510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9F72A-E93E-B546-8268-6408A6E1DA62}" type="datetime1">
              <a:rPr lang="en-CA" smtClean="0"/>
              <a:t>2025-06-09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8F289B-5706-A047-960A-6FDB1750F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612078-4758-934E-BFE9-86E98A44E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739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4CE0D-89FC-894E-837F-75025627F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80ACAA-2C0A-304E-83F1-4EB51F17E2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F2CE1A-ECCD-7C45-9EC1-935CBB996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FEDD1-5A1B-2342-BAF0-F7C5511A73CE}" type="datetime1">
              <a:rPr lang="en-CA" smtClean="0"/>
              <a:t>2025-06-09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CB26C1-B795-194B-A2F7-B95309E54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43C09-DCC3-4E4C-AE13-B0962DDB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829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684669-9A93-654D-9A2F-8081C87784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B22E1-C8CF-4B47-B5A2-1EE8384A2C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452BC-8E3F-AD42-BB94-46241CB0D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E59AE-0AE1-4048-8BD6-D39FC0EBB194}" type="datetime1">
              <a:rPr lang="en-CA" smtClean="0"/>
              <a:t>2025-06-09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62FCD2-719C-FC4A-8ADE-C7C90A064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1E3A0-1E32-BB4E-B406-C12478931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5568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725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2700"/>
            </a:lvl1pPr>
            <a:lvl2pPr lvl="1" algn="ctr">
              <a:spcBef>
                <a:spcPts val="0"/>
              </a:spcBef>
              <a:buSzPct val="100000"/>
              <a:defRPr sz="2700"/>
            </a:lvl2pPr>
            <a:lvl3pPr lvl="2" algn="ctr">
              <a:spcBef>
                <a:spcPts val="0"/>
              </a:spcBef>
              <a:buSzPct val="100000"/>
              <a:defRPr sz="2700"/>
            </a:lvl3pPr>
            <a:lvl4pPr lvl="3" algn="ctr">
              <a:spcBef>
                <a:spcPts val="0"/>
              </a:spcBef>
              <a:buSzPct val="100000"/>
              <a:defRPr sz="2700"/>
            </a:lvl4pPr>
            <a:lvl5pPr lvl="4" algn="ctr">
              <a:spcBef>
                <a:spcPts val="0"/>
              </a:spcBef>
              <a:buSzPct val="100000"/>
              <a:defRPr sz="2700"/>
            </a:lvl5pPr>
            <a:lvl6pPr lvl="5" algn="ctr">
              <a:spcBef>
                <a:spcPts val="0"/>
              </a:spcBef>
              <a:buSzPct val="100000"/>
              <a:defRPr sz="2700"/>
            </a:lvl6pPr>
            <a:lvl7pPr lvl="6" algn="ctr">
              <a:spcBef>
                <a:spcPts val="0"/>
              </a:spcBef>
              <a:buSzPct val="100000"/>
              <a:defRPr sz="2700"/>
            </a:lvl7pPr>
            <a:lvl8pPr lvl="7" algn="ctr">
              <a:spcBef>
                <a:spcPts val="0"/>
              </a:spcBef>
              <a:buSzPct val="100000"/>
              <a:defRPr sz="2700"/>
            </a:lvl8pPr>
            <a:lvl9pPr lvl="8" algn="ctr">
              <a:spcBef>
                <a:spcPts val="0"/>
              </a:spcBef>
              <a:buSzPct val="100000"/>
              <a:defRPr sz="27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892760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3"/>
          <p:cNvSpPr txBox="1">
            <a:spLocks noGrp="1"/>
          </p:cNvSpPr>
          <p:nvPr>
            <p:ph type="title"/>
          </p:nvPr>
        </p:nvSpPr>
        <p:spPr>
          <a:xfrm>
            <a:off x="685800" y="457200"/>
            <a:ext cx="7772400" cy="85725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342900" marR="0" lvl="5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685800" marR="0" lvl="6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1028700" marR="0" lvl="7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1371600" marR="0" lvl="8" indent="0" algn="ctr" rtl="0">
              <a:spcBef>
                <a:spcPts val="0"/>
              </a:spcBef>
              <a:spcAft>
                <a:spcPts val="0"/>
              </a:spcAft>
              <a:buNone/>
              <a:defRPr sz="33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4" name="Shape 34"/>
          <p:cNvSpPr txBox="1">
            <a:spLocks noGrp="1"/>
          </p:cNvSpPr>
          <p:nvPr>
            <p:ph type="body" idx="1"/>
          </p:nvPr>
        </p:nvSpPr>
        <p:spPr>
          <a:xfrm>
            <a:off x="685801" y="1485900"/>
            <a:ext cx="3809999" cy="3086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57175" marR="0" lvl="0" indent="-104775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57213" marR="0" lvl="1" indent="-80963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857250" marR="0" lvl="2" indent="-5715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200150" marR="0" lvl="3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543050" marR="0" lvl="4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1885950" marR="0" lvl="5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228850" marR="0" lvl="6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571750" marR="0" lvl="7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914650" marR="0" lvl="8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2"/>
          </p:nvPr>
        </p:nvSpPr>
        <p:spPr>
          <a:xfrm>
            <a:off x="4648201" y="1485900"/>
            <a:ext cx="3809999" cy="3086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57175" marR="0" lvl="0" indent="-104775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557213" marR="0" lvl="1" indent="-80963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857250" marR="0" lvl="2" indent="-5715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200150" marR="0" lvl="3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–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543050" marR="0" lvl="4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Char char="»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1885950" marR="0" lvl="5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228850" marR="0" lvl="6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571750" marR="0" lvl="7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914650" marR="0" lvl="8" indent="-76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Times New Roman"/>
              <a:buChar char="»"/>
              <a:defRPr sz="15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dt" idx="10"/>
          </p:nvPr>
        </p:nvSpPr>
        <p:spPr>
          <a:xfrm>
            <a:off x="685801" y="4686300"/>
            <a:ext cx="1904999" cy="3429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10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342900" marR="0" lvl="1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685800" marR="0" lvl="2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028700" marR="0" lvl="3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1371600" marR="0" lvl="4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17145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0574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4003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7432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7" name="Shape 37"/>
          <p:cNvSpPr txBox="1">
            <a:spLocks noGrp="1"/>
          </p:cNvSpPr>
          <p:nvPr>
            <p:ph type="ftr" idx="11"/>
          </p:nvPr>
        </p:nvSpPr>
        <p:spPr>
          <a:xfrm>
            <a:off x="31242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 sz="10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342900" marR="0" lvl="1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685800" marR="0" lvl="2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028700" marR="0" lvl="3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1371600" marR="0" lvl="4" indent="0" algn="l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17145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20574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24003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27432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8" name="Shape 38"/>
          <p:cNvSpPr txBox="1">
            <a:spLocks noGrp="1"/>
          </p:cNvSpPr>
          <p:nvPr>
            <p:ph type="sldNum" idx="12"/>
          </p:nvPr>
        </p:nvSpPr>
        <p:spPr>
          <a:xfrm>
            <a:off x="6553201" y="4686300"/>
            <a:ext cx="1904999" cy="3429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algn="r">
              <a:buSzPct val="25000"/>
            </a:pPr>
            <a:fld id="{00000000-1234-1234-1234-123412341234}" type="slidenum">
              <a:rPr lang="en-US" sz="1050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 algn="r">
                <a:buSzPct val="25000"/>
              </a:pPr>
              <a:t>‹#›</a:t>
            </a:fld>
            <a:endParaRPr lang="en-US"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91165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5FBF36-3AE9-6F4F-9D44-FDF1EDE69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433E42-24FB-9E4C-A197-FBE95A397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9F3E4-CCFD-A546-BD98-34B6A6B34C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i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97DF4AC7-DB73-7444-A2A7-FD79FE1A2B2B}" type="datetime1">
              <a:rPr lang="en-CA" smtClean="0"/>
              <a:pPr/>
              <a:t>2025-06-09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AAA39-D2DE-7B4A-BB24-AAC6C28B6F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i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1F2AD-686E-E445-9758-B74AC410C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0" i="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7B252BF6-6A9C-D04A-BBE8-37A07D64A1C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6916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Shape 189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vert="horz" wrap="square" lIns="68569" tIns="34275" rIns="68569" bIns="34275" numCol="1" anchor="ctr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buClr>
                <a:schemeClr val="dk1"/>
              </a:buClr>
              <a:buSzPct val="250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Context-Free Grammars</a:t>
            </a:r>
          </a:p>
        </p:txBody>
      </p:sp>
      <p:sp>
        <p:nvSpPr>
          <p:cNvPr id="190" name="Shape 190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ct val="25000"/>
            </a:pPr>
            <a:r>
              <a:rPr lang="en-US" dirty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CMPT 379: Compilers</a:t>
            </a:r>
          </a:p>
          <a:p>
            <a:pPr>
              <a:spcBef>
                <a:spcPts val="480"/>
              </a:spcBef>
              <a:buClr>
                <a:srgbClr val="888888"/>
              </a:buClr>
              <a:buSzPct val="25000"/>
            </a:pPr>
            <a:r>
              <a:rPr lang="en-US" dirty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Instructor: Anoop Sarkar</a:t>
            </a:r>
          </a:p>
          <a:p>
            <a:pPr>
              <a:spcBef>
                <a:spcPts val="480"/>
              </a:spcBef>
              <a:buClr>
                <a:srgbClr val="888888"/>
              </a:buClr>
              <a:buSzPct val="25000"/>
            </a:pPr>
            <a:r>
              <a:rPr lang="en-US" sz="1800" dirty="0" err="1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anoopsarkar.github.io</a:t>
            </a:r>
            <a:r>
              <a:rPr lang="en-US" sz="1800" dirty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/compilers-class</a:t>
            </a:r>
          </a:p>
        </p:txBody>
      </p:sp>
      <p:sp>
        <p:nvSpPr>
          <p:cNvPr id="191" name="Shape 191"/>
          <p:cNvSpPr/>
          <p:nvPr/>
        </p:nvSpPr>
        <p:spPr>
          <a:xfrm>
            <a:off x="6372200" y="377966"/>
            <a:ext cx="2366325" cy="383175"/>
          </a:xfrm>
          <a:prstGeom prst="roundRect">
            <a:avLst>
              <a:gd name="adj" fmla="val 16667"/>
            </a:avLst>
          </a:prstGeom>
          <a:solidFill>
            <a:schemeClr val="accent4">
              <a:lumMod val="60000"/>
              <a:lumOff val="40000"/>
            </a:schemeClr>
          </a:solidFill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68569" tIns="34275" rIns="68569" bIns="34275" anchor="t" anchorCtr="0">
            <a:noAutofit/>
          </a:bodyPr>
          <a:lstStyle/>
          <a:p>
            <a:pPr algn="ctr">
              <a:spcBef>
                <a:spcPts val="0"/>
              </a:spcBef>
              <a:buClr>
                <a:schemeClr val="dk1"/>
              </a:buClr>
              <a:buSzPct val="25000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CFG1: Intro to CFGs</a:t>
            </a:r>
          </a:p>
        </p:txBody>
      </p:sp>
    </p:spTree>
    <p:extLst>
      <p:ext uri="{BB962C8B-B14F-4D97-AF65-F5344CB8AC3E}">
        <p14:creationId xmlns:p14="http://schemas.microsoft.com/office/powerpoint/2010/main" val="1578945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Parsing</a:t>
            </a:r>
          </a:p>
        </p:txBody>
      </p:sp>
      <p:sp>
        <p:nvSpPr>
          <p:cNvPr id="2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C3535-5DE8-164B-AE23-9113A8D04F8C}" type="slidenum">
              <a:rPr lang="en-US"/>
              <a:pPr/>
              <a:t>2</a:t>
            </a:fld>
            <a:endParaRPr lang="en-US"/>
          </a:p>
        </p:txBody>
      </p:sp>
      <p:grpSp>
        <p:nvGrpSpPr>
          <p:cNvPr id="55315" name="Group 19"/>
          <p:cNvGrpSpPr>
            <a:grpSpLocks/>
          </p:cNvGrpSpPr>
          <p:nvPr/>
        </p:nvGrpSpPr>
        <p:grpSpPr bwMode="auto">
          <a:xfrm>
            <a:off x="1428750" y="1771650"/>
            <a:ext cx="6343650" cy="2191941"/>
            <a:chOff x="240" y="910"/>
            <a:chExt cx="5328" cy="1841"/>
          </a:xfrm>
        </p:grpSpPr>
        <p:sp>
          <p:nvSpPr>
            <p:cNvPr id="55300" name="Text Box 4"/>
            <p:cNvSpPr txBox="1">
              <a:spLocks noChangeArrowheads="1"/>
            </p:cNvSpPr>
            <p:nvPr/>
          </p:nvSpPr>
          <p:spPr bwMode="auto">
            <a:xfrm>
              <a:off x="960" y="1052"/>
              <a:ext cx="1104" cy="543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n-US" sz="1800" dirty="0">
                  <a:latin typeface="Calibri" panose="020F0502020204030204" pitchFamily="34" charset="0"/>
                </a:rPr>
                <a:t>Lexical </a:t>
              </a:r>
              <a:br>
                <a:rPr lang="en-US" sz="1800" dirty="0">
                  <a:latin typeface="Calibri" panose="020F0502020204030204" pitchFamily="34" charset="0"/>
                </a:rPr>
              </a:br>
              <a:r>
                <a:rPr lang="en-US" sz="1800" dirty="0">
                  <a:latin typeface="Calibri" panose="020F0502020204030204" pitchFamily="34" charset="0"/>
                </a:rPr>
                <a:t>Analyzer</a:t>
              </a:r>
            </a:p>
          </p:txBody>
        </p:sp>
        <p:sp>
          <p:nvSpPr>
            <p:cNvPr id="55301" name="Text Box 5"/>
            <p:cNvSpPr txBox="1">
              <a:spLocks noChangeArrowheads="1"/>
            </p:cNvSpPr>
            <p:nvPr/>
          </p:nvSpPr>
          <p:spPr bwMode="auto">
            <a:xfrm>
              <a:off x="4416" y="1166"/>
              <a:ext cx="1152" cy="310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n-US" sz="1800" dirty="0">
                  <a:latin typeface="Calibri" panose="020F0502020204030204" pitchFamily="34" charset="0"/>
                </a:rPr>
                <a:t>Later Stages</a:t>
              </a:r>
            </a:p>
          </p:txBody>
        </p:sp>
        <p:sp>
          <p:nvSpPr>
            <p:cNvPr id="55302" name="Text Box 6"/>
            <p:cNvSpPr txBox="1">
              <a:spLocks noChangeArrowheads="1"/>
            </p:cNvSpPr>
            <p:nvPr/>
          </p:nvSpPr>
          <p:spPr bwMode="auto">
            <a:xfrm>
              <a:off x="2688" y="1055"/>
              <a:ext cx="1063" cy="543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n-US" sz="1800" dirty="0">
                  <a:latin typeface="Calibri" panose="020F0502020204030204" pitchFamily="34" charset="0"/>
                </a:rPr>
                <a:t>Parser</a:t>
              </a:r>
              <a:br>
                <a:rPr lang="en-US" sz="1800" dirty="0">
                  <a:latin typeface="Calibri" panose="020F0502020204030204" pitchFamily="34" charset="0"/>
                </a:rPr>
              </a:br>
              <a:endParaRPr lang="en-US" sz="1800" dirty="0">
                <a:latin typeface="Calibri" panose="020F0502020204030204" pitchFamily="34" charset="0"/>
              </a:endParaRPr>
            </a:p>
          </p:txBody>
        </p:sp>
        <p:sp>
          <p:nvSpPr>
            <p:cNvPr id="55303" name="Line 7"/>
            <p:cNvSpPr>
              <a:spLocks noChangeShapeType="1"/>
            </p:cNvSpPr>
            <p:nvPr/>
          </p:nvSpPr>
          <p:spPr bwMode="auto">
            <a:xfrm flipV="1">
              <a:off x="2064" y="1152"/>
              <a:ext cx="576" cy="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 sz="1800" dirty="0">
                <a:latin typeface="Calibri" panose="020F0502020204030204" pitchFamily="34" charset="0"/>
              </a:endParaRPr>
            </a:p>
          </p:txBody>
        </p:sp>
        <p:sp>
          <p:nvSpPr>
            <p:cNvPr id="55304" name="Line 8"/>
            <p:cNvSpPr>
              <a:spLocks noChangeShapeType="1"/>
            </p:cNvSpPr>
            <p:nvPr/>
          </p:nvSpPr>
          <p:spPr bwMode="auto">
            <a:xfrm flipH="1">
              <a:off x="2064" y="1491"/>
              <a:ext cx="62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 sz="1800" dirty="0">
                <a:latin typeface="Calibri" panose="020F0502020204030204" pitchFamily="34" charset="0"/>
              </a:endParaRPr>
            </a:p>
          </p:txBody>
        </p:sp>
        <p:sp>
          <p:nvSpPr>
            <p:cNvPr id="55305" name="Line 9"/>
            <p:cNvSpPr>
              <a:spLocks noChangeShapeType="1"/>
            </p:cNvSpPr>
            <p:nvPr/>
          </p:nvSpPr>
          <p:spPr bwMode="auto">
            <a:xfrm>
              <a:off x="480" y="1299"/>
              <a:ext cx="43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 sz="1800" dirty="0">
                <a:latin typeface="Calibri" panose="020F0502020204030204" pitchFamily="34" charset="0"/>
              </a:endParaRPr>
            </a:p>
          </p:txBody>
        </p:sp>
        <p:sp>
          <p:nvSpPr>
            <p:cNvPr id="55306" name="Text Box 10"/>
            <p:cNvSpPr txBox="1">
              <a:spLocks noChangeArrowheads="1"/>
            </p:cNvSpPr>
            <p:nvPr/>
          </p:nvSpPr>
          <p:spPr bwMode="auto">
            <a:xfrm>
              <a:off x="2102" y="910"/>
              <a:ext cx="527" cy="2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500" dirty="0">
                  <a:latin typeface="Calibri" panose="020F0502020204030204" pitchFamily="34" charset="0"/>
                </a:rPr>
                <a:t>token</a:t>
              </a:r>
              <a:endParaRPr lang="en-US" sz="1500" dirty="0">
                <a:latin typeface="Comic Sans MS" charset="0"/>
              </a:endParaRPr>
            </a:p>
          </p:txBody>
        </p:sp>
        <p:sp>
          <p:nvSpPr>
            <p:cNvPr id="55307" name="Text Box 11"/>
            <p:cNvSpPr txBox="1">
              <a:spLocks noChangeArrowheads="1"/>
            </p:cNvSpPr>
            <p:nvPr/>
          </p:nvSpPr>
          <p:spPr bwMode="auto">
            <a:xfrm>
              <a:off x="2112" y="1268"/>
              <a:ext cx="540" cy="2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500" dirty="0">
                  <a:latin typeface="Calibri" panose="020F0502020204030204" pitchFamily="34" charset="0"/>
                </a:rPr>
                <a:t>next()</a:t>
              </a:r>
            </a:p>
          </p:txBody>
        </p:sp>
        <p:sp>
          <p:nvSpPr>
            <p:cNvPr id="55308" name="Text Box 12"/>
            <p:cNvSpPr txBox="1">
              <a:spLocks noChangeArrowheads="1"/>
            </p:cNvSpPr>
            <p:nvPr/>
          </p:nvSpPr>
          <p:spPr bwMode="auto">
            <a:xfrm>
              <a:off x="240" y="1091"/>
              <a:ext cx="713" cy="4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500" dirty="0">
                  <a:latin typeface="Calibri" panose="020F0502020204030204" pitchFamily="34" charset="0"/>
                </a:rPr>
                <a:t>source</a:t>
              </a:r>
              <a:br>
                <a:rPr lang="en-US" sz="1500" dirty="0">
                  <a:latin typeface="Calibri" panose="020F0502020204030204" pitchFamily="34" charset="0"/>
                </a:rPr>
              </a:br>
              <a:r>
                <a:rPr lang="en-US" sz="1500" dirty="0">
                  <a:latin typeface="Calibri" panose="020F0502020204030204" pitchFamily="34" charset="0"/>
                </a:rPr>
                <a:t>program</a:t>
              </a:r>
              <a:endParaRPr lang="en-US" sz="1500" dirty="0">
                <a:latin typeface="Comic Sans MS" charset="0"/>
              </a:endParaRPr>
            </a:p>
          </p:txBody>
        </p:sp>
        <p:sp>
          <p:nvSpPr>
            <p:cNvPr id="55309" name="Line 13"/>
            <p:cNvSpPr>
              <a:spLocks noChangeShapeType="1"/>
            </p:cNvSpPr>
            <p:nvPr/>
          </p:nvSpPr>
          <p:spPr bwMode="auto">
            <a:xfrm>
              <a:off x="3744" y="1347"/>
              <a:ext cx="6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 sz="1800" dirty="0">
                <a:latin typeface="Calibri" panose="020F0502020204030204" pitchFamily="34" charset="0"/>
              </a:endParaRPr>
            </a:p>
          </p:txBody>
        </p:sp>
        <p:sp>
          <p:nvSpPr>
            <p:cNvPr id="55310" name="Text Box 14"/>
            <p:cNvSpPr txBox="1">
              <a:spLocks noChangeArrowheads="1"/>
            </p:cNvSpPr>
            <p:nvPr/>
          </p:nvSpPr>
          <p:spPr bwMode="auto">
            <a:xfrm>
              <a:off x="3840" y="1107"/>
              <a:ext cx="576" cy="4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eaLnBrk="1" hangingPunct="1"/>
              <a:r>
                <a:rPr lang="en-US" sz="1500" dirty="0">
                  <a:latin typeface="Calibri" panose="020F0502020204030204" pitchFamily="34" charset="0"/>
                </a:rPr>
                <a:t>parse tree</a:t>
              </a:r>
            </a:p>
          </p:txBody>
        </p:sp>
        <p:sp>
          <p:nvSpPr>
            <p:cNvPr id="55311" name="Line 15"/>
            <p:cNvSpPr>
              <a:spLocks noChangeShapeType="1"/>
            </p:cNvSpPr>
            <p:nvPr/>
          </p:nvSpPr>
          <p:spPr bwMode="auto">
            <a:xfrm rot="16200000" flipH="1">
              <a:off x="1176" y="1899"/>
              <a:ext cx="62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 sz="1800" dirty="0">
                <a:latin typeface="Calibri" panose="020F0502020204030204" pitchFamily="34" charset="0"/>
              </a:endParaRPr>
            </a:p>
          </p:txBody>
        </p:sp>
        <p:sp>
          <p:nvSpPr>
            <p:cNvPr id="55312" name="Line 16"/>
            <p:cNvSpPr>
              <a:spLocks noChangeShapeType="1"/>
            </p:cNvSpPr>
            <p:nvPr/>
          </p:nvSpPr>
          <p:spPr bwMode="auto">
            <a:xfrm rot="16200000" flipH="1">
              <a:off x="2904" y="1899"/>
              <a:ext cx="62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 sz="1800" dirty="0">
                <a:latin typeface="Calibri" panose="020F0502020204030204" pitchFamily="34" charset="0"/>
              </a:endParaRPr>
            </a:p>
          </p:txBody>
        </p:sp>
        <p:sp>
          <p:nvSpPr>
            <p:cNvPr id="55313" name="Text Box 17"/>
            <p:cNvSpPr txBox="1">
              <a:spLocks noChangeArrowheads="1"/>
            </p:cNvSpPr>
            <p:nvPr/>
          </p:nvSpPr>
          <p:spPr bwMode="auto">
            <a:xfrm>
              <a:off x="960" y="2208"/>
              <a:ext cx="1104" cy="543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n-US" sz="1800" dirty="0">
                  <a:latin typeface="Calibri" panose="020F0502020204030204" pitchFamily="34" charset="0"/>
                </a:rPr>
                <a:t>Lexical Errors</a:t>
              </a:r>
            </a:p>
          </p:txBody>
        </p:sp>
        <p:sp>
          <p:nvSpPr>
            <p:cNvPr id="55314" name="Text Box 18"/>
            <p:cNvSpPr txBox="1">
              <a:spLocks noChangeArrowheads="1"/>
            </p:cNvSpPr>
            <p:nvPr/>
          </p:nvSpPr>
          <p:spPr bwMode="auto">
            <a:xfrm>
              <a:off x="2688" y="2208"/>
              <a:ext cx="1056" cy="543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1" hangingPunct="1"/>
              <a:r>
                <a:rPr lang="en-US" sz="1800" dirty="0">
                  <a:latin typeface="Calibri" panose="020F0502020204030204" pitchFamily="34" charset="0"/>
                </a:rPr>
                <a:t>Syntax Errors</a:t>
              </a: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1331643" y="2517745"/>
            <a:ext cx="972106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350" dirty="0">
                <a:solidFill>
                  <a:srgbClr val="FF0000"/>
                </a:solidFill>
                <a:latin typeface="Calibri" panose="020F0502020204030204" pitchFamily="34" charset="0"/>
              </a:rPr>
              <a:t>String of characters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9441" y="2573056"/>
            <a:ext cx="136659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350" dirty="0">
                <a:solidFill>
                  <a:srgbClr val="FF0000"/>
                </a:solidFill>
                <a:latin typeface="Calibri" panose="020F0502020204030204" pitchFamily="34" charset="0"/>
              </a:rPr>
              <a:t>flex: </a:t>
            </a:r>
            <a:r>
              <a:rPr lang="en-CA" sz="1350" dirty="0" err="1">
                <a:solidFill>
                  <a:srgbClr val="FF0000"/>
                </a:solidFill>
                <a:latin typeface="Calibri" panose="020F0502020204030204" pitchFamily="34" charset="0"/>
              </a:rPr>
              <a:t>yylex</a:t>
            </a:r>
            <a:r>
              <a:rPr lang="en-CA" sz="1350" dirty="0">
                <a:solidFill>
                  <a:srgbClr val="FF0000"/>
                </a:solidFill>
                <a:latin typeface="Calibri" panose="020F0502020204030204" pitchFamily="34" charset="0"/>
              </a:rPr>
              <a:t>()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Parsing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Every possible token sequence is not a valid program</a:t>
            </a:r>
          </a:p>
          <a:p>
            <a:r>
              <a:rPr lang="en-CA" dirty="0"/>
              <a:t>Parser distinguishes between valid and invalid programs</a:t>
            </a:r>
          </a:p>
          <a:p>
            <a:r>
              <a:rPr lang="en-CA" dirty="0"/>
              <a:t>We need </a:t>
            </a:r>
          </a:p>
          <a:p>
            <a:pPr lvl="1"/>
            <a:r>
              <a:rPr lang="en-CA" dirty="0"/>
              <a:t>A language for describing valid sequence of tokens</a:t>
            </a:r>
          </a:p>
          <a:p>
            <a:pPr lvl="1"/>
            <a:r>
              <a:rPr lang="en-CA" dirty="0"/>
              <a:t>A method for distinguishing valid from invalid programs</a:t>
            </a:r>
          </a:p>
          <a:p>
            <a:pPr lvl="1"/>
            <a:r>
              <a:rPr lang="en-CA" dirty="0"/>
              <a:t>Provide the program structure for a valid token sequence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201BD-6681-B946-ACD9-A8F6D28AC38D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30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Context-free Grammars (CFGs)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Programming languages have recursive structure </a:t>
            </a:r>
          </a:p>
          <a:p>
            <a:r>
              <a:rPr lang="en-CA" dirty="0"/>
              <a:t>An EXP is …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dirty="0"/>
              <a:t>Context Free Grammars are natural notation for the recursive structures we find in programming languages</a:t>
            </a:r>
          </a:p>
          <a:p>
            <a:r>
              <a:rPr lang="en-CA" dirty="0"/>
              <a:t>Finite state automata cannot handle nested parentheses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201BD-6681-B946-ACD9-A8F6D28AC38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427984" y="1800642"/>
            <a:ext cx="189987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/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while</a:t>
            </a:r>
            <a:r>
              <a:rPr lang="en-CA" sz="1800" dirty="0">
                <a:latin typeface="Calibri" panose="020F0502020204030204" pitchFamily="34" charset="0"/>
              </a:rPr>
              <a:t> EXP </a:t>
            </a:r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do</a:t>
            </a:r>
            <a:r>
              <a:rPr lang="en-CA" sz="1800" dirty="0">
                <a:latin typeface="Calibri" panose="020F0502020204030204" pitchFamily="34" charset="0"/>
              </a:rPr>
              <a:t> </a:t>
            </a:r>
          </a:p>
          <a:p>
            <a:pPr lvl="1"/>
            <a:r>
              <a:rPr lang="en-CA" sz="1800" dirty="0">
                <a:latin typeface="Calibri" panose="020F0502020204030204" pitchFamily="34" charset="0"/>
              </a:rPr>
              <a:t>	EXP </a:t>
            </a:r>
          </a:p>
          <a:p>
            <a:pPr lvl="1"/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2123728" y="1800642"/>
            <a:ext cx="220055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if</a:t>
            </a:r>
            <a:r>
              <a:rPr lang="en-CA" sz="1800" dirty="0">
                <a:latin typeface="Calibri" panose="020F0502020204030204" pitchFamily="34" charset="0"/>
              </a:rPr>
              <a:t> EXP  </a:t>
            </a:r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then</a:t>
            </a:r>
            <a:r>
              <a:rPr lang="en-CA" sz="1800" dirty="0">
                <a:latin typeface="Calibri" panose="020F0502020204030204" pitchFamily="34" charset="0"/>
              </a:rPr>
              <a:t> </a:t>
            </a:r>
          </a:p>
          <a:p>
            <a:pPr lvl="1"/>
            <a:r>
              <a:rPr lang="en-CA" sz="1800" dirty="0">
                <a:latin typeface="Calibri" panose="020F0502020204030204" pitchFamily="34" charset="0"/>
              </a:rPr>
              <a:t>	EXP </a:t>
            </a:r>
          </a:p>
          <a:p>
            <a:pPr lvl="1"/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else</a:t>
            </a:r>
            <a:r>
              <a:rPr lang="en-CA" sz="1800" dirty="0">
                <a:latin typeface="Calibri" panose="020F0502020204030204" pitchFamily="34" charset="0"/>
              </a:rPr>
              <a:t> </a:t>
            </a:r>
          </a:p>
          <a:p>
            <a:pPr lvl="1"/>
            <a:r>
              <a:rPr lang="en-CA" sz="1800" dirty="0">
                <a:latin typeface="Calibri" panose="020F0502020204030204" pitchFamily="34" charset="0"/>
              </a:rPr>
              <a:t>	EXP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29172D-4DF6-994C-9B92-15D882B1EE97}"/>
              </a:ext>
            </a:extLst>
          </p:cNvPr>
          <p:cNvSpPr/>
          <p:nvPr/>
        </p:nvSpPr>
        <p:spPr>
          <a:xfrm>
            <a:off x="6332716" y="394088"/>
            <a:ext cx="220055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if</a:t>
            </a:r>
            <a:r>
              <a:rPr lang="en-CA" sz="1800" dirty="0">
                <a:latin typeface="Calibri" panose="020F0502020204030204" pitchFamily="34" charset="0"/>
              </a:rPr>
              <a:t> EXP  </a:t>
            </a:r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then</a:t>
            </a:r>
            <a:r>
              <a:rPr lang="en-CA" sz="1800" dirty="0">
                <a:latin typeface="Calibri" panose="020F0502020204030204" pitchFamily="34" charset="0"/>
              </a:rPr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872C2B-5EBF-1547-A78D-56DB9D9E4903}"/>
              </a:ext>
            </a:extLst>
          </p:cNvPr>
          <p:cNvSpPr/>
          <p:nvPr/>
        </p:nvSpPr>
        <p:spPr>
          <a:xfrm>
            <a:off x="6539543" y="691859"/>
            <a:ext cx="19078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/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while</a:t>
            </a:r>
            <a:r>
              <a:rPr lang="en-CA" sz="1800" dirty="0">
                <a:latin typeface="Calibri" panose="020F0502020204030204" pitchFamily="34" charset="0"/>
              </a:rPr>
              <a:t> EXP </a:t>
            </a:r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do</a:t>
            </a:r>
            <a:r>
              <a:rPr lang="en-CA" sz="1800" dirty="0">
                <a:latin typeface="Calibri" panose="020F0502020204030204" pitchFamily="34" charset="0"/>
              </a:rPr>
              <a:t>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3404CE6-B2F1-FC46-B676-C2186B0A4FA9}"/>
              </a:ext>
            </a:extLst>
          </p:cNvPr>
          <p:cNvSpPr/>
          <p:nvPr/>
        </p:nvSpPr>
        <p:spPr>
          <a:xfrm>
            <a:off x="6332716" y="3032484"/>
            <a:ext cx="220055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else</a:t>
            </a:r>
            <a:r>
              <a:rPr lang="en-CA" sz="1800" dirty="0">
                <a:latin typeface="Calibri" panose="020F0502020204030204" pitchFamily="34" charset="0"/>
              </a:rPr>
              <a:t> </a:t>
            </a:r>
          </a:p>
          <a:p>
            <a:pPr lvl="1"/>
            <a:r>
              <a:rPr lang="en-CA" sz="1800" dirty="0">
                <a:latin typeface="Calibri" panose="020F0502020204030204" pitchFamily="34" charset="0"/>
              </a:rPr>
              <a:t>	EXP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53B1B2-E619-D94E-B205-0194181B4455}"/>
              </a:ext>
            </a:extLst>
          </p:cNvPr>
          <p:cNvSpPr/>
          <p:nvPr/>
        </p:nvSpPr>
        <p:spPr>
          <a:xfrm>
            <a:off x="6539543" y="2734712"/>
            <a:ext cx="10054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/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end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1A10F5-A416-7843-AAC9-175FC46F4D78}"/>
              </a:ext>
            </a:extLst>
          </p:cNvPr>
          <p:cNvSpPr/>
          <p:nvPr/>
        </p:nvSpPr>
        <p:spPr>
          <a:xfrm>
            <a:off x="6799439" y="989630"/>
            <a:ext cx="220055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if</a:t>
            </a:r>
            <a:r>
              <a:rPr lang="en-CA" sz="1800" dirty="0">
                <a:latin typeface="Calibri" panose="020F0502020204030204" pitchFamily="34" charset="0"/>
              </a:rPr>
              <a:t> EXP  </a:t>
            </a:r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then</a:t>
            </a:r>
            <a:r>
              <a:rPr lang="en-CA" sz="1800" dirty="0">
                <a:latin typeface="Calibri" panose="020F0502020204030204" pitchFamily="34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A5F39B-5E7A-6841-AFEE-52106D1B3636}"/>
              </a:ext>
            </a:extLst>
          </p:cNvPr>
          <p:cNvSpPr/>
          <p:nvPr/>
        </p:nvSpPr>
        <p:spPr>
          <a:xfrm>
            <a:off x="6799439" y="2159942"/>
            <a:ext cx="220055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else</a:t>
            </a:r>
            <a:r>
              <a:rPr lang="en-CA" sz="1800" dirty="0">
                <a:latin typeface="Calibri" panose="020F0502020204030204" pitchFamily="34" charset="0"/>
              </a:rPr>
              <a:t> </a:t>
            </a:r>
          </a:p>
          <a:p>
            <a:pPr lvl="1"/>
            <a:r>
              <a:rPr lang="en-CA" sz="1800" dirty="0">
                <a:latin typeface="Calibri" panose="020F0502020204030204" pitchFamily="34" charset="0"/>
              </a:rPr>
              <a:t>	EXP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B13F35-AC05-9448-ACF6-6A75F96FAD8B}"/>
              </a:ext>
            </a:extLst>
          </p:cNvPr>
          <p:cNvSpPr/>
          <p:nvPr/>
        </p:nvSpPr>
        <p:spPr>
          <a:xfrm>
            <a:off x="6983468" y="1287401"/>
            <a:ext cx="19078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/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while</a:t>
            </a:r>
            <a:r>
              <a:rPr lang="en-CA" sz="1800" dirty="0">
                <a:latin typeface="Calibri" panose="020F0502020204030204" pitchFamily="34" charset="0"/>
              </a:rPr>
              <a:t> EXP </a:t>
            </a:r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do</a:t>
            </a:r>
            <a:r>
              <a:rPr lang="en-CA" sz="1800" dirty="0">
                <a:latin typeface="Calibri" panose="020F0502020204030204" pitchFamily="34" charset="0"/>
              </a:rPr>
              <a:t>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F6BC6B-0380-E746-9A98-1D81A6A277B7}"/>
              </a:ext>
            </a:extLst>
          </p:cNvPr>
          <p:cNvSpPr/>
          <p:nvPr/>
        </p:nvSpPr>
        <p:spPr>
          <a:xfrm>
            <a:off x="6983468" y="1585172"/>
            <a:ext cx="145905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/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	</a:t>
            </a:r>
            <a:r>
              <a:rPr lang="en-CA" sz="1800" dirty="0">
                <a:latin typeface="Calibri" panose="020F0502020204030204" pitchFamily="34" charset="0"/>
              </a:rPr>
              <a:t>EXP</a:t>
            </a:r>
            <a:endParaRPr lang="en-CA" sz="1800" dirty="0">
              <a:solidFill>
                <a:schemeClr val="accent2"/>
              </a:solidFill>
              <a:latin typeface="Calibri" panose="020F0502020204030204" pitchFamily="34" charset="0"/>
            </a:endParaRPr>
          </a:p>
          <a:p>
            <a:pPr lvl="1"/>
            <a:r>
              <a:rPr lang="en-CA" sz="1800" dirty="0">
                <a:solidFill>
                  <a:schemeClr val="accent2"/>
                </a:solidFill>
                <a:latin typeface="Calibri" panose="020F0502020204030204" pitchFamily="34" charset="0"/>
              </a:rPr>
              <a:t>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FEBE44-3281-8942-8843-F790B80FF970}"/>
              </a:ext>
            </a:extLst>
          </p:cNvPr>
          <p:cNvSpPr txBox="1"/>
          <p:nvPr/>
        </p:nvSpPr>
        <p:spPr>
          <a:xfrm>
            <a:off x="6348993" y="419579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n-lt"/>
              </a:rPr>
              <a:t>(</a:t>
            </a:r>
            <a:r>
              <a:rPr lang="en-US" sz="1400" baseline="-25000" dirty="0">
                <a:latin typeface="+mn-lt"/>
              </a:rPr>
              <a:t>if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AE55A7-ABA2-9B46-BAB4-D131FB504E8F}"/>
              </a:ext>
            </a:extLst>
          </p:cNvPr>
          <p:cNvSpPr txBox="1"/>
          <p:nvPr/>
        </p:nvSpPr>
        <p:spPr>
          <a:xfrm>
            <a:off x="6348993" y="3083652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n-lt"/>
              </a:rPr>
              <a:t>)</a:t>
            </a:r>
            <a:r>
              <a:rPr lang="en-US" sz="1400" baseline="-25000" dirty="0">
                <a:latin typeface="+mn-lt"/>
              </a:rPr>
              <a:t>if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23EFB2-1F1C-9A44-98D1-69F8C45C8101}"/>
              </a:ext>
            </a:extLst>
          </p:cNvPr>
          <p:cNvSpPr txBox="1"/>
          <p:nvPr/>
        </p:nvSpPr>
        <p:spPr>
          <a:xfrm>
            <a:off x="6976985" y="1312218"/>
            <a:ext cx="5004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n-lt"/>
              </a:rPr>
              <a:t>(</a:t>
            </a:r>
            <a:r>
              <a:rPr lang="en-US" sz="1400" baseline="-25000" dirty="0">
                <a:latin typeface="+mn-lt"/>
              </a:rPr>
              <a:t>while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8DAE8A-229F-0249-BD0B-D70060F00AB9}"/>
              </a:ext>
            </a:extLst>
          </p:cNvPr>
          <p:cNvSpPr txBox="1"/>
          <p:nvPr/>
        </p:nvSpPr>
        <p:spPr>
          <a:xfrm>
            <a:off x="6493062" y="2753587"/>
            <a:ext cx="5004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n-lt"/>
              </a:rPr>
              <a:t>)</a:t>
            </a:r>
            <a:r>
              <a:rPr lang="en-US" sz="1400" baseline="-25000" dirty="0">
                <a:latin typeface="+mn-lt"/>
              </a:rPr>
              <a:t>while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244AB7-9BD3-A44C-B2D7-06986A89EF56}"/>
              </a:ext>
            </a:extLst>
          </p:cNvPr>
          <p:cNvSpPr txBox="1"/>
          <p:nvPr/>
        </p:nvSpPr>
        <p:spPr>
          <a:xfrm>
            <a:off x="6493062" y="730190"/>
            <a:ext cx="5004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n-lt"/>
              </a:rPr>
              <a:t>(</a:t>
            </a:r>
            <a:r>
              <a:rPr lang="en-US" sz="1400" baseline="-25000" dirty="0">
                <a:latin typeface="+mn-lt"/>
              </a:rPr>
              <a:t>while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025040-4E87-E04B-AE8D-66F0397E64CE}"/>
              </a:ext>
            </a:extLst>
          </p:cNvPr>
          <p:cNvSpPr txBox="1"/>
          <p:nvPr/>
        </p:nvSpPr>
        <p:spPr>
          <a:xfrm>
            <a:off x="6798484" y="1021535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n-lt"/>
              </a:rPr>
              <a:t>(</a:t>
            </a:r>
            <a:r>
              <a:rPr lang="en-US" sz="1400" baseline="-25000" dirty="0">
                <a:latin typeface="+mn-lt"/>
              </a:rPr>
              <a:t>if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B653B0-8D09-524B-A979-76E4C7278241}"/>
              </a:ext>
            </a:extLst>
          </p:cNvPr>
          <p:cNvSpPr txBox="1"/>
          <p:nvPr/>
        </p:nvSpPr>
        <p:spPr>
          <a:xfrm>
            <a:off x="6798484" y="2185462"/>
            <a:ext cx="3032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n-lt"/>
              </a:rPr>
              <a:t>)</a:t>
            </a:r>
            <a:r>
              <a:rPr lang="en-US" sz="1400" baseline="-25000" dirty="0">
                <a:latin typeface="+mn-lt"/>
              </a:rPr>
              <a:t>if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1459EA-D337-F94E-B5E0-0FA4DD54887C}"/>
              </a:ext>
            </a:extLst>
          </p:cNvPr>
          <p:cNvSpPr txBox="1"/>
          <p:nvPr/>
        </p:nvSpPr>
        <p:spPr>
          <a:xfrm>
            <a:off x="6976985" y="1861468"/>
            <a:ext cx="5004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+mn-lt"/>
              </a:rPr>
              <a:t>)</a:t>
            </a:r>
            <a:r>
              <a:rPr lang="en-US" sz="1400" baseline="-25000" dirty="0">
                <a:latin typeface="+mn-lt"/>
              </a:rPr>
              <a:t>while</a:t>
            </a:r>
          </a:p>
        </p:txBody>
      </p:sp>
    </p:spTree>
    <p:extLst>
      <p:ext uri="{BB962C8B-B14F-4D97-AF65-F5344CB8AC3E}">
        <p14:creationId xmlns:p14="http://schemas.microsoft.com/office/powerpoint/2010/main" val="3193232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4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Context-free Grammars (CFGs)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A" dirty="0"/>
                  <a:t>A CFG consists of</a:t>
                </a:r>
              </a:p>
              <a:p>
                <a:pPr lvl="1"/>
                <a:r>
                  <a:rPr lang="en-CA" dirty="0"/>
                  <a:t>A set of terminals: </a:t>
                </a:r>
                <a:r>
                  <a:rPr lang="en-CA" dirty="0">
                    <a:solidFill>
                      <a:schemeClr val="accent6">
                        <a:lumMod val="50000"/>
                      </a:schemeClr>
                    </a:solidFill>
                  </a:rPr>
                  <a:t>T (input symbols)</a:t>
                </a:r>
              </a:p>
              <a:p>
                <a:pPr lvl="1"/>
                <a:r>
                  <a:rPr lang="en-CA" dirty="0"/>
                  <a:t>A set on non-terminals:  </a:t>
                </a:r>
                <a:r>
                  <a:rPr lang="en-CA" dirty="0">
                    <a:solidFill>
                      <a:schemeClr val="accent1">
                        <a:lumMod val="75000"/>
                      </a:schemeClr>
                    </a:solidFill>
                  </a:rPr>
                  <a:t>N</a:t>
                </a:r>
              </a:p>
              <a:p>
                <a:pPr lvl="1"/>
                <a:r>
                  <a:rPr lang="en-CA" dirty="0"/>
                  <a:t>A start symbol:  </a:t>
                </a:r>
                <a:r>
                  <a:rPr lang="en-CA" dirty="0">
                    <a:solidFill>
                      <a:schemeClr val="accent2"/>
                    </a:solidFill>
                  </a:rPr>
                  <a:t>S </a:t>
                </a:r>
                <a14:m>
                  <m:oMath xmlns:m="http://schemas.openxmlformats.org/officeDocument/2006/math">
                    <m:r>
                      <a:rPr lang="en-CA" i="1" smtClean="0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∈</m:t>
                    </m:r>
                  </m:oMath>
                </a14:m>
                <a:r>
                  <a:rPr lang="en-CA" dirty="0">
                    <a:solidFill>
                      <a:schemeClr val="accent1">
                        <a:lumMod val="75000"/>
                      </a:schemeClr>
                    </a:solidFill>
                  </a:rPr>
                  <a:t> N</a:t>
                </a:r>
              </a:p>
              <a:p>
                <a:pPr lvl="1"/>
                <a:r>
                  <a:rPr lang="en-CA" dirty="0"/>
                  <a:t>A set of rules/productions:  </a:t>
                </a:r>
                <a:r>
                  <a:rPr lang="en-CA" dirty="0">
                    <a:solidFill>
                      <a:schemeClr val="accent2"/>
                    </a:solidFill>
                  </a:rPr>
                  <a:t>X</a:t>
                </a:r>
                <a14:m>
                  <m:oMath xmlns:m="http://schemas.openxmlformats.org/officeDocument/2006/math">
                    <m:r>
                      <a:rPr lang="en-CA" i="1" smtClean="0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→</m:t>
                    </m:r>
                  </m:oMath>
                </a14:m>
                <a:r>
                  <a:rPr lang="en-CA" dirty="0">
                    <a:solidFill>
                      <a:schemeClr val="accent2"/>
                    </a:solidFill>
                  </a:rPr>
                  <a:t>Y</a:t>
                </a:r>
                <a:r>
                  <a:rPr lang="en-CA" baseline="-25000" dirty="0">
                    <a:solidFill>
                      <a:schemeClr val="accent2"/>
                    </a:solidFill>
                  </a:rPr>
                  <a:t>1</a:t>
                </a:r>
                <a:r>
                  <a:rPr lang="en-CA" dirty="0">
                    <a:solidFill>
                      <a:schemeClr val="accent2"/>
                    </a:solidFill>
                  </a:rPr>
                  <a:t>…</a:t>
                </a:r>
                <a:r>
                  <a:rPr lang="en-CA" dirty="0" err="1">
                    <a:solidFill>
                      <a:schemeClr val="accent2"/>
                    </a:solidFill>
                  </a:rPr>
                  <a:t>Y</a:t>
                </a:r>
                <a:r>
                  <a:rPr lang="en-CA" baseline="-25000" dirty="0" err="1">
                    <a:solidFill>
                      <a:schemeClr val="accent2"/>
                    </a:solidFill>
                  </a:rPr>
                  <a:t>n</a:t>
                </a:r>
                <a:endParaRPr lang="en-CA" baseline="-25000" dirty="0"/>
              </a:p>
              <a:p>
                <a:pPr marL="342900" lvl="1" indent="0">
                  <a:buNone/>
                </a:pPr>
                <a:r>
                  <a:rPr lang="en-CA" dirty="0"/>
                  <a:t>                                                     </a:t>
                </a:r>
                <a:r>
                  <a:rPr lang="en-CA" dirty="0">
                    <a:solidFill>
                      <a:schemeClr val="accent2"/>
                    </a:solidFill>
                  </a:rPr>
                  <a:t>X</a:t>
                </a:r>
                <a14:m>
                  <m:oMath xmlns:m="http://schemas.openxmlformats.org/officeDocument/2006/math">
                    <m:r>
                      <a:rPr lang="en-CA" b="0" i="0" smtClean="0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 </m:t>
                    </m:r>
                    <m:r>
                      <a:rPr lang="en-CA" i="1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∈</m:t>
                    </m:r>
                    <m:r>
                      <a:rPr lang="en-CA" b="0" i="1" smtClean="0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 </m:t>
                    </m:r>
                  </m:oMath>
                </a14:m>
                <a:r>
                  <a:rPr lang="en-CA" dirty="0">
                    <a:solidFill>
                      <a:schemeClr val="accent1">
                        <a:lumMod val="75000"/>
                      </a:schemeClr>
                    </a:solidFill>
                  </a:rPr>
                  <a:t>N</a:t>
                </a:r>
                <a:r>
                  <a:rPr lang="en-CA" dirty="0"/>
                  <a:t> </a:t>
                </a:r>
              </a:p>
              <a:p>
                <a:pPr marL="342900" lvl="1" indent="0">
                  <a:buNone/>
                </a:pPr>
                <a:r>
                  <a:rPr lang="en-CA" dirty="0"/>
                  <a:t>                                                     </a:t>
                </a:r>
                <a:r>
                  <a:rPr lang="en-CA" dirty="0">
                    <a:solidFill>
                      <a:schemeClr val="accent2"/>
                    </a:solidFill>
                  </a:rPr>
                  <a:t>Y</a:t>
                </a:r>
                <a:r>
                  <a:rPr lang="en-CA" baseline="-25000" dirty="0">
                    <a:solidFill>
                      <a:schemeClr val="accent2"/>
                    </a:solidFill>
                  </a:rPr>
                  <a:t>i</a:t>
                </a:r>
                <a:r>
                  <a:rPr lang="en-CA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CA" i="1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∈</m:t>
                    </m:r>
                  </m:oMath>
                </a14:m>
                <a:r>
                  <a:rPr lang="en-CA" dirty="0">
                    <a:solidFill>
                      <a:schemeClr val="accent2"/>
                    </a:solidFill>
                  </a:rPr>
                  <a:t> </a:t>
                </a:r>
                <a:r>
                  <a:rPr lang="en-CA" dirty="0">
                    <a:solidFill>
                      <a:schemeClr val="accent1">
                        <a:lumMod val="75000"/>
                      </a:schemeClr>
                    </a:solidFill>
                  </a:rPr>
                  <a:t>N</a:t>
                </a:r>
                <a:r>
                  <a:rPr lang="en-CA" dirty="0">
                    <a:solidFill>
                      <a:schemeClr val="accent2"/>
                    </a:solidFill>
                  </a:rPr>
                  <a:t> U </a:t>
                </a:r>
                <a:r>
                  <a:rPr lang="en-CA" dirty="0">
                    <a:solidFill>
                      <a:schemeClr val="accent6">
                        <a:lumMod val="50000"/>
                      </a:schemeClr>
                    </a:solidFill>
                  </a:rPr>
                  <a:t>T</a:t>
                </a:r>
                <a:r>
                  <a:rPr lang="en-CA" dirty="0"/>
                  <a:t> </a:t>
                </a:r>
                <a:r>
                  <a:rPr lang="en-CA" dirty="0">
                    <a:solidFill>
                      <a:schemeClr val="accent2"/>
                    </a:solidFill>
                  </a:rPr>
                  <a:t>U {</a:t>
                </a:r>
                <a:r>
                  <a:rPr lang="el-GR" dirty="0">
                    <a:solidFill>
                      <a:schemeClr val="accent6">
                        <a:lumMod val="50000"/>
                      </a:schemeClr>
                    </a:solidFill>
                  </a:rPr>
                  <a:t>ε</a:t>
                </a:r>
                <a:r>
                  <a:rPr lang="en-CA" dirty="0">
                    <a:solidFill>
                      <a:schemeClr val="accent2"/>
                    </a:solidFill>
                  </a:rPr>
                  <a:t>}</a:t>
                </a:r>
                <a:endParaRPr lang="en-CA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43" t="-2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201BD-6681-B946-ACD9-A8F6D28AC38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EE1F36B-52B2-6D48-80EB-01FBAE62F80A}"/>
              </a:ext>
            </a:extLst>
          </p:cNvPr>
          <p:cNvSpPr/>
          <p:nvPr/>
        </p:nvSpPr>
        <p:spPr>
          <a:xfrm>
            <a:off x="3415740" y="2723737"/>
            <a:ext cx="504056" cy="194419"/>
          </a:xfrm>
          <a:prstGeom prst="round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LHS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BF2E6B8-657F-C947-9757-2ACF93DE2E8E}"/>
              </a:ext>
            </a:extLst>
          </p:cNvPr>
          <p:cNvSpPr/>
          <p:nvPr/>
        </p:nvSpPr>
        <p:spPr>
          <a:xfrm>
            <a:off x="4139952" y="2723420"/>
            <a:ext cx="541734" cy="194419"/>
          </a:xfrm>
          <a:prstGeom prst="round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RHS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545957-0FD0-BB45-A73C-4C769021BF2F}"/>
              </a:ext>
            </a:extLst>
          </p:cNvPr>
          <p:cNvSpPr/>
          <p:nvPr/>
        </p:nvSpPr>
        <p:spPr>
          <a:xfrm>
            <a:off x="6413835" y="2512447"/>
            <a:ext cx="504056" cy="194419"/>
          </a:xfrm>
          <a:prstGeom prst="round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LHS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1C16-FC3A-BF46-824D-C1B38F8970EE}"/>
              </a:ext>
            </a:extLst>
          </p:cNvPr>
          <p:cNvSpPr txBox="1"/>
          <p:nvPr/>
        </p:nvSpPr>
        <p:spPr>
          <a:xfrm>
            <a:off x="5494224" y="1923678"/>
            <a:ext cx="19274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+mn-lt"/>
              </a:rPr>
              <a:t>Rule application: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5BDB-7714-F74A-B8A2-7D760D9234F3}"/>
              </a:ext>
            </a:extLst>
          </p:cNvPr>
          <p:cNvSpPr txBox="1"/>
          <p:nvPr/>
        </p:nvSpPr>
        <p:spPr>
          <a:xfrm>
            <a:off x="5494224" y="2424991"/>
            <a:ext cx="919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+mn-lt"/>
              </a:rPr>
              <a:t>Replace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467DC4-5128-4040-82BA-08732F762AD9}"/>
              </a:ext>
            </a:extLst>
          </p:cNvPr>
          <p:cNvSpPr txBox="1"/>
          <p:nvPr/>
        </p:nvSpPr>
        <p:spPr>
          <a:xfrm>
            <a:off x="7004787" y="2426591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+mn-lt"/>
              </a:rPr>
              <a:t>with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42AC54E-4727-2348-9980-FAD0FF36C57B}"/>
              </a:ext>
            </a:extLst>
          </p:cNvPr>
          <p:cNvSpPr/>
          <p:nvPr/>
        </p:nvSpPr>
        <p:spPr>
          <a:xfrm>
            <a:off x="7693130" y="2512447"/>
            <a:ext cx="541734" cy="194419"/>
          </a:xfrm>
          <a:prstGeom prst="round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RHS</a:t>
            </a:r>
          </a:p>
        </p:txBody>
      </p:sp>
    </p:spTree>
    <p:extLst>
      <p:ext uri="{BB962C8B-B14F-4D97-AF65-F5344CB8AC3E}">
        <p14:creationId xmlns:p14="http://schemas.microsoft.com/office/powerpoint/2010/main" val="1149720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  <p:bldP spid="6" grpId="0" animBg="1"/>
      <p:bldP spid="7" grpId="0" animBg="1"/>
      <p:bldP spid="8" grpId="0"/>
      <p:bldP spid="9" grpId="0"/>
      <p:bldP spid="10" grpId="0"/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Context-free Grammars (CFGs)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201BD-6681-B946-ACD9-A8F6D28AC38D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788457" y="2371695"/>
            <a:ext cx="15670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>
                <a:solidFill>
                  <a:srgbClr val="FF0000"/>
                </a:solidFill>
                <a:latin typeface="Calibri" panose="020F0502020204030204" pitchFamily="34" charset="0"/>
              </a:rPr>
              <a:t>CFG Rules</a:t>
            </a:r>
            <a:r>
              <a:rPr lang="en-CA" sz="1800" dirty="0">
                <a:solidFill>
                  <a:srgbClr val="FF0000"/>
                </a:solidFill>
                <a:latin typeface="Calibri" panose="020F0502020204030204" pitchFamily="34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61FB77A-2C73-DC4E-AA02-C5AB1E31F4ED}"/>
                  </a:ext>
                </a:extLst>
              </p:cNvPr>
              <p:cNvSpPr txBox="1"/>
              <p:nvPr/>
            </p:nvSpPr>
            <p:spPr>
              <a:xfrm>
                <a:off x="1013919" y="1434169"/>
                <a:ext cx="2293000" cy="4735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dirty="0">
                    <a:latin typeface="Calibri" panose="020F0502020204030204" pitchFamily="34" charset="0"/>
                  </a:rPr>
                  <a:t>L = {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i="1">
                            <a:latin typeface="Cambria Math"/>
                          </a:rPr>
                          <m:t>(</m:t>
                        </m:r>
                      </m:e>
                      <m:sup>
                        <m:r>
                          <a:rPr lang="en-CA" i="1">
                            <a:latin typeface="Cambria Math"/>
                          </a:rPr>
                          <m:t>𝑖</m:t>
                        </m:r>
                      </m:sup>
                    </m:sSup>
                    <m:sSup>
                      <m:s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i="1"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CA" i="1">
                            <a:latin typeface="Cambria Math"/>
                          </a:rPr>
                          <m:t>𝑖</m:t>
                        </m:r>
                      </m:sup>
                    </m:sSup>
                    <m:r>
                      <a:rPr lang="en-CA" i="1">
                        <a:latin typeface="Cambria Math"/>
                      </a:rPr>
                      <m:t> | </m:t>
                    </m:r>
                    <m:r>
                      <a:rPr lang="en-CA" i="1">
                        <a:latin typeface="Cambria Math"/>
                      </a:rPr>
                      <m:t>𝑖</m:t>
                    </m:r>
                    <m:r>
                      <a:rPr lang="en-CA" i="1">
                        <a:latin typeface="Cambria Math"/>
                        <a:ea typeface="Cambria Math"/>
                      </a:rPr>
                      <m:t>≥0</m:t>
                    </m:r>
                  </m:oMath>
                </a14:m>
                <a:r>
                  <a:rPr lang="en-CA" dirty="0">
                    <a:latin typeface="Calibri" panose="020F0502020204030204" pitchFamily="34" charset="0"/>
                  </a:rPr>
                  <a:t> }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61FB77A-2C73-DC4E-AA02-C5AB1E31F4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919" y="1434169"/>
                <a:ext cx="2293000" cy="473591"/>
              </a:xfrm>
              <a:prstGeom prst="rect">
                <a:avLst/>
              </a:prstGeom>
              <a:blipFill>
                <a:blip r:embed="rId2"/>
                <a:stretch>
                  <a:fillRect l="-3846" t="-5128" r="-549" b="-28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9AA513-09AF-C748-878D-BF20F037E3FE}"/>
                  </a:ext>
                </a:extLst>
              </p:cNvPr>
              <p:cNvSpPr txBox="1"/>
              <p:nvPr/>
            </p:nvSpPr>
            <p:spPr>
              <a:xfrm>
                <a:off x="3788457" y="2932439"/>
                <a:ext cx="18966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800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S</a:t>
                </a:r>
                <a:r>
                  <a:rPr lang="en-CA" sz="2800" dirty="0">
                    <a:solidFill>
                      <a:schemeClr val="accent2"/>
                    </a:solidFill>
                    <a:latin typeface="Calibri" panose="020F0502020204030204" pitchFamily="34" charset="0"/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CA" sz="2800" i="1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→</m:t>
                    </m:r>
                  </m:oMath>
                </a14:m>
                <a:r>
                  <a:rPr lang="en-CA" sz="2800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 ‘</a:t>
                </a:r>
                <a:r>
                  <a:rPr lang="en-CA" sz="2800" dirty="0">
                    <a:solidFill>
                      <a:schemeClr val="accent2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(</a:t>
                </a:r>
                <a:r>
                  <a:rPr lang="en-CA" sz="2800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‘ S ‘</a:t>
                </a:r>
                <a:r>
                  <a:rPr lang="en-CA" sz="2800" dirty="0">
                    <a:solidFill>
                      <a:schemeClr val="accent2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)</a:t>
                </a:r>
                <a:r>
                  <a:rPr lang="en-US" sz="2800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’</a:t>
                </a:r>
                <a:endParaRPr lang="en-CA" sz="2800" dirty="0">
                  <a:solidFill>
                    <a:schemeClr val="accent2"/>
                  </a:solidFill>
                  <a:latin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9AA513-09AF-C748-878D-BF20F037E3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8457" y="2932439"/>
                <a:ext cx="1896673" cy="523220"/>
              </a:xfrm>
              <a:prstGeom prst="rect">
                <a:avLst/>
              </a:prstGeom>
              <a:blipFill>
                <a:blip r:embed="rId3"/>
                <a:stretch>
                  <a:fillRect l="-6667" t="-11628" r="-6000" b="-27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99540-BA59-9543-B1C7-4B3A47AE953B}"/>
                  </a:ext>
                </a:extLst>
              </p:cNvPr>
              <p:cNvSpPr txBox="1"/>
              <p:nvPr/>
            </p:nvSpPr>
            <p:spPr>
              <a:xfrm>
                <a:off x="3788457" y="3524283"/>
                <a:ext cx="97815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800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S </a:t>
                </a:r>
                <a14:m>
                  <m:oMath xmlns:m="http://schemas.openxmlformats.org/officeDocument/2006/math">
                    <m:r>
                      <a:rPr lang="en-CA" sz="2800" i="1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→</m:t>
                    </m:r>
                  </m:oMath>
                </a14:m>
                <a:r>
                  <a:rPr lang="en-CA" sz="2800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 </a:t>
                </a:r>
                <a:r>
                  <a:rPr lang="el-GR" sz="2800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ε</a:t>
                </a:r>
                <a:endParaRPr lang="en-US" sz="2800" dirty="0">
                  <a:latin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99540-BA59-9543-B1C7-4B3A47AE9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8457" y="3524283"/>
                <a:ext cx="978153" cy="523220"/>
              </a:xfrm>
              <a:prstGeom prst="rect">
                <a:avLst/>
              </a:prstGeom>
              <a:blipFill>
                <a:blip r:embed="rId4"/>
                <a:stretch>
                  <a:fillRect l="-12821" t="-11905" r="-11538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347BE2B7-7114-814B-8A98-531C2D16261D}"/>
              </a:ext>
            </a:extLst>
          </p:cNvPr>
          <p:cNvSpPr/>
          <p:nvPr/>
        </p:nvSpPr>
        <p:spPr>
          <a:xfrm>
            <a:off x="5931607" y="2982068"/>
            <a:ext cx="1226134" cy="47359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bg1"/>
                </a:solidFill>
                <a:latin typeface="Calibri" panose="020F0502020204030204" pitchFamily="34" charset="0"/>
              </a:rPr>
              <a:t>N = {S}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559526-4301-5A46-8950-4137CF63CA9E}"/>
              </a:ext>
            </a:extLst>
          </p:cNvPr>
          <p:cNvSpPr/>
          <p:nvPr/>
        </p:nvSpPr>
        <p:spPr>
          <a:xfrm>
            <a:off x="5927250" y="3573912"/>
            <a:ext cx="1779328" cy="47359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bg1"/>
                </a:solidFill>
                <a:latin typeface="Calibri" panose="020F0502020204030204" pitchFamily="34" charset="0"/>
              </a:rPr>
              <a:t>T = { ‘(‘, ‘)’ }</a:t>
            </a:r>
          </a:p>
        </p:txBody>
      </p:sp>
      <p:sp>
        <p:nvSpPr>
          <p:cNvPr id="6" name="Rectangular Callout 5">
            <a:extLst>
              <a:ext uri="{FF2B5EF4-FFF2-40B4-BE49-F238E27FC236}">
                <a16:creationId xmlns:a16="http://schemas.microsoft.com/office/drawing/2014/main" id="{4AFE9654-CA5F-E24C-BFAE-11FBEF47E095}"/>
              </a:ext>
            </a:extLst>
          </p:cNvPr>
          <p:cNvSpPr/>
          <p:nvPr/>
        </p:nvSpPr>
        <p:spPr>
          <a:xfrm>
            <a:off x="899591" y="3075805"/>
            <a:ext cx="2172539" cy="734901"/>
          </a:xfrm>
          <a:prstGeom prst="wedgeRectCallout">
            <a:avLst>
              <a:gd name="adj1" fmla="val 75104"/>
              <a:gd name="adj2" fmla="val 17073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/>
              <a:t>Non-deterministic choice of S rule</a:t>
            </a:r>
          </a:p>
        </p:txBody>
      </p:sp>
      <p:sp>
        <p:nvSpPr>
          <p:cNvPr id="7" name="Rectangular Callout 6">
            <a:extLst>
              <a:ext uri="{FF2B5EF4-FFF2-40B4-BE49-F238E27FC236}">
                <a16:creationId xmlns:a16="http://schemas.microsoft.com/office/drawing/2014/main" id="{0F589554-6F68-3F44-AD41-A2AAF451CD45}"/>
              </a:ext>
            </a:extLst>
          </p:cNvPr>
          <p:cNvSpPr/>
          <p:nvPr/>
        </p:nvSpPr>
        <p:spPr>
          <a:xfrm>
            <a:off x="5927250" y="990467"/>
            <a:ext cx="2675853" cy="1581283"/>
          </a:xfrm>
          <a:prstGeom prst="wedgeRectCallout">
            <a:avLst>
              <a:gd name="adj1" fmla="val -61871"/>
              <a:gd name="adj2" fmla="val 350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Q: Modify this CFG to use the alphabet {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600" dirty="0"/>
              <a:t>,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sz="1600" dirty="0"/>
              <a:t>,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r>
              <a:rPr lang="en-US" sz="1600" dirty="0"/>
              <a:t>,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US" sz="1600" dirty="0"/>
              <a:t>,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600" dirty="0"/>
              <a:t>,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r>
              <a:rPr lang="en-US" sz="1600" dirty="0"/>
              <a:t> } where opening and closing parentheses must of the same type. So “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({[()]})</a:t>
            </a:r>
            <a:r>
              <a:rPr lang="en-US" sz="1600" dirty="0"/>
              <a:t>” is valid but “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(}</a:t>
            </a:r>
            <a:r>
              <a:rPr lang="en-US" sz="1600" dirty="0"/>
              <a:t>” is invalid.</a:t>
            </a:r>
          </a:p>
        </p:txBody>
      </p:sp>
      <p:sp>
        <p:nvSpPr>
          <p:cNvPr id="14" name="Rectangular Callout 13">
            <a:extLst>
              <a:ext uri="{FF2B5EF4-FFF2-40B4-BE49-F238E27FC236}">
                <a16:creationId xmlns:a16="http://schemas.microsoft.com/office/drawing/2014/main" id="{EC45C0E8-4579-0145-B222-8F2E41A452F1}"/>
              </a:ext>
            </a:extLst>
          </p:cNvPr>
          <p:cNvSpPr/>
          <p:nvPr/>
        </p:nvSpPr>
        <p:spPr>
          <a:xfrm>
            <a:off x="822492" y="2110084"/>
            <a:ext cx="2597380" cy="734901"/>
          </a:xfrm>
          <a:prstGeom prst="wedgeRectCallout">
            <a:avLst>
              <a:gd name="adj1" fmla="val -33473"/>
              <a:gd name="adj2" fmla="val -894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Q: Does the string “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()(())</a:t>
            </a:r>
            <a:r>
              <a:rPr lang="en-US" sz="1600" dirty="0"/>
              <a:t>” belong to this language?</a:t>
            </a:r>
          </a:p>
        </p:txBody>
      </p:sp>
    </p:spTree>
    <p:extLst>
      <p:ext uri="{BB962C8B-B14F-4D97-AF65-F5344CB8AC3E}">
        <p14:creationId xmlns:p14="http://schemas.microsoft.com/office/powerpoint/2010/main" val="2402288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1"/>
      <p:bldP spid="10" grpId="0"/>
      <p:bldP spid="11" grpId="0"/>
      <p:bldP spid="12" grpId="0" animBg="1"/>
      <p:bldP spid="13" grpId="0" animBg="1"/>
      <p:bldP spid="6" grpId="0" animBg="1"/>
      <p:bldP spid="7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Context-free Grammars (CFGs)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385763" indent="-385763">
                  <a:buFont typeface="+mj-lt"/>
                  <a:buAutoNum type="arabicPeriod"/>
                </a:pPr>
                <a:r>
                  <a:rPr lang="en-CA" dirty="0"/>
                  <a:t>Begin with string that has only start symbol </a:t>
                </a:r>
                <a:r>
                  <a:rPr lang="en-CA" dirty="0">
                    <a:solidFill>
                      <a:schemeClr val="accent2"/>
                    </a:solidFill>
                  </a:rPr>
                  <a:t>S</a:t>
                </a:r>
              </a:p>
              <a:p>
                <a:pPr marL="385763" indent="-385763">
                  <a:buFont typeface="+mj-lt"/>
                  <a:buAutoNum type="arabicPeriod"/>
                </a:pPr>
                <a:r>
                  <a:rPr lang="en-CA" dirty="0"/>
                  <a:t>Replace any non-terminal </a:t>
                </a:r>
                <a:r>
                  <a:rPr lang="en-CA" dirty="0">
                    <a:solidFill>
                      <a:schemeClr val="accent2"/>
                    </a:solidFill>
                  </a:rPr>
                  <a:t>X</a:t>
                </a:r>
                <a:r>
                  <a:rPr lang="en-CA" dirty="0"/>
                  <a:t> in the string by the right-hand side of some production </a:t>
                </a:r>
                <a:r>
                  <a:rPr lang="en-CA" dirty="0">
                    <a:solidFill>
                      <a:schemeClr val="accent2"/>
                    </a:solidFill>
                  </a:rPr>
                  <a:t>X</a:t>
                </a:r>
                <a:r>
                  <a:rPr lang="en-CA" dirty="0">
                    <a:solidFill>
                      <a:schemeClr val="accent2"/>
                    </a:solidFill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CA" i="1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→</m:t>
                    </m:r>
                  </m:oMath>
                </a14:m>
                <a:r>
                  <a:rPr lang="en-CA" dirty="0">
                    <a:solidFill>
                      <a:schemeClr val="accent2"/>
                    </a:solidFill>
                  </a:rPr>
                  <a:t> Y</a:t>
                </a:r>
                <a:r>
                  <a:rPr lang="en-CA" baseline="-25000" dirty="0">
                    <a:solidFill>
                      <a:schemeClr val="accent2"/>
                    </a:solidFill>
                  </a:rPr>
                  <a:t>1</a:t>
                </a:r>
                <a:r>
                  <a:rPr lang="en-CA" dirty="0">
                    <a:solidFill>
                      <a:schemeClr val="accent2"/>
                    </a:solidFill>
                  </a:rPr>
                  <a:t>…Y</a:t>
                </a:r>
                <a:r>
                  <a:rPr lang="en-CA" baseline="-25000" dirty="0">
                    <a:solidFill>
                      <a:schemeClr val="accent2"/>
                    </a:solidFill>
                  </a:rPr>
                  <a:t>n</a:t>
                </a:r>
              </a:p>
              <a:p>
                <a:pPr marL="385763" indent="-385763">
                  <a:buFont typeface="+mj-lt"/>
                  <a:buAutoNum type="arabicPeriod"/>
                </a:pPr>
                <a:r>
                  <a:rPr lang="en-CA" dirty="0"/>
                  <a:t>Repeat (2) until there is no non-terminals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201BD-6681-B946-ACD9-A8F6D28AC38D}" type="slidenum">
              <a:rPr lang="en-US" smtClean="0"/>
              <a:pPr/>
              <a:t>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971600" y="3329155"/>
                <a:ext cx="1892498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r1: S</a:t>
                </a:r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CA" i="1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→</m:t>
                    </m:r>
                  </m:oMath>
                </a14:m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 ( S )</a:t>
                </a:r>
              </a:p>
              <a:p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r2: S </a:t>
                </a:r>
                <a14:m>
                  <m:oMath xmlns:m="http://schemas.openxmlformats.org/officeDocument/2006/math">
                    <m:r>
                      <a:rPr lang="en-CA" i="1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→</m:t>
                    </m:r>
                  </m:oMath>
                </a14:m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 </a:t>
                </a:r>
                <a:r>
                  <a:rPr lang="el-GR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ε</a:t>
                </a:r>
                <a:endParaRPr lang="en-CA" dirty="0">
                  <a:solidFill>
                    <a:schemeClr val="accent2"/>
                  </a:solidFill>
                  <a:latin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00" y="3329155"/>
                <a:ext cx="1892498" cy="830997"/>
              </a:xfrm>
              <a:prstGeom prst="rect">
                <a:avLst/>
              </a:prstGeom>
              <a:blipFill>
                <a:blip r:embed="rId3"/>
                <a:stretch>
                  <a:fillRect l="-4667" t="-4545" b="-15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/>
          <p:cNvSpPr/>
          <p:nvPr/>
        </p:nvSpPr>
        <p:spPr>
          <a:xfrm>
            <a:off x="3419872" y="3363838"/>
            <a:ext cx="10780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</a:rPr>
              <a:t>S </a:t>
            </a:r>
            <a:r>
              <a:rPr lang="en-US" dirty="0">
                <a:latin typeface="Calibri" panose="020F0502020204030204" pitchFamily="34" charset="0"/>
                <a:sym typeface="Symbol" charset="2"/>
              </a:rPr>
              <a:t></a:t>
            </a:r>
            <a:r>
              <a:rPr lang="en-US" baseline="30000" dirty="0">
                <a:latin typeface="Calibri" panose="020F0502020204030204" pitchFamily="34" charset="0"/>
                <a:sym typeface="Symbol" charset="2"/>
              </a:rPr>
              <a:t>r1</a:t>
            </a:r>
            <a:endParaRPr lang="en-CA" baseline="30000" dirty="0">
              <a:solidFill>
                <a:schemeClr val="accent2"/>
              </a:solidFill>
              <a:latin typeface="Calibri" panose="020F050202020403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174835" y="3363838"/>
            <a:ext cx="11903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</a:rPr>
              <a:t>( S ) </a:t>
            </a:r>
            <a:r>
              <a:rPr lang="en-US" dirty="0">
                <a:latin typeface="Calibri" panose="020F0502020204030204" pitchFamily="34" charset="0"/>
                <a:sym typeface="Symbol" charset="2"/>
              </a:rPr>
              <a:t></a:t>
            </a:r>
            <a:r>
              <a:rPr lang="en-US" baseline="30000" dirty="0">
                <a:latin typeface="Calibri" panose="020F0502020204030204" pitchFamily="34" charset="0"/>
                <a:sym typeface="Symbol" charset="2"/>
              </a:rPr>
              <a:t>r1</a:t>
            </a:r>
            <a:endParaRPr lang="en-CA" baseline="30000" dirty="0">
              <a:solidFill>
                <a:schemeClr val="accent2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256086" y="3354166"/>
            <a:ext cx="162017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</a:rPr>
              <a:t>( ( S ) ) </a:t>
            </a:r>
            <a:r>
              <a:rPr lang="en-US" dirty="0">
                <a:latin typeface="Calibri" panose="020F0502020204030204" pitchFamily="34" charset="0"/>
                <a:sym typeface="Symbol" charset="2"/>
              </a:rPr>
              <a:t></a:t>
            </a:r>
            <a:r>
              <a:rPr lang="en-US" baseline="30000" dirty="0">
                <a:latin typeface="Calibri" panose="020F0502020204030204" pitchFamily="34" charset="0"/>
                <a:sym typeface="Symbol" charset="2"/>
              </a:rPr>
              <a:t>r2</a:t>
            </a:r>
            <a:endParaRPr lang="en-CA" baseline="30000" dirty="0">
              <a:solidFill>
                <a:schemeClr val="accent2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675971" y="3354165"/>
            <a:ext cx="95841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</a:rPr>
              <a:t>( (   ) )</a:t>
            </a:r>
          </a:p>
        </p:txBody>
      </p:sp>
      <p:sp>
        <p:nvSpPr>
          <p:cNvPr id="11" name="Rectangular Callout 10">
            <a:extLst>
              <a:ext uri="{FF2B5EF4-FFF2-40B4-BE49-F238E27FC236}">
                <a16:creationId xmlns:a16="http://schemas.microsoft.com/office/drawing/2014/main" id="{2463BA1B-4A17-9844-AA5C-825EEF4B01FC}"/>
              </a:ext>
            </a:extLst>
          </p:cNvPr>
          <p:cNvSpPr/>
          <p:nvPr/>
        </p:nvSpPr>
        <p:spPr>
          <a:xfrm>
            <a:off x="3485730" y="4169284"/>
            <a:ext cx="2172539" cy="734901"/>
          </a:xfrm>
          <a:prstGeom prst="wedgeRectCallout">
            <a:avLst>
              <a:gd name="adj1" fmla="val -24800"/>
              <a:gd name="adj2" fmla="val -90944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/>
              <a:t>Non-deterministic choice of S rule</a:t>
            </a:r>
          </a:p>
        </p:txBody>
      </p:sp>
    </p:spTree>
    <p:extLst>
      <p:ext uri="{BB962C8B-B14F-4D97-AF65-F5344CB8AC3E}">
        <p14:creationId xmlns:p14="http://schemas.microsoft.com/office/powerpoint/2010/main" val="2298128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/>
      <p:bldP spid="8" grpId="0"/>
      <p:bldP spid="9" grpId="0"/>
      <p:bldP spid="10" grpId="0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Derivation and Parse Tree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CA" dirty="0"/>
                  <a:t>A derivation is a sequence of </a:t>
                </a:r>
                <a:r>
                  <a:rPr lang="en-CA"/>
                  <a:t>rule applications</a:t>
                </a:r>
                <a:endParaRPr lang="en-CA" dirty="0"/>
              </a:p>
              <a:p>
                <a:pPr marL="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2400" i="1">
                          <a:solidFill>
                            <a:schemeClr val="accent2"/>
                          </a:solidFill>
                          <a:latin typeface="Cambria Math"/>
                          <a:ea typeface="Cambria Math"/>
                        </a:rPr>
                        <m:t>𝑆</m:t>
                      </m:r>
                      <m:r>
                        <m:rPr>
                          <m:nor/>
                        </m:rPr>
                        <a:rPr lang="en-US" sz="2400" b="0" i="0" smtClean="0">
                          <a:solidFill>
                            <a:schemeClr val="accent2"/>
                          </a:solidFill>
                          <a:latin typeface="Cambria Math"/>
                          <a:ea typeface="Cambria Math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dirty="0">
                          <a:sym typeface="Symbol" charset="2"/>
                        </a:rPr>
                        <m:t></m:t>
                      </m:r>
                      <m:r>
                        <a:rPr lang="en-CA" sz="2400" i="1">
                          <a:solidFill>
                            <a:schemeClr val="accent2"/>
                          </a:solidFill>
                          <a:latin typeface="Cambria Math"/>
                          <a:ea typeface="Cambria Math"/>
                        </a:rPr>
                        <m:t>…</m:t>
                      </m:r>
                      <m:r>
                        <m:rPr>
                          <m:nor/>
                        </m:rPr>
                        <a:rPr lang="en-US" sz="2400" dirty="0">
                          <a:sym typeface="Symbol" charset="2"/>
                        </a:rPr>
                        <m:t></m:t>
                      </m:r>
                      <m:r>
                        <a:rPr lang="en-CA" sz="2400" i="1">
                          <a:solidFill>
                            <a:schemeClr val="accent2"/>
                          </a:solidFill>
                          <a:latin typeface="Cambria Math"/>
                          <a:ea typeface="Cambria Math"/>
                        </a:rPr>
                        <m:t>…</m:t>
                      </m:r>
                      <m:r>
                        <m:rPr>
                          <m:nor/>
                        </m:rPr>
                        <a:rPr lang="en-US" sz="2400" dirty="0">
                          <a:sym typeface="Symbol" charset="2"/>
                        </a:rPr>
                        <m:t></m:t>
                      </m:r>
                      <m:r>
                        <a:rPr lang="en-CA" sz="2400" i="1">
                          <a:solidFill>
                            <a:schemeClr val="accent2"/>
                          </a:solidFill>
                          <a:latin typeface="Cambria Math"/>
                          <a:ea typeface="Cambria Math"/>
                        </a:rPr>
                        <m:t>…</m:t>
                      </m:r>
                      <m:r>
                        <m:rPr>
                          <m:nor/>
                        </m:rPr>
                        <a:rPr lang="en-US" sz="2400" dirty="0">
                          <a:sym typeface="Symbol" charset="2"/>
                        </a:rPr>
                        <m:t></m:t>
                      </m:r>
                      <m:r>
                        <a:rPr lang="en-CA" sz="2400" i="1">
                          <a:solidFill>
                            <a:schemeClr val="accent2"/>
                          </a:solidFill>
                          <a:latin typeface="Cambria Math"/>
                          <a:ea typeface="Cambria Math"/>
                        </a:rPr>
                        <m:t>…</m:t>
                      </m:r>
                    </m:oMath>
                  </m:oMathPara>
                </a14:m>
                <a:endParaRPr lang="en-CA" sz="2400" dirty="0">
                  <a:solidFill>
                    <a:schemeClr val="accent2"/>
                  </a:solidFill>
                  <a:ea typeface="Cambria Math"/>
                </a:endParaRPr>
              </a:p>
              <a:p>
                <a:pPr marL="342900" lvl="2" indent="-342900"/>
                <a:endParaRPr lang="en-CA" sz="2400" dirty="0">
                  <a:solidFill>
                    <a:schemeClr val="accent2"/>
                  </a:solidFill>
                </a:endParaRPr>
              </a:p>
              <a:p>
                <a:pPr marL="342900" lvl="2" indent="-342900"/>
                <a:r>
                  <a:rPr lang="en-CA" sz="2400" dirty="0"/>
                  <a:t>A derivation can be drawn as a </a:t>
                </a:r>
                <a:r>
                  <a:rPr lang="en-CA" sz="2400" dirty="0">
                    <a:solidFill>
                      <a:schemeClr val="accent2"/>
                    </a:solidFill>
                  </a:rPr>
                  <a:t>parse tree</a:t>
                </a:r>
                <a:r>
                  <a:rPr lang="en-CA" sz="2400" dirty="0"/>
                  <a:t> </a:t>
                </a:r>
              </a:p>
              <a:p>
                <a:pPr marL="685800" lvl="3" indent="-342900"/>
                <a:r>
                  <a:rPr lang="en-CA" sz="2100" dirty="0"/>
                  <a:t>Start symbol is the tree’s root</a:t>
                </a:r>
              </a:p>
              <a:p>
                <a:pPr marL="685800" lvl="3" indent="-342900"/>
                <a:r>
                  <a:rPr lang="en-CA" sz="2100" dirty="0"/>
                  <a:t>For a production </a:t>
                </a:r>
                <a:r>
                  <a:rPr lang="en-CA" sz="2100" dirty="0">
                    <a:solidFill>
                      <a:schemeClr val="accent2"/>
                    </a:solidFill>
                  </a:rPr>
                  <a:t>X</a:t>
                </a:r>
                <a14:m>
                  <m:oMath xmlns:m="http://schemas.openxmlformats.org/officeDocument/2006/math">
                    <m:r>
                      <a:rPr lang="en-CA" sz="2100" i="1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→</m:t>
                    </m:r>
                  </m:oMath>
                </a14:m>
                <a:r>
                  <a:rPr lang="en-CA" sz="2100" dirty="0">
                    <a:solidFill>
                      <a:schemeClr val="accent2"/>
                    </a:solidFill>
                  </a:rPr>
                  <a:t>Y</a:t>
                </a:r>
                <a:r>
                  <a:rPr lang="en-CA" sz="2100" baseline="-25000" dirty="0">
                    <a:solidFill>
                      <a:schemeClr val="accent2"/>
                    </a:solidFill>
                  </a:rPr>
                  <a:t>1</a:t>
                </a:r>
                <a:r>
                  <a:rPr lang="en-CA" sz="2100" dirty="0">
                    <a:solidFill>
                      <a:schemeClr val="accent2"/>
                    </a:solidFill>
                  </a:rPr>
                  <a:t>…</a:t>
                </a:r>
                <a:r>
                  <a:rPr lang="en-CA" sz="2100" dirty="0" err="1">
                    <a:solidFill>
                      <a:schemeClr val="accent2"/>
                    </a:solidFill>
                  </a:rPr>
                  <a:t>Y</a:t>
                </a:r>
                <a:r>
                  <a:rPr lang="en-CA" sz="2100" baseline="-25000" dirty="0" err="1">
                    <a:solidFill>
                      <a:schemeClr val="accent2"/>
                    </a:solidFill>
                  </a:rPr>
                  <a:t>n</a:t>
                </a:r>
                <a:r>
                  <a:rPr lang="en-CA" sz="2100" dirty="0"/>
                  <a:t> add </a:t>
                </a:r>
              </a:p>
              <a:p>
                <a:pPr marL="342900" lvl="3" indent="0">
                  <a:buNone/>
                </a:pPr>
                <a:r>
                  <a:rPr lang="en-CA" sz="2100" dirty="0"/>
                  <a:t>       children </a:t>
                </a:r>
                <a:r>
                  <a:rPr lang="en-CA" sz="2100" dirty="0">
                    <a:solidFill>
                      <a:schemeClr val="accent2"/>
                    </a:solidFill>
                  </a:rPr>
                  <a:t>Y</a:t>
                </a:r>
                <a:r>
                  <a:rPr lang="en-CA" sz="2100" baseline="-25000" dirty="0">
                    <a:solidFill>
                      <a:schemeClr val="accent2"/>
                    </a:solidFill>
                  </a:rPr>
                  <a:t>1</a:t>
                </a:r>
                <a:r>
                  <a:rPr lang="en-CA" sz="2100" dirty="0">
                    <a:solidFill>
                      <a:schemeClr val="accent2"/>
                    </a:solidFill>
                  </a:rPr>
                  <a:t>…</a:t>
                </a:r>
                <a:r>
                  <a:rPr lang="en-CA" sz="2100" dirty="0" err="1">
                    <a:solidFill>
                      <a:schemeClr val="accent2"/>
                    </a:solidFill>
                  </a:rPr>
                  <a:t>Y</a:t>
                </a:r>
                <a:r>
                  <a:rPr lang="en-CA" sz="2100" baseline="-25000" dirty="0" err="1">
                    <a:solidFill>
                      <a:schemeClr val="accent2"/>
                    </a:solidFill>
                  </a:rPr>
                  <a:t>n</a:t>
                </a:r>
                <a:r>
                  <a:rPr lang="en-CA" sz="2100" dirty="0"/>
                  <a:t> to node </a:t>
                </a:r>
                <a:r>
                  <a:rPr lang="en-CA" sz="2100" dirty="0">
                    <a:solidFill>
                      <a:schemeClr val="accent2"/>
                    </a:solidFill>
                  </a:rPr>
                  <a:t>X</a:t>
                </a:r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201BD-6681-B946-ACD9-A8F6D28AC38D}" type="slidenum">
              <a:rPr lang="en-US" smtClean="0"/>
              <a:pPr/>
              <a:t>8</a:t>
            </a:fld>
            <a:endParaRPr lang="en-US"/>
          </a:p>
        </p:txBody>
      </p:sp>
      <p:grpSp>
        <p:nvGrpSpPr>
          <p:cNvPr id="6" name="Group 26"/>
          <p:cNvGrpSpPr>
            <a:grpSpLocks/>
          </p:cNvGrpSpPr>
          <p:nvPr/>
        </p:nvGrpSpPr>
        <p:grpSpPr bwMode="auto">
          <a:xfrm>
            <a:off x="6057955" y="3036596"/>
            <a:ext cx="1368028" cy="1123950"/>
            <a:chOff x="3485" y="1670"/>
            <a:chExt cx="1149" cy="944"/>
          </a:xfrm>
        </p:grpSpPr>
        <p:sp>
          <p:nvSpPr>
            <p:cNvPr id="7" name="Text Box 7"/>
            <p:cNvSpPr txBox="1">
              <a:spLocks noChangeArrowheads="1"/>
            </p:cNvSpPr>
            <p:nvPr/>
          </p:nvSpPr>
          <p:spPr bwMode="auto">
            <a:xfrm>
              <a:off x="3912" y="1670"/>
              <a:ext cx="256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X</a:t>
              </a:r>
            </a:p>
          </p:txBody>
        </p:sp>
        <p:sp>
          <p:nvSpPr>
            <p:cNvPr id="8" name="Text Box 8"/>
            <p:cNvSpPr txBox="1">
              <a:spLocks noChangeArrowheads="1"/>
            </p:cNvSpPr>
            <p:nvPr/>
          </p:nvSpPr>
          <p:spPr bwMode="auto">
            <a:xfrm>
              <a:off x="3485" y="2304"/>
              <a:ext cx="314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Y</a:t>
              </a:r>
              <a:r>
                <a:rPr lang="en-US" sz="1800" baseline="-25000" dirty="0">
                  <a:latin typeface="Calibri" panose="020F0502020204030204" pitchFamily="34" charset="0"/>
                </a:rPr>
                <a:t>1</a:t>
              </a:r>
              <a:endParaRPr lang="en-US" sz="1800" dirty="0">
                <a:latin typeface="Calibri" panose="020F0502020204030204" pitchFamily="34" charset="0"/>
              </a:endParaRPr>
            </a:p>
          </p:txBody>
        </p:sp>
        <p:sp>
          <p:nvSpPr>
            <p:cNvPr id="9" name="Text Box 9"/>
            <p:cNvSpPr txBox="1">
              <a:spLocks noChangeArrowheads="1"/>
            </p:cNvSpPr>
            <p:nvPr/>
          </p:nvSpPr>
          <p:spPr bwMode="auto">
            <a:xfrm>
              <a:off x="4320" y="2304"/>
              <a:ext cx="314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 err="1">
                  <a:latin typeface="Calibri" panose="020F0502020204030204" pitchFamily="34" charset="0"/>
                </a:rPr>
                <a:t>Y</a:t>
              </a:r>
              <a:r>
                <a:rPr lang="en-US" sz="1800" baseline="-25000" dirty="0" err="1">
                  <a:latin typeface="Calibri" panose="020F0502020204030204" pitchFamily="34" charset="0"/>
                </a:rPr>
                <a:t>n</a:t>
              </a:r>
              <a:endParaRPr lang="en-US" sz="1800" dirty="0">
                <a:latin typeface="Calibri" panose="020F0502020204030204" pitchFamily="34" charset="0"/>
              </a:endParaRPr>
            </a:p>
          </p:txBody>
        </p:sp>
        <p:sp>
          <p:nvSpPr>
            <p:cNvPr id="10" name="Text Box 10"/>
            <p:cNvSpPr txBox="1">
              <a:spLocks noChangeArrowheads="1"/>
            </p:cNvSpPr>
            <p:nvPr/>
          </p:nvSpPr>
          <p:spPr bwMode="auto">
            <a:xfrm>
              <a:off x="3840" y="2304"/>
              <a:ext cx="288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…</a:t>
              </a:r>
            </a:p>
          </p:txBody>
        </p:sp>
        <p:cxnSp>
          <p:nvCxnSpPr>
            <p:cNvPr id="17" name="AutoShape 17"/>
            <p:cNvCxnSpPr>
              <a:cxnSpLocks noChangeShapeType="1"/>
              <a:stCxn id="7" idx="2"/>
              <a:endCxn id="8" idx="0"/>
            </p:cNvCxnSpPr>
            <p:nvPr/>
          </p:nvCxnSpPr>
          <p:spPr bwMode="auto">
            <a:xfrm flipH="1">
              <a:off x="3642" y="1980"/>
              <a:ext cx="398" cy="324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19" name="AutoShape 19"/>
            <p:cNvCxnSpPr>
              <a:cxnSpLocks noChangeShapeType="1"/>
              <a:stCxn id="7" idx="2"/>
              <a:endCxn id="9" idx="0"/>
            </p:cNvCxnSpPr>
            <p:nvPr/>
          </p:nvCxnSpPr>
          <p:spPr bwMode="auto">
            <a:xfrm>
              <a:off x="4040" y="1980"/>
              <a:ext cx="437" cy="324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95915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6F202-E811-9F40-89CF-547DD4DA1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Derivation and Parse Tree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B57B7C-B72C-7B44-9F08-EFD8223DF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52BF6-6A9C-D04A-BBE8-37A07D64A1C3}" type="slidenum">
              <a:rPr lang="en-US" smtClean="0"/>
              <a:t>9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26001B-53C4-B84C-946C-DF9028A645CD}"/>
              </a:ext>
            </a:extLst>
          </p:cNvPr>
          <p:cNvSpPr/>
          <p:nvPr/>
        </p:nvSpPr>
        <p:spPr>
          <a:xfrm>
            <a:off x="726507" y="1217078"/>
            <a:ext cx="137431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</a:rPr>
              <a:t>S </a:t>
            </a:r>
            <a:r>
              <a:rPr lang="en-US" dirty="0">
                <a:latin typeface="Calibri" panose="020F0502020204030204" pitchFamily="34" charset="0"/>
                <a:sym typeface="Symbol" charset="2"/>
              </a:rPr>
              <a:t></a:t>
            </a:r>
            <a:r>
              <a:rPr lang="en-US" baseline="30000" dirty="0">
                <a:latin typeface="Calibri" panose="020F0502020204030204" pitchFamily="34" charset="0"/>
                <a:sym typeface="Symbol" charset="2"/>
              </a:rPr>
              <a:t>r1 </a:t>
            </a:r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</a:rPr>
              <a:t>( S ) </a:t>
            </a:r>
            <a:endParaRPr lang="en-CA" baseline="30000" dirty="0">
              <a:solidFill>
                <a:schemeClr val="accent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5E3FED-1211-6B4F-9812-8D4ADE565140}"/>
              </a:ext>
            </a:extLst>
          </p:cNvPr>
          <p:cNvSpPr/>
          <p:nvPr/>
        </p:nvSpPr>
        <p:spPr>
          <a:xfrm>
            <a:off x="2006042" y="1217078"/>
            <a:ext cx="162017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alibri" panose="020F0502020204030204" pitchFamily="34" charset="0"/>
                <a:sym typeface="Symbol" charset="2"/>
              </a:rPr>
              <a:t></a:t>
            </a:r>
            <a:r>
              <a:rPr lang="en-US" baseline="30000" dirty="0">
                <a:latin typeface="Calibri" panose="020F0502020204030204" pitchFamily="34" charset="0"/>
                <a:sym typeface="Symbol" charset="2"/>
              </a:rPr>
              <a:t>r1</a:t>
            </a:r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</a:rPr>
              <a:t> ( ( S ) ) </a:t>
            </a:r>
            <a:endParaRPr lang="en-CA" baseline="30000" dirty="0">
              <a:solidFill>
                <a:schemeClr val="accent2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1A9BB0-811D-714D-8CFC-8ED78BD46432}"/>
              </a:ext>
            </a:extLst>
          </p:cNvPr>
          <p:cNvSpPr/>
          <p:nvPr/>
        </p:nvSpPr>
        <p:spPr>
          <a:xfrm>
            <a:off x="3450516" y="1217078"/>
            <a:ext cx="162017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alibri" panose="020F0502020204030204" pitchFamily="34" charset="0"/>
                <a:sym typeface="Symbol" charset="2"/>
              </a:rPr>
              <a:t></a:t>
            </a:r>
            <a:r>
              <a:rPr lang="en-US" baseline="30000" dirty="0">
                <a:latin typeface="Calibri" panose="020F0502020204030204" pitchFamily="34" charset="0"/>
                <a:sym typeface="Symbol" charset="2"/>
              </a:rPr>
              <a:t>r2</a:t>
            </a:r>
            <a:r>
              <a:rPr lang="en-US" dirty="0">
                <a:latin typeface="Calibri" panose="020F0502020204030204" pitchFamily="34" charset="0"/>
                <a:sym typeface="Symbol" charset="2"/>
              </a:rPr>
              <a:t> </a:t>
            </a:r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</a:rPr>
              <a:t>( (   ) )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2CEC601-7465-8B49-AA22-60C7AFA048A1}"/>
              </a:ext>
            </a:extLst>
          </p:cNvPr>
          <p:cNvGrpSpPr/>
          <p:nvPr/>
        </p:nvGrpSpPr>
        <p:grpSpPr>
          <a:xfrm>
            <a:off x="4454274" y="1768986"/>
            <a:ext cx="1249370" cy="1131094"/>
            <a:chOff x="3817123" y="2455664"/>
            <a:chExt cx="1249370" cy="1131094"/>
          </a:xfrm>
        </p:grpSpPr>
        <p:sp>
          <p:nvSpPr>
            <p:cNvPr id="9" name="Text Box 7">
              <a:extLst>
                <a:ext uri="{FF2B5EF4-FFF2-40B4-BE49-F238E27FC236}">
                  <a16:creationId xmlns:a16="http://schemas.microsoft.com/office/drawing/2014/main" id="{4117CE84-7C47-AC42-AF3F-1509DAAABB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17185" y="2455664"/>
              <a:ext cx="290512" cy="3690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S</a:t>
              </a:r>
            </a:p>
          </p:txBody>
        </p:sp>
        <p:sp>
          <p:nvSpPr>
            <p:cNvPr id="10" name="Text Box 8">
              <a:extLst>
                <a:ext uri="{FF2B5EF4-FFF2-40B4-BE49-F238E27FC236}">
                  <a16:creationId xmlns:a16="http://schemas.microsoft.com/office/drawing/2014/main" id="{851B6288-AF03-534E-83CC-B6C8E02C89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17123" y="3210520"/>
              <a:ext cx="255198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(</a:t>
              </a:r>
            </a:p>
          </p:txBody>
        </p:sp>
        <p:sp>
          <p:nvSpPr>
            <p:cNvPr id="11" name="Text Box 9">
              <a:extLst>
                <a:ext uri="{FF2B5EF4-FFF2-40B4-BE49-F238E27FC236}">
                  <a16:creationId xmlns:a16="http://schemas.microsoft.com/office/drawing/2014/main" id="{533D6C44-B519-B64C-AD15-3948100AD3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11295" y="3210520"/>
              <a:ext cx="255198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)</a:t>
              </a:r>
            </a:p>
          </p:txBody>
        </p:sp>
        <p:sp>
          <p:nvSpPr>
            <p:cNvPr id="12" name="Text Box 10">
              <a:extLst>
                <a:ext uri="{FF2B5EF4-FFF2-40B4-BE49-F238E27FC236}">
                  <a16:creationId xmlns:a16="http://schemas.microsoft.com/office/drawing/2014/main" id="{5CD964D8-78BC-C34C-9A05-0C65B6A7A1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17185" y="3217664"/>
              <a:ext cx="290512" cy="3690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S</a:t>
              </a:r>
            </a:p>
          </p:txBody>
        </p:sp>
        <p:cxnSp>
          <p:nvCxnSpPr>
            <p:cNvPr id="13" name="AutoShape 17">
              <a:extLst>
                <a:ext uri="{FF2B5EF4-FFF2-40B4-BE49-F238E27FC236}">
                  <a16:creationId xmlns:a16="http://schemas.microsoft.com/office/drawing/2014/main" id="{926F3BE0-D51F-0B45-BAC0-0A21EC263B09}"/>
                </a:ext>
              </a:extLst>
            </p:cNvPr>
            <p:cNvCxnSpPr>
              <a:cxnSpLocks noChangeShapeType="1"/>
              <a:stCxn id="9" idx="2"/>
              <a:endCxn id="10" idx="0"/>
            </p:cNvCxnSpPr>
            <p:nvPr/>
          </p:nvCxnSpPr>
          <p:spPr bwMode="auto">
            <a:xfrm flipH="1">
              <a:off x="3944722" y="2824758"/>
              <a:ext cx="517719" cy="385762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14" name="AutoShape 19">
              <a:extLst>
                <a:ext uri="{FF2B5EF4-FFF2-40B4-BE49-F238E27FC236}">
                  <a16:creationId xmlns:a16="http://schemas.microsoft.com/office/drawing/2014/main" id="{A4F0801F-9EA8-D44C-9D6A-FF9270E97395}"/>
                </a:ext>
              </a:extLst>
            </p:cNvPr>
            <p:cNvCxnSpPr>
              <a:cxnSpLocks noChangeShapeType="1"/>
              <a:stCxn id="9" idx="2"/>
              <a:endCxn id="11" idx="0"/>
            </p:cNvCxnSpPr>
            <p:nvPr/>
          </p:nvCxnSpPr>
          <p:spPr bwMode="auto">
            <a:xfrm>
              <a:off x="4462441" y="2824758"/>
              <a:ext cx="476453" cy="385762"/>
            </a:xfrm>
            <a:prstGeom prst="straightConnector1">
              <a:avLst/>
            </a:prstGeom>
            <a:ln>
              <a:headEnd/>
              <a:tailEnd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5918DFB-0FF8-6E4C-869A-0FCC1633CBCB}"/>
                </a:ext>
              </a:extLst>
            </p:cNvPr>
            <p:cNvCxnSpPr>
              <a:stCxn id="9" idx="2"/>
              <a:endCxn id="12" idx="0"/>
            </p:cNvCxnSpPr>
            <p:nvPr/>
          </p:nvCxnSpPr>
          <p:spPr>
            <a:xfrm>
              <a:off x="4462441" y="2824758"/>
              <a:ext cx="0" cy="39290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7BFB8B6-90E2-A242-8BB2-8AEF7959EC37}"/>
              </a:ext>
            </a:extLst>
          </p:cNvPr>
          <p:cNvGrpSpPr/>
          <p:nvPr/>
        </p:nvGrpSpPr>
        <p:grpSpPr>
          <a:xfrm>
            <a:off x="4454274" y="2881301"/>
            <a:ext cx="1249370" cy="762000"/>
            <a:chOff x="5957888" y="3009305"/>
            <a:chExt cx="1249370" cy="762000"/>
          </a:xfrm>
        </p:grpSpPr>
        <p:sp>
          <p:nvSpPr>
            <p:cNvPr id="18" name="Text Box 8">
              <a:extLst>
                <a:ext uri="{FF2B5EF4-FFF2-40B4-BE49-F238E27FC236}">
                  <a16:creationId xmlns:a16="http://schemas.microsoft.com/office/drawing/2014/main" id="{B8551F9D-2F68-2747-8057-18046B6B847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57888" y="3395067"/>
              <a:ext cx="255198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(</a:t>
              </a:r>
            </a:p>
          </p:txBody>
        </p:sp>
        <p:sp>
          <p:nvSpPr>
            <p:cNvPr id="19" name="Text Box 9">
              <a:extLst>
                <a:ext uri="{FF2B5EF4-FFF2-40B4-BE49-F238E27FC236}">
                  <a16:creationId xmlns:a16="http://schemas.microsoft.com/office/drawing/2014/main" id="{9E61CB04-F0D8-5047-9F0F-5A02652FCF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52060" y="3395067"/>
              <a:ext cx="255198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)</a:t>
              </a:r>
            </a:p>
          </p:txBody>
        </p:sp>
        <p:sp>
          <p:nvSpPr>
            <p:cNvPr id="20" name="Text Box 10">
              <a:extLst>
                <a:ext uri="{FF2B5EF4-FFF2-40B4-BE49-F238E27FC236}">
                  <a16:creationId xmlns:a16="http://schemas.microsoft.com/office/drawing/2014/main" id="{61082902-9798-554E-88DB-F9EDDF76AA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57950" y="3402211"/>
              <a:ext cx="290512" cy="3690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S</a:t>
              </a:r>
            </a:p>
          </p:txBody>
        </p:sp>
        <p:cxnSp>
          <p:nvCxnSpPr>
            <p:cNvPr id="21" name="AutoShape 17">
              <a:extLst>
                <a:ext uri="{FF2B5EF4-FFF2-40B4-BE49-F238E27FC236}">
                  <a16:creationId xmlns:a16="http://schemas.microsoft.com/office/drawing/2014/main" id="{00D8C293-C33D-B14E-9B62-72742122823B}"/>
                </a:ext>
              </a:extLst>
            </p:cNvPr>
            <p:cNvCxnSpPr>
              <a:cxnSpLocks noChangeShapeType="1"/>
              <a:endCxn id="18" idx="0"/>
            </p:cNvCxnSpPr>
            <p:nvPr/>
          </p:nvCxnSpPr>
          <p:spPr bwMode="auto">
            <a:xfrm flipH="1">
              <a:off x="6085487" y="3009305"/>
              <a:ext cx="517719" cy="385762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22" name="AutoShape 19">
              <a:extLst>
                <a:ext uri="{FF2B5EF4-FFF2-40B4-BE49-F238E27FC236}">
                  <a16:creationId xmlns:a16="http://schemas.microsoft.com/office/drawing/2014/main" id="{D1BA622F-F5BD-214E-9562-08A7FF0B44E6}"/>
                </a:ext>
              </a:extLst>
            </p:cNvPr>
            <p:cNvCxnSpPr>
              <a:cxnSpLocks noChangeShapeType="1"/>
              <a:endCxn id="19" idx="0"/>
            </p:cNvCxnSpPr>
            <p:nvPr/>
          </p:nvCxnSpPr>
          <p:spPr bwMode="auto">
            <a:xfrm>
              <a:off x="6603206" y="3009305"/>
              <a:ext cx="476453" cy="385762"/>
            </a:xfrm>
            <a:prstGeom prst="straightConnector1">
              <a:avLst/>
            </a:prstGeom>
            <a:ln>
              <a:headEnd/>
              <a:tailEnd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4225A56-5813-8D41-A112-33D275994FA6}"/>
                </a:ext>
              </a:extLst>
            </p:cNvPr>
            <p:cNvCxnSpPr>
              <a:cxnSpLocks/>
              <a:endCxn id="20" idx="0"/>
            </p:cNvCxnSpPr>
            <p:nvPr/>
          </p:nvCxnSpPr>
          <p:spPr>
            <a:xfrm>
              <a:off x="6603206" y="3009305"/>
              <a:ext cx="0" cy="392906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6DD74CB-12CF-EA45-809A-DBF307F47EB6}"/>
              </a:ext>
            </a:extLst>
          </p:cNvPr>
          <p:cNvGrpSpPr/>
          <p:nvPr/>
        </p:nvGrpSpPr>
        <p:grpSpPr>
          <a:xfrm>
            <a:off x="4933482" y="3650445"/>
            <a:ext cx="290464" cy="676881"/>
            <a:chOff x="7790517" y="2137842"/>
            <a:chExt cx="290464" cy="676881"/>
          </a:xfrm>
        </p:grpSpPr>
        <p:sp>
          <p:nvSpPr>
            <p:cNvPr id="26" name="Text Box 10">
              <a:extLst>
                <a:ext uri="{FF2B5EF4-FFF2-40B4-BE49-F238E27FC236}">
                  <a16:creationId xmlns:a16="http://schemas.microsoft.com/office/drawing/2014/main" id="{D9ECF9AC-8904-504E-BA6D-8C0B8211D3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90517" y="2445391"/>
              <a:ext cx="29046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l-GR" sz="1800" dirty="0">
                  <a:latin typeface="Calibri" panose="020F0502020204030204" pitchFamily="34" charset="0"/>
                </a:rPr>
                <a:t>ε</a:t>
              </a:r>
              <a:endParaRPr lang="en-US" sz="1800" dirty="0">
                <a:latin typeface="Calibri" panose="020F0502020204030204" pitchFamily="34" charset="0"/>
              </a:endParaRP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185A6AB-2FC3-E447-9890-B6E7BC07CB9C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 flipH="1">
              <a:off x="7935749" y="2137842"/>
              <a:ext cx="24" cy="307549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" name="Rectangular Callout 30">
            <a:extLst>
              <a:ext uri="{FF2B5EF4-FFF2-40B4-BE49-F238E27FC236}">
                <a16:creationId xmlns:a16="http://schemas.microsoft.com/office/drawing/2014/main" id="{A83ABA8B-E81F-5B47-8C47-292CA29070EE}"/>
              </a:ext>
            </a:extLst>
          </p:cNvPr>
          <p:cNvSpPr/>
          <p:nvPr/>
        </p:nvSpPr>
        <p:spPr>
          <a:xfrm>
            <a:off x="243358" y="3926422"/>
            <a:ext cx="3078339" cy="1069637"/>
          </a:xfrm>
          <a:prstGeom prst="wedgeRectCallout">
            <a:avLst>
              <a:gd name="adj1" fmla="val 57846"/>
              <a:gd name="adj2" fmla="val -413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Q: Write down the derivation and parse tree for the input string “({[]})” using your grammar for question on slide 6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549DDBD-7112-9548-B5A5-D70C38E67477}"/>
              </a:ext>
            </a:extLst>
          </p:cNvPr>
          <p:cNvGrpSpPr/>
          <p:nvPr/>
        </p:nvGrpSpPr>
        <p:grpSpPr>
          <a:xfrm>
            <a:off x="6293805" y="3421023"/>
            <a:ext cx="1518434" cy="721637"/>
            <a:chOff x="6293805" y="3421023"/>
            <a:chExt cx="1518434" cy="72163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13175B9-36A1-5D48-B7EF-EA2DDB85A925}"/>
                </a:ext>
              </a:extLst>
            </p:cNvPr>
            <p:cNvSpPr/>
            <p:nvPr/>
          </p:nvSpPr>
          <p:spPr>
            <a:xfrm>
              <a:off x="6293805" y="3680995"/>
              <a:ext cx="151843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CA" dirty="0">
                  <a:solidFill>
                    <a:schemeClr val="accent2"/>
                  </a:solidFill>
                  <a:latin typeface="Calibri" panose="020F0502020204030204" pitchFamily="34" charset="0"/>
                </a:rPr>
                <a:t>S </a:t>
              </a:r>
              <a:r>
                <a:rPr lang="en-US" dirty="0">
                  <a:latin typeface="Calibri" panose="020F0502020204030204" pitchFamily="34" charset="0"/>
                  <a:sym typeface="Symbol" charset="2"/>
                </a:rPr>
                <a:t></a:t>
              </a:r>
              <a:r>
                <a:rPr lang="en-US" baseline="30000" dirty="0">
                  <a:latin typeface="Calibri" panose="020F0502020204030204" pitchFamily="34" charset="0"/>
                  <a:sym typeface="Symbol" charset="2"/>
                </a:rPr>
                <a:t>* </a:t>
              </a:r>
              <a:r>
                <a:rPr lang="en-CA" dirty="0">
                  <a:solidFill>
                    <a:schemeClr val="accent2"/>
                  </a:solidFill>
                  <a:latin typeface="Calibri" panose="020F0502020204030204" pitchFamily="34" charset="0"/>
                </a:rPr>
                <a:t>( ( ) ) </a:t>
              </a:r>
              <a:endParaRPr lang="en-CA" baseline="30000" dirty="0">
                <a:solidFill>
                  <a:schemeClr val="accent2"/>
                </a:solidFill>
                <a:latin typeface="Calibri" panose="020F0502020204030204" pitchFamily="34" charset="0"/>
              </a:endParaRP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A0F8BF9-1046-624D-ABE3-AC2A2609613F}"/>
                </a:ext>
              </a:extLst>
            </p:cNvPr>
            <p:cNvSpPr/>
            <p:nvPr/>
          </p:nvSpPr>
          <p:spPr>
            <a:xfrm>
              <a:off x="6293805" y="3421023"/>
              <a:ext cx="1224136" cy="24941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Closure of </a:t>
              </a:r>
              <a:r>
                <a:rPr lang="en-US" sz="1400" dirty="0">
                  <a:latin typeface="Calibri" panose="020F0502020204030204" pitchFamily="34" charset="0"/>
                  <a:sym typeface="Symbol" charset="2"/>
                </a:rPr>
                <a:t></a:t>
              </a:r>
              <a:endParaRPr lang="en-US" sz="14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3CAA9FB-A3F0-7453-4020-CA7B62620952}"/>
                  </a:ext>
                </a:extLst>
              </p:cNvPr>
              <p:cNvSpPr/>
              <p:nvPr/>
            </p:nvSpPr>
            <p:spPr>
              <a:xfrm>
                <a:off x="6386922" y="553560"/>
                <a:ext cx="1892498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r1: S</a:t>
                </a:r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CA" i="1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→</m:t>
                    </m:r>
                  </m:oMath>
                </a14:m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 ( S )</a:t>
                </a:r>
              </a:p>
              <a:p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r2: S </a:t>
                </a:r>
                <a14:m>
                  <m:oMath xmlns:m="http://schemas.openxmlformats.org/officeDocument/2006/math">
                    <m:r>
                      <a:rPr lang="en-CA" i="1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→</m:t>
                    </m:r>
                  </m:oMath>
                </a14:m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 </a:t>
                </a:r>
                <a:r>
                  <a:rPr lang="el-GR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ε</a:t>
                </a:r>
                <a:endParaRPr lang="en-CA" dirty="0">
                  <a:solidFill>
                    <a:schemeClr val="accent2"/>
                  </a:solidFill>
                  <a:latin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3CAA9FB-A3F0-7453-4020-CA7B626209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6922" y="553560"/>
                <a:ext cx="1892498" cy="830997"/>
              </a:xfrm>
              <a:prstGeom prst="rect">
                <a:avLst/>
              </a:prstGeom>
              <a:blipFill>
                <a:blip r:embed="rId2"/>
                <a:stretch>
                  <a:fillRect l="-5369" t="-4545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7248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Language of CFGs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201BD-6681-B946-ACD9-A8F6D28AC38D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8E8745-152C-4342-8F17-1D2D7C1F8349}"/>
              </a:ext>
            </a:extLst>
          </p:cNvPr>
          <p:cNvSpPr txBox="1"/>
          <p:nvPr/>
        </p:nvSpPr>
        <p:spPr>
          <a:xfrm>
            <a:off x="628650" y="1302942"/>
            <a:ext cx="7200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Calibri" panose="020F0502020204030204" pitchFamily="34" charset="0"/>
                <a:cs typeface="Calibri" panose="020F0502020204030204" pitchFamily="34" charset="0"/>
              </a:rPr>
              <a:t>Let </a:t>
            </a:r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en-CA" dirty="0">
                <a:latin typeface="Calibri" panose="020F0502020204030204" pitchFamily="34" charset="0"/>
                <a:cs typeface="Calibri" panose="020F0502020204030204" pitchFamily="34" charset="0"/>
              </a:rPr>
              <a:t> be a context free grammar with start symbol </a:t>
            </a:r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lang="en-CA" dirty="0">
                <a:latin typeface="Calibri" panose="020F0502020204030204" pitchFamily="34" charset="0"/>
                <a:cs typeface="Calibri" panose="020F0502020204030204" pitchFamily="34" charset="0"/>
              </a:rPr>
              <a:t>, and terminals </a:t>
            </a:r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lang="en-CA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1B07FB-D33C-4541-ACF0-3CBD1896EB5B}"/>
              </a:ext>
            </a:extLst>
          </p:cNvPr>
          <p:cNvSpPr txBox="1"/>
          <p:nvPr/>
        </p:nvSpPr>
        <p:spPr>
          <a:xfrm>
            <a:off x="618331" y="2248239"/>
            <a:ext cx="3357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alibri" panose="020F0502020204030204" pitchFamily="34" charset="0"/>
                <a:cs typeface="Calibri" panose="020F0502020204030204" pitchFamily="34" charset="0"/>
              </a:rPr>
              <a:t>The language </a:t>
            </a:r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L(G)</a:t>
            </a:r>
            <a:r>
              <a:rPr lang="en-CA" dirty="0">
                <a:latin typeface="Calibri" panose="020F0502020204030204" pitchFamily="34" charset="0"/>
                <a:cs typeface="Calibri" panose="020F0502020204030204" pitchFamily="34" charset="0"/>
              </a:rPr>
              <a:t> of </a:t>
            </a:r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en-CA" dirty="0">
                <a:latin typeface="Calibri" panose="020F0502020204030204" pitchFamily="34" charset="0"/>
                <a:cs typeface="Calibri" panose="020F0502020204030204" pitchFamily="34" charset="0"/>
              </a:rPr>
              <a:t> is: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9E6392-2E1D-0D4E-920A-76F661D0A962}"/>
                  </a:ext>
                </a:extLst>
              </p:cNvPr>
              <p:cNvSpPr txBox="1"/>
              <p:nvPr/>
            </p:nvSpPr>
            <p:spPr>
              <a:xfrm>
                <a:off x="618331" y="2791229"/>
                <a:ext cx="519251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|"/>
                          <m:ctrlPr>
                            <a:rPr lang="en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A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CA" i="1">
                                  <a:solidFill>
                                    <a:schemeClr val="accent2"/>
                                  </a:solidFill>
                                  <a:latin typeface="Cambria Math"/>
                                  <a:ea typeface="Cambria Math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CA" i="1">
                                  <a:solidFill>
                                    <a:schemeClr val="accent2"/>
                                  </a:solidFill>
                                  <a:latin typeface="Cambria Math"/>
                                  <a:ea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CA" i="1">
                              <a:solidFill>
                                <a:schemeClr val="accent2"/>
                              </a:solidFill>
                              <a:latin typeface="Cambria Math"/>
                              <a:ea typeface="Cambria Math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CA" i="1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CA" i="1">
                                  <a:solidFill>
                                    <a:schemeClr val="accent2"/>
                                  </a:solidFill>
                                  <a:latin typeface="Cambria Math"/>
                                  <a:ea typeface="Cambria Math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CA" i="1">
                                  <a:solidFill>
                                    <a:schemeClr val="accent2"/>
                                  </a:solidFill>
                                  <a:latin typeface="Cambria Math"/>
                                  <a:ea typeface="Cambria Math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CA" i="1">
                          <a:solidFill>
                            <a:schemeClr val="accent2"/>
                          </a:solidFill>
                          <a:latin typeface="Cambria Math"/>
                        </a:rPr>
                        <m:t> </m:t>
                      </m:r>
                      <m:sSub>
                        <m:sSubPr>
                          <m:ctrlPr>
                            <a:rPr lang="en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>
                              <a:solidFill>
                                <a:schemeClr val="accent2"/>
                              </a:solidFill>
                              <a:latin typeface="Cambria Math"/>
                              <a:ea typeface="Cambria Math"/>
                            </a:rPr>
                            <m:t>∀</m:t>
                          </m:r>
                        </m:e>
                        <m:sub>
                          <m:r>
                            <a:rPr lang="en-CA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CA" i="1">
                          <a:solidFill>
                            <a:schemeClr val="accent2"/>
                          </a:solidFill>
                          <a:latin typeface="Cambria Math"/>
                        </a:rPr>
                        <m:t> </m:t>
                      </m:r>
                      <m:sSub>
                        <m:sSubPr>
                          <m:ctrlPr>
                            <a:rPr lang="en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>
                              <a:solidFill>
                                <a:schemeClr val="accent2"/>
                              </a:solidFill>
                              <a:latin typeface="Cambria Math"/>
                              <a:ea typeface="Cambria Math"/>
                            </a:rPr>
                            <m:t>𝛼</m:t>
                          </m:r>
                        </m:e>
                        <m:sub>
                          <m:r>
                            <a:rPr lang="en-CA" i="1">
                              <a:solidFill>
                                <a:schemeClr val="accent2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CA" i="1">
                          <a:solidFill>
                            <a:schemeClr val="accent2"/>
                          </a:solidFill>
                          <a:latin typeface="Cambria Math"/>
                          <a:ea typeface="Cambria Math"/>
                        </a:rPr>
                        <m:t>∈</m:t>
                      </m:r>
                      <m:r>
                        <a:rPr lang="en-CA" i="1">
                          <a:solidFill>
                            <a:schemeClr val="accent2"/>
                          </a:solidFill>
                          <a:latin typeface="Cambria Math"/>
                          <a:ea typeface="Cambria Math"/>
                        </a:rPr>
                        <m:t>𝑇</m:t>
                      </m:r>
                      <m:r>
                        <a:rPr lang="en-CA" i="1">
                          <a:solidFill>
                            <a:schemeClr val="accent2"/>
                          </a:solidFill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/>
                        </a:rPr>
                        <m:t>𝑎𝑛𝑑</m:t>
                      </m:r>
                      <m:r>
                        <a:rPr lang="en-CA" i="1">
                          <a:solidFill>
                            <a:schemeClr val="accent2"/>
                          </a:solidFill>
                          <a:latin typeface="Cambria Math"/>
                          <a:ea typeface="Cambria Math"/>
                        </a:rPr>
                        <m:t> </m:t>
                      </m:r>
                      <m:r>
                        <a:rPr lang="en-CA" i="1">
                          <a:solidFill>
                            <a:schemeClr val="accent2"/>
                          </a:solidFill>
                          <a:latin typeface="Cambria Math"/>
                          <a:ea typeface="Cambria Math"/>
                        </a:rPr>
                        <m:t>𝑆</m:t>
                      </m:r>
                      <m:sSup>
                        <m:sSupPr>
                          <m:ctrlPr>
                            <a:rPr lang="en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dirty="0" smtClean="0">
                              <a:solidFill>
                                <a:srgbClr val="FF0000"/>
                              </a:solidFill>
                              <a:latin typeface="Calibri" panose="020F0502020204030204" pitchFamily="34" charset="0"/>
                              <a:sym typeface="Symbol" charset="2"/>
                            </a:rPr>
                            <m:t></m:t>
                          </m:r>
                        </m:e>
                        <m:sup>
                          <m:r>
                            <a:rPr lang="en-CA" i="1">
                              <a:solidFill>
                                <a:schemeClr val="accent2"/>
                              </a:solidFill>
                              <a:latin typeface="Cambria Math"/>
                              <a:ea typeface="Cambria Math"/>
                            </a:rPr>
                            <m:t>∗</m:t>
                          </m:r>
                        </m:sup>
                      </m:sSup>
                      <m:r>
                        <a:rPr lang="en-CA" i="1">
                          <a:solidFill>
                            <a:schemeClr val="accent2"/>
                          </a:solidFill>
                          <a:latin typeface="Cambria Math"/>
                          <a:ea typeface="Cambria Math"/>
                        </a:rPr>
                        <m:t> </m:t>
                      </m:r>
                      <m:sSub>
                        <m:sSubPr>
                          <m:ctrlPr>
                            <a:rPr lang="en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CA" i="1">
                              <a:solidFill>
                                <a:schemeClr val="accent2"/>
                              </a:solidFill>
                              <a:latin typeface="Cambria Math"/>
                              <a:ea typeface="Cambria Math"/>
                            </a:rPr>
                            <m:t>𝛼</m:t>
                          </m:r>
                        </m:e>
                        <m:sub>
                          <m:r>
                            <a:rPr lang="en-CA" i="1">
                              <a:solidFill>
                                <a:schemeClr val="accent2"/>
                              </a:solidFill>
                              <a:latin typeface="Cambria Math"/>
                              <a:ea typeface="Cambria Math"/>
                            </a:rPr>
                            <m:t>1</m:t>
                          </m:r>
                        </m:sub>
                      </m:sSub>
                      <m:r>
                        <a:rPr lang="en-CA" i="1">
                          <a:solidFill>
                            <a:schemeClr val="accent2"/>
                          </a:solidFill>
                          <a:latin typeface="Cambria Math"/>
                          <a:ea typeface="Cambria Math"/>
                        </a:rPr>
                        <m:t>…</m:t>
                      </m:r>
                      <m:sSub>
                        <m:sSubPr>
                          <m:ctrlPr>
                            <a:rPr lang="en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CA" i="1">
                              <a:solidFill>
                                <a:schemeClr val="accent2"/>
                              </a:solidFill>
                              <a:latin typeface="Cambria Math"/>
                              <a:ea typeface="Cambria Math"/>
                            </a:rPr>
                            <m:t>𝛼</m:t>
                          </m:r>
                        </m:e>
                        <m:sub>
                          <m:r>
                            <a:rPr lang="en-CA" i="1">
                              <a:solidFill>
                                <a:schemeClr val="accent2"/>
                              </a:solidFill>
                              <a:latin typeface="Cambria Math"/>
                              <a:ea typeface="Cambria Math"/>
                            </a:rPr>
                            <m:t>𝑛</m:t>
                          </m:r>
                        </m:sub>
                      </m:sSub>
                      <m:r>
                        <a:rPr lang="en-CA" i="1">
                          <a:solidFill>
                            <a:schemeClr val="accent2"/>
                          </a:solidFill>
                          <a:latin typeface="Cambria Math"/>
                        </a:rPr>
                        <m:t>}</m:t>
                      </m:r>
                    </m:oMath>
                  </m:oMathPara>
                </a14:m>
                <a:endParaRPr lang="en-CA" dirty="0">
                  <a:solidFill>
                    <a:schemeClr val="accent2"/>
                  </a:solidFill>
                  <a:latin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B9E6392-2E1D-0D4E-920A-76F661D0A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331" y="2791229"/>
                <a:ext cx="5192511" cy="461665"/>
              </a:xfrm>
              <a:prstGeom prst="rect">
                <a:avLst/>
              </a:prstGeom>
              <a:blipFill>
                <a:blip r:embed="rId2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CE86E297-E8EA-0942-96A4-E67E3D061E96}"/>
              </a:ext>
            </a:extLst>
          </p:cNvPr>
          <p:cNvSpPr txBox="1"/>
          <p:nvPr/>
        </p:nvSpPr>
        <p:spPr>
          <a:xfrm>
            <a:off x="618331" y="3459294"/>
            <a:ext cx="3230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</a:rPr>
              <a:t>L(G) = {</a:t>
            </a:r>
            <a:r>
              <a:rPr lang="el-GR" dirty="0">
                <a:solidFill>
                  <a:schemeClr val="accent2"/>
                </a:solidFill>
                <a:latin typeface="Calibri" panose="020F0502020204030204" pitchFamily="34" charset="0"/>
              </a:rPr>
              <a:t>ε</a:t>
            </a:r>
            <a:r>
              <a:rPr lang="en-CA" dirty="0">
                <a:solidFill>
                  <a:schemeClr val="accent2"/>
                </a:solidFill>
                <a:latin typeface="Calibri" panose="020F0502020204030204" pitchFamily="34" charset="0"/>
              </a:rPr>
              <a:t>, (), (()), ((())), …}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8F4AE7F-85F6-0044-8B46-32ECF491505C}"/>
                  </a:ext>
                </a:extLst>
              </p:cNvPr>
              <p:cNvSpPr/>
              <p:nvPr/>
            </p:nvSpPr>
            <p:spPr>
              <a:xfrm>
                <a:off x="6156176" y="2727568"/>
                <a:ext cx="1892498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r1: S</a:t>
                </a:r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CA" i="1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→</m:t>
                    </m:r>
                  </m:oMath>
                </a14:m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 ( S )</a:t>
                </a:r>
              </a:p>
              <a:p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r2: S </a:t>
                </a:r>
                <a14:m>
                  <m:oMath xmlns:m="http://schemas.openxmlformats.org/officeDocument/2006/math">
                    <m:r>
                      <a:rPr lang="en-CA" i="1">
                        <a:solidFill>
                          <a:schemeClr val="accent2"/>
                        </a:solidFill>
                        <a:latin typeface="Cambria Math"/>
                        <a:ea typeface="Cambria Math"/>
                      </a:rPr>
                      <m:t>→</m:t>
                    </m:r>
                  </m:oMath>
                </a14:m>
                <a:r>
                  <a:rPr lang="en-CA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 </a:t>
                </a:r>
                <a:r>
                  <a:rPr lang="el-GR" dirty="0">
                    <a:solidFill>
                      <a:schemeClr val="accent2"/>
                    </a:solidFill>
                    <a:latin typeface="Calibri" panose="020F0502020204030204" pitchFamily="34" charset="0"/>
                  </a:rPr>
                  <a:t>ε</a:t>
                </a:r>
                <a:endParaRPr lang="en-CA" dirty="0">
                  <a:solidFill>
                    <a:schemeClr val="accent2"/>
                  </a:solidFill>
                  <a:latin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8F4AE7F-85F6-0044-8B46-32ECF49150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176" y="2727568"/>
                <a:ext cx="1892498" cy="830997"/>
              </a:xfrm>
              <a:prstGeom prst="rect">
                <a:avLst/>
              </a:prstGeom>
              <a:blipFill>
                <a:blip r:embed="rId3"/>
                <a:stretch>
                  <a:fillRect l="-4667" t="-4478" b="-134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161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  <p:bldP spid="8" grpId="0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Arithmetic Expressions</a:t>
            </a:r>
          </a:p>
        </p:txBody>
      </p:sp>
      <p:sp>
        <p:nvSpPr>
          <p:cNvPr id="696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 </a:t>
            </a:r>
            <a:r>
              <a:rPr lang="en-US" b="1">
                <a:sym typeface="Symbol" charset="2"/>
              </a:rPr>
              <a:t> </a:t>
            </a:r>
            <a:r>
              <a:rPr lang="en-US">
                <a:sym typeface="Symbol" charset="2"/>
              </a:rPr>
              <a:t>E + E</a:t>
            </a:r>
          </a:p>
          <a:p>
            <a:r>
              <a:rPr lang="en-US">
                <a:sym typeface="Symbol" charset="2"/>
              </a:rPr>
              <a:t>E </a:t>
            </a:r>
            <a:r>
              <a:rPr lang="en-US" b="1">
                <a:sym typeface="Symbol" charset="2"/>
              </a:rPr>
              <a:t> </a:t>
            </a:r>
            <a:r>
              <a:rPr lang="en-US">
                <a:sym typeface="Symbol" charset="2"/>
              </a:rPr>
              <a:t>E * E</a:t>
            </a:r>
          </a:p>
          <a:p>
            <a:r>
              <a:rPr lang="en-US">
                <a:sym typeface="Symbol" charset="2"/>
              </a:rPr>
              <a:t>E </a:t>
            </a:r>
            <a:r>
              <a:rPr lang="en-US" b="1">
                <a:sym typeface="Symbol" charset="2"/>
              </a:rPr>
              <a:t> </a:t>
            </a:r>
            <a:r>
              <a:rPr lang="en-US">
                <a:sym typeface="Symbol" charset="2"/>
              </a:rPr>
              <a:t>( E )</a:t>
            </a:r>
          </a:p>
          <a:p>
            <a:r>
              <a:rPr lang="en-US">
                <a:sym typeface="Symbol" charset="2"/>
              </a:rPr>
              <a:t>E </a:t>
            </a:r>
            <a:r>
              <a:rPr lang="en-US" b="1">
                <a:sym typeface="Symbol" charset="2"/>
              </a:rPr>
              <a:t> </a:t>
            </a:r>
            <a:r>
              <a:rPr lang="en-US">
                <a:sym typeface="Symbol" charset="2"/>
              </a:rPr>
              <a:t>- E</a:t>
            </a:r>
          </a:p>
          <a:p>
            <a:r>
              <a:rPr lang="en-US">
                <a:sym typeface="Symbol" charset="2"/>
              </a:rPr>
              <a:t>E </a:t>
            </a:r>
            <a:r>
              <a:rPr lang="en-US" b="1">
                <a:sym typeface="Symbol" charset="2"/>
              </a:rPr>
              <a:t> id</a:t>
            </a:r>
            <a:r>
              <a:rPr lang="en-US"/>
              <a:t> 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95B6C-2605-6C4D-B8BD-DB2C569D7F0E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516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Derivation for</a:t>
            </a:r>
            <a:br>
              <a:rPr lang="en-US" b="1" dirty="0"/>
            </a:br>
            <a:r>
              <a:rPr lang="en-US" b="1" dirty="0"/>
              <a:t>id + id * id</a:t>
            </a:r>
            <a:endParaRPr lang="en-US" dirty="0"/>
          </a:p>
        </p:txBody>
      </p:sp>
      <p:sp>
        <p:nvSpPr>
          <p:cNvPr id="70659" name="Rectangle 3"/>
          <p:cNvSpPr>
            <a:spLocks noGrp="1" noChangeArrowheads="1"/>
          </p:cNvSpPr>
          <p:nvPr>
            <p:ph idx="1"/>
          </p:nvPr>
        </p:nvSpPr>
        <p:spPr>
          <a:xfrm>
            <a:off x="2686050" y="1543050"/>
            <a:ext cx="2286000" cy="23431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 </a:t>
            </a:r>
            <a:r>
              <a:rPr lang="en-US" dirty="0">
                <a:sym typeface="Symbol" charset="2"/>
              </a:rPr>
              <a:t> </a:t>
            </a:r>
            <a:r>
              <a:rPr lang="en-US" dirty="0">
                <a:solidFill>
                  <a:schemeClr val="accent2"/>
                </a:solidFill>
                <a:sym typeface="Symbol" charset="2"/>
              </a:rPr>
              <a:t>E</a:t>
            </a:r>
            <a:r>
              <a:rPr lang="en-US" dirty="0">
                <a:sym typeface="Symbol" charset="2"/>
              </a:rPr>
              <a:t> + E</a:t>
            </a:r>
          </a:p>
          <a:p>
            <a:pPr>
              <a:buFontTx/>
              <a:buNone/>
            </a:pPr>
            <a:r>
              <a:rPr lang="en-US" dirty="0">
                <a:sym typeface="Symbol" charset="2"/>
              </a:rPr>
              <a:t>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+ </a:t>
            </a:r>
            <a:r>
              <a:rPr lang="en-US" dirty="0">
                <a:solidFill>
                  <a:schemeClr val="accent2"/>
                </a:solidFill>
                <a:sym typeface="Symbol" charset="2"/>
              </a:rPr>
              <a:t>E</a:t>
            </a:r>
            <a:endParaRPr lang="en-US" dirty="0">
              <a:sym typeface="Symbol" charset="2"/>
            </a:endParaRPr>
          </a:p>
          <a:p>
            <a:pPr>
              <a:buFontTx/>
              <a:buNone/>
            </a:pPr>
            <a:r>
              <a:rPr lang="en-US" dirty="0">
                <a:sym typeface="Symbol" charset="2"/>
              </a:rPr>
              <a:t>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+ </a:t>
            </a:r>
            <a:r>
              <a:rPr lang="en-US" dirty="0">
                <a:solidFill>
                  <a:schemeClr val="accent2"/>
                </a:solidFill>
                <a:sym typeface="Symbol" charset="2"/>
              </a:rPr>
              <a:t>E</a:t>
            </a:r>
            <a:r>
              <a:rPr lang="en-US" dirty="0">
                <a:sym typeface="Symbol" charset="2"/>
              </a:rPr>
              <a:t> * E</a:t>
            </a:r>
          </a:p>
          <a:p>
            <a:pPr>
              <a:buFontTx/>
              <a:buNone/>
            </a:pPr>
            <a:r>
              <a:rPr lang="en-US" dirty="0">
                <a:sym typeface="Symbol" charset="2"/>
              </a:rPr>
              <a:t>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+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* </a:t>
            </a:r>
            <a:r>
              <a:rPr lang="en-US" dirty="0">
                <a:solidFill>
                  <a:schemeClr val="accent2"/>
                </a:solidFill>
                <a:sym typeface="Symbol" charset="2"/>
              </a:rPr>
              <a:t>E</a:t>
            </a:r>
            <a:endParaRPr lang="en-US" dirty="0">
              <a:sym typeface="Symbol" charset="2"/>
            </a:endParaRPr>
          </a:p>
          <a:p>
            <a:pPr>
              <a:buFontTx/>
              <a:buNone/>
            </a:pPr>
            <a:r>
              <a:rPr lang="en-US" dirty="0">
                <a:sym typeface="Symbol" charset="2"/>
              </a:rPr>
              <a:t>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+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* </a:t>
            </a:r>
            <a:r>
              <a:rPr lang="en-US" b="1" dirty="0">
                <a:sym typeface="Symbol" charset="2"/>
              </a:rPr>
              <a:t>id</a:t>
            </a:r>
            <a:endParaRPr lang="en-US" dirty="0">
              <a:sym typeface="Symbol" charset="2"/>
            </a:endParaRPr>
          </a:p>
        </p:txBody>
      </p:sp>
      <p:sp>
        <p:nvSpPr>
          <p:cNvPr id="2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3842F6-ED44-6C49-9CF2-96F0BC61B62E}" type="slidenum">
              <a:rPr lang="en-US"/>
              <a:pPr/>
              <a:t>12</a:t>
            </a:fld>
            <a:endParaRPr lang="en-US"/>
          </a:p>
        </p:txBody>
      </p:sp>
      <p:grpSp>
        <p:nvGrpSpPr>
          <p:cNvPr id="70682" name="Group 26"/>
          <p:cNvGrpSpPr>
            <a:grpSpLocks/>
          </p:cNvGrpSpPr>
          <p:nvPr/>
        </p:nvGrpSpPr>
        <p:grpSpPr bwMode="auto">
          <a:xfrm>
            <a:off x="4842032" y="2151478"/>
            <a:ext cx="2131220" cy="2552700"/>
            <a:chOff x="3312" y="1670"/>
            <a:chExt cx="1790" cy="2144"/>
          </a:xfrm>
        </p:grpSpPr>
        <p:sp>
          <p:nvSpPr>
            <p:cNvPr id="70663" name="Text Box 7"/>
            <p:cNvSpPr txBox="1">
              <a:spLocks noChangeArrowheads="1"/>
            </p:cNvSpPr>
            <p:nvPr/>
          </p:nvSpPr>
          <p:spPr bwMode="auto">
            <a:xfrm>
              <a:off x="3836" y="1670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70664" name="Text Box 8"/>
            <p:cNvSpPr txBox="1">
              <a:spLocks noChangeArrowheads="1"/>
            </p:cNvSpPr>
            <p:nvPr/>
          </p:nvSpPr>
          <p:spPr bwMode="auto">
            <a:xfrm>
              <a:off x="3338" y="2304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70665" name="Text Box 9"/>
            <p:cNvSpPr txBox="1">
              <a:spLocks noChangeArrowheads="1"/>
            </p:cNvSpPr>
            <p:nvPr/>
          </p:nvSpPr>
          <p:spPr bwMode="auto">
            <a:xfrm>
              <a:off x="4322" y="2304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70666" name="Text Box 10"/>
            <p:cNvSpPr txBox="1">
              <a:spLocks noChangeArrowheads="1"/>
            </p:cNvSpPr>
            <p:nvPr/>
          </p:nvSpPr>
          <p:spPr bwMode="auto">
            <a:xfrm>
              <a:off x="3835" y="2304"/>
              <a:ext cx="25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+</a:t>
              </a:r>
            </a:p>
          </p:txBody>
        </p:sp>
        <p:sp>
          <p:nvSpPr>
            <p:cNvPr id="70667" name="Text Box 11"/>
            <p:cNvSpPr txBox="1">
              <a:spLocks noChangeArrowheads="1"/>
            </p:cNvSpPr>
            <p:nvPr/>
          </p:nvSpPr>
          <p:spPr bwMode="auto">
            <a:xfrm>
              <a:off x="3818" y="2976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70668" name="Text Box 12"/>
            <p:cNvSpPr txBox="1">
              <a:spLocks noChangeArrowheads="1"/>
            </p:cNvSpPr>
            <p:nvPr/>
          </p:nvSpPr>
          <p:spPr bwMode="auto">
            <a:xfrm>
              <a:off x="4826" y="2976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70669" name="Text Box 13"/>
            <p:cNvSpPr txBox="1">
              <a:spLocks noChangeArrowheads="1"/>
            </p:cNvSpPr>
            <p:nvPr/>
          </p:nvSpPr>
          <p:spPr bwMode="auto">
            <a:xfrm>
              <a:off x="4320" y="2976"/>
              <a:ext cx="25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*</a:t>
              </a:r>
            </a:p>
          </p:txBody>
        </p:sp>
        <p:sp>
          <p:nvSpPr>
            <p:cNvPr id="70670" name="Text Box 14"/>
            <p:cNvSpPr txBox="1">
              <a:spLocks noChangeArrowheads="1"/>
            </p:cNvSpPr>
            <p:nvPr/>
          </p:nvSpPr>
          <p:spPr bwMode="auto">
            <a:xfrm>
              <a:off x="3312" y="2880"/>
              <a:ext cx="30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id</a:t>
              </a:r>
            </a:p>
          </p:txBody>
        </p:sp>
        <p:sp>
          <p:nvSpPr>
            <p:cNvPr id="70671" name="Text Box 15"/>
            <p:cNvSpPr txBox="1">
              <a:spLocks noChangeArrowheads="1"/>
            </p:cNvSpPr>
            <p:nvPr/>
          </p:nvSpPr>
          <p:spPr bwMode="auto">
            <a:xfrm>
              <a:off x="3792" y="3504"/>
              <a:ext cx="30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id</a:t>
              </a:r>
            </a:p>
          </p:txBody>
        </p:sp>
        <p:sp>
          <p:nvSpPr>
            <p:cNvPr id="70672" name="Text Box 16"/>
            <p:cNvSpPr txBox="1">
              <a:spLocks noChangeArrowheads="1"/>
            </p:cNvSpPr>
            <p:nvPr/>
          </p:nvSpPr>
          <p:spPr bwMode="auto">
            <a:xfrm>
              <a:off x="4800" y="3504"/>
              <a:ext cx="30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id</a:t>
              </a:r>
            </a:p>
          </p:txBody>
        </p:sp>
        <p:cxnSp>
          <p:nvCxnSpPr>
            <p:cNvPr id="70673" name="AutoShape 17"/>
            <p:cNvCxnSpPr>
              <a:cxnSpLocks noChangeShapeType="1"/>
              <a:stCxn id="70663" idx="2"/>
              <a:endCxn id="70664" idx="0"/>
            </p:cNvCxnSpPr>
            <p:nvPr/>
          </p:nvCxnSpPr>
          <p:spPr bwMode="auto">
            <a:xfrm flipH="1">
              <a:off x="3462" y="1980"/>
              <a:ext cx="498" cy="324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0674" name="AutoShape 18"/>
            <p:cNvCxnSpPr>
              <a:cxnSpLocks noChangeShapeType="1"/>
              <a:stCxn id="70663" idx="2"/>
              <a:endCxn id="70666" idx="0"/>
            </p:cNvCxnSpPr>
            <p:nvPr/>
          </p:nvCxnSpPr>
          <p:spPr bwMode="auto">
            <a:xfrm>
              <a:off x="3961" y="1980"/>
              <a:ext cx="0" cy="324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0675" name="AutoShape 19"/>
            <p:cNvCxnSpPr>
              <a:cxnSpLocks noChangeShapeType="1"/>
              <a:stCxn id="70663" idx="2"/>
              <a:endCxn id="70665" idx="0"/>
            </p:cNvCxnSpPr>
            <p:nvPr/>
          </p:nvCxnSpPr>
          <p:spPr bwMode="auto">
            <a:xfrm>
              <a:off x="3961" y="1980"/>
              <a:ext cx="486" cy="324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0676" name="AutoShape 20"/>
            <p:cNvCxnSpPr>
              <a:cxnSpLocks noChangeShapeType="1"/>
              <a:stCxn id="70664" idx="2"/>
              <a:endCxn id="70670" idx="0"/>
            </p:cNvCxnSpPr>
            <p:nvPr/>
          </p:nvCxnSpPr>
          <p:spPr bwMode="auto">
            <a:xfrm>
              <a:off x="3462" y="2614"/>
              <a:ext cx="1" cy="266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0677" name="AutoShape 21"/>
            <p:cNvCxnSpPr>
              <a:cxnSpLocks noChangeShapeType="1"/>
              <a:stCxn id="70665" idx="2"/>
              <a:endCxn id="70667" idx="0"/>
            </p:cNvCxnSpPr>
            <p:nvPr/>
          </p:nvCxnSpPr>
          <p:spPr bwMode="auto">
            <a:xfrm flipH="1">
              <a:off x="3943" y="2614"/>
              <a:ext cx="504" cy="362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0678" name="AutoShape 22"/>
            <p:cNvCxnSpPr>
              <a:cxnSpLocks noChangeShapeType="1"/>
              <a:stCxn id="70667" idx="2"/>
              <a:endCxn id="70671" idx="0"/>
            </p:cNvCxnSpPr>
            <p:nvPr/>
          </p:nvCxnSpPr>
          <p:spPr bwMode="auto">
            <a:xfrm>
              <a:off x="3943" y="3286"/>
              <a:ext cx="0" cy="21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0679" name="AutoShape 23"/>
            <p:cNvCxnSpPr>
              <a:cxnSpLocks noChangeShapeType="1"/>
              <a:stCxn id="70665" idx="2"/>
              <a:endCxn id="70669" idx="0"/>
            </p:cNvCxnSpPr>
            <p:nvPr/>
          </p:nvCxnSpPr>
          <p:spPr bwMode="auto">
            <a:xfrm flipH="1">
              <a:off x="4446" y="2614"/>
              <a:ext cx="0" cy="362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0680" name="AutoShape 24"/>
            <p:cNvCxnSpPr>
              <a:cxnSpLocks noChangeShapeType="1"/>
              <a:stCxn id="70665" idx="2"/>
              <a:endCxn id="70668" idx="0"/>
            </p:cNvCxnSpPr>
            <p:nvPr/>
          </p:nvCxnSpPr>
          <p:spPr bwMode="auto">
            <a:xfrm>
              <a:off x="4447" y="2614"/>
              <a:ext cx="504" cy="362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0681" name="AutoShape 25"/>
            <p:cNvCxnSpPr>
              <a:cxnSpLocks noChangeShapeType="1"/>
              <a:stCxn id="70668" idx="2"/>
              <a:endCxn id="70672" idx="0"/>
            </p:cNvCxnSpPr>
            <p:nvPr/>
          </p:nvCxnSpPr>
          <p:spPr bwMode="auto">
            <a:xfrm>
              <a:off x="4950" y="3286"/>
              <a:ext cx="1" cy="21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</p:grpSp>
      <p:sp>
        <p:nvSpPr>
          <p:cNvPr id="70683" name="Text Box 27"/>
          <p:cNvSpPr txBox="1">
            <a:spLocks noChangeArrowheads="1"/>
          </p:cNvSpPr>
          <p:nvPr/>
        </p:nvSpPr>
        <p:spPr bwMode="auto">
          <a:xfrm>
            <a:off x="1257300" y="1608535"/>
            <a:ext cx="1079142" cy="1698927"/>
          </a:xfrm>
          <a:prstGeom prst="rect">
            <a:avLst/>
          </a:prstGeom>
          <a:solidFill>
            <a:srgbClr val="00CCFF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</a:rPr>
              <a:t>E </a:t>
            </a:r>
            <a:r>
              <a:rPr lang="en-US" sz="1800" dirty="0">
                <a:latin typeface="Calibri" panose="020F0502020204030204" pitchFamily="34" charset="0"/>
                <a:sym typeface="Symbol" charset="2"/>
              </a:rPr>
              <a:t> E + E</a:t>
            </a:r>
          </a:p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  <a:sym typeface="Symbol" charset="2"/>
              </a:rPr>
              <a:t>E  E * E</a:t>
            </a:r>
          </a:p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  <a:sym typeface="Symbol" charset="2"/>
              </a:rPr>
              <a:t>E  ( E )</a:t>
            </a:r>
          </a:p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  <a:sym typeface="Symbol" charset="2"/>
              </a:rPr>
              <a:t>E  - E</a:t>
            </a:r>
          </a:p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  <a:sym typeface="Symbol" charset="2"/>
              </a:rPr>
              <a:t>E  id</a:t>
            </a:r>
            <a:r>
              <a:rPr lang="en-US" sz="1800" dirty="0">
                <a:latin typeface="Calibri" panose="020F0502020204030204" pitchFamily="34" charset="0"/>
              </a:rPr>
              <a:t> </a:t>
            </a:r>
            <a:endParaRPr lang="en-US" sz="1350" dirty="0">
              <a:latin typeface="Calibri" panose="020F0502020204030204" pitchFamily="34" charset="0"/>
            </a:endParaRPr>
          </a:p>
        </p:txBody>
      </p:sp>
      <p:sp>
        <p:nvSpPr>
          <p:cNvPr id="27" name="Rectangle 3"/>
          <p:cNvSpPr txBox="1">
            <a:spLocks noChangeArrowheads="1"/>
          </p:cNvSpPr>
          <p:nvPr/>
        </p:nvSpPr>
        <p:spPr bwMode="auto">
          <a:xfrm>
            <a:off x="5652120" y="1167594"/>
            <a:ext cx="3096344" cy="724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Candara"/>
                <a:ea typeface="+mn-ea"/>
                <a:cs typeface="Candara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Candara"/>
                <a:ea typeface="ＭＳ Ｐゴシック" charset="-128"/>
                <a:cs typeface="Candara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Candara"/>
                <a:ea typeface="ＭＳ Ｐゴシック" charset="-128"/>
                <a:cs typeface="Candara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Candara"/>
                <a:ea typeface="ＭＳ Ｐゴシック" charset="-128"/>
                <a:cs typeface="Candara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andara"/>
                <a:ea typeface="ＭＳ Ｐゴシック" charset="-128"/>
                <a:cs typeface="Candar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ＭＳ Ｐゴシック" charset="-128"/>
              </a:defRPr>
            </a:lvl9pPr>
          </a:lstStyle>
          <a:p>
            <a:pPr marL="0" indent="0" eaLnBrk="1" hangingPunct="1">
              <a:buNone/>
            </a:pPr>
            <a:r>
              <a:rPr lang="en-US" sz="1800" kern="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  <a:sym typeface="Symbol" charset="2"/>
              </a:rPr>
              <a:t>Leaf nodes: terminals</a:t>
            </a:r>
          </a:p>
          <a:p>
            <a:pPr marL="0" indent="0" eaLnBrk="1" hangingPunct="1">
              <a:buNone/>
            </a:pPr>
            <a:r>
              <a:rPr lang="en-US" sz="1800" kern="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  <a:sym typeface="Symbol" charset="2"/>
              </a:rPr>
              <a:t>Interior nodes: non-terminals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A0F3C3-0A6B-9943-AE42-69A1C73E451A}"/>
              </a:ext>
            </a:extLst>
          </p:cNvPr>
          <p:cNvSpPr txBox="1"/>
          <p:nvPr/>
        </p:nvSpPr>
        <p:spPr>
          <a:xfrm>
            <a:off x="1257300" y="4086079"/>
            <a:ext cx="1998222" cy="646331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Calibri" panose="020F0502020204030204" pitchFamily="34" charset="0"/>
              </a:rPr>
              <a:t>Notation:</a:t>
            </a:r>
            <a:br>
              <a:rPr lang="en-US" sz="1800" dirty="0">
                <a:solidFill>
                  <a:schemeClr val="bg1"/>
                </a:solidFill>
                <a:latin typeface="Calibri" panose="020F0502020204030204" pitchFamily="34" charset="0"/>
              </a:rPr>
            </a:br>
            <a:r>
              <a:rPr lang="en-US" sz="1800" dirty="0">
                <a:solidFill>
                  <a:schemeClr val="bg1"/>
                </a:solidFill>
                <a:latin typeface="Calibri" panose="020F0502020204030204" pitchFamily="34" charset="0"/>
              </a:rPr>
              <a:t>E </a:t>
            </a:r>
            <a:r>
              <a:rPr lang="en-US" sz="1800" dirty="0">
                <a:solidFill>
                  <a:schemeClr val="bg1"/>
                </a:solidFill>
                <a:latin typeface="Calibri" panose="020F0502020204030204" pitchFamily="34" charset="0"/>
                <a:sym typeface="Symbol" charset="2"/>
              </a:rPr>
              <a:t>* id + id * id</a:t>
            </a:r>
            <a:endParaRPr lang="en-US" sz="1800" dirty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0646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6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59" grpId="0" build="p" autoUpdateAnimBg="0"/>
      <p:bldP spid="27" grpId="0" uiExpand="1" build="p" autoUpdateAnimBg="0"/>
      <p:bldP spid="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Leftmost derivation for</a:t>
            </a:r>
            <a:br>
              <a:rPr lang="en-US" b="1" dirty="0"/>
            </a:br>
            <a:r>
              <a:rPr lang="en-US" b="1" dirty="0"/>
              <a:t>id + id * id</a:t>
            </a:r>
            <a:endParaRPr lang="en-US" dirty="0"/>
          </a:p>
        </p:txBody>
      </p:sp>
      <p:sp>
        <p:nvSpPr>
          <p:cNvPr id="71683" name="Rectangle 3"/>
          <p:cNvSpPr>
            <a:spLocks noGrp="1" noChangeArrowheads="1"/>
          </p:cNvSpPr>
          <p:nvPr>
            <p:ph idx="1"/>
          </p:nvPr>
        </p:nvSpPr>
        <p:spPr>
          <a:xfrm>
            <a:off x="2514600" y="1543050"/>
            <a:ext cx="2171700" cy="22860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 </a:t>
            </a:r>
            <a:r>
              <a:rPr lang="en-US" dirty="0">
                <a:sym typeface="Symbol" charset="2"/>
              </a:rPr>
              <a:t> </a:t>
            </a:r>
            <a:r>
              <a:rPr lang="en-US" dirty="0">
                <a:solidFill>
                  <a:schemeClr val="accent2"/>
                </a:solidFill>
                <a:sym typeface="Symbol" charset="2"/>
              </a:rPr>
              <a:t>E</a:t>
            </a:r>
            <a:r>
              <a:rPr lang="en-US" dirty="0">
                <a:sym typeface="Symbol" charset="2"/>
              </a:rPr>
              <a:t> * E</a:t>
            </a:r>
          </a:p>
          <a:p>
            <a:pPr>
              <a:buFontTx/>
              <a:buNone/>
            </a:pPr>
            <a:r>
              <a:rPr lang="en-US" dirty="0">
                <a:sym typeface="Symbol" charset="2"/>
              </a:rPr>
              <a:t> </a:t>
            </a:r>
            <a:r>
              <a:rPr lang="en-US" dirty="0">
                <a:solidFill>
                  <a:schemeClr val="accent2"/>
                </a:solidFill>
                <a:sym typeface="Symbol" charset="2"/>
              </a:rPr>
              <a:t>E</a:t>
            </a:r>
            <a:r>
              <a:rPr lang="en-US" dirty="0">
                <a:sym typeface="Symbol" charset="2"/>
              </a:rPr>
              <a:t> + E * E</a:t>
            </a:r>
          </a:p>
          <a:p>
            <a:pPr>
              <a:buFontTx/>
              <a:buNone/>
            </a:pPr>
            <a:r>
              <a:rPr lang="en-US" dirty="0">
                <a:sym typeface="Symbol" charset="2"/>
              </a:rPr>
              <a:t>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+ </a:t>
            </a:r>
            <a:r>
              <a:rPr lang="en-US" dirty="0">
                <a:solidFill>
                  <a:schemeClr val="accent2"/>
                </a:solidFill>
                <a:sym typeface="Symbol" charset="2"/>
              </a:rPr>
              <a:t>E</a:t>
            </a:r>
            <a:r>
              <a:rPr lang="en-US" dirty="0">
                <a:sym typeface="Symbol" charset="2"/>
              </a:rPr>
              <a:t> * E</a:t>
            </a:r>
          </a:p>
          <a:p>
            <a:pPr>
              <a:buFontTx/>
              <a:buNone/>
            </a:pPr>
            <a:r>
              <a:rPr lang="en-US" dirty="0">
                <a:sym typeface="Symbol" charset="2"/>
              </a:rPr>
              <a:t>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+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* </a:t>
            </a:r>
            <a:r>
              <a:rPr lang="en-US" dirty="0">
                <a:solidFill>
                  <a:schemeClr val="accent2"/>
                </a:solidFill>
                <a:sym typeface="Symbol" charset="2"/>
              </a:rPr>
              <a:t>E</a:t>
            </a:r>
            <a:endParaRPr lang="en-US" dirty="0">
              <a:sym typeface="Symbol" charset="2"/>
            </a:endParaRPr>
          </a:p>
          <a:p>
            <a:pPr>
              <a:buFontTx/>
              <a:buNone/>
            </a:pPr>
            <a:r>
              <a:rPr lang="en-US" dirty="0">
                <a:sym typeface="Symbol" charset="2"/>
              </a:rPr>
              <a:t>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+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* </a:t>
            </a:r>
            <a:r>
              <a:rPr lang="en-US" b="1" dirty="0">
                <a:sym typeface="Symbol" charset="2"/>
              </a:rPr>
              <a:t>id</a:t>
            </a:r>
            <a:endParaRPr lang="en-US" dirty="0">
              <a:sym typeface="Symbol" charset="2"/>
            </a:endParaRPr>
          </a:p>
        </p:txBody>
      </p:sp>
      <p:sp>
        <p:nvSpPr>
          <p:cNvPr id="2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978644-89E8-AD45-A68C-4669D4E822C8}" type="slidenum">
              <a:rPr lang="en-US"/>
              <a:pPr/>
              <a:t>13</a:t>
            </a:fld>
            <a:endParaRPr lang="en-US"/>
          </a:p>
        </p:txBody>
      </p:sp>
      <p:grpSp>
        <p:nvGrpSpPr>
          <p:cNvPr id="71704" name="Group 24"/>
          <p:cNvGrpSpPr>
            <a:grpSpLocks/>
          </p:cNvGrpSpPr>
          <p:nvPr/>
        </p:nvGrpSpPr>
        <p:grpSpPr bwMode="auto">
          <a:xfrm>
            <a:off x="4800601" y="1885951"/>
            <a:ext cx="2416970" cy="2381250"/>
            <a:chOff x="2640" y="1670"/>
            <a:chExt cx="2030" cy="2000"/>
          </a:xfrm>
        </p:grpSpPr>
        <p:sp>
          <p:nvSpPr>
            <p:cNvPr id="71685" name="Text Box 5"/>
            <p:cNvSpPr txBox="1">
              <a:spLocks noChangeArrowheads="1"/>
            </p:cNvSpPr>
            <p:nvPr/>
          </p:nvSpPr>
          <p:spPr bwMode="auto">
            <a:xfrm>
              <a:off x="3836" y="1670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71686" name="Text Box 6"/>
            <p:cNvSpPr txBox="1">
              <a:spLocks noChangeArrowheads="1"/>
            </p:cNvSpPr>
            <p:nvPr/>
          </p:nvSpPr>
          <p:spPr bwMode="auto">
            <a:xfrm>
              <a:off x="4394" y="2304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71687" name="Text Box 7"/>
            <p:cNvSpPr txBox="1">
              <a:spLocks noChangeArrowheads="1"/>
            </p:cNvSpPr>
            <p:nvPr/>
          </p:nvSpPr>
          <p:spPr bwMode="auto">
            <a:xfrm>
              <a:off x="3073" y="2304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71688" name="Text Box 8"/>
            <p:cNvSpPr txBox="1">
              <a:spLocks noChangeArrowheads="1"/>
            </p:cNvSpPr>
            <p:nvPr/>
          </p:nvSpPr>
          <p:spPr bwMode="auto">
            <a:xfrm>
              <a:off x="3835" y="2304"/>
              <a:ext cx="25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*</a:t>
              </a:r>
            </a:p>
          </p:txBody>
        </p:sp>
        <p:sp>
          <p:nvSpPr>
            <p:cNvPr id="71689" name="Text Box 9"/>
            <p:cNvSpPr txBox="1">
              <a:spLocks noChangeArrowheads="1"/>
            </p:cNvSpPr>
            <p:nvPr/>
          </p:nvSpPr>
          <p:spPr bwMode="auto">
            <a:xfrm>
              <a:off x="2666" y="2832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71690" name="Text Box 10"/>
            <p:cNvSpPr txBox="1">
              <a:spLocks noChangeArrowheads="1"/>
            </p:cNvSpPr>
            <p:nvPr/>
          </p:nvSpPr>
          <p:spPr bwMode="auto">
            <a:xfrm>
              <a:off x="3506" y="2832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71691" name="Text Box 11"/>
            <p:cNvSpPr txBox="1">
              <a:spLocks noChangeArrowheads="1"/>
            </p:cNvSpPr>
            <p:nvPr/>
          </p:nvSpPr>
          <p:spPr bwMode="auto">
            <a:xfrm>
              <a:off x="3072" y="2880"/>
              <a:ext cx="25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+</a:t>
              </a:r>
            </a:p>
          </p:txBody>
        </p:sp>
        <p:sp>
          <p:nvSpPr>
            <p:cNvPr id="71692" name="Text Box 12"/>
            <p:cNvSpPr txBox="1">
              <a:spLocks noChangeArrowheads="1"/>
            </p:cNvSpPr>
            <p:nvPr/>
          </p:nvSpPr>
          <p:spPr bwMode="auto">
            <a:xfrm>
              <a:off x="4368" y="2832"/>
              <a:ext cx="30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id</a:t>
              </a:r>
            </a:p>
          </p:txBody>
        </p:sp>
        <p:sp>
          <p:nvSpPr>
            <p:cNvPr id="71693" name="Text Box 13"/>
            <p:cNvSpPr txBox="1">
              <a:spLocks noChangeArrowheads="1"/>
            </p:cNvSpPr>
            <p:nvPr/>
          </p:nvSpPr>
          <p:spPr bwMode="auto">
            <a:xfrm>
              <a:off x="2640" y="3360"/>
              <a:ext cx="30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id</a:t>
              </a:r>
            </a:p>
          </p:txBody>
        </p:sp>
        <p:sp>
          <p:nvSpPr>
            <p:cNvPr id="71694" name="Text Box 14"/>
            <p:cNvSpPr txBox="1">
              <a:spLocks noChangeArrowheads="1"/>
            </p:cNvSpPr>
            <p:nvPr/>
          </p:nvSpPr>
          <p:spPr bwMode="auto">
            <a:xfrm>
              <a:off x="3480" y="3360"/>
              <a:ext cx="30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id</a:t>
              </a:r>
            </a:p>
          </p:txBody>
        </p:sp>
        <p:cxnSp>
          <p:nvCxnSpPr>
            <p:cNvPr id="71695" name="AutoShape 15"/>
            <p:cNvCxnSpPr>
              <a:cxnSpLocks noChangeShapeType="1"/>
              <a:stCxn id="71685" idx="2"/>
              <a:endCxn id="71686" idx="0"/>
            </p:cNvCxnSpPr>
            <p:nvPr/>
          </p:nvCxnSpPr>
          <p:spPr bwMode="auto">
            <a:xfrm>
              <a:off x="3960" y="1980"/>
              <a:ext cx="558" cy="324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1696" name="AutoShape 16"/>
            <p:cNvCxnSpPr>
              <a:cxnSpLocks noChangeShapeType="1"/>
              <a:stCxn id="71685" idx="2"/>
              <a:endCxn id="71688" idx="0"/>
            </p:cNvCxnSpPr>
            <p:nvPr/>
          </p:nvCxnSpPr>
          <p:spPr bwMode="auto">
            <a:xfrm>
              <a:off x="3960" y="1980"/>
              <a:ext cx="1" cy="324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1697" name="AutoShape 17"/>
            <p:cNvCxnSpPr>
              <a:cxnSpLocks noChangeShapeType="1"/>
              <a:stCxn id="71685" idx="2"/>
              <a:endCxn id="71687" idx="0"/>
            </p:cNvCxnSpPr>
            <p:nvPr/>
          </p:nvCxnSpPr>
          <p:spPr bwMode="auto">
            <a:xfrm flipH="1">
              <a:off x="3198" y="1980"/>
              <a:ext cx="763" cy="324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1698" name="AutoShape 18"/>
            <p:cNvCxnSpPr>
              <a:cxnSpLocks noChangeShapeType="1"/>
              <a:stCxn id="71686" idx="2"/>
              <a:endCxn id="71692" idx="0"/>
            </p:cNvCxnSpPr>
            <p:nvPr/>
          </p:nvCxnSpPr>
          <p:spPr bwMode="auto">
            <a:xfrm>
              <a:off x="4518" y="2614"/>
              <a:ext cx="1" cy="21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1699" name="AutoShape 19"/>
            <p:cNvCxnSpPr>
              <a:cxnSpLocks noChangeShapeType="1"/>
              <a:stCxn id="71687" idx="2"/>
              <a:endCxn id="71689" idx="0"/>
            </p:cNvCxnSpPr>
            <p:nvPr/>
          </p:nvCxnSpPr>
          <p:spPr bwMode="auto">
            <a:xfrm flipH="1">
              <a:off x="2790" y="2614"/>
              <a:ext cx="407" cy="21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1700" name="AutoShape 20"/>
            <p:cNvCxnSpPr>
              <a:cxnSpLocks noChangeShapeType="1"/>
              <a:stCxn id="71689" idx="2"/>
              <a:endCxn id="71693" idx="0"/>
            </p:cNvCxnSpPr>
            <p:nvPr/>
          </p:nvCxnSpPr>
          <p:spPr bwMode="auto">
            <a:xfrm>
              <a:off x="2790" y="3142"/>
              <a:ext cx="1" cy="21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1701" name="AutoShape 21"/>
            <p:cNvCxnSpPr>
              <a:cxnSpLocks noChangeShapeType="1"/>
              <a:stCxn id="71687" idx="2"/>
              <a:endCxn id="71691" idx="0"/>
            </p:cNvCxnSpPr>
            <p:nvPr/>
          </p:nvCxnSpPr>
          <p:spPr bwMode="auto">
            <a:xfrm>
              <a:off x="3198" y="2614"/>
              <a:ext cx="0" cy="266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1702" name="AutoShape 22"/>
            <p:cNvCxnSpPr>
              <a:cxnSpLocks noChangeShapeType="1"/>
              <a:stCxn id="71687" idx="2"/>
              <a:endCxn id="71690" idx="0"/>
            </p:cNvCxnSpPr>
            <p:nvPr/>
          </p:nvCxnSpPr>
          <p:spPr bwMode="auto">
            <a:xfrm>
              <a:off x="3198" y="2614"/>
              <a:ext cx="433" cy="21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71703" name="AutoShape 23"/>
            <p:cNvCxnSpPr>
              <a:cxnSpLocks noChangeShapeType="1"/>
              <a:stCxn id="71690" idx="2"/>
              <a:endCxn id="71694" idx="0"/>
            </p:cNvCxnSpPr>
            <p:nvPr/>
          </p:nvCxnSpPr>
          <p:spPr bwMode="auto">
            <a:xfrm>
              <a:off x="3631" y="3142"/>
              <a:ext cx="1" cy="21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</p:grpSp>
      <p:sp>
        <p:nvSpPr>
          <p:cNvPr id="71705" name="Text Box 25"/>
          <p:cNvSpPr txBox="1">
            <a:spLocks noChangeArrowheads="1"/>
          </p:cNvSpPr>
          <p:nvPr/>
        </p:nvSpPr>
        <p:spPr bwMode="auto">
          <a:xfrm>
            <a:off x="1257300" y="1608535"/>
            <a:ext cx="1079142" cy="1698927"/>
          </a:xfrm>
          <a:prstGeom prst="rect">
            <a:avLst/>
          </a:prstGeom>
          <a:solidFill>
            <a:srgbClr val="00CCFF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</a:rPr>
              <a:t>E </a:t>
            </a:r>
            <a:r>
              <a:rPr lang="en-US" sz="1800" dirty="0" err="1">
                <a:latin typeface="Calibri" panose="020F0502020204030204" pitchFamily="34" charset="0"/>
                <a:sym typeface="Symbol" charset="2"/>
              </a:rPr>
              <a:t></a:t>
            </a:r>
            <a:r>
              <a:rPr lang="en-US" sz="1800" dirty="0">
                <a:latin typeface="Calibri" panose="020F0502020204030204" pitchFamily="34" charset="0"/>
                <a:sym typeface="Symbol" charset="2"/>
              </a:rPr>
              <a:t> E + E</a:t>
            </a:r>
          </a:p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  <a:sym typeface="Symbol" charset="2"/>
              </a:rPr>
              <a:t>E </a:t>
            </a:r>
            <a:r>
              <a:rPr lang="en-US" sz="1800" dirty="0" err="1">
                <a:latin typeface="Calibri" panose="020F0502020204030204" pitchFamily="34" charset="0"/>
                <a:sym typeface="Symbol" charset="2"/>
              </a:rPr>
              <a:t></a:t>
            </a:r>
            <a:r>
              <a:rPr lang="en-US" sz="1800" dirty="0">
                <a:latin typeface="Calibri" panose="020F0502020204030204" pitchFamily="34" charset="0"/>
                <a:sym typeface="Symbol" charset="2"/>
              </a:rPr>
              <a:t> E * E</a:t>
            </a:r>
          </a:p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  <a:sym typeface="Symbol" charset="2"/>
              </a:rPr>
              <a:t>E </a:t>
            </a:r>
            <a:r>
              <a:rPr lang="en-US" sz="1800" dirty="0" err="1">
                <a:latin typeface="Calibri" panose="020F0502020204030204" pitchFamily="34" charset="0"/>
                <a:sym typeface="Symbol" charset="2"/>
              </a:rPr>
              <a:t></a:t>
            </a:r>
            <a:r>
              <a:rPr lang="en-US" sz="1800" dirty="0">
                <a:latin typeface="Calibri" panose="020F0502020204030204" pitchFamily="34" charset="0"/>
                <a:sym typeface="Symbol" charset="2"/>
              </a:rPr>
              <a:t> ( E )</a:t>
            </a:r>
          </a:p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  <a:sym typeface="Symbol" charset="2"/>
              </a:rPr>
              <a:t>E </a:t>
            </a:r>
            <a:r>
              <a:rPr lang="en-US" sz="1800" dirty="0" err="1">
                <a:latin typeface="Calibri" panose="020F0502020204030204" pitchFamily="34" charset="0"/>
                <a:sym typeface="Symbol" charset="2"/>
              </a:rPr>
              <a:t></a:t>
            </a:r>
            <a:r>
              <a:rPr lang="en-US" sz="1800" dirty="0">
                <a:latin typeface="Calibri" panose="020F0502020204030204" pitchFamily="34" charset="0"/>
                <a:sym typeface="Symbol" charset="2"/>
              </a:rPr>
              <a:t> - E</a:t>
            </a:r>
          </a:p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  <a:sym typeface="Symbol" charset="2"/>
              </a:rPr>
              <a:t>E </a:t>
            </a:r>
            <a:r>
              <a:rPr lang="en-US" sz="1800" dirty="0" err="1">
                <a:latin typeface="Calibri" panose="020F0502020204030204" pitchFamily="34" charset="0"/>
                <a:sym typeface="Symbol" charset="2"/>
              </a:rPr>
              <a:t></a:t>
            </a:r>
            <a:r>
              <a:rPr lang="en-US" sz="1800" dirty="0">
                <a:latin typeface="Calibri" panose="020F0502020204030204" pitchFamily="34" charset="0"/>
                <a:sym typeface="Symbol" charset="2"/>
              </a:rPr>
              <a:t> id</a:t>
            </a:r>
            <a:r>
              <a:rPr lang="en-US" sz="1800" dirty="0">
                <a:latin typeface="Calibri" panose="020F0502020204030204" pitchFamily="34" charset="0"/>
              </a:rPr>
              <a:t> </a:t>
            </a:r>
            <a:endParaRPr lang="en-US" sz="1350" dirty="0">
              <a:latin typeface="Calibri" panose="020F0502020204030204" pitchFamily="34" charset="0"/>
            </a:endParaRPr>
          </a:p>
        </p:txBody>
      </p:sp>
      <p:sp>
        <p:nvSpPr>
          <p:cNvPr id="27" name="Rectangle 3"/>
          <p:cNvSpPr txBox="1">
            <a:spLocks noChangeArrowheads="1"/>
          </p:cNvSpPr>
          <p:nvPr/>
        </p:nvSpPr>
        <p:spPr bwMode="auto">
          <a:xfrm>
            <a:off x="4068826" y="843907"/>
            <a:ext cx="4621089" cy="6779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Candara"/>
                <a:ea typeface="+mn-ea"/>
                <a:cs typeface="Candara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Candara"/>
                <a:ea typeface="ＭＳ Ｐゴシック" charset="-128"/>
                <a:cs typeface="Candara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Candara"/>
                <a:ea typeface="ＭＳ Ｐゴシック" charset="-128"/>
                <a:cs typeface="Candara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Candara"/>
                <a:ea typeface="ＭＳ Ｐゴシック" charset="-128"/>
                <a:cs typeface="Candara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andara"/>
                <a:ea typeface="ＭＳ Ｐゴシック" charset="-128"/>
                <a:cs typeface="Candara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ＭＳ Ｐゴシック" charset="-128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ＭＳ Ｐゴシック" charset="-128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ＭＳ Ｐゴシック" charset="-128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ＭＳ Ｐゴシック" charset="-128"/>
              </a:defRPr>
            </a:lvl9pPr>
          </a:lstStyle>
          <a:p>
            <a:pPr marL="0" indent="0" eaLnBrk="1" hangingPunct="1">
              <a:buNone/>
            </a:pPr>
            <a:r>
              <a:rPr lang="en-US" sz="1800" kern="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  <a:sym typeface="Symbol" charset="2"/>
              </a:rPr>
              <a:t>Parse tree disambiguates operator precedence:</a:t>
            </a:r>
          </a:p>
          <a:p>
            <a:pPr marL="0" indent="0" eaLnBrk="1" hangingPunct="1">
              <a:buNone/>
            </a:pPr>
            <a:r>
              <a:rPr lang="en-US" sz="1800" kern="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  <a:sym typeface="Symbol" charset="2"/>
              </a:rPr>
              <a:t>            (</a:t>
            </a:r>
            <a:r>
              <a:rPr lang="en-US" sz="1800" kern="0" dirty="0" err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  <a:sym typeface="Symbol" charset="2"/>
              </a:rPr>
              <a:t>id+id</a:t>
            </a:r>
            <a:r>
              <a:rPr lang="en-US" sz="1800" kern="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  <a:sym typeface="Symbol" charset="2"/>
              </a:rPr>
              <a:t>)*id      </a:t>
            </a:r>
            <a:r>
              <a:rPr lang="en-US" sz="1800" kern="0" dirty="0" err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  <a:sym typeface="Symbol" charset="2"/>
              </a:rPr>
              <a:t>vs</a:t>
            </a:r>
            <a:r>
              <a:rPr lang="en-US" sz="1800" kern="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  <a:sym typeface="Symbol" charset="2"/>
              </a:rPr>
              <a:t>      id+(id*id)</a:t>
            </a:r>
          </a:p>
        </p:txBody>
      </p:sp>
    </p:spTree>
    <p:extLst>
      <p:ext uri="{BB962C8B-B14F-4D97-AF65-F5344CB8AC3E}">
        <p14:creationId xmlns:p14="http://schemas.microsoft.com/office/powerpoint/2010/main" val="1165922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6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683" grpId="0" build="p" autoUpdateAnimBg="0"/>
      <p:bldP spid="27" grpId="0" uiExpand="1" build="p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Rightmost derivation for</a:t>
            </a:r>
            <a:br>
              <a:rPr lang="en-US" b="1"/>
            </a:br>
            <a:r>
              <a:rPr lang="en-US" b="1"/>
              <a:t>id + id * id</a:t>
            </a:r>
            <a:endParaRPr lang="en-US"/>
          </a:p>
        </p:txBody>
      </p:sp>
      <p:sp>
        <p:nvSpPr>
          <p:cNvPr id="188419" name="Rectangle 3"/>
          <p:cNvSpPr>
            <a:spLocks noGrp="1" noChangeArrowheads="1"/>
          </p:cNvSpPr>
          <p:nvPr>
            <p:ph idx="1"/>
          </p:nvPr>
        </p:nvSpPr>
        <p:spPr>
          <a:xfrm>
            <a:off x="2628900" y="1543050"/>
            <a:ext cx="2057400" cy="2400300"/>
          </a:xfrm>
        </p:spPr>
        <p:txBody>
          <a:bodyPr/>
          <a:lstStyle/>
          <a:p>
            <a:pPr>
              <a:buFontTx/>
              <a:buNone/>
            </a:pPr>
            <a:r>
              <a:rPr lang="en-US" dirty="0"/>
              <a:t>E </a:t>
            </a:r>
            <a:r>
              <a:rPr lang="en-US" dirty="0">
                <a:sym typeface="Symbol" charset="2"/>
              </a:rPr>
              <a:t> </a:t>
            </a:r>
            <a:r>
              <a:rPr lang="en-US" dirty="0">
                <a:solidFill>
                  <a:schemeClr val="tx2"/>
                </a:solidFill>
                <a:sym typeface="Symbol" charset="2"/>
              </a:rPr>
              <a:t>E</a:t>
            </a:r>
            <a:r>
              <a:rPr lang="en-US" dirty="0">
                <a:sym typeface="Symbol" charset="2"/>
              </a:rPr>
              <a:t> * </a:t>
            </a:r>
            <a:r>
              <a:rPr lang="en-US" dirty="0">
                <a:solidFill>
                  <a:schemeClr val="accent2"/>
                </a:solidFill>
                <a:sym typeface="Symbol" charset="2"/>
              </a:rPr>
              <a:t>E</a:t>
            </a:r>
          </a:p>
          <a:p>
            <a:pPr>
              <a:buFontTx/>
              <a:buNone/>
            </a:pPr>
            <a:r>
              <a:rPr lang="en-US" dirty="0">
                <a:sym typeface="Symbol" charset="2"/>
              </a:rPr>
              <a:t> </a:t>
            </a:r>
            <a:r>
              <a:rPr lang="en-US" dirty="0">
                <a:solidFill>
                  <a:schemeClr val="accent2"/>
                </a:solidFill>
                <a:sym typeface="Symbol" charset="2"/>
              </a:rPr>
              <a:t>E</a:t>
            </a:r>
            <a:r>
              <a:rPr lang="en-US" dirty="0">
                <a:sym typeface="Symbol" charset="2"/>
              </a:rPr>
              <a:t> * </a:t>
            </a:r>
            <a:r>
              <a:rPr lang="en-US" b="1" dirty="0">
                <a:sym typeface="Symbol" charset="2"/>
              </a:rPr>
              <a:t>id</a:t>
            </a:r>
            <a:endParaRPr lang="en-US" dirty="0">
              <a:sym typeface="Symbol" charset="2"/>
            </a:endParaRPr>
          </a:p>
          <a:p>
            <a:pPr>
              <a:buFontTx/>
              <a:buNone/>
            </a:pPr>
            <a:r>
              <a:rPr lang="en-US" dirty="0">
                <a:sym typeface="Symbol" charset="2"/>
              </a:rPr>
              <a:t> E + </a:t>
            </a:r>
            <a:r>
              <a:rPr lang="en-US" dirty="0">
                <a:solidFill>
                  <a:schemeClr val="accent2"/>
                </a:solidFill>
                <a:sym typeface="Symbol" charset="2"/>
              </a:rPr>
              <a:t>E</a:t>
            </a:r>
            <a:r>
              <a:rPr lang="en-US" dirty="0">
                <a:sym typeface="Symbol" charset="2"/>
              </a:rPr>
              <a:t> *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</a:t>
            </a:r>
          </a:p>
          <a:p>
            <a:pPr>
              <a:buFontTx/>
              <a:buNone/>
            </a:pPr>
            <a:r>
              <a:rPr lang="en-US" dirty="0">
                <a:sym typeface="Symbol" charset="2"/>
              </a:rPr>
              <a:t> </a:t>
            </a:r>
            <a:r>
              <a:rPr lang="en-US" dirty="0">
                <a:solidFill>
                  <a:schemeClr val="accent2"/>
                </a:solidFill>
                <a:sym typeface="Symbol" charset="2"/>
              </a:rPr>
              <a:t>E</a:t>
            </a:r>
            <a:r>
              <a:rPr lang="en-US" dirty="0">
                <a:sym typeface="Symbol" charset="2"/>
              </a:rPr>
              <a:t> +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* </a:t>
            </a:r>
            <a:r>
              <a:rPr lang="en-US" b="1" dirty="0">
                <a:sym typeface="Symbol" charset="2"/>
              </a:rPr>
              <a:t>id</a:t>
            </a:r>
            <a:endParaRPr lang="en-US" dirty="0">
              <a:sym typeface="Symbol" charset="2"/>
            </a:endParaRPr>
          </a:p>
          <a:p>
            <a:pPr>
              <a:buFontTx/>
              <a:buNone/>
            </a:pPr>
            <a:r>
              <a:rPr lang="en-US" dirty="0">
                <a:sym typeface="Symbol" charset="2"/>
              </a:rPr>
              <a:t>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+ </a:t>
            </a:r>
            <a:r>
              <a:rPr lang="en-US" b="1" dirty="0">
                <a:sym typeface="Symbol" charset="2"/>
              </a:rPr>
              <a:t>id</a:t>
            </a:r>
            <a:r>
              <a:rPr lang="en-US" dirty="0">
                <a:sym typeface="Symbol" charset="2"/>
              </a:rPr>
              <a:t> * </a:t>
            </a:r>
            <a:r>
              <a:rPr lang="en-US" b="1" dirty="0">
                <a:sym typeface="Symbol" charset="2"/>
              </a:rPr>
              <a:t>id</a:t>
            </a:r>
          </a:p>
        </p:txBody>
      </p:sp>
      <p:sp>
        <p:nvSpPr>
          <p:cNvPr id="2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E4305-8C68-CD41-9BC8-3C2C6F32F372}" type="slidenum">
              <a:rPr lang="en-US"/>
              <a:pPr/>
              <a:t>14</a:t>
            </a:fld>
            <a:endParaRPr lang="en-US"/>
          </a:p>
        </p:txBody>
      </p:sp>
      <p:sp>
        <p:nvSpPr>
          <p:cNvPr id="188422" name="Text Box 6"/>
          <p:cNvSpPr txBox="1">
            <a:spLocks noChangeArrowheads="1"/>
          </p:cNvSpPr>
          <p:nvPr/>
        </p:nvSpPr>
        <p:spPr bwMode="auto">
          <a:xfrm>
            <a:off x="1257300" y="1608535"/>
            <a:ext cx="1079142" cy="1698927"/>
          </a:xfrm>
          <a:prstGeom prst="rect">
            <a:avLst/>
          </a:prstGeom>
          <a:solidFill>
            <a:srgbClr val="00CCFF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prstTxWarp prst="textNoShape">
              <a:avLst/>
            </a:prstTxWarp>
            <a:spAutoFit/>
          </a:bodyPr>
          <a:lstStyle/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</a:rPr>
              <a:t>E </a:t>
            </a:r>
            <a:r>
              <a:rPr lang="en-US" sz="1800" dirty="0">
                <a:latin typeface="Calibri" panose="020F0502020204030204" pitchFamily="34" charset="0"/>
                <a:sym typeface="Symbol" charset="2"/>
              </a:rPr>
              <a:t> E + E</a:t>
            </a:r>
          </a:p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  <a:sym typeface="Symbol" charset="2"/>
              </a:rPr>
              <a:t>E  E * E</a:t>
            </a:r>
          </a:p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  <a:sym typeface="Symbol" charset="2"/>
              </a:rPr>
              <a:t>E  ( E )</a:t>
            </a:r>
          </a:p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  <a:sym typeface="Symbol" charset="2"/>
              </a:rPr>
              <a:t>E  - E</a:t>
            </a:r>
          </a:p>
          <a:p>
            <a:pPr eaLnBrk="1" hangingPunct="1">
              <a:spcBef>
                <a:spcPct val="20000"/>
              </a:spcBef>
            </a:pPr>
            <a:r>
              <a:rPr lang="en-US" sz="1800" dirty="0">
                <a:latin typeface="Calibri" panose="020F0502020204030204" pitchFamily="34" charset="0"/>
                <a:sym typeface="Symbol" charset="2"/>
              </a:rPr>
              <a:t>E  id</a:t>
            </a:r>
            <a:r>
              <a:rPr lang="en-US" sz="1800" dirty="0">
                <a:latin typeface="Calibri" panose="020F0502020204030204" pitchFamily="34" charset="0"/>
              </a:rPr>
              <a:t> </a:t>
            </a:r>
            <a:endParaRPr lang="en-US" sz="1350" dirty="0">
              <a:latin typeface="Calibri" panose="020F0502020204030204" pitchFamily="34" charset="0"/>
            </a:endParaRPr>
          </a:p>
        </p:txBody>
      </p:sp>
      <p:grpSp>
        <p:nvGrpSpPr>
          <p:cNvPr id="188424" name="Group 8"/>
          <p:cNvGrpSpPr>
            <a:grpSpLocks/>
          </p:cNvGrpSpPr>
          <p:nvPr/>
        </p:nvGrpSpPr>
        <p:grpSpPr bwMode="auto">
          <a:xfrm>
            <a:off x="5663805" y="1943101"/>
            <a:ext cx="2239567" cy="2381250"/>
            <a:chOff x="2789" y="1670"/>
            <a:chExt cx="1881" cy="2000"/>
          </a:xfrm>
        </p:grpSpPr>
        <p:sp>
          <p:nvSpPr>
            <p:cNvPr id="188425" name="Text Box 9"/>
            <p:cNvSpPr txBox="1">
              <a:spLocks noChangeArrowheads="1"/>
            </p:cNvSpPr>
            <p:nvPr/>
          </p:nvSpPr>
          <p:spPr bwMode="auto">
            <a:xfrm>
              <a:off x="3836" y="1670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188426" name="Text Box 10"/>
            <p:cNvSpPr txBox="1">
              <a:spLocks noChangeArrowheads="1"/>
            </p:cNvSpPr>
            <p:nvPr/>
          </p:nvSpPr>
          <p:spPr bwMode="auto">
            <a:xfrm>
              <a:off x="4394" y="2304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188427" name="Text Box 11"/>
            <p:cNvSpPr txBox="1">
              <a:spLocks noChangeArrowheads="1"/>
            </p:cNvSpPr>
            <p:nvPr/>
          </p:nvSpPr>
          <p:spPr bwMode="auto">
            <a:xfrm>
              <a:off x="3222" y="2304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188428" name="Text Box 12"/>
            <p:cNvSpPr txBox="1">
              <a:spLocks noChangeArrowheads="1"/>
            </p:cNvSpPr>
            <p:nvPr/>
          </p:nvSpPr>
          <p:spPr bwMode="auto">
            <a:xfrm>
              <a:off x="3835" y="2304"/>
              <a:ext cx="25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*</a:t>
              </a:r>
            </a:p>
          </p:txBody>
        </p:sp>
        <p:sp>
          <p:nvSpPr>
            <p:cNvPr id="188429" name="Text Box 13"/>
            <p:cNvSpPr txBox="1">
              <a:spLocks noChangeArrowheads="1"/>
            </p:cNvSpPr>
            <p:nvPr/>
          </p:nvSpPr>
          <p:spPr bwMode="auto">
            <a:xfrm>
              <a:off x="2815" y="2832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188430" name="Text Box 14"/>
            <p:cNvSpPr txBox="1">
              <a:spLocks noChangeArrowheads="1"/>
            </p:cNvSpPr>
            <p:nvPr/>
          </p:nvSpPr>
          <p:spPr bwMode="auto">
            <a:xfrm>
              <a:off x="3654" y="2832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188431" name="Text Box 15"/>
            <p:cNvSpPr txBox="1">
              <a:spLocks noChangeArrowheads="1"/>
            </p:cNvSpPr>
            <p:nvPr/>
          </p:nvSpPr>
          <p:spPr bwMode="auto">
            <a:xfrm>
              <a:off x="3221" y="2880"/>
              <a:ext cx="25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+</a:t>
              </a:r>
            </a:p>
          </p:txBody>
        </p:sp>
        <p:sp>
          <p:nvSpPr>
            <p:cNvPr id="188432" name="Text Box 16"/>
            <p:cNvSpPr txBox="1">
              <a:spLocks noChangeArrowheads="1"/>
            </p:cNvSpPr>
            <p:nvPr/>
          </p:nvSpPr>
          <p:spPr bwMode="auto">
            <a:xfrm>
              <a:off x="4368" y="2832"/>
              <a:ext cx="30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id</a:t>
              </a:r>
            </a:p>
          </p:txBody>
        </p:sp>
        <p:sp>
          <p:nvSpPr>
            <p:cNvPr id="188433" name="Text Box 17"/>
            <p:cNvSpPr txBox="1">
              <a:spLocks noChangeArrowheads="1"/>
            </p:cNvSpPr>
            <p:nvPr/>
          </p:nvSpPr>
          <p:spPr bwMode="auto">
            <a:xfrm>
              <a:off x="2789" y="3360"/>
              <a:ext cx="30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id</a:t>
              </a:r>
            </a:p>
          </p:txBody>
        </p:sp>
        <p:sp>
          <p:nvSpPr>
            <p:cNvPr id="188434" name="Text Box 18"/>
            <p:cNvSpPr txBox="1">
              <a:spLocks noChangeArrowheads="1"/>
            </p:cNvSpPr>
            <p:nvPr/>
          </p:nvSpPr>
          <p:spPr bwMode="auto">
            <a:xfrm>
              <a:off x="3628" y="3360"/>
              <a:ext cx="30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latin typeface="Calibri" panose="020F0502020204030204" pitchFamily="34" charset="0"/>
                </a:rPr>
                <a:t>id</a:t>
              </a:r>
            </a:p>
          </p:txBody>
        </p:sp>
        <p:cxnSp>
          <p:nvCxnSpPr>
            <p:cNvPr id="188435" name="AutoShape 19"/>
            <p:cNvCxnSpPr>
              <a:cxnSpLocks noChangeShapeType="1"/>
              <a:stCxn id="188425" idx="2"/>
              <a:endCxn id="188426" idx="0"/>
            </p:cNvCxnSpPr>
            <p:nvPr/>
          </p:nvCxnSpPr>
          <p:spPr bwMode="auto">
            <a:xfrm>
              <a:off x="3960" y="1980"/>
              <a:ext cx="558" cy="324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188436" name="AutoShape 20"/>
            <p:cNvCxnSpPr>
              <a:cxnSpLocks noChangeShapeType="1"/>
              <a:stCxn id="188425" idx="2"/>
              <a:endCxn id="188428" idx="0"/>
            </p:cNvCxnSpPr>
            <p:nvPr/>
          </p:nvCxnSpPr>
          <p:spPr bwMode="auto">
            <a:xfrm>
              <a:off x="3960" y="1980"/>
              <a:ext cx="1" cy="324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188437" name="AutoShape 21"/>
            <p:cNvCxnSpPr>
              <a:cxnSpLocks noChangeShapeType="1"/>
              <a:stCxn id="188425" idx="2"/>
              <a:endCxn id="188427" idx="0"/>
            </p:cNvCxnSpPr>
            <p:nvPr/>
          </p:nvCxnSpPr>
          <p:spPr bwMode="auto">
            <a:xfrm flipH="1">
              <a:off x="3347" y="1980"/>
              <a:ext cx="614" cy="324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188438" name="AutoShape 22"/>
            <p:cNvCxnSpPr>
              <a:cxnSpLocks noChangeShapeType="1"/>
              <a:stCxn id="188426" idx="2"/>
              <a:endCxn id="188432" idx="0"/>
            </p:cNvCxnSpPr>
            <p:nvPr/>
          </p:nvCxnSpPr>
          <p:spPr bwMode="auto">
            <a:xfrm>
              <a:off x="4518" y="2614"/>
              <a:ext cx="1" cy="21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188439" name="AutoShape 23"/>
            <p:cNvCxnSpPr>
              <a:cxnSpLocks noChangeShapeType="1"/>
              <a:stCxn id="188427" idx="2"/>
              <a:endCxn id="188429" idx="0"/>
            </p:cNvCxnSpPr>
            <p:nvPr/>
          </p:nvCxnSpPr>
          <p:spPr bwMode="auto">
            <a:xfrm flipH="1">
              <a:off x="2939" y="2614"/>
              <a:ext cx="407" cy="21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188440" name="AutoShape 24"/>
            <p:cNvCxnSpPr>
              <a:cxnSpLocks noChangeShapeType="1"/>
              <a:stCxn id="188429" idx="2"/>
              <a:endCxn id="188433" idx="0"/>
            </p:cNvCxnSpPr>
            <p:nvPr/>
          </p:nvCxnSpPr>
          <p:spPr bwMode="auto">
            <a:xfrm>
              <a:off x="2939" y="3142"/>
              <a:ext cx="1" cy="21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188441" name="AutoShape 25"/>
            <p:cNvCxnSpPr>
              <a:cxnSpLocks noChangeShapeType="1"/>
              <a:stCxn id="188427" idx="2"/>
              <a:endCxn id="188431" idx="0"/>
            </p:cNvCxnSpPr>
            <p:nvPr/>
          </p:nvCxnSpPr>
          <p:spPr bwMode="auto">
            <a:xfrm>
              <a:off x="3347" y="2614"/>
              <a:ext cx="0" cy="266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188442" name="AutoShape 26"/>
            <p:cNvCxnSpPr>
              <a:cxnSpLocks noChangeShapeType="1"/>
              <a:stCxn id="188427" idx="2"/>
              <a:endCxn id="188430" idx="0"/>
            </p:cNvCxnSpPr>
            <p:nvPr/>
          </p:nvCxnSpPr>
          <p:spPr bwMode="auto">
            <a:xfrm>
              <a:off x="3347" y="2614"/>
              <a:ext cx="432" cy="21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188443" name="AutoShape 27"/>
            <p:cNvCxnSpPr>
              <a:cxnSpLocks noChangeShapeType="1"/>
              <a:stCxn id="188430" idx="2"/>
              <a:endCxn id="188434" idx="0"/>
            </p:cNvCxnSpPr>
            <p:nvPr/>
          </p:nvCxnSpPr>
          <p:spPr bwMode="auto">
            <a:xfrm>
              <a:off x="3778" y="3142"/>
              <a:ext cx="1" cy="21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</p:grpSp>
      <p:sp>
        <p:nvSpPr>
          <p:cNvPr id="27" name="Rectangular Callout 26">
            <a:extLst>
              <a:ext uri="{FF2B5EF4-FFF2-40B4-BE49-F238E27FC236}">
                <a16:creationId xmlns:a16="http://schemas.microsoft.com/office/drawing/2014/main" id="{CC04E325-5362-614A-BFFA-A48B76F86C7A}"/>
              </a:ext>
            </a:extLst>
          </p:cNvPr>
          <p:cNvSpPr/>
          <p:nvPr/>
        </p:nvSpPr>
        <p:spPr>
          <a:xfrm>
            <a:off x="137722" y="4515966"/>
            <a:ext cx="4434278" cy="525141"/>
          </a:xfrm>
          <a:prstGeom prst="wedgeRectCallout">
            <a:avLst>
              <a:gd name="adj1" fmla="val 52659"/>
              <a:gd name="adj2" fmla="val -3845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Q: Write down the rightmost derivation for same grammar and input to get the parse tree in slide 12</a:t>
            </a:r>
          </a:p>
        </p:txBody>
      </p:sp>
    </p:spTree>
    <p:extLst>
      <p:ext uri="{BB962C8B-B14F-4D97-AF65-F5344CB8AC3E}">
        <p14:creationId xmlns:p14="http://schemas.microsoft.com/office/powerpoint/2010/main" val="1307027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8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8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8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8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8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8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8419" grpId="0" build="p" autoUpdateAnimBg="0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Rightmost vs. Leftmost Derivation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Rightmost and leftmost derivations have the same parse tree</a:t>
            </a:r>
          </a:p>
          <a:p>
            <a:pPr lvl="1"/>
            <a:r>
              <a:rPr lang="en-CA" dirty="0"/>
              <a:t>Every parse tree has a </a:t>
            </a:r>
            <a:r>
              <a:rPr lang="en-CA" i="1" dirty="0"/>
              <a:t>rightmost derivation </a:t>
            </a:r>
          </a:p>
          <a:p>
            <a:pPr lvl="1"/>
            <a:r>
              <a:rPr lang="en-CA" dirty="0"/>
              <a:t>And every parse tree has an equivalent </a:t>
            </a:r>
            <a:r>
              <a:rPr lang="en-CA" i="1" dirty="0"/>
              <a:t>leftmost derivation</a:t>
            </a:r>
          </a:p>
          <a:p>
            <a:pPr lvl="1"/>
            <a:r>
              <a:rPr lang="en-CA" i="1" dirty="0"/>
              <a:t>Leftmost</a:t>
            </a:r>
            <a:r>
              <a:rPr lang="en-CA" dirty="0"/>
              <a:t> / </a:t>
            </a:r>
            <a:r>
              <a:rPr lang="en-CA" i="1" dirty="0"/>
              <a:t>Rightmost</a:t>
            </a:r>
            <a:r>
              <a:rPr lang="en-CA" dirty="0"/>
              <a:t> </a:t>
            </a:r>
            <a:r>
              <a:rPr lang="en-CA" i="1" dirty="0"/>
              <a:t>derivations</a:t>
            </a:r>
            <a:r>
              <a:rPr lang="en-CA" dirty="0"/>
              <a:t> are important in resolving ambiguity</a:t>
            </a:r>
          </a:p>
          <a:p>
            <a:pPr lvl="1"/>
            <a:endParaRPr lang="en-CA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201BD-6681-B946-ACD9-A8F6D28AC38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293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CFG for a programming language</a:t>
            </a:r>
          </a:p>
        </p:txBody>
      </p:sp>
      <p:sp>
        <p:nvSpPr>
          <p:cNvPr id="686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sz="2100" dirty="0"/>
              <a:t>First write (or read) a reference grammar of what you want to be valid programs</a:t>
            </a:r>
          </a:p>
          <a:p>
            <a:pPr>
              <a:lnSpc>
                <a:spcPct val="90000"/>
              </a:lnSpc>
            </a:pPr>
            <a:r>
              <a:rPr lang="en-US" sz="2100" dirty="0"/>
              <a:t>For now, we only worry about the structure, so the reference grammar might choose to over-generate in certain cases</a:t>
            </a:r>
          </a:p>
          <a:p>
            <a:pPr lvl="1"/>
            <a:r>
              <a:rPr lang="en-US" dirty="0"/>
              <a:t>e.g. </a:t>
            </a:r>
            <a:r>
              <a:rPr lang="en-US" dirty="0">
                <a:latin typeface="Courier" charset="0"/>
              </a:rPr>
              <a:t>bool x = 20;</a:t>
            </a:r>
            <a:endParaRPr lang="en-US" dirty="0"/>
          </a:p>
          <a:p>
            <a:pPr>
              <a:lnSpc>
                <a:spcPct val="90000"/>
              </a:lnSpc>
            </a:pPr>
            <a:r>
              <a:rPr lang="en-US" sz="2100" dirty="0"/>
              <a:t>Convert the reference grammar to a CFG</a:t>
            </a:r>
          </a:p>
          <a:p>
            <a:pPr>
              <a:lnSpc>
                <a:spcPct val="90000"/>
              </a:lnSpc>
            </a:pPr>
            <a:r>
              <a:rPr lang="en-US" dirty="0"/>
              <a:t>Use actions for each CFG rule to produce the output</a:t>
            </a:r>
            <a:endParaRPr lang="en-US" sz="21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9C7423-FF06-534F-899C-C4A0E6D40CF8}" type="slidenum">
              <a:rPr lang="en-US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74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1" grpId="0" build="p" autoUpdateAnimBg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in a CFG: Arithmetic Expressions</a:t>
            </a:r>
          </a:p>
        </p:txBody>
      </p:sp>
      <p:sp>
        <p:nvSpPr>
          <p:cNvPr id="696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E </a:t>
            </a:r>
            <a:r>
              <a:rPr lang="en-US" b="1" dirty="0">
                <a:solidFill>
                  <a:srgbClr val="FF0000"/>
                </a:solidFill>
                <a:sym typeface="Symbol" charset="2"/>
              </a:rPr>
              <a:t> </a:t>
            </a:r>
            <a:r>
              <a:rPr lang="en-US" dirty="0">
                <a:solidFill>
                  <a:srgbClr val="FF0000"/>
                </a:solidFill>
                <a:sym typeface="Symbol" charset="2"/>
              </a:rPr>
              <a:t>E + E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sym typeface="Symbol" charset="2"/>
              </a:rPr>
              <a:t>{ $$ = $1 + $3 }</a:t>
            </a:r>
          </a:p>
          <a:p>
            <a:r>
              <a:rPr lang="en-US" dirty="0">
                <a:solidFill>
                  <a:srgbClr val="FF0000"/>
                </a:solidFill>
                <a:sym typeface="Symbol" charset="2"/>
              </a:rPr>
              <a:t>E </a:t>
            </a:r>
            <a:r>
              <a:rPr lang="en-US" b="1" dirty="0">
                <a:solidFill>
                  <a:srgbClr val="FF0000"/>
                </a:solidFill>
                <a:sym typeface="Symbol" charset="2"/>
              </a:rPr>
              <a:t> </a:t>
            </a:r>
            <a:r>
              <a:rPr lang="en-US" dirty="0">
                <a:solidFill>
                  <a:srgbClr val="FF0000"/>
                </a:solidFill>
                <a:sym typeface="Symbol" charset="2"/>
              </a:rPr>
              <a:t>E * E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sym typeface="Symbol" charset="2"/>
              </a:rPr>
              <a:t>{ $$ = $1 * $3 }</a:t>
            </a:r>
          </a:p>
          <a:p>
            <a:r>
              <a:rPr lang="en-US" dirty="0">
                <a:solidFill>
                  <a:srgbClr val="FF0000"/>
                </a:solidFill>
                <a:sym typeface="Symbol" charset="2"/>
              </a:rPr>
              <a:t>E </a:t>
            </a:r>
            <a:r>
              <a:rPr lang="en-US" b="1" dirty="0">
                <a:solidFill>
                  <a:srgbClr val="FF0000"/>
                </a:solidFill>
                <a:sym typeface="Symbol" charset="2"/>
              </a:rPr>
              <a:t> </a:t>
            </a:r>
            <a:r>
              <a:rPr lang="en-US" dirty="0">
                <a:solidFill>
                  <a:srgbClr val="FF0000"/>
                </a:solidFill>
                <a:sym typeface="Symbol" charset="2"/>
              </a:rPr>
              <a:t>( E )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sym typeface="Symbol" charset="2"/>
              </a:rPr>
              <a:t>{ $$ = $2 }</a:t>
            </a:r>
          </a:p>
          <a:p>
            <a:r>
              <a:rPr lang="en-US" dirty="0">
                <a:solidFill>
                  <a:srgbClr val="FF0000"/>
                </a:solidFill>
                <a:sym typeface="Symbol" charset="2"/>
              </a:rPr>
              <a:t>E </a:t>
            </a:r>
            <a:r>
              <a:rPr lang="en-US" b="1" dirty="0">
                <a:solidFill>
                  <a:srgbClr val="FF0000"/>
                </a:solidFill>
                <a:sym typeface="Symbol" charset="2"/>
              </a:rPr>
              <a:t> </a:t>
            </a:r>
            <a:r>
              <a:rPr lang="en-US" dirty="0">
                <a:solidFill>
                  <a:srgbClr val="FF0000"/>
                </a:solidFill>
                <a:sym typeface="Symbol" charset="2"/>
              </a:rPr>
              <a:t>- E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sym typeface="Symbol" charset="2"/>
              </a:rPr>
              <a:t>{ $$ = -1 * $2 }</a:t>
            </a:r>
          </a:p>
          <a:p>
            <a:r>
              <a:rPr lang="en-US" dirty="0">
                <a:solidFill>
                  <a:srgbClr val="FF0000"/>
                </a:solidFill>
                <a:sym typeface="Symbol" charset="2"/>
              </a:rPr>
              <a:t>E </a:t>
            </a:r>
            <a:r>
              <a:rPr lang="en-US" b="1" dirty="0">
                <a:solidFill>
                  <a:srgbClr val="FF0000"/>
                </a:solidFill>
                <a:sym typeface="Symbol" charset="2"/>
              </a:rPr>
              <a:t> id</a:t>
            </a:r>
            <a:r>
              <a:rPr lang="en-US" dirty="0"/>
              <a:t>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sym typeface="Symbol" charset="2"/>
              </a:rPr>
              <a:t>{ $$ = $1 }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95B6C-2605-6C4D-B8BD-DB2C569D7F0E}" type="slidenum">
              <a:rPr lang="en-US"/>
              <a:pPr/>
              <a:t>17</a:t>
            </a:fld>
            <a:endParaRPr lang="en-US"/>
          </a:p>
        </p:txBody>
      </p:sp>
      <p:grpSp>
        <p:nvGrpSpPr>
          <p:cNvPr id="6" name="Group 8"/>
          <p:cNvGrpSpPr>
            <a:grpSpLocks/>
          </p:cNvGrpSpPr>
          <p:nvPr/>
        </p:nvGrpSpPr>
        <p:grpSpPr bwMode="auto">
          <a:xfrm>
            <a:off x="5381626" y="1943101"/>
            <a:ext cx="2637235" cy="2401491"/>
            <a:chOff x="2552" y="1670"/>
            <a:chExt cx="2215" cy="2017"/>
          </a:xfrm>
        </p:grpSpPr>
        <p:sp>
          <p:nvSpPr>
            <p:cNvPr id="7" name="Text Box 9"/>
            <p:cNvSpPr txBox="1">
              <a:spLocks noChangeArrowheads="1"/>
            </p:cNvSpPr>
            <p:nvPr/>
          </p:nvSpPr>
          <p:spPr bwMode="auto">
            <a:xfrm>
              <a:off x="3830" y="1670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8" name="Text Box 10"/>
            <p:cNvSpPr txBox="1">
              <a:spLocks noChangeArrowheads="1"/>
            </p:cNvSpPr>
            <p:nvPr/>
          </p:nvSpPr>
          <p:spPr bwMode="auto">
            <a:xfrm>
              <a:off x="4383" y="2304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9" name="Text Box 11"/>
            <p:cNvSpPr txBox="1">
              <a:spLocks noChangeArrowheads="1"/>
            </p:cNvSpPr>
            <p:nvPr/>
          </p:nvSpPr>
          <p:spPr bwMode="auto">
            <a:xfrm>
              <a:off x="3072" y="2304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10" name="Text Box 12"/>
            <p:cNvSpPr txBox="1">
              <a:spLocks noChangeArrowheads="1"/>
            </p:cNvSpPr>
            <p:nvPr/>
          </p:nvSpPr>
          <p:spPr bwMode="auto">
            <a:xfrm>
              <a:off x="3840" y="2304"/>
              <a:ext cx="25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  <a:latin typeface="Calibri" panose="020F0502020204030204" pitchFamily="34" charset="0"/>
                </a:rPr>
                <a:t>*</a:t>
              </a:r>
            </a:p>
          </p:txBody>
        </p:sp>
        <p:sp>
          <p:nvSpPr>
            <p:cNvPr id="11" name="Text Box 13"/>
            <p:cNvSpPr txBox="1">
              <a:spLocks noChangeArrowheads="1"/>
            </p:cNvSpPr>
            <p:nvPr/>
          </p:nvSpPr>
          <p:spPr bwMode="auto">
            <a:xfrm>
              <a:off x="2687" y="2832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12" name="Text Box 14"/>
            <p:cNvSpPr txBox="1">
              <a:spLocks noChangeArrowheads="1"/>
            </p:cNvSpPr>
            <p:nvPr/>
          </p:nvSpPr>
          <p:spPr bwMode="auto">
            <a:xfrm>
              <a:off x="3640" y="2832"/>
              <a:ext cx="24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  <a:latin typeface="Calibri" panose="020F0502020204030204" pitchFamily="34" charset="0"/>
                </a:rPr>
                <a:t>E</a:t>
              </a:r>
            </a:p>
          </p:txBody>
        </p:sp>
        <p:sp>
          <p:nvSpPr>
            <p:cNvPr id="13" name="Text Box 15"/>
            <p:cNvSpPr txBox="1">
              <a:spLocks noChangeArrowheads="1"/>
            </p:cNvSpPr>
            <p:nvPr/>
          </p:nvSpPr>
          <p:spPr bwMode="auto">
            <a:xfrm>
              <a:off x="3072" y="2880"/>
              <a:ext cx="252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  <a:latin typeface="Calibri" panose="020F0502020204030204" pitchFamily="34" charset="0"/>
                </a:rPr>
                <a:t>+</a:t>
              </a:r>
            </a:p>
          </p:txBody>
        </p:sp>
        <p:sp>
          <p:nvSpPr>
            <p:cNvPr id="14" name="Text Box 16"/>
            <p:cNvSpPr txBox="1">
              <a:spLocks noChangeArrowheads="1"/>
            </p:cNvSpPr>
            <p:nvPr/>
          </p:nvSpPr>
          <p:spPr bwMode="auto">
            <a:xfrm>
              <a:off x="4248" y="2833"/>
              <a:ext cx="51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  <a:latin typeface="Calibri" panose="020F0502020204030204" pitchFamily="34" charset="0"/>
                </a:rPr>
                <a:t>id(5)</a:t>
              </a:r>
            </a:p>
          </p:txBody>
        </p:sp>
        <p:sp>
          <p:nvSpPr>
            <p:cNvPr id="15" name="Text Box 17"/>
            <p:cNvSpPr txBox="1">
              <a:spLocks noChangeArrowheads="1"/>
            </p:cNvSpPr>
            <p:nvPr/>
          </p:nvSpPr>
          <p:spPr bwMode="auto">
            <a:xfrm>
              <a:off x="2552" y="3377"/>
              <a:ext cx="51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  <a:latin typeface="Calibri" panose="020F0502020204030204" pitchFamily="34" charset="0"/>
                </a:rPr>
                <a:t>id(2)</a:t>
              </a:r>
            </a:p>
          </p:txBody>
        </p:sp>
        <p:sp>
          <p:nvSpPr>
            <p:cNvPr id="16" name="Text Box 18"/>
            <p:cNvSpPr txBox="1">
              <a:spLocks noChangeArrowheads="1"/>
            </p:cNvSpPr>
            <p:nvPr/>
          </p:nvSpPr>
          <p:spPr bwMode="auto">
            <a:xfrm>
              <a:off x="3505" y="3377"/>
              <a:ext cx="519" cy="3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  <a:latin typeface="Calibri" panose="020F0502020204030204" pitchFamily="34" charset="0"/>
                </a:rPr>
                <a:t>id(3)</a:t>
              </a:r>
            </a:p>
          </p:txBody>
        </p:sp>
        <p:cxnSp>
          <p:nvCxnSpPr>
            <p:cNvPr id="17" name="AutoShape 19"/>
            <p:cNvCxnSpPr>
              <a:cxnSpLocks noChangeShapeType="1"/>
              <a:stCxn id="7" idx="2"/>
              <a:endCxn id="8" idx="0"/>
            </p:cNvCxnSpPr>
            <p:nvPr/>
          </p:nvCxnSpPr>
          <p:spPr bwMode="auto">
            <a:xfrm>
              <a:off x="3955" y="1980"/>
              <a:ext cx="553" cy="324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18" name="AutoShape 20"/>
            <p:cNvCxnSpPr>
              <a:cxnSpLocks noChangeShapeType="1"/>
              <a:stCxn id="7" idx="2"/>
              <a:endCxn id="10" idx="0"/>
            </p:cNvCxnSpPr>
            <p:nvPr/>
          </p:nvCxnSpPr>
          <p:spPr bwMode="auto">
            <a:xfrm>
              <a:off x="3955" y="1980"/>
              <a:ext cx="11" cy="324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19" name="AutoShape 21"/>
            <p:cNvCxnSpPr>
              <a:cxnSpLocks noChangeShapeType="1"/>
              <a:stCxn id="7" idx="2"/>
              <a:endCxn id="9" idx="0"/>
            </p:cNvCxnSpPr>
            <p:nvPr/>
          </p:nvCxnSpPr>
          <p:spPr bwMode="auto">
            <a:xfrm flipH="1">
              <a:off x="3197" y="1980"/>
              <a:ext cx="758" cy="324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20" name="AutoShape 22"/>
            <p:cNvCxnSpPr>
              <a:cxnSpLocks noChangeShapeType="1"/>
              <a:stCxn id="8" idx="2"/>
              <a:endCxn id="14" idx="0"/>
            </p:cNvCxnSpPr>
            <p:nvPr/>
          </p:nvCxnSpPr>
          <p:spPr bwMode="auto">
            <a:xfrm>
              <a:off x="4508" y="2614"/>
              <a:ext cx="0" cy="219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21" name="AutoShape 23"/>
            <p:cNvCxnSpPr>
              <a:cxnSpLocks noChangeShapeType="1"/>
              <a:stCxn id="9" idx="2"/>
              <a:endCxn id="11" idx="0"/>
            </p:cNvCxnSpPr>
            <p:nvPr/>
          </p:nvCxnSpPr>
          <p:spPr bwMode="auto">
            <a:xfrm flipH="1">
              <a:off x="2811" y="2614"/>
              <a:ext cx="385" cy="21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22" name="AutoShape 24"/>
            <p:cNvCxnSpPr>
              <a:cxnSpLocks noChangeShapeType="1"/>
              <a:stCxn id="11" idx="2"/>
              <a:endCxn id="15" idx="0"/>
            </p:cNvCxnSpPr>
            <p:nvPr/>
          </p:nvCxnSpPr>
          <p:spPr bwMode="auto">
            <a:xfrm>
              <a:off x="2811" y="3142"/>
              <a:ext cx="1" cy="235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23" name="AutoShape 25"/>
            <p:cNvCxnSpPr>
              <a:cxnSpLocks noChangeShapeType="1"/>
              <a:stCxn id="9" idx="2"/>
              <a:endCxn id="13" idx="0"/>
            </p:cNvCxnSpPr>
            <p:nvPr/>
          </p:nvCxnSpPr>
          <p:spPr bwMode="auto">
            <a:xfrm>
              <a:off x="3197" y="2614"/>
              <a:ext cx="2" cy="266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24" name="AutoShape 26"/>
            <p:cNvCxnSpPr>
              <a:cxnSpLocks noChangeShapeType="1"/>
              <a:stCxn id="9" idx="2"/>
              <a:endCxn id="12" idx="0"/>
            </p:cNvCxnSpPr>
            <p:nvPr/>
          </p:nvCxnSpPr>
          <p:spPr bwMode="auto">
            <a:xfrm>
              <a:off x="3197" y="2614"/>
              <a:ext cx="568" cy="21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  <p:cxnSp>
          <p:nvCxnSpPr>
            <p:cNvPr id="25" name="AutoShape 27"/>
            <p:cNvCxnSpPr>
              <a:cxnSpLocks noChangeShapeType="1"/>
              <a:stCxn id="12" idx="2"/>
              <a:endCxn id="16" idx="0"/>
            </p:cNvCxnSpPr>
            <p:nvPr/>
          </p:nvCxnSpPr>
          <p:spPr bwMode="auto">
            <a:xfrm>
              <a:off x="3764" y="3142"/>
              <a:ext cx="0" cy="235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</p:cxnSp>
      </p:grpSp>
      <p:sp>
        <p:nvSpPr>
          <p:cNvPr id="27" name="TextBox 26"/>
          <p:cNvSpPr txBox="1"/>
          <p:nvPr/>
        </p:nvSpPr>
        <p:spPr>
          <a:xfrm>
            <a:off x="5166066" y="33818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210" y="33818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06126" y="26797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6306" y="284178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0222" y="181566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</a:rPr>
              <a:t>25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118C747-9E41-2F42-9689-BF089AAF819B}"/>
              </a:ext>
            </a:extLst>
          </p:cNvPr>
          <p:cNvGrpSpPr/>
          <p:nvPr/>
        </p:nvGrpSpPr>
        <p:grpSpPr>
          <a:xfrm>
            <a:off x="860628" y="1389304"/>
            <a:ext cx="1564335" cy="381454"/>
            <a:chOff x="1400041" y="2058744"/>
            <a:chExt cx="2085780" cy="5086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BA5EB35-0DDB-2640-9D7B-5CCC5D855646}"/>
                </a:ext>
              </a:extLst>
            </p:cNvPr>
            <p:cNvSpPr/>
            <p:nvPr/>
          </p:nvSpPr>
          <p:spPr bwMode="auto">
            <a:xfrm>
              <a:off x="1400041" y="2058744"/>
              <a:ext cx="266779" cy="508607"/>
            </a:xfrm>
            <a:prstGeom prst="rect">
              <a:avLst/>
            </a:prstGeom>
            <a:noFill/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685800"/>
              <a:endParaRPr lang="en-US" sz="1800" dirty="0">
                <a:latin typeface="Calibri" panose="020F0502020204030204" pitchFamily="34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3EC4E9B-12EA-B440-9068-D0D1C18540B2}"/>
                </a:ext>
              </a:extLst>
            </p:cNvPr>
            <p:cNvSpPr/>
            <p:nvPr/>
          </p:nvSpPr>
          <p:spPr bwMode="auto">
            <a:xfrm>
              <a:off x="3053773" y="2063353"/>
              <a:ext cx="432048" cy="499389"/>
            </a:xfrm>
            <a:prstGeom prst="rect">
              <a:avLst/>
            </a:prstGeom>
            <a:noFill/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685800"/>
              <a:endParaRPr lang="en-US" sz="1800" dirty="0">
                <a:latin typeface="Calibri" panose="020F0502020204030204" pitchFamily="34" charset="0"/>
              </a:endParaRPr>
            </a:p>
          </p:txBody>
        </p:sp>
        <p:cxnSp>
          <p:nvCxnSpPr>
            <p:cNvPr id="37" name="Curved Connector 36">
              <a:extLst>
                <a:ext uri="{FF2B5EF4-FFF2-40B4-BE49-F238E27FC236}">
                  <a16:creationId xmlns:a16="http://schemas.microsoft.com/office/drawing/2014/main" id="{C2339F3C-161B-6B4D-BF9F-F30867CBFA87}"/>
                </a:ext>
              </a:extLst>
            </p:cNvPr>
            <p:cNvCxnSpPr>
              <a:cxnSpLocks/>
              <a:stCxn id="34" idx="0"/>
              <a:endCxn id="2" idx="0"/>
            </p:cNvCxnSpPr>
            <p:nvPr/>
          </p:nvCxnSpPr>
          <p:spPr bwMode="auto">
            <a:xfrm rot="16200000" flipV="1">
              <a:off x="2399310" y="1192865"/>
              <a:ext cx="4609" cy="1736367"/>
            </a:xfrm>
            <a:prstGeom prst="curvedConnector3">
              <a:avLst>
                <a:gd name="adj1" fmla="val 6712670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C876895-A374-C14C-82C8-A31B23ED6BAF}"/>
              </a:ext>
            </a:extLst>
          </p:cNvPr>
          <p:cNvGrpSpPr/>
          <p:nvPr/>
        </p:nvGrpSpPr>
        <p:grpSpPr>
          <a:xfrm>
            <a:off x="1409080" y="1371116"/>
            <a:ext cx="1571897" cy="397464"/>
            <a:chOff x="1112497" y="2061833"/>
            <a:chExt cx="2095863" cy="529952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673A5C4-DB46-634B-A20D-126192D0A569}"/>
                </a:ext>
              </a:extLst>
            </p:cNvPr>
            <p:cNvSpPr/>
            <p:nvPr/>
          </p:nvSpPr>
          <p:spPr bwMode="auto">
            <a:xfrm>
              <a:off x="1112497" y="2073582"/>
              <a:ext cx="266777" cy="511050"/>
            </a:xfrm>
            <a:prstGeom prst="rect">
              <a:avLst/>
            </a:prstGeom>
            <a:noFill/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685800"/>
              <a:endParaRPr lang="en-US" sz="1800" dirty="0">
                <a:latin typeface="Calibri" panose="020F0502020204030204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9DC1609-6FEA-FA45-98E1-8E438750CD0E}"/>
                </a:ext>
              </a:extLst>
            </p:cNvPr>
            <p:cNvSpPr/>
            <p:nvPr/>
          </p:nvSpPr>
          <p:spPr bwMode="auto">
            <a:xfrm>
              <a:off x="2776312" y="2061833"/>
              <a:ext cx="432048" cy="529952"/>
            </a:xfrm>
            <a:prstGeom prst="rect">
              <a:avLst/>
            </a:prstGeom>
            <a:noFill/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685800"/>
              <a:endParaRPr lang="en-US" sz="1800" dirty="0">
                <a:latin typeface="Calibri" panose="020F0502020204030204" pitchFamily="34" charset="0"/>
              </a:endParaRPr>
            </a:p>
          </p:txBody>
        </p:sp>
        <p:cxnSp>
          <p:nvCxnSpPr>
            <p:cNvPr id="45" name="Curved Connector 44">
              <a:extLst>
                <a:ext uri="{FF2B5EF4-FFF2-40B4-BE49-F238E27FC236}">
                  <a16:creationId xmlns:a16="http://schemas.microsoft.com/office/drawing/2014/main" id="{06336E4C-1F5C-194F-8A81-CF9B40686E2E}"/>
                </a:ext>
              </a:extLst>
            </p:cNvPr>
            <p:cNvCxnSpPr>
              <a:cxnSpLocks/>
              <a:stCxn id="44" idx="0"/>
              <a:endCxn id="43" idx="0"/>
            </p:cNvCxnSpPr>
            <p:nvPr/>
          </p:nvCxnSpPr>
          <p:spPr bwMode="auto">
            <a:xfrm rot="16200000" flipH="1" flipV="1">
              <a:off x="2113237" y="1194483"/>
              <a:ext cx="11749" cy="1746450"/>
            </a:xfrm>
            <a:prstGeom prst="curvedConnector3">
              <a:avLst>
                <a:gd name="adj1" fmla="val -2594190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CB6F653-A489-F442-9C94-CBB148067594}"/>
              </a:ext>
            </a:extLst>
          </p:cNvPr>
          <p:cNvGrpSpPr/>
          <p:nvPr/>
        </p:nvGrpSpPr>
        <p:grpSpPr>
          <a:xfrm>
            <a:off x="1762448" y="1380868"/>
            <a:ext cx="1714671" cy="394583"/>
            <a:chOff x="1152631" y="2058745"/>
            <a:chExt cx="2286230" cy="52611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4876C71-B1B2-4444-BC45-69E174860E57}"/>
                </a:ext>
              </a:extLst>
            </p:cNvPr>
            <p:cNvSpPr/>
            <p:nvPr/>
          </p:nvSpPr>
          <p:spPr bwMode="auto">
            <a:xfrm>
              <a:off x="1152631" y="2058747"/>
              <a:ext cx="266776" cy="508674"/>
            </a:xfrm>
            <a:prstGeom prst="rect">
              <a:avLst/>
            </a:prstGeom>
            <a:noFill/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685800"/>
              <a:endParaRPr lang="en-US" sz="1800" dirty="0">
                <a:latin typeface="Calibri" panose="020F0502020204030204" pitchFamily="34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024932A8-E1ED-4446-AC4D-4CC3C0ED10AD}"/>
                </a:ext>
              </a:extLst>
            </p:cNvPr>
            <p:cNvSpPr/>
            <p:nvPr/>
          </p:nvSpPr>
          <p:spPr bwMode="auto">
            <a:xfrm>
              <a:off x="2997845" y="2076181"/>
              <a:ext cx="441016" cy="508674"/>
            </a:xfrm>
            <a:prstGeom prst="rect">
              <a:avLst/>
            </a:prstGeom>
            <a:noFill/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685800"/>
              <a:endParaRPr lang="en-US" sz="1800" dirty="0">
                <a:latin typeface="Calibri" panose="020F0502020204030204" pitchFamily="34" charset="0"/>
              </a:endParaRPr>
            </a:p>
          </p:txBody>
        </p:sp>
        <p:cxnSp>
          <p:nvCxnSpPr>
            <p:cNvPr id="49" name="Curved Connector 48">
              <a:extLst>
                <a:ext uri="{FF2B5EF4-FFF2-40B4-BE49-F238E27FC236}">
                  <a16:creationId xmlns:a16="http://schemas.microsoft.com/office/drawing/2014/main" id="{1433E95F-E1CF-4947-B890-824387D5AB8A}"/>
                </a:ext>
              </a:extLst>
            </p:cNvPr>
            <p:cNvCxnSpPr>
              <a:cxnSpLocks/>
              <a:stCxn id="48" idx="0"/>
              <a:endCxn id="47" idx="0"/>
            </p:cNvCxnSpPr>
            <p:nvPr/>
          </p:nvCxnSpPr>
          <p:spPr bwMode="auto">
            <a:xfrm rot="16200000" flipV="1">
              <a:off x="2243469" y="1101296"/>
              <a:ext cx="17435" cy="1932334"/>
            </a:xfrm>
            <a:prstGeom prst="curvedConnector3">
              <a:avLst>
                <a:gd name="adj1" fmla="val 1848241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7FDE4C4-25CD-B946-940F-FA29FA573D12}"/>
              </a:ext>
            </a:extLst>
          </p:cNvPr>
          <p:cNvGrpSpPr/>
          <p:nvPr/>
        </p:nvGrpSpPr>
        <p:grpSpPr>
          <a:xfrm>
            <a:off x="5419983" y="2927311"/>
            <a:ext cx="1495171" cy="399296"/>
            <a:chOff x="5702643" y="3903080"/>
            <a:chExt cx="1993561" cy="532395"/>
          </a:xfrm>
        </p:grpSpPr>
        <p:cxnSp>
          <p:nvCxnSpPr>
            <p:cNvPr id="41" name="Curved Connector 40">
              <a:extLst>
                <a:ext uri="{FF2B5EF4-FFF2-40B4-BE49-F238E27FC236}">
                  <a16:creationId xmlns:a16="http://schemas.microsoft.com/office/drawing/2014/main" id="{FB72E6DF-3EC2-8243-B264-F76CB35B7576}"/>
                </a:ext>
              </a:extLst>
            </p:cNvPr>
            <p:cNvCxnSpPr/>
            <p:nvPr/>
          </p:nvCxnSpPr>
          <p:spPr bwMode="auto">
            <a:xfrm rot="5400000" flipH="1" flipV="1">
              <a:off x="5685604" y="4036911"/>
              <a:ext cx="415603" cy="381526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51" name="Curved Connector 50">
              <a:extLst>
                <a:ext uri="{FF2B5EF4-FFF2-40B4-BE49-F238E27FC236}">
                  <a16:creationId xmlns:a16="http://schemas.microsoft.com/office/drawing/2014/main" id="{E4B43CD2-4D31-464D-9CA6-8B2D61B5CB76}"/>
                </a:ext>
              </a:extLst>
            </p:cNvPr>
            <p:cNvCxnSpPr/>
            <p:nvPr/>
          </p:nvCxnSpPr>
          <p:spPr bwMode="auto">
            <a:xfrm rot="10800000">
              <a:off x="6944257" y="3903080"/>
              <a:ext cx="751947" cy="453641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grpSp>
        <p:nvGrpSpPr>
          <p:cNvPr id="69632" name="Group 69631">
            <a:extLst>
              <a:ext uri="{FF2B5EF4-FFF2-40B4-BE49-F238E27FC236}">
                <a16:creationId xmlns:a16="http://schemas.microsoft.com/office/drawing/2014/main" id="{E3EC1549-B20B-DB4B-8D8C-1B484888CB81}"/>
              </a:ext>
            </a:extLst>
          </p:cNvPr>
          <p:cNvGrpSpPr/>
          <p:nvPr/>
        </p:nvGrpSpPr>
        <p:grpSpPr>
          <a:xfrm>
            <a:off x="6148984" y="2127648"/>
            <a:ext cx="1560911" cy="570310"/>
            <a:chOff x="6674642" y="2836867"/>
            <a:chExt cx="2081213" cy="760414"/>
          </a:xfrm>
        </p:grpSpPr>
        <p:cxnSp>
          <p:nvCxnSpPr>
            <p:cNvPr id="56" name="Curved Connector 55">
              <a:extLst>
                <a:ext uri="{FF2B5EF4-FFF2-40B4-BE49-F238E27FC236}">
                  <a16:creationId xmlns:a16="http://schemas.microsoft.com/office/drawing/2014/main" id="{59F6A5EF-19F7-FA4E-BE89-62D39DF2A977}"/>
                </a:ext>
              </a:extLst>
            </p:cNvPr>
            <p:cNvCxnSpPr>
              <a:cxnSpLocks/>
              <a:stCxn id="9" idx="0"/>
              <a:endCxn id="7" idx="1"/>
            </p:cNvCxnSpPr>
            <p:nvPr/>
          </p:nvCxnSpPr>
          <p:spPr bwMode="auto">
            <a:xfrm rot="5400000" flipH="1" flipV="1">
              <a:off x="6797276" y="2714234"/>
              <a:ext cx="760413" cy="1005681"/>
            </a:xfrm>
            <a:prstGeom prst="curvedConnector2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57" name="Curved Connector 56">
              <a:extLst>
                <a:ext uri="{FF2B5EF4-FFF2-40B4-BE49-F238E27FC236}">
                  <a16:creationId xmlns:a16="http://schemas.microsoft.com/office/drawing/2014/main" id="{64863535-7857-D047-B947-5CC1049BE784}"/>
                </a:ext>
              </a:extLst>
            </p:cNvPr>
            <p:cNvCxnSpPr>
              <a:cxnSpLocks/>
              <a:stCxn id="8" idx="0"/>
              <a:endCxn id="7" idx="3"/>
            </p:cNvCxnSpPr>
            <p:nvPr/>
          </p:nvCxnSpPr>
          <p:spPr bwMode="auto">
            <a:xfrm rot="16200000" flipV="1">
              <a:off x="8035527" y="2876952"/>
              <a:ext cx="760413" cy="680243"/>
            </a:xfrm>
            <a:prstGeom prst="curvedConnector2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  <p:sp>
        <p:nvSpPr>
          <p:cNvPr id="50" name="Rectangular Callout 49">
            <a:extLst>
              <a:ext uri="{FF2B5EF4-FFF2-40B4-BE49-F238E27FC236}">
                <a16:creationId xmlns:a16="http://schemas.microsoft.com/office/drawing/2014/main" id="{185AAF36-6D33-654A-8020-2879CD00D92F}"/>
              </a:ext>
            </a:extLst>
          </p:cNvPr>
          <p:cNvSpPr/>
          <p:nvPr/>
        </p:nvSpPr>
        <p:spPr>
          <a:xfrm>
            <a:off x="137722" y="4515966"/>
            <a:ext cx="4218254" cy="525141"/>
          </a:xfrm>
          <a:prstGeom prst="wedgeRectCallout">
            <a:avLst>
              <a:gd name="adj1" fmla="val 52659"/>
              <a:gd name="adj2" fmla="val -3845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Q: Draw the parse tree and calculate the output value using the above CFG &amp; actions for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-(2+3)</a:t>
            </a:r>
          </a:p>
        </p:txBody>
      </p:sp>
    </p:spTree>
    <p:extLst>
      <p:ext uri="{BB962C8B-B14F-4D97-AF65-F5344CB8AC3E}">
        <p14:creationId xmlns:p14="http://schemas.microsoft.com/office/powerpoint/2010/main" val="2387028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0" grpId="0"/>
      <p:bldP spid="31" grpId="0"/>
      <p:bldP spid="32" grpId="0"/>
      <p:bldP spid="33" grpId="0"/>
      <p:bldP spid="5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CFG Notation</a:t>
            </a:r>
          </a:p>
        </p:txBody>
      </p:sp>
      <p:sp>
        <p:nvSpPr>
          <p:cNvPr id="542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Normal CFG notation</a:t>
            </a:r>
          </a:p>
          <a:p>
            <a:pPr lvl="1">
              <a:buFontTx/>
              <a:buNone/>
            </a:pPr>
            <a:r>
              <a:rPr lang="en-US" dirty="0"/>
              <a:t>E </a:t>
            </a:r>
            <a:r>
              <a:rPr lang="en-US" b="1" dirty="0">
                <a:sym typeface="Symbol" charset="2"/>
              </a:rPr>
              <a:t></a:t>
            </a:r>
            <a:r>
              <a:rPr lang="en-US" dirty="0"/>
              <a:t> E * E</a:t>
            </a:r>
            <a:r>
              <a:rPr lang="en-US" sz="1800" dirty="0"/>
              <a:t> </a:t>
            </a:r>
          </a:p>
          <a:p>
            <a:pPr lvl="1">
              <a:buFontTx/>
              <a:buNone/>
            </a:pPr>
            <a:r>
              <a:rPr lang="en-US" dirty="0"/>
              <a:t>E </a:t>
            </a:r>
            <a:r>
              <a:rPr lang="en-US" b="1" dirty="0">
                <a:sym typeface="Symbol" charset="2"/>
              </a:rPr>
              <a:t></a:t>
            </a:r>
            <a:r>
              <a:rPr lang="en-US" dirty="0"/>
              <a:t> E + E</a:t>
            </a:r>
          </a:p>
          <a:p>
            <a:r>
              <a:rPr lang="en-US" dirty="0"/>
              <a:t>Backus </a:t>
            </a:r>
            <a:r>
              <a:rPr lang="en-US" dirty="0" err="1"/>
              <a:t>Naur</a:t>
            </a:r>
            <a:r>
              <a:rPr lang="en-US" dirty="0"/>
              <a:t> notation</a:t>
            </a:r>
          </a:p>
          <a:p>
            <a:pPr lvl="1">
              <a:buFontTx/>
              <a:buNone/>
            </a:pPr>
            <a:r>
              <a:rPr lang="en-US" dirty="0"/>
              <a:t>E : E * E | E + E  ;</a:t>
            </a:r>
          </a:p>
          <a:p>
            <a:pPr lvl="1">
              <a:buFontTx/>
              <a:buNone/>
            </a:pPr>
            <a:r>
              <a:rPr lang="en-US" dirty="0"/>
              <a:t>(an or-list of right-hand sides)</a:t>
            </a:r>
          </a:p>
          <a:p>
            <a:pPr lvl="1">
              <a:buFontTx/>
              <a:buNone/>
            </a:pPr>
            <a:r>
              <a:rPr lang="en-US" dirty="0"/>
              <a:t>Also:</a:t>
            </a:r>
          </a:p>
          <a:p>
            <a:pPr lvl="1">
              <a:buFontTx/>
              <a:buNone/>
            </a:pPr>
            <a:r>
              <a:rPr lang="en-US" dirty="0">
                <a:latin typeface="Anonymous Pro" panose="02060609030202000504" pitchFamily="49" charset="0"/>
                <a:ea typeface="Anonymous Pro" panose="02060609030202000504" pitchFamily="49" charset="0"/>
              </a:rPr>
              <a:t>E = E “*” E | E “+” E .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E9B752-E4C8-0445-8824-90025461059E}" type="slidenum">
              <a:rPr lang="en-US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635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2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2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2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2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2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2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2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2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275" grpId="0" build="p" autoUpdateAnimBg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4427</TotalTime>
  <Words>1196</Words>
  <Application>Microsoft Macintosh PowerPoint</Application>
  <PresentationFormat>On-screen Show (16:9)</PresentationFormat>
  <Paragraphs>272</Paragraphs>
  <Slides>18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30" baseType="lpstr">
      <vt:lpstr>Times</vt:lpstr>
      <vt:lpstr>Anonymous Pro</vt:lpstr>
      <vt:lpstr>Arial</vt:lpstr>
      <vt:lpstr>Calibri</vt:lpstr>
      <vt:lpstr>Calibri Light</vt:lpstr>
      <vt:lpstr>Cambria Math</vt:lpstr>
      <vt:lpstr>Comic Sans MS</vt:lpstr>
      <vt:lpstr>Consolas</vt:lpstr>
      <vt:lpstr>Courier</vt:lpstr>
      <vt:lpstr>Symbol</vt:lpstr>
      <vt:lpstr>Times New Roman</vt:lpstr>
      <vt:lpstr>1_Office Theme</vt:lpstr>
      <vt:lpstr>Context-Free Grammars</vt:lpstr>
      <vt:lpstr>Parsing</vt:lpstr>
      <vt:lpstr>Parsing</vt:lpstr>
      <vt:lpstr>Context-free Grammars (CFGs)</vt:lpstr>
      <vt:lpstr>Context-free Grammars (CFGs)</vt:lpstr>
      <vt:lpstr>Context-free Grammars (CFGs)</vt:lpstr>
      <vt:lpstr>Context-free Grammars (CFGs)</vt:lpstr>
      <vt:lpstr>Derivation and Parse Tree</vt:lpstr>
      <vt:lpstr>Derivation and Parse Tree</vt:lpstr>
      <vt:lpstr>Language of CFGs</vt:lpstr>
      <vt:lpstr>Arithmetic Expressions</vt:lpstr>
      <vt:lpstr>Derivation for id + id * id</vt:lpstr>
      <vt:lpstr>Leftmost derivation for id + id * id</vt:lpstr>
      <vt:lpstr>Rightmost derivation for id + id * id</vt:lpstr>
      <vt:lpstr>Rightmost vs. Leftmost Derivation</vt:lpstr>
      <vt:lpstr>Writing a CFG for a programming language</vt:lpstr>
      <vt:lpstr>Actions in a CFG: Arithmetic Expressions</vt:lpstr>
      <vt:lpstr>CFG Notation</vt:lpstr>
    </vt:vector>
  </TitlesOfParts>
  <Company>SFU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CMPT 825  Natural Language Processing</dc:title>
  <dc:creator>Anoop Sarkar</dc:creator>
  <cp:lastModifiedBy>Anoop Sarkar</cp:lastModifiedBy>
  <cp:revision>370</cp:revision>
  <cp:lastPrinted>2019-06-20T15:29:11Z</cp:lastPrinted>
  <dcterms:created xsi:type="dcterms:W3CDTF">2011-10-06T20:12:26Z</dcterms:created>
  <dcterms:modified xsi:type="dcterms:W3CDTF">2025-06-09T19:26:30Z</dcterms:modified>
</cp:coreProperties>
</file>