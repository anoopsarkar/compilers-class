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309" r:id="rId2"/>
    <p:sldId id="281" r:id="rId3"/>
    <p:sldId id="308" r:id="rId4"/>
    <p:sldId id="311" r:id="rId5"/>
    <p:sldId id="300" r:id="rId6"/>
    <p:sldId id="298" r:id="rId7"/>
    <p:sldId id="310" r:id="rId8"/>
    <p:sldId id="307" r:id="rId9"/>
    <p:sldId id="306" r:id="rId10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clrMru>
    <a:srgbClr val="008080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3" autoAdjust="0"/>
    <p:restoredTop sz="90884"/>
  </p:normalViewPr>
  <p:slideViewPr>
    <p:cSldViewPr>
      <p:cViewPr varScale="1">
        <p:scale>
          <a:sx n="149" d="100"/>
          <a:sy n="149" d="100"/>
        </p:scale>
        <p:origin x="62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1A65EC3-97E0-8C42-8462-B73B7D059010}" type="slidenum">
              <a:rPr lang="en-US">
                <a:latin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710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72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0145A6CB-08E3-524B-8C9B-64D562E378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9546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7E095C-515C-1244-BECB-C8A1BE904937}" type="slidenum">
              <a:rPr lang="en-US"/>
              <a:pPr/>
              <a:t>2</a:t>
            </a:fld>
            <a:endParaRPr lang="en-US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FD5A72-FB90-E443-B03C-52AB56A7401C}" type="slidenum">
              <a:rPr lang="en-US"/>
              <a:pPr/>
              <a:t>5</a:t>
            </a:fld>
            <a:endParaRPr 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419F97-9A4D-614C-9812-FBCE0BF04631}" type="slidenum">
              <a:rPr lang="en-US"/>
              <a:pPr/>
              <a:t>6</a:t>
            </a:fld>
            <a:endParaRPr 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0B287A-9173-D649-AE51-41A2A40684EA}" type="slidenum">
              <a:rPr lang="en-US"/>
              <a:pPr/>
              <a:t>8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217D9E-1088-7D41-A8E2-274BE0BD32B8}" type="slidenum">
              <a:rPr lang="en-US"/>
              <a:pPr/>
              <a:t>9</a:t>
            </a:fld>
            <a:endParaRPr lang="en-US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C762-1116-2146-A47C-D79A5A5DBAFD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9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9525-9B7D-5945-A782-775278635E42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3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1499-BDD1-6940-8C79-13A8B8E63D57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5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0EF3-18A7-4644-8DA2-1EB9CA66C736}" type="datetime1">
              <a:rPr lang="en-CA" smtClean="0"/>
              <a:t>2025-06-09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2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8FC1-2481-FB4A-91E5-87F3422DE2D5}" type="datetime1">
              <a:rPr lang="en-CA" smtClean="0"/>
              <a:t>2025-06-09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0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C515-1622-C840-89B2-A4A55D34866A}" type="datetime1">
              <a:rPr lang="en-CA" smtClean="0"/>
              <a:t>2025-06-09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0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7E75-6C88-BB47-AC6F-0DCA859E7113}" type="datetime1">
              <a:rPr lang="en-CA" smtClean="0"/>
              <a:t>2025-06-09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77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2F8B-7E05-A047-BAC3-EE71BEBBE5BE}" type="datetime1">
              <a:rPr lang="en-CA" smtClean="0"/>
              <a:t>2025-06-09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8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F72A-E93E-B546-8268-6408A6E1DA62}" type="datetime1">
              <a:rPr lang="en-CA" smtClean="0"/>
              <a:t>2025-06-09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02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FEDD1-5A1B-2342-BAF0-F7C5511A73CE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14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59AE-0AE1-4048-8BD6-D39FC0EBB194}" type="datetime1">
              <a:rPr lang="en-CA" smtClean="0"/>
              <a:t>2025-06-09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6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6611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6858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6482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858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65532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‹#›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080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7DF4AC7-DB73-7444-A2A7-FD79FE1A2B2B}" type="datetime1">
              <a:rPr lang="en-CA" smtClean="0"/>
              <a:pPr/>
              <a:t>2025-06-09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B252BF6-6A9C-D04A-BBE8-37A07D64A1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188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Context-Free Grammars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anoopsarkar.github.io/compilers-class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55B6E1-CF70-6C4C-9275-243CE0E3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4AD0E-E41E-A948-ABBD-15AD007DE1F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5868144" y="383046"/>
            <a:ext cx="2895750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CFG3: Push-down Automata</a:t>
            </a:r>
          </a:p>
        </p:txBody>
      </p:sp>
    </p:spTree>
    <p:extLst>
      <p:ext uri="{BB962C8B-B14F-4D97-AF65-F5344CB8AC3E}">
        <p14:creationId xmlns:p14="http://schemas.microsoft.com/office/powerpoint/2010/main" val="4093168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Context-free languages and Pushdown Automata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Recall that for each regular language there was an equivalent finite-state automaton</a:t>
            </a:r>
          </a:p>
          <a:p>
            <a:r>
              <a:rPr lang="en-US"/>
              <a:t>The FSA was used as a recognizer of the regular language</a:t>
            </a:r>
          </a:p>
          <a:p>
            <a:r>
              <a:rPr lang="en-US"/>
              <a:t>For each context-free language there is also an automaton that recognizes it: called a </a:t>
            </a:r>
            <a:r>
              <a:rPr lang="en-US" b="1"/>
              <a:t>pushdown automaton (pda)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852E7-8F7F-7B45-8D09-7B15D28340F2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Pushdown Automata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818817359"/>
              </p:ext>
            </p:extLst>
          </p:nvPr>
        </p:nvGraphicFramePr>
        <p:xfrm>
          <a:off x="4788024" y="2671052"/>
          <a:ext cx="2320584" cy="27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5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5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CA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 bwMode="auto">
          <a:xfrm>
            <a:off x="2519772" y="2085696"/>
            <a:ext cx="1512168" cy="7020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 panose="020F0502020204030204" pitchFamily="34" charset="0"/>
              </a:rPr>
              <a:t>Finite State Automaton</a:t>
            </a:r>
          </a:p>
        </p:txBody>
      </p:sp>
      <p:cxnSp>
        <p:nvCxnSpPr>
          <p:cNvPr id="11" name="Curved Connector 10"/>
          <p:cNvCxnSpPr/>
          <p:nvPr/>
        </p:nvCxnSpPr>
        <p:spPr bwMode="auto">
          <a:xfrm rot="16200000" flipH="1">
            <a:off x="3950931" y="2652759"/>
            <a:ext cx="540060" cy="378042"/>
          </a:xfrm>
          <a:prstGeom prst="curvedConnector3">
            <a:avLst>
              <a:gd name="adj1" fmla="val -555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Straight Connector 42"/>
          <p:cNvCxnSpPr/>
          <p:nvPr/>
        </p:nvCxnSpPr>
        <p:spPr bwMode="auto">
          <a:xfrm>
            <a:off x="4031940" y="2301720"/>
            <a:ext cx="91810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Arrow Connector 44"/>
          <p:cNvCxnSpPr/>
          <p:nvPr/>
        </p:nvCxnSpPr>
        <p:spPr bwMode="auto">
          <a:xfrm>
            <a:off x="4950042" y="2301721"/>
            <a:ext cx="0" cy="2700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5544108" y="2085696"/>
            <a:ext cx="702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>
                <a:latin typeface="Calibri" panose="020F0502020204030204" pitchFamily="34" charset="0"/>
              </a:rPr>
              <a:t>input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3167844" y="3219821"/>
            <a:ext cx="1430733" cy="1193360"/>
            <a:chOff x="2699792" y="4293096"/>
            <a:chExt cx="1907644" cy="1591147"/>
          </a:xfrm>
        </p:grpSpPr>
        <p:cxnSp>
          <p:nvCxnSpPr>
            <p:cNvPr id="49" name="Straight Connector 48"/>
            <p:cNvCxnSpPr/>
            <p:nvPr/>
          </p:nvCxnSpPr>
          <p:spPr bwMode="auto">
            <a:xfrm>
              <a:off x="4103948" y="4293096"/>
              <a:ext cx="0" cy="13681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4600576" y="4293664"/>
              <a:ext cx="0" cy="13681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Straight Connector 51"/>
            <p:cNvCxnSpPr/>
            <p:nvPr/>
          </p:nvCxnSpPr>
          <p:spPr bwMode="auto">
            <a:xfrm>
              <a:off x="4103948" y="5661248"/>
              <a:ext cx="496628" cy="5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/>
            <p:cNvCxnSpPr/>
            <p:nvPr/>
          </p:nvCxnSpPr>
          <p:spPr bwMode="auto">
            <a:xfrm>
              <a:off x="4096520" y="5300640"/>
              <a:ext cx="496628" cy="5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/>
            <p:cNvCxnSpPr/>
            <p:nvPr/>
          </p:nvCxnSpPr>
          <p:spPr bwMode="auto">
            <a:xfrm>
              <a:off x="4110808" y="4969744"/>
              <a:ext cx="496628" cy="5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Straight Connector 54"/>
            <p:cNvCxnSpPr/>
            <p:nvPr/>
          </p:nvCxnSpPr>
          <p:spPr bwMode="auto">
            <a:xfrm>
              <a:off x="4097088" y="4581128"/>
              <a:ext cx="496628" cy="5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6" name="TextBox 55"/>
            <p:cNvSpPr txBox="1"/>
            <p:nvPr/>
          </p:nvSpPr>
          <p:spPr>
            <a:xfrm>
              <a:off x="2699792" y="4653136"/>
              <a:ext cx="1368152" cy="1231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800" dirty="0">
                  <a:latin typeface="Calibri" panose="020F0502020204030204" pitchFamily="34" charset="0"/>
                </a:rPr>
                <a:t>Stack</a:t>
              </a:r>
            </a:p>
            <a:p>
              <a:pPr algn="ctr"/>
              <a:r>
                <a:rPr lang="en-CA" sz="1800" dirty="0">
                  <a:latin typeface="Calibri" panose="020F0502020204030204" pitchFamily="34" charset="0"/>
                </a:rPr>
                <a:t>(last in, first out)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15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89F1-4054-1D40-A147-264F250B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Pushdown Automata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186D4-3BDB-AA4F-8500-FE6C7EC9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0724A-4D7F-AB47-A6B0-E6E6487F088F}"/>
              </a:ext>
            </a:extLst>
          </p:cNvPr>
          <p:cNvSpPr/>
          <p:nvPr/>
        </p:nvSpPr>
        <p:spPr>
          <a:xfrm>
            <a:off x="1496053" y="2566261"/>
            <a:ext cx="2211851" cy="5760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Non-deterministic Finite State Automata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640E14-154D-3349-9A41-0F1394C8281E}"/>
              </a:ext>
            </a:extLst>
          </p:cNvPr>
          <p:cNvSpPr/>
          <p:nvPr/>
        </p:nvSpPr>
        <p:spPr>
          <a:xfrm>
            <a:off x="1496053" y="4099907"/>
            <a:ext cx="2211851" cy="5760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Deterministic Finite State Automata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300029A2-A8F4-A14B-80FD-7726DAF15272}"/>
              </a:ext>
            </a:extLst>
          </p:cNvPr>
          <p:cNvSpPr/>
          <p:nvPr/>
        </p:nvSpPr>
        <p:spPr>
          <a:xfrm>
            <a:off x="2385954" y="3369088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B8E07-6B60-264D-8018-918AB07A7D3D}"/>
              </a:ext>
            </a:extLst>
          </p:cNvPr>
          <p:cNvSpPr txBox="1"/>
          <p:nvPr/>
        </p:nvSpPr>
        <p:spPr>
          <a:xfrm>
            <a:off x="204698" y="1782818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Regular Languages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8D9B4F-2AFB-B548-A993-9D32CC81B96A}"/>
              </a:ext>
            </a:extLst>
          </p:cNvPr>
          <p:cNvSpPr/>
          <p:nvPr/>
        </p:nvSpPr>
        <p:spPr>
          <a:xfrm>
            <a:off x="1496053" y="1268016"/>
            <a:ext cx="2211851" cy="34066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Regular Expression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02512455-4294-9B45-9CF3-566B09FBB849}"/>
              </a:ext>
            </a:extLst>
          </p:cNvPr>
          <p:cNvSpPr/>
          <p:nvPr/>
        </p:nvSpPr>
        <p:spPr>
          <a:xfrm>
            <a:off x="2385954" y="1835442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DC60234-756B-A34C-B3F5-BDD6F60EE2D5}"/>
              </a:ext>
            </a:extLst>
          </p:cNvPr>
          <p:cNvCxnSpPr>
            <a:cxnSpLocks/>
            <a:stCxn id="7" idx="0"/>
            <a:endCxn id="8" idx="1"/>
          </p:cNvCxnSpPr>
          <p:nvPr/>
        </p:nvCxnSpPr>
        <p:spPr>
          <a:xfrm rot="5400000" flipH="1" flipV="1">
            <a:off x="1002176" y="1288942"/>
            <a:ext cx="344470" cy="64328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11C06ED-2958-0946-AF8A-FA838D277FBF}"/>
              </a:ext>
            </a:extLst>
          </p:cNvPr>
          <p:cNvCxnSpPr>
            <a:cxnSpLocks/>
            <a:stCxn id="7" idx="2"/>
            <a:endCxn id="4" idx="1"/>
          </p:cNvCxnSpPr>
          <p:nvPr/>
        </p:nvCxnSpPr>
        <p:spPr>
          <a:xfrm rot="16200000" flipH="1">
            <a:off x="992617" y="2350856"/>
            <a:ext cx="363589" cy="64328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5436379-8A16-4D4C-9479-4ECA01E82BD2}"/>
              </a:ext>
            </a:extLst>
          </p:cNvPr>
          <p:cNvSpPr/>
          <p:nvPr/>
        </p:nvSpPr>
        <p:spPr>
          <a:xfrm>
            <a:off x="5508104" y="2302970"/>
            <a:ext cx="1660972" cy="110415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Non-deterministic Pushdown Automata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04D2FD-3880-FC42-9B89-8578296966A7}"/>
              </a:ext>
            </a:extLst>
          </p:cNvPr>
          <p:cNvSpPr/>
          <p:nvPr/>
        </p:nvSpPr>
        <p:spPr>
          <a:xfrm>
            <a:off x="5508104" y="4158468"/>
            <a:ext cx="1660972" cy="78573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Deterministic Pushdown Automata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66D4C-6937-C14B-8C0F-A816F3415166}"/>
              </a:ext>
            </a:extLst>
          </p:cNvPr>
          <p:cNvSpPr txBox="1"/>
          <p:nvPr/>
        </p:nvSpPr>
        <p:spPr>
          <a:xfrm>
            <a:off x="4144740" y="1650709"/>
            <a:ext cx="1512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Context-free Languages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265899-2D1F-444D-A737-C5B8CF7EFC1E}"/>
              </a:ext>
            </a:extLst>
          </p:cNvPr>
          <p:cNvSpPr/>
          <p:nvPr/>
        </p:nvSpPr>
        <p:spPr>
          <a:xfrm>
            <a:off x="5508104" y="1135907"/>
            <a:ext cx="2885108" cy="34066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Context-free Grammar</a:t>
            </a: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095E3524-46CF-E748-8A78-A54D5E149BDC}"/>
              </a:ext>
            </a:extLst>
          </p:cNvPr>
          <p:cNvSpPr/>
          <p:nvPr/>
        </p:nvSpPr>
        <p:spPr>
          <a:xfrm>
            <a:off x="6122566" y="1686954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023DB532-7CFD-324F-95E5-FAF032394A15}"/>
              </a:ext>
            </a:extLst>
          </p:cNvPr>
          <p:cNvCxnSpPr>
            <a:cxnSpLocks/>
            <a:stCxn id="20" idx="0"/>
            <a:endCxn id="21" idx="1"/>
          </p:cNvCxnSpPr>
          <p:nvPr/>
        </p:nvCxnSpPr>
        <p:spPr>
          <a:xfrm rot="5400000" flipH="1" flipV="1">
            <a:off x="5032229" y="1174834"/>
            <a:ext cx="344470" cy="60728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D0AE9395-0673-244E-9D81-1782DE22826D}"/>
              </a:ext>
            </a:extLst>
          </p:cNvPr>
          <p:cNvCxnSpPr>
            <a:cxnSpLocks/>
            <a:stCxn id="20" idx="2"/>
            <a:endCxn id="17" idx="1"/>
          </p:cNvCxnSpPr>
          <p:nvPr/>
        </p:nvCxnSpPr>
        <p:spPr>
          <a:xfrm rot="16200000" flipH="1">
            <a:off x="4956238" y="2303181"/>
            <a:ext cx="496453" cy="60728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772467-3E1F-CE4D-8CD2-E13EF58DC7F2}"/>
              </a:ext>
            </a:extLst>
          </p:cNvPr>
          <p:cNvGrpSpPr/>
          <p:nvPr/>
        </p:nvGrpSpPr>
        <p:grpSpPr>
          <a:xfrm>
            <a:off x="6122566" y="3519085"/>
            <a:ext cx="432048" cy="504056"/>
            <a:chOff x="6333802" y="3340823"/>
            <a:chExt cx="432048" cy="504056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CEDCB12D-442F-074B-916C-1BA0637ADA00}"/>
                </a:ext>
              </a:extLst>
            </p:cNvPr>
            <p:cNvSpPr/>
            <p:nvPr/>
          </p:nvSpPr>
          <p:spPr>
            <a:xfrm>
              <a:off x="6333802" y="3340823"/>
              <a:ext cx="432048" cy="50405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&quot;No&quot; Symbol 31">
              <a:extLst>
                <a:ext uri="{FF2B5EF4-FFF2-40B4-BE49-F238E27FC236}">
                  <a16:creationId xmlns:a16="http://schemas.microsoft.com/office/drawing/2014/main" id="{C55609D8-EA62-0447-A353-176BF91348E1}"/>
                </a:ext>
              </a:extLst>
            </p:cNvPr>
            <p:cNvSpPr/>
            <p:nvPr/>
          </p:nvSpPr>
          <p:spPr>
            <a:xfrm>
              <a:off x="6368010" y="3365759"/>
              <a:ext cx="363631" cy="371371"/>
            </a:xfrm>
            <a:prstGeom prst="noSmoking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Bent Arrow 33">
            <a:extLst>
              <a:ext uri="{FF2B5EF4-FFF2-40B4-BE49-F238E27FC236}">
                <a16:creationId xmlns:a16="http://schemas.microsoft.com/office/drawing/2014/main" id="{DF9EAA8F-1595-2F42-B7BA-B6C3419D376C}"/>
              </a:ext>
            </a:extLst>
          </p:cNvPr>
          <p:cNvSpPr/>
          <p:nvPr/>
        </p:nvSpPr>
        <p:spPr>
          <a:xfrm flipH="1" flipV="1">
            <a:off x="7308302" y="1686954"/>
            <a:ext cx="633709" cy="300727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8309E0-936F-984F-B9BB-C095B61991E9}"/>
              </a:ext>
            </a:extLst>
          </p:cNvPr>
          <p:cNvSpPr txBox="1"/>
          <p:nvPr/>
        </p:nvSpPr>
        <p:spPr>
          <a:xfrm>
            <a:off x="8024368" y="1943095"/>
            <a:ext cx="944907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We must rely on a direct route to a DPDA for subset of CFGs.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97A80-A1A3-CA41-9799-B7529397AA38}"/>
              </a:ext>
            </a:extLst>
          </p:cNvPr>
          <p:cNvSpPr txBox="1"/>
          <p:nvPr/>
        </p:nvSpPr>
        <p:spPr>
          <a:xfrm>
            <a:off x="8024368" y="3413397"/>
            <a:ext cx="944907" cy="10156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The direct route is called a parsing algorithm</a:t>
            </a:r>
          </a:p>
        </p:txBody>
      </p:sp>
    </p:spTree>
    <p:extLst>
      <p:ext uri="{BB962C8B-B14F-4D97-AF65-F5344CB8AC3E}">
        <p14:creationId xmlns:p14="http://schemas.microsoft.com/office/powerpoint/2010/main" val="164691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7" grpId="0" animBg="1"/>
      <p:bldP spid="18" grpId="0" animBg="1"/>
      <p:bldP spid="20" grpId="0"/>
      <p:bldP spid="21" grpId="0" animBg="1"/>
      <p:bldP spid="22" grpId="0" animBg="1"/>
      <p:bldP spid="34" grpId="0" animBg="1"/>
      <p:bldP spid="36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Pushdown Automata</a:t>
            </a: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F278-9B0C-A44F-BDA0-E8F997FA71A7}" type="slidenum">
              <a:rPr lang="en-US"/>
              <a:pPr/>
              <a:t>5</a:t>
            </a:fld>
            <a:endParaRPr lang="en-US"/>
          </a:p>
        </p:txBody>
      </p:sp>
      <p:sp>
        <p:nvSpPr>
          <p:cNvPr id="140293" name="Oval 5"/>
          <p:cNvSpPr>
            <a:spLocks noChangeArrowheads="1"/>
          </p:cNvSpPr>
          <p:nvPr/>
        </p:nvSpPr>
        <p:spPr bwMode="auto">
          <a:xfrm>
            <a:off x="3827934" y="2709174"/>
            <a:ext cx="457200" cy="457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140295" name="Oval 7"/>
          <p:cNvSpPr>
            <a:spLocks noChangeArrowheads="1"/>
          </p:cNvSpPr>
          <p:nvPr/>
        </p:nvSpPr>
        <p:spPr bwMode="auto">
          <a:xfrm>
            <a:off x="3827934" y="3680724"/>
            <a:ext cx="457200" cy="457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140296" name="Oval 8"/>
          <p:cNvSpPr>
            <a:spLocks noChangeArrowheads="1"/>
          </p:cNvSpPr>
          <p:nvPr/>
        </p:nvSpPr>
        <p:spPr bwMode="auto">
          <a:xfrm>
            <a:off x="2627784" y="3680724"/>
            <a:ext cx="457200" cy="457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140298" name="Oval 10"/>
          <p:cNvSpPr>
            <a:spLocks noChangeArrowheads="1"/>
          </p:cNvSpPr>
          <p:nvPr/>
        </p:nvSpPr>
        <p:spPr bwMode="auto">
          <a:xfrm>
            <a:off x="2684934" y="3737874"/>
            <a:ext cx="342900" cy="342900"/>
          </a:xfrm>
          <a:prstGeom prst="ellipse">
            <a:avLst/>
          </a:prstGeom>
          <a:solidFill>
            <a:schemeClr val="accent1">
              <a:alpha val="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 dirty="0">
              <a:latin typeface="Calibri" panose="020F0502020204030204" pitchFamily="34" charset="0"/>
            </a:endParaRPr>
          </a:p>
        </p:txBody>
      </p:sp>
      <p:cxnSp>
        <p:nvCxnSpPr>
          <p:cNvPr id="140300" name="AutoShape 12"/>
          <p:cNvCxnSpPr>
            <a:cxnSpLocks noChangeShapeType="1"/>
            <a:stCxn id="140293" idx="4"/>
            <a:endCxn id="140295" idx="0"/>
          </p:cNvCxnSpPr>
          <p:nvPr/>
        </p:nvCxnSpPr>
        <p:spPr bwMode="auto">
          <a:xfrm>
            <a:off x="4056534" y="3166374"/>
            <a:ext cx="0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01" name="AutoShape 13"/>
          <p:cNvCxnSpPr>
            <a:cxnSpLocks noChangeShapeType="1"/>
            <a:stCxn id="140295" idx="2"/>
            <a:endCxn id="140296" idx="6"/>
          </p:cNvCxnSpPr>
          <p:nvPr/>
        </p:nvCxnSpPr>
        <p:spPr bwMode="auto">
          <a:xfrm flipH="1">
            <a:off x="3084984" y="3909324"/>
            <a:ext cx="7429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02" name="AutoShape 14"/>
          <p:cNvCxnSpPr>
            <a:cxnSpLocks noChangeShapeType="1"/>
            <a:stCxn id="140293" idx="7"/>
            <a:endCxn id="140293" idx="6"/>
          </p:cNvCxnSpPr>
          <p:nvPr/>
        </p:nvCxnSpPr>
        <p:spPr bwMode="auto">
          <a:xfrm rot="5400000" flipV="1">
            <a:off x="4170834" y="2823474"/>
            <a:ext cx="161925" cy="66675"/>
          </a:xfrm>
          <a:prstGeom prst="curvedConnector4">
            <a:avLst>
              <a:gd name="adj1" fmla="val -147060"/>
              <a:gd name="adj2" fmla="val 62321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03" name="AutoShape 15"/>
          <p:cNvCxnSpPr>
            <a:cxnSpLocks noChangeShapeType="1"/>
            <a:stCxn id="140295" idx="6"/>
            <a:endCxn id="140295" idx="4"/>
          </p:cNvCxnSpPr>
          <p:nvPr/>
        </p:nvCxnSpPr>
        <p:spPr bwMode="auto">
          <a:xfrm flipH="1">
            <a:off x="4056534" y="3909324"/>
            <a:ext cx="228600" cy="228600"/>
          </a:xfrm>
          <a:prstGeom prst="curvedConnector4">
            <a:avLst>
              <a:gd name="adj1" fmla="val -122917"/>
              <a:gd name="adj2" fmla="val 19374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40306" name="Text Box 18"/>
          <p:cNvSpPr txBox="1">
            <a:spLocks noChangeArrowheads="1"/>
          </p:cNvSpPr>
          <p:nvPr/>
        </p:nvSpPr>
        <p:spPr bwMode="auto">
          <a:xfrm>
            <a:off x="4649178" y="2362999"/>
            <a:ext cx="11676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0, shift 0</a:t>
            </a:r>
          </a:p>
        </p:txBody>
      </p:sp>
      <p:sp>
        <p:nvSpPr>
          <p:cNvPr id="140307" name="Text Box 19"/>
          <p:cNvSpPr txBox="1">
            <a:spLocks noChangeArrowheads="1"/>
          </p:cNvSpPr>
          <p:nvPr/>
        </p:nvSpPr>
        <p:spPr bwMode="auto">
          <a:xfrm>
            <a:off x="4286250" y="3200400"/>
            <a:ext cx="10410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, shift A</a:t>
            </a:r>
          </a:p>
        </p:txBody>
      </p:sp>
      <p:sp>
        <p:nvSpPr>
          <p:cNvPr id="140308" name="Text Box 20"/>
          <p:cNvSpPr txBox="1">
            <a:spLocks noChangeArrowheads="1"/>
          </p:cNvSpPr>
          <p:nvPr/>
        </p:nvSpPr>
        <p:spPr bwMode="auto">
          <a:xfrm>
            <a:off x="4629148" y="4000500"/>
            <a:ext cx="33272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1, shift 1 and reduce …0A1  …A</a:t>
            </a:r>
          </a:p>
        </p:txBody>
      </p:sp>
      <p:sp>
        <p:nvSpPr>
          <p:cNvPr id="140309" name="Text Box 21"/>
          <p:cNvSpPr txBox="1">
            <a:spLocks noChangeArrowheads="1"/>
          </p:cNvSpPr>
          <p:nvPr/>
        </p:nvSpPr>
        <p:spPr bwMode="auto">
          <a:xfrm>
            <a:off x="2843809" y="4000500"/>
            <a:ext cx="1080120" cy="69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100" dirty="0">
                <a:latin typeface="Calibri" panose="020F0502020204030204" pitchFamily="34" charset="0"/>
                <a:sym typeface="Symbol" charset="2"/>
              </a:rPr>
              <a:t>, 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reduce A  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140310" name="Text Box 22"/>
          <p:cNvSpPr txBox="1">
            <a:spLocks noChangeArrowheads="1"/>
          </p:cNvSpPr>
          <p:nvPr/>
        </p:nvSpPr>
        <p:spPr bwMode="auto">
          <a:xfrm>
            <a:off x="6000627" y="2641236"/>
            <a:ext cx="1866217" cy="3231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</a:rPr>
              <a:t>shift 0 on top of stack</a:t>
            </a:r>
          </a:p>
        </p:txBody>
      </p:sp>
      <p:sp>
        <p:nvSpPr>
          <p:cNvPr id="140311" name="Text Box 23"/>
          <p:cNvSpPr txBox="1">
            <a:spLocks noChangeArrowheads="1"/>
          </p:cNvSpPr>
          <p:nvPr/>
        </p:nvSpPr>
        <p:spPr bwMode="auto">
          <a:xfrm>
            <a:off x="6000627" y="3307304"/>
            <a:ext cx="2920992" cy="3231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</a:rPr>
              <a:t>shift stack symbol A on top of stack</a:t>
            </a:r>
          </a:p>
        </p:txBody>
      </p:sp>
      <p:sp>
        <p:nvSpPr>
          <p:cNvPr id="140312" name="Text Box 24"/>
          <p:cNvSpPr txBox="1">
            <a:spLocks noChangeArrowheads="1"/>
          </p:cNvSpPr>
          <p:nvPr/>
        </p:nvSpPr>
        <p:spPr bwMode="auto">
          <a:xfrm>
            <a:off x="4292436" y="4670607"/>
            <a:ext cx="3800271" cy="3231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</a:rPr>
              <a:t>check that A is start symbol and stack is empty</a:t>
            </a:r>
          </a:p>
        </p:txBody>
      </p:sp>
      <p:cxnSp>
        <p:nvCxnSpPr>
          <p:cNvPr id="140313" name="AutoShape 25"/>
          <p:cNvCxnSpPr>
            <a:cxnSpLocks noChangeShapeType="1"/>
            <a:stCxn id="140310" idx="1"/>
            <a:endCxn id="140306" idx="2"/>
          </p:cNvCxnSpPr>
          <p:nvPr/>
        </p:nvCxnSpPr>
        <p:spPr bwMode="auto">
          <a:xfrm rot="10800000">
            <a:off x="5232993" y="2732331"/>
            <a:ext cx="767635" cy="70488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14" name="AutoShape 26"/>
          <p:cNvCxnSpPr>
            <a:cxnSpLocks noChangeShapeType="1"/>
            <a:stCxn id="140311" idx="1"/>
            <a:endCxn id="140307" idx="3"/>
          </p:cNvCxnSpPr>
          <p:nvPr/>
        </p:nvCxnSpPr>
        <p:spPr bwMode="auto">
          <a:xfrm rot="10800000">
            <a:off x="5327265" y="3385067"/>
            <a:ext cx="673363" cy="83821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16" name="AutoShape 28"/>
          <p:cNvCxnSpPr>
            <a:cxnSpLocks noChangeShapeType="1"/>
            <a:stCxn id="140312" idx="0"/>
            <a:endCxn id="140309" idx="2"/>
          </p:cNvCxnSpPr>
          <p:nvPr/>
        </p:nvCxnSpPr>
        <p:spPr bwMode="auto">
          <a:xfrm rot="16200000" flipH="1" flipV="1">
            <a:off x="4777026" y="3277450"/>
            <a:ext cx="22390" cy="2808703"/>
          </a:xfrm>
          <a:prstGeom prst="curvedConnector5">
            <a:avLst>
              <a:gd name="adj1" fmla="val -1020992"/>
              <a:gd name="adj2" fmla="val 74212"/>
              <a:gd name="adj3" fmla="val 112099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40317" name="Text Box 29"/>
          <p:cNvSpPr txBox="1">
            <a:spLocks noChangeArrowheads="1"/>
          </p:cNvSpPr>
          <p:nvPr/>
        </p:nvSpPr>
        <p:spPr bwMode="auto">
          <a:xfrm>
            <a:off x="628650" y="1033782"/>
            <a:ext cx="4991914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buFontTx/>
              <a:buChar char="•"/>
            </a:pPr>
            <a:r>
              <a:rPr lang="en-US" sz="1800" dirty="0">
                <a:latin typeface="Calibri" panose="020F0502020204030204" pitchFamily="34" charset="0"/>
              </a:rPr>
              <a:t> PDA has </a:t>
            </a:r>
          </a:p>
          <a:p>
            <a:pPr lvl="1">
              <a:buFontTx/>
              <a:buChar char="•"/>
            </a:pPr>
            <a:r>
              <a:rPr lang="en-US" sz="1800" dirty="0">
                <a:latin typeface="Calibri" panose="020F0502020204030204" pitchFamily="34" charset="0"/>
              </a:rPr>
              <a:t> an alphabet (terminals), </a:t>
            </a:r>
          </a:p>
          <a:p>
            <a:pPr lvl="1">
              <a:buFontTx/>
              <a:buChar char="•"/>
            </a:pPr>
            <a:r>
              <a:rPr lang="en-US" sz="1800" dirty="0">
                <a:latin typeface="Calibri" panose="020F0502020204030204" pitchFamily="34" charset="0"/>
              </a:rPr>
              <a:t> stack symbols (non-terminals and terminals), </a:t>
            </a:r>
          </a:p>
          <a:p>
            <a:pPr lvl="1">
              <a:buFontTx/>
              <a:buChar char="•"/>
            </a:pPr>
            <a:r>
              <a:rPr lang="en-US" sz="1800" dirty="0">
                <a:latin typeface="Calibri" panose="020F0502020204030204" pitchFamily="34" charset="0"/>
              </a:rPr>
              <a:t> a finite-state automaton,</a:t>
            </a:r>
          </a:p>
          <a:p>
            <a:pPr lvl="1">
              <a:buFontTx/>
              <a:buChar char="•"/>
            </a:pPr>
            <a:r>
              <a:rPr lang="en-US" sz="1800" dirty="0">
                <a:latin typeface="Calibri" panose="020F0502020204030204" pitchFamily="34" charset="0"/>
              </a:rPr>
              <a:t> stack</a:t>
            </a:r>
          </a:p>
        </p:txBody>
      </p:sp>
      <p:sp>
        <p:nvSpPr>
          <p:cNvPr id="140318" name="Text Box 30"/>
          <p:cNvSpPr txBox="1">
            <a:spLocks noChangeArrowheads="1"/>
          </p:cNvSpPr>
          <p:nvPr/>
        </p:nvSpPr>
        <p:spPr bwMode="auto">
          <a:xfrm>
            <a:off x="680319" y="2589314"/>
            <a:ext cx="2220960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</a:rPr>
              <a:t>e.g. PDA for language L = { 0</a:t>
            </a:r>
            <a:r>
              <a:rPr lang="en-US" sz="1800" baseline="30000" dirty="0">
                <a:latin typeface="Calibri" panose="020F0502020204030204" pitchFamily="34" charset="0"/>
              </a:rPr>
              <a:t>n</a:t>
            </a:r>
            <a:r>
              <a:rPr lang="en-US" sz="1800" dirty="0">
                <a:latin typeface="Calibri" panose="020F0502020204030204" pitchFamily="34" charset="0"/>
              </a:rPr>
              <a:t>1</a:t>
            </a:r>
            <a:r>
              <a:rPr lang="en-US" sz="1800" baseline="30000" dirty="0">
                <a:latin typeface="Calibri" panose="020F0502020204030204" pitchFamily="34" charset="0"/>
              </a:rPr>
              <a:t>n</a:t>
            </a:r>
            <a:r>
              <a:rPr lang="en-US" sz="1800" dirty="0">
                <a:latin typeface="Calibri" panose="020F0502020204030204" pitchFamily="34" charset="0"/>
              </a:rPr>
              <a:t> : n &gt;= 1 }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816684" y="3584540"/>
            <a:ext cx="383187" cy="1026540"/>
            <a:chOff x="4096520" y="4293096"/>
            <a:chExt cx="510916" cy="1368720"/>
          </a:xfrm>
        </p:grpSpPr>
        <p:cxnSp>
          <p:nvCxnSpPr>
            <p:cNvPr id="32" name="Straight Connector 31"/>
            <p:cNvCxnSpPr/>
            <p:nvPr/>
          </p:nvCxnSpPr>
          <p:spPr bwMode="auto">
            <a:xfrm>
              <a:off x="4103948" y="4293096"/>
              <a:ext cx="0" cy="13681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4600576" y="4293664"/>
              <a:ext cx="0" cy="13681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4103948" y="5661248"/>
              <a:ext cx="496628" cy="5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4096520" y="5300640"/>
              <a:ext cx="496628" cy="5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4110808" y="4969744"/>
              <a:ext cx="496628" cy="5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/>
            <p:cNvCxnSpPr/>
            <p:nvPr/>
          </p:nvCxnSpPr>
          <p:spPr bwMode="auto">
            <a:xfrm>
              <a:off x="4097088" y="4581128"/>
              <a:ext cx="496628" cy="5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9" name="Text Box 16"/>
          <p:cNvSpPr txBox="1">
            <a:spLocks noChangeArrowheads="1"/>
          </p:cNvSpPr>
          <p:nvPr/>
        </p:nvSpPr>
        <p:spPr bwMode="auto">
          <a:xfrm>
            <a:off x="1880980" y="4296757"/>
            <a:ext cx="2918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0</a:t>
            </a:r>
          </a:p>
        </p:txBody>
      </p:sp>
      <p:sp>
        <p:nvSpPr>
          <p:cNvPr id="40" name="Text Box 16"/>
          <p:cNvSpPr txBox="1">
            <a:spLocks noChangeArrowheads="1"/>
          </p:cNvSpPr>
          <p:nvPr/>
        </p:nvSpPr>
        <p:spPr bwMode="auto">
          <a:xfrm>
            <a:off x="1871116" y="4038020"/>
            <a:ext cx="2918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9F207D-FD39-6E4E-8761-962D8AB11EB6}"/>
              </a:ext>
            </a:extLst>
          </p:cNvPr>
          <p:cNvSpPr txBox="1"/>
          <p:nvPr/>
        </p:nvSpPr>
        <p:spPr>
          <a:xfrm>
            <a:off x="839788" y="4149202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Stack:</a:t>
            </a:r>
          </a:p>
        </p:txBody>
      </p:sp>
      <p:sp>
        <p:nvSpPr>
          <p:cNvPr id="46" name="Text Box 16">
            <a:extLst>
              <a:ext uri="{FF2B5EF4-FFF2-40B4-BE49-F238E27FC236}">
                <a16:creationId xmlns:a16="http://schemas.microsoft.com/office/drawing/2014/main" id="{BD27CAEB-1E71-6146-BEF9-8DCEA728B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9974" y="3768400"/>
            <a:ext cx="2918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A</a:t>
            </a:r>
          </a:p>
        </p:txBody>
      </p:sp>
      <p:sp>
        <p:nvSpPr>
          <p:cNvPr id="47" name="Text Box 16">
            <a:extLst>
              <a:ext uri="{FF2B5EF4-FFF2-40B4-BE49-F238E27FC236}">
                <a16:creationId xmlns:a16="http://schemas.microsoft.com/office/drawing/2014/main" id="{7A530EC4-3247-F347-9679-68CF1ACC7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9974" y="3467553"/>
            <a:ext cx="2918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EC870-C37D-4A4A-8F6B-D8A4736F888E}"/>
              </a:ext>
            </a:extLst>
          </p:cNvPr>
          <p:cNvSpPr/>
          <p:nvPr/>
        </p:nvSpPr>
        <p:spPr>
          <a:xfrm>
            <a:off x="6497487" y="288430"/>
            <a:ext cx="1296144" cy="364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Two actions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606636-B790-B64F-B7CA-15154507DFD5}"/>
              </a:ext>
            </a:extLst>
          </p:cNvPr>
          <p:cNvSpPr/>
          <p:nvPr/>
        </p:nvSpPr>
        <p:spPr>
          <a:xfrm>
            <a:off x="5860261" y="1009951"/>
            <a:ext cx="792088" cy="332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Shift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103AEA7-6BB7-1148-BE64-5964BA8E8073}"/>
              </a:ext>
            </a:extLst>
          </p:cNvPr>
          <p:cNvSpPr/>
          <p:nvPr/>
        </p:nvSpPr>
        <p:spPr>
          <a:xfrm>
            <a:off x="7640640" y="1013543"/>
            <a:ext cx="874710" cy="332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Reduce</a:t>
            </a:r>
          </a:p>
        </p:txBody>
      </p:sp>
      <p:sp>
        <p:nvSpPr>
          <p:cNvPr id="15" name="Bent Arrow 14">
            <a:extLst>
              <a:ext uri="{FF2B5EF4-FFF2-40B4-BE49-F238E27FC236}">
                <a16:creationId xmlns:a16="http://schemas.microsoft.com/office/drawing/2014/main" id="{94D7B500-8156-FB4C-BD79-F83CCB52F415}"/>
              </a:ext>
            </a:extLst>
          </p:cNvPr>
          <p:cNvSpPr/>
          <p:nvPr/>
        </p:nvSpPr>
        <p:spPr>
          <a:xfrm flipH="1" flipV="1">
            <a:off x="6691873" y="692873"/>
            <a:ext cx="343542" cy="55714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Bent Arrow 55">
            <a:extLst>
              <a:ext uri="{FF2B5EF4-FFF2-40B4-BE49-F238E27FC236}">
                <a16:creationId xmlns:a16="http://schemas.microsoft.com/office/drawing/2014/main" id="{45583FF5-E765-EA42-BCCC-AE03064DC81D}"/>
              </a:ext>
            </a:extLst>
          </p:cNvPr>
          <p:cNvSpPr/>
          <p:nvPr/>
        </p:nvSpPr>
        <p:spPr>
          <a:xfrm flipV="1">
            <a:off x="7235529" y="692873"/>
            <a:ext cx="343542" cy="55714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018559-DD30-EB47-9ADC-036A19F63146}"/>
              </a:ext>
            </a:extLst>
          </p:cNvPr>
          <p:cNvSpPr/>
          <p:nvPr/>
        </p:nvSpPr>
        <p:spPr>
          <a:xfrm>
            <a:off x="5601132" y="1485443"/>
            <a:ext cx="1287050" cy="5126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Push symbol on top of stack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314A2F4-655A-FA4C-B69C-29764A2EDB63}"/>
              </a:ext>
            </a:extLst>
          </p:cNvPr>
          <p:cNvSpPr/>
          <p:nvPr/>
        </p:nvSpPr>
        <p:spPr>
          <a:xfrm>
            <a:off x="7281909" y="1469282"/>
            <a:ext cx="1592172" cy="8937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Pop symbols from top of stack and push a new symbol on top of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3" grpId="0" animBg="1"/>
      <p:bldP spid="140295" grpId="0" animBg="1"/>
      <p:bldP spid="140296" grpId="0" animBg="1"/>
      <p:bldP spid="140298" grpId="0" animBg="1"/>
      <p:bldP spid="140306" grpId="0"/>
      <p:bldP spid="140307" grpId="0"/>
      <p:bldP spid="140308" grpId="0"/>
      <p:bldP spid="140309" grpId="0"/>
      <p:bldP spid="140310" grpId="0" animBg="1"/>
      <p:bldP spid="140311" grpId="0" animBg="1"/>
      <p:bldP spid="140312" grpId="0" animBg="1"/>
      <p:bldP spid="140317" grpId="0" build="p" bldLvl="2"/>
      <p:bldP spid="140318" grpId="0" animBg="1"/>
      <p:bldP spid="39" grpId="0"/>
      <p:bldP spid="40" grpId="0"/>
      <p:bldP spid="2" grpId="0"/>
      <p:bldP spid="46" grpId="0"/>
      <p:bldP spid="47" grpId="0"/>
      <p:bldP spid="12" grpId="0" animBg="1"/>
      <p:bldP spid="13" grpId="0" animBg="1"/>
      <p:bldP spid="53" grpId="0" animBg="1"/>
      <p:bldP spid="15" grpId="0" animBg="1"/>
      <p:bldP spid="56" grpId="0" animBg="1"/>
      <p:bldP spid="16" grpId="0" animBg="1"/>
      <p:bldP spid="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CFG[123]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100" dirty="0"/>
              <a:t>CFGs can be used describe </a:t>
            </a:r>
            <a:r>
              <a:rPr lang="en-US" dirty="0"/>
              <a:t>structure of programming languages</a:t>
            </a:r>
            <a:endParaRPr lang="en-US" sz="2100" dirty="0"/>
          </a:p>
          <a:p>
            <a:pPr>
              <a:lnSpc>
                <a:spcPct val="90000"/>
              </a:lnSpc>
            </a:pPr>
            <a:r>
              <a:rPr lang="en-US" sz="2100" dirty="0"/>
              <a:t>Derivations correspond to parse trees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Parse trees represent structure of input programs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There are ambiguous (non-deterministic) CFGs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Some forms of ambiguity can be fixed by changing the grammar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Context-free languages can be recognized using Pushdown Automata</a:t>
            </a:r>
          </a:p>
          <a:p>
            <a:pPr>
              <a:lnSpc>
                <a:spcPct val="90000"/>
              </a:lnSpc>
            </a:pPr>
            <a:r>
              <a:rPr lang="en-US" dirty="0"/>
              <a:t>This algorithm is called </a:t>
            </a:r>
            <a:r>
              <a:rPr lang="en-US" b="1" dirty="0"/>
              <a:t>shift-reduce parsing</a:t>
            </a:r>
            <a:endParaRPr lang="en-US" sz="2100" b="1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FA684-BEEE-A640-BD4B-D673202DE875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9101-CFD5-9F42-B155-24ADC97C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</p:spTree>
    <p:extLst>
      <p:ext uri="{BB962C8B-B14F-4D97-AF65-F5344CB8AC3E}">
        <p14:creationId xmlns:p14="http://schemas.microsoft.com/office/powerpoint/2010/main" val="2334569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 Languages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FA4EE-052C-BD4C-BAC6-E12282472540}" type="slidenum">
              <a:rPr lang="en-US"/>
              <a:pPr/>
              <a:t>8</a:t>
            </a:fld>
            <a:endParaRPr lang="en-US"/>
          </a:p>
        </p:txBody>
      </p:sp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5950" y="1543050"/>
            <a:ext cx="3952875" cy="409575"/>
          </a:xfrm>
          <a:prstGeom prst="rect">
            <a:avLst/>
          </a:prstGeom>
          <a:noFill/>
        </p:spPr>
      </p:pic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28800" y="2286000"/>
            <a:ext cx="2647950" cy="361950"/>
          </a:xfrm>
          <a:prstGeom prst="rect">
            <a:avLst/>
          </a:prstGeom>
          <a:noFill/>
        </p:spPr>
      </p:pic>
      <p:pic>
        <p:nvPicPr>
          <p:cNvPr id="9216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8800" y="2914650"/>
            <a:ext cx="5000625" cy="361950"/>
          </a:xfrm>
          <a:prstGeom prst="rect">
            <a:avLst/>
          </a:prstGeom>
          <a:noFill/>
        </p:spPr>
      </p:pic>
      <p:grpSp>
        <p:nvGrpSpPr>
          <p:cNvPr id="92168" name="Group 8"/>
          <p:cNvGrpSpPr>
            <a:grpSpLocks/>
          </p:cNvGrpSpPr>
          <p:nvPr/>
        </p:nvGrpSpPr>
        <p:grpSpPr bwMode="auto">
          <a:xfrm>
            <a:off x="1828800" y="3543300"/>
            <a:ext cx="2324100" cy="933450"/>
            <a:chOff x="576" y="3120"/>
            <a:chExt cx="1952" cy="784"/>
          </a:xfrm>
        </p:grpSpPr>
        <p:pic>
          <p:nvPicPr>
            <p:cNvPr id="92166" name="Picture 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76" y="3120"/>
              <a:ext cx="1952" cy="304"/>
            </a:xfrm>
            <a:prstGeom prst="rect">
              <a:avLst/>
            </a:prstGeom>
            <a:noFill/>
          </p:spPr>
        </p:pic>
        <p:pic>
          <p:nvPicPr>
            <p:cNvPr id="92167" name="Picture 7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76" y="3600"/>
              <a:ext cx="1664" cy="304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43397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Non-CF Languages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7ACC-B430-874F-A0D5-0163F1AFB9D4}" type="slidenum">
              <a:rPr lang="en-US"/>
              <a:pPr/>
              <a:t>9</a:t>
            </a:fld>
            <a:endParaRPr lang="en-US"/>
          </a:p>
        </p:txBody>
      </p:sp>
      <p:pic>
        <p:nvPicPr>
          <p:cNvPr id="901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5950" y="1714500"/>
            <a:ext cx="3743325" cy="361950"/>
          </a:xfrm>
          <a:prstGeom prst="rect">
            <a:avLst/>
          </a:prstGeom>
          <a:noFill/>
        </p:spPr>
      </p:pic>
      <p:pic>
        <p:nvPicPr>
          <p:cNvPr id="9011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85950" y="2457450"/>
            <a:ext cx="5000625" cy="361950"/>
          </a:xfrm>
          <a:prstGeom prst="rect">
            <a:avLst/>
          </a:prstGeom>
          <a:noFill/>
        </p:spPr>
      </p:pic>
      <p:pic>
        <p:nvPicPr>
          <p:cNvPr id="9011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85950" y="3200400"/>
            <a:ext cx="3419475" cy="361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75353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3549</TotalTime>
  <Words>330</Words>
  <Application>Microsoft Macintosh PowerPoint</Application>
  <PresentationFormat>On-screen Show (16:9)</PresentationFormat>
  <Paragraphs>73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</vt:lpstr>
      <vt:lpstr>Arial</vt:lpstr>
      <vt:lpstr>Calibri</vt:lpstr>
      <vt:lpstr>Calibri Light</vt:lpstr>
      <vt:lpstr>Times New Roman</vt:lpstr>
      <vt:lpstr>1_Office Theme</vt:lpstr>
      <vt:lpstr>Context-Free Grammars</vt:lpstr>
      <vt:lpstr>Context-free languages and Pushdown Automata</vt:lpstr>
      <vt:lpstr>Pushdown Automata</vt:lpstr>
      <vt:lpstr>Pushdown Automata</vt:lpstr>
      <vt:lpstr>Pushdown Automata</vt:lpstr>
      <vt:lpstr>Summary of CFG[123]</vt:lpstr>
      <vt:lpstr>Extra Slides</vt:lpstr>
      <vt:lpstr>CF Languages</vt:lpstr>
      <vt:lpstr>Non-CF Languages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825  Natural Language Processing</dc:title>
  <dc:creator>Anoop Sarkar</dc:creator>
  <cp:lastModifiedBy>Anoop Sarkar</cp:lastModifiedBy>
  <cp:revision>339</cp:revision>
  <cp:lastPrinted>2019-06-04T17:08:20Z</cp:lastPrinted>
  <dcterms:created xsi:type="dcterms:W3CDTF">2011-10-06T20:12:26Z</dcterms:created>
  <dcterms:modified xsi:type="dcterms:W3CDTF">2025-06-09T16:49:33Z</dcterms:modified>
</cp:coreProperties>
</file>