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64" r:id="rId3"/>
    <p:sldId id="262" r:id="rId4"/>
    <p:sldId id="258" r:id="rId5"/>
    <p:sldId id="265" r:id="rId6"/>
    <p:sldId id="266" r:id="rId7"/>
    <p:sldId id="260" r:id="rId8"/>
    <p:sldId id="267" r:id="rId9"/>
    <p:sldId id="261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9"/>
    <p:restoredTop sz="93401"/>
  </p:normalViewPr>
  <p:slideViewPr>
    <p:cSldViewPr snapToGrid="0" snapToObjects="1">
      <p:cViewPr>
        <p:scale>
          <a:sx n="156" d="100"/>
          <a:sy n="156" d="100"/>
        </p:scale>
        <p:origin x="2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1555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2025-06-01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2025-06-01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2025-06-01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8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2025-06-01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1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2025-06-01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3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2025-06-01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2025-06-01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3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2025-06-01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0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2025-06-01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2025-06-01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2025-06-01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67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1190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1828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F4AC7-DB73-7444-A2A7-FD79FE1A2B2B}" type="datetime1">
              <a:rPr lang="en-CA" smtClean="0"/>
              <a:t>2025-06-01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4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 sz="3300" dirty="0">
                <a:latin typeface="Calibri"/>
                <a:ea typeface="Calibri"/>
                <a:cs typeface="Calibri"/>
                <a:sym typeface="Calibri"/>
              </a:rPr>
              <a:t>Lexical Analysis</a:t>
            </a:r>
          </a:p>
        </p:txBody>
      </p:sp>
      <p:sp>
        <p:nvSpPr>
          <p:cNvPr id="147" name="Shape 14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Clr>
                <a:srgbClr val="888888"/>
              </a:buClr>
              <a:buSzPct val="25000"/>
            </a:pPr>
            <a:r>
              <a:rPr lang="en-US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 dirty="0" err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</a:t>
            </a:r>
            <a:r>
              <a:rPr lang="en-US" sz="18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/compilers-class</a:t>
            </a:r>
          </a:p>
        </p:txBody>
      </p:sp>
      <p:sp>
        <p:nvSpPr>
          <p:cNvPr id="148" name="Shape 148"/>
          <p:cNvSpPr/>
          <p:nvPr/>
        </p:nvSpPr>
        <p:spPr>
          <a:xfrm>
            <a:off x="6073554" y="361400"/>
            <a:ext cx="261832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buClr>
                <a:schemeClr val="dk1"/>
              </a:buClr>
              <a:buSzPct val="25000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LEX3: Regexps are 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41DD03-F1E5-2048-AF96-7C93F844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8BF63-F6B0-4849-A898-CA6CA0BC72D0}"/>
              </a:ext>
            </a:extLst>
          </p:cNvPr>
          <p:cNvSpPr txBox="1"/>
          <p:nvPr/>
        </p:nvSpPr>
        <p:spPr>
          <a:xfrm>
            <a:off x="7607808" y="4435023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xkcd.com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/208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E994611D-A0C0-8144-ADAF-E65080E5E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85" y="102393"/>
            <a:ext cx="3877564" cy="2184305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BC2EE48-D630-4F4A-AE6D-93D9D8987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02393"/>
            <a:ext cx="2802969" cy="21838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A3DEBF48-2FD1-EC4E-8111-ACCD3F63B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85" y="2428861"/>
            <a:ext cx="6812788" cy="231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2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D3370-7898-F641-AC5A-B518B134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are Trees</a:t>
            </a:r>
          </a:p>
        </p:txBody>
      </p:sp>
    </p:spTree>
    <p:extLst>
      <p:ext uri="{BB962C8B-B14F-4D97-AF65-F5344CB8AC3E}">
        <p14:creationId xmlns:p14="http://schemas.microsoft.com/office/powerpoint/2010/main" val="209498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 dirty="0"/>
              <a:t>Regular Expressions are ambiguous</a:t>
            </a:r>
          </a:p>
        </p:txBody>
      </p:sp>
      <p:sp>
        <p:nvSpPr>
          <p:cNvPr id="161" name="Shape 16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4</a:t>
            </a:fld>
            <a:endParaRPr lang="en-US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4D959-C502-1148-853C-F7276A0AB503}"/>
              </a:ext>
            </a:extLst>
          </p:cNvPr>
          <p:cNvSpPr txBox="1"/>
          <p:nvPr/>
        </p:nvSpPr>
        <p:spPr>
          <a:xfrm>
            <a:off x="628650" y="2450144"/>
            <a:ext cx="104241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ac|bc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BE7BA-C352-6348-A876-138473725B95}"/>
              </a:ext>
            </a:extLst>
          </p:cNvPr>
          <p:cNvSpPr txBox="1"/>
          <p:nvPr/>
        </p:nvSpPr>
        <p:spPr>
          <a:xfrm>
            <a:off x="2783586" y="1164964"/>
            <a:ext cx="20878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(((ac)|b)c)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34BCE-8AA8-C94B-A5A5-61D0E6C2B754}"/>
              </a:ext>
            </a:extLst>
          </p:cNvPr>
          <p:cNvSpPr txBox="1"/>
          <p:nvPr/>
        </p:nvSpPr>
        <p:spPr>
          <a:xfrm>
            <a:off x="2783586" y="1950123"/>
            <a:ext cx="20878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(a((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c|b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)c))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D3D26-16A2-364D-A7C0-3C20D6CE41A2}"/>
              </a:ext>
            </a:extLst>
          </p:cNvPr>
          <p:cNvSpPr txBox="1"/>
          <p:nvPr/>
        </p:nvSpPr>
        <p:spPr>
          <a:xfrm>
            <a:off x="2783586" y="2735282"/>
            <a:ext cx="20878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(a(c|(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8CA06-A621-794E-94ED-6952A6392EAE}"/>
              </a:ext>
            </a:extLst>
          </p:cNvPr>
          <p:cNvSpPr txBox="1"/>
          <p:nvPr/>
        </p:nvSpPr>
        <p:spPr>
          <a:xfrm>
            <a:off x="2783586" y="3520441"/>
            <a:ext cx="20878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((a(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c|b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))c)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91CE0-45CB-594F-92E7-1EAF55DCF5DC}"/>
              </a:ext>
            </a:extLst>
          </p:cNvPr>
          <p:cNvSpPr txBox="1"/>
          <p:nvPr/>
        </p:nvSpPr>
        <p:spPr>
          <a:xfrm>
            <a:off x="2783586" y="4305598"/>
            <a:ext cx="20878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((ac)|(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1AB00DC0-11A1-044F-9740-7BFC13B4E550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1671066" y="1395797"/>
            <a:ext cx="1112520" cy="12851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708424B-DAFC-CF4C-9191-2AA6D5F73F4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671066" y="2180956"/>
            <a:ext cx="1112520" cy="5000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EA1873A-5CD2-B546-B719-C1B1E2A2DDD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671066" y="2680977"/>
            <a:ext cx="1112520" cy="2851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82CFB917-CB47-A84B-8E04-81C82D39066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671066" y="2659567"/>
            <a:ext cx="1112520" cy="10917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8C3FB41-8324-2F45-A666-023D35D542C2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1671066" y="2680977"/>
            <a:ext cx="1112520" cy="185545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1B6E3A1-6FC4-1045-9F9B-DA30BFE32863}"/>
              </a:ext>
            </a:extLst>
          </p:cNvPr>
          <p:cNvSpPr/>
          <p:nvPr/>
        </p:nvSpPr>
        <p:spPr>
          <a:xfrm>
            <a:off x="5458206" y="1186159"/>
            <a:ext cx="3057144" cy="27384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Regexp</a:t>
            </a:r>
            <a:r>
              <a:rPr lang="en-US" dirty="0"/>
              <a:t> operator precedence rules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CEB905-A926-B148-B8D9-A395CDDDA78E}"/>
              </a:ext>
            </a:extLst>
          </p:cNvPr>
          <p:cNvSpPr/>
          <p:nvPr/>
        </p:nvSpPr>
        <p:spPr>
          <a:xfrm>
            <a:off x="5458206" y="1529088"/>
            <a:ext cx="3057144" cy="9451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/>
              <a:t>Grouping using parentheses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342900" indent="-342900">
              <a:buAutoNum type="arabicPeriod"/>
            </a:pPr>
            <a:r>
              <a:rPr lang="en-US" dirty="0"/>
              <a:t>Unary operator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</a:p>
          <a:p>
            <a:pPr marL="342900" indent="-342900">
              <a:buAutoNum type="arabicPeriod"/>
            </a:pPr>
            <a:r>
              <a:rPr lang="en-US" dirty="0"/>
              <a:t>Binary operator for concatenation</a:t>
            </a:r>
          </a:p>
          <a:p>
            <a:pPr marL="342900" indent="-342900">
              <a:buAutoNum type="arabicPeriod"/>
            </a:pPr>
            <a:r>
              <a:rPr lang="en-US" dirty="0"/>
              <a:t>Binary operator for alternation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</p:txBody>
      </p:sp>
      <p:sp>
        <p:nvSpPr>
          <p:cNvPr id="28" name="5-Point Star 27">
            <a:extLst>
              <a:ext uri="{FF2B5EF4-FFF2-40B4-BE49-F238E27FC236}">
                <a16:creationId xmlns:a16="http://schemas.microsoft.com/office/drawing/2014/main" id="{40CC447B-7D97-9549-A464-03D3D1F35CF3}"/>
              </a:ext>
            </a:extLst>
          </p:cNvPr>
          <p:cNvSpPr/>
          <p:nvPr/>
        </p:nvSpPr>
        <p:spPr>
          <a:xfrm>
            <a:off x="4791456" y="4187952"/>
            <a:ext cx="265176" cy="2651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FC19697C-7F88-B046-8B64-3102C6DAEFB0}"/>
              </a:ext>
            </a:extLst>
          </p:cNvPr>
          <p:cNvSpPr/>
          <p:nvPr/>
        </p:nvSpPr>
        <p:spPr>
          <a:xfrm>
            <a:off x="5395341" y="2904339"/>
            <a:ext cx="3338322" cy="811105"/>
          </a:xfrm>
          <a:prstGeom prst="wedgeRoundRectCallout">
            <a:avLst>
              <a:gd name="adj1" fmla="val -58267"/>
              <a:gd name="adj2" fmla="val -379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Q: Find the smallest set of strings that can find the above operator precedence rules for the </a:t>
            </a:r>
            <a:r>
              <a:rPr lang="en-US" dirty="0" err="1"/>
              <a:t>regexp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ac|bc</a:t>
            </a:r>
            <a:r>
              <a:rPr lang="en-US" dirty="0"/>
              <a:t>.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999CD0-3BB8-F743-AEAD-CB5D929937B7}"/>
              </a:ext>
            </a:extLst>
          </p:cNvPr>
          <p:cNvSpPr/>
          <p:nvPr/>
        </p:nvSpPr>
        <p:spPr>
          <a:xfrm>
            <a:off x="5425821" y="3830776"/>
            <a:ext cx="3307842" cy="5487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Hint: Compare the matching on input strings between the original </a:t>
            </a:r>
            <a:r>
              <a:rPr lang="en-US" sz="1200" dirty="0" err="1"/>
              <a:t>regexp</a:t>
            </a:r>
            <a:r>
              <a:rPr lang="en-US" sz="1200" dirty="0"/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ac|bc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/>
              <a:t>and the 5 unambiguous </a:t>
            </a:r>
            <a:r>
              <a:rPr lang="en-US" sz="1200" dirty="0" err="1"/>
              <a:t>regexps</a:t>
            </a:r>
            <a:r>
              <a:rPr lang="en-US" sz="1200" dirty="0"/>
              <a:t>.</a:t>
            </a:r>
          </a:p>
        </p:txBody>
      </p:sp>
      <p:sp>
        <p:nvSpPr>
          <p:cNvPr id="20" name="Rectangular Callout 19">
            <a:extLst>
              <a:ext uri="{FF2B5EF4-FFF2-40B4-BE49-F238E27FC236}">
                <a16:creationId xmlns:a16="http://schemas.microsoft.com/office/drawing/2014/main" id="{1303817E-DF11-FC4A-A0B4-7F8C29434704}"/>
              </a:ext>
            </a:extLst>
          </p:cNvPr>
          <p:cNvSpPr/>
          <p:nvPr/>
        </p:nvSpPr>
        <p:spPr>
          <a:xfrm>
            <a:off x="6986778" y="146063"/>
            <a:ext cx="2033630" cy="515140"/>
          </a:xfrm>
          <a:prstGeom prst="wedgeRectCallout">
            <a:avLst>
              <a:gd name="adj1" fmla="val -59261"/>
              <a:gd name="adj2" fmla="val 39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Q: How many possible trees for </a:t>
            </a:r>
            <a:r>
              <a:rPr lang="en-US" sz="1400" dirty="0" err="1"/>
              <a:t>regexp</a:t>
            </a:r>
            <a:r>
              <a:rPr lang="en-US" sz="1400" dirty="0"/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ab*|c*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B4BF9D43-1AC9-4D4F-9899-C14EEC116833}"/>
              </a:ext>
            </a:extLst>
          </p:cNvPr>
          <p:cNvSpPr/>
          <p:nvPr/>
        </p:nvSpPr>
        <p:spPr>
          <a:xfrm rot="5400000">
            <a:off x="2799641" y="1934068"/>
            <a:ext cx="173736" cy="20584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D499B071-DB16-0E48-AB52-197E376F37F2}"/>
              </a:ext>
            </a:extLst>
          </p:cNvPr>
          <p:cNvSpPr/>
          <p:nvPr/>
        </p:nvSpPr>
        <p:spPr>
          <a:xfrm rot="5400000">
            <a:off x="2799641" y="3504386"/>
            <a:ext cx="173736" cy="20584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25" grpId="0" animBg="1"/>
      <p:bldP spid="27" grpId="0" animBg="1"/>
      <p:bldP spid="28" grpId="0" animBg="1"/>
      <p:bldP spid="28" grpId="1" animBg="1"/>
      <p:bldP spid="29" grpId="0" animBg="1"/>
      <p:bldP spid="30" grpId="0" animBg="1"/>
      <p:bldP spid="20" grpId="0" animBg="1"/>
      <p:bldP spid="2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A6218-A678-694F-A9E0-2ECFC74E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are trees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5C194-F7F7-444B-BF0A-A0ED82A4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</a:t>
            </a:fld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FB8180C-45C2-4D4A-8A4B-F1953433CE34}"/>
              </a:ext>
            </a:extLst>
          </p:cNvPr>
          <p:cNvGrpSpPr/>
          <p:nvPr/>
        </p:nvGrpSpPr>
        <p:grpSpPr>
          <a:xfrm>
            <a:off x="744420" y="1304714"/>
            <a:ext cx="1783117" cy="3468442"/>
            <a:chOff x="1421076" y="1324661"/>
            <a:chExt cx="1783117" cy="346844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5B2E8F-ED16-754F-B72E-98BCAA4696A9}"/>
                </a:ext>
              </a:extLst>
            </p:cNvPr>
            <p:cNvSpPr txBox="1"/>
            <p:nvPr/>
          </p:nvSpPr>
          <p:spPr>
            <a:xfrm>
              <a:off x="1760522" y="3280039"/>
              <a:ext cx="1032887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ac|bc</a:t>
              </a:r>
              <a:endParaRPr 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6A7CDE1-1617-D342-BE2E-7B6B5B300A6C}"/>
                </a:ext>
              </a:extLst>
            </p:cNvPr>
            <p:cNvGrpSpPr/>
            <p:nvPr/>
          </p:nvGrpSpPr>
          <p:grpSpPr>
            <a:xfrm>
              <a:off x="1421076" y="1324661"/>
              <a:ext cx="1702207" cy="1347180"/>
              <a:chOff x="3407898" y="1901543"/>
              <a:chExt cx="1702207" cy="1347180"/>
            </a:xfrm>
          </p:grpSpPr>
          <p:sp>
            <p:nvSpPr>
              <p:cNvPr id="6" name="Shape 188">
                <a:extLst>
                  <a:ext uri="{FF2B5EF4-FFF2-40B4-BE49-F238E27FC236}">
                    <a16:creationId xmlns:a16="http://schemas.microsoft.com/office/drawing/2014/main" id="{EA46820A-8D89-FA45-A0EB-20EE5A722850}"/>
                  </a:ext>
                </a:extLst>
              </p:cNvPr>
              <p:cNvSpPr txBox="1"/>
              <p:nvPr/>
            </p:nvSpPr>
            <p:spPr>
              <a:xfrm>
                <a:off x="3636497" y="2515299"/>
                <a:ext cx="185738" cy="297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⋅</a:t>
                </a:r>
              </a:p>
            </p:txBody>
          </p:sp>
          <p:sp>
            <p:nvSpPr>
              <p:cNvPr id="7" name="Shape 189">
                <a:extLst>
                  <a:ext uri="{FF2B5EF4-FFF2-40B4-BE49-F238E27FC236}">
                    <a16:creationId xmlns:a16="http://schemas.microsoft.com/office/drawing/2014/main" id="{D0A8D95C-7E2F-7B4F-B164-D22FF9678EE1}"/>
                  </a:ext>
                </a:extLst>
              </p:cNvPr>
              <p:cNvSpPr txBox="1"/>
              <p:nvPr/>
            </p:nvSpPr>
            <p:spPr>
              <a:xfrm>
                <a:off x="3407898" y="2948686"/>
                <a:ext cx="230981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a</a:t>
                </a:r>
              </a:p>
            </p:txBody>
          </p:sp>
          <p:sp>
            <p:nvSpPr>
              <p:cNvPr id="8" name="Shape 190">
                <a:extLst>
                  <a:ext uri="{FF2B5EF4-FFF2-40B4-BE49-F238E27FC236}">
                    <a16:creationId xmlns:a16="http://schemas.microsoft.com/office/drawing/2014/main" id="{C356466D-40FB-8945-A735-3442320ADB13}"/>
                  </a:ext>
                </a:extLst>
              </p:cNvPr>
              <p:cNvSpPr txBox="1"/>
              <p:nvPr/>
            </p:nvSpPr>
            <p:spPr>
              <a:xfrm>
                <a:off x="3807947" y="2947495"/>
                <a:ext cx="230981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c</a:t>
                </a:r>
              </a:p>
            </p:txBody>
          </p:sp>
          <p:sp>
            <p:nvSpPr>
              <p:cNvPr id="9" name="Shape 191">
                <a:extLst>
                  <a:ext uri="{FF2B5EF4-FFF2-40B4-BE49-F238E27FC236}">
                    <a16:creationId xmlns:a16="http://schemas.microsoft.com/office/drawing/2014/main" id="{A74686EC-B3D0-C149-B3C4-226C649ABE1B}"/>
                  </a:ext>
                </a:extLst>
              </p:cNvPr>
              <p:cNvSpPr txBox="1"/>
              <p:nvPr/>
            </p:nvSpPr>
            <p:spPr>
              <a:xfrm>
                <a:off x="4133956" y="1901543"/>
                <a:ext cx="252195" cy="387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|</a:t>
                </a:r>
              </a:p>
            </p:txBody>
          </p:sp>
          <p:cxnSp>
            <p:nvCxnSpPr>
              <p:cNvPr id="15" name="Shape 197">
                <a:extLst>
                  <a:ext uri="{FF2B5EF4-FFF2-40B4-BE49-F238E27FC236}">
                    <a16:creationId xmlns:a16="http://schemas.microsoft.com/office/drawing/2014/main" id="{77019DF5-4DCA-1D48-9F55-1AA213D42889}"/>
                  </a:ext>
                </a:extLst>
              </p:cNvPr>
              <p:cNvCxnSpPr>
                <a:cxnSpLocks/>
                <a:stCxn id="9" idx="2"/>
                <a:endCxn id="6" idx="0"/>
              </p:cNvCxnSpPr>
              <p:nvPr/>
            </p:nvCxnSpPr>
            <p:spPr>
              <a:xfrm flipH="1">
                <a:off x="3729366" y="2289383"/>
                <a:ext cx="530688" cy="22591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6" name="Shape 198">
                <a:extLst>
                  <a:ext uri="{FF2B5EF4-FFF2-40B4-BE49-F238E27FC236}">
                    <a16:creationId xmlns:a16="http://schemas.microsoft.com/office/drawing/2014/main" id="{0BE30963-A167-4B4D-A09C-ED9C263046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4951" y="2432767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7" name="Shape 199">
                <a:extLst>
                  <a:ext uri="{FF2B5EF4-FFF2-40B4-BE49-F238E27FC236}">
                    <a16:creationId xmlns:a16="http://schemas.microsoft.com/office/drawing/2014/main" id="{9195FA54-87DB-254B-AA89-7A1CB4765490}"/>
                  </a:ext>
                </a:extLst>
              </p:cNvPr>
              <p:cNvCxnSpPr>
                <a:cxnSpLocks/>
                <a:stCxn id="9" idx="2"/>
                <a:endCxn id="23" idx="0"/>
              </p:cNvCxnSpPr>
              <p:nvPr/>
            </p:nvCxnSpPr>
            <p:spPr>
              <a:xfrm>
                <a:off x="4260054" y="2289383"/>
                <a:ext cx="540489" cy="21915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8" name="Shape 200">
                <a:extLst>
                  <a:ext uri="{FF2B5EF4-FFF2-40B4-BE49-F238E27FC236}">
                    <a16:creationId xmlns:a16="http://schemas.microsoft.com/office/drawing/2014/main" id="{1B44AAAD-F9A5-5B4A-AFFA-7C7C9E89F2D6}"/>
                  </a:ext>
                </a:extLst>
              </p:cNvPr>
              <p:cNvCxnSpPr>
                <a:stCxn id="6" idx="2"/>
                <a:endCxn id="7" idx="0"/>
              </p:cNvCxnSpPr>
              <p:nvPr/>
            </p:nvCxnSpPr>
            <p:spPr>
              <a:xfrm flipH="1">
                <a:off x="3523491" y="2812954"/>
                <a:ext cx="205875" cy="1356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9" name="Shape 201">
                <a:extLst>
                  <a:ext uri="{FF2B5EF4-FFF2-40B4-BE49-F238E27FC236}">
                    <a16:creationId xmlns:a16="http://schemas.microsoft.com/office/drawing/2014/main" id="{CBAA50FA-0E50-A44C-8162-F42B2E3E1E48}"/>
                  </a:ext>
                </a:extLst>
              </p:cNvPr>
              <p:cNvCxnSpPr>
                <a:endCxn id="8" idx="0"/>
              </p:cNvCxnSpPr>
              <p:nvPr/>
            </p:nvCxnSpPr>
            <p:spPr>
              <a:xfrm>
                <a:off x="3729263" y="2812945"/>
                <a:ext cx="194174" cy="134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23" name="Shape 188">
                <a:extLst>
                  <a:ext uri="{FF2B5EF4-FFF2-40B4-BE49-F238E27FC236}">
                    <a16:creationId xmlns:a16="http://schemas.microsoft.com/office/drawing/2014/main" id="{DB5EC6CA-8965-AB43-9EC5-86112C382C8D}"/>
                  </a:ext>
                </a:extLst>
              </p:cNvPr>
              <p:cNvSpPr txBox="1"/>
              <p:nvPr/>
            </p:nvSpPr>
            <p:spPr>
              <a:xfrm>
                <a:off x="4707674" y="2508534"/>
                <a:ext cx="185738" cy="297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⋅</a:t>
                </a:r>
              </a:p>
            </p:txBody>
          </p:sp>
          <p:sp>
            <p:nvSpPr>
              <p:cNvPr id="24" name="Shape 189">
                <a:extLst>
                  <a:ext uri="{FF2B5EF4-FFF2-40B4-BE49-F238E27FC236}">
                    <a16:creationId xmlns:a16="http://schemas.microsoft.com/office/drawing/2014/main" id="{E38ADE82-6058-AA4B-903C-DBDA47F42E71}"/>
                  </a:ext>
                </a:extLst>
              </p:cNvPr>
              <p:cNvSpPr txBox="1"/>
              <p:nvPr/>
            </p:nvSpPr>
            <p:spPr>
              <a:xfrm>
                <a:off x="4479075" y="2941921"/>
                <a:ext cx="230981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b</a:t>
                </a:r>
              </a:p>
            </p:txBody>
          </p:sp>
          <p:sp>
            <p:nvSpPr>
              <p:cNvPr id="25" name="Shape 190">
                <a:extLst>
                  <a:ext uri="{FF2B5EF4-FFF2-40B4-BE49-F238E27FC236}">
                    <a16:creationId xmlns:a16="http://schemas.microsoft.com/office/drawing/2014/main" id="{1B1D9409-1F2B-594D-926D-681FC0E5E956}"/>
                  </a:ext>
                </a:extLst>
              </p:cNvPr>
              <p:cNvSpPr txBox="1"/>
              <p:nvPr/>
            </p:nvSpPr>
            <p:spPr>
              <a:xfrm>
                <a:off x="4879124" y="2940730"/>
                <a:ext cx="230981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onsolas" panose="020B0609020204030204" pitchFamily="49" charset="0"/>
                    <a:ea typeface="Calibri"/>
                    <a:cs typeface="Consolas" panose="020B0609020204030204" pitchFamily="49" charset="0"/>
                    <a:sym typeface="Calibri"/>
                  </a:rPr>
                  <a:t>c</a:t>
                </a:r>
              </a:p>
            </p:txBody>
          </p:sp>
          <p:cxnSp>
            <p:nvCxnSpPr>
              <p:cNvPr id="26" name="Shape 200">
                <a:extLst>
                  <a:ext uri="{FF2B5EF4-FFF2-40B4-BE49-F238E27FC236}">
                    <a16:creationId xmlns:a16="http://schemas.microsoft.com/office/drawing/2014/main" id="{DEBAFF45-41B3-B147-AFCD-B54884456227}"/>
                  </a:ext>
                </a:extLst>
              </p:cNvPr>
              <p:cNvCxnSpPr>
                <a:stCxn id="23" idx="2"/>
                <a:endCxn id="24" idx="0"/>
              </p:cNvCxnSpPr>
              <p:nvPr/>
            </p:nvCxnSpPr>
            <p:spPr>
              <a:xfrm flipH="1">
                <a:off x="4594668" y="2806189"/>
                <a:ext cx="205875" cy="1356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27" name="Shape 201">
                <a:extLst>
                  <a:ext uri="{FF2B5EF4-FFF2-40B4-BE49-F238E27FC236}">
                    <a16:creationId xmlns:a16="http://schemas.microsoft.com/office/drawing/2014/main" id="{B2A65B6F-2606-D244-BEBB-C41762DAD1FB}"/>
                  </a:ext>
                </a:extLst>
              </p:cNvPr>
              <p:cNvCxnSpPr>
                <a:endCxn id="25" idx="0"/>
              </p:cNvCxnSpPr>
              <p:nvPr/>
            </p:nvCxnSpPr>
            <p:spPr>
              <a:xfrm>
                <a:off x="4800440" y="2806180"/>
                <a:ext cx="194174" cy="134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70" name="Rounded Rectangular Callout 69">
              <a:extLst>
                <a:ext uri="{FF2B5EF4-FFF2-40B4-BE49-F238E27FC236}">
                  <a16:creationId xmlns:a16="http://schemas.microsoft.com/office/drawing/2014/main" id="{818B856B-51A1-6340-9D32-17121AFF84D6}"/>
                </a:ext>
              </a:extLst>
            </p:cNvPr>
            <p:cNvSpPr/>
            <p:nvPr/>
          </p:nvSpPr>
          <p:spPr>
            <a:xfrm>
              <a:off x="1421076" y="4369240"/>
              <a:ext cx="1783117" cy="423863"/>
            </a:xfrm>
            <a:prstGeom prst="wedgeRoundRectCallout">
              <a:avLst>
                <a:gd name="adj1" fmla="val -6474"/>
                <a:gd name="adj2" fmla="val -135972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((ac)|(</a:t>
              </a:r>
              <a:r>
                <a:rPr lang="en-US" sz="20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bc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))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349D020-4567-7E4F-B5DA-0709C5AD8044}"/>
              </a:ext>
            </a:extLst>
          </p:cNvPr>
          <p:cNvGrpSpPr/>
          <p:nvPr/>
        </p:nvGrpSpPr>
        <p:grpSpPr>
          <a:xfrm>
            <a:off x="3532551" y="1262123"/>
            <a:ext cx="1243729" cy="3510133"/>
            <a:chOff x="4209207" y="1282070"/>
            <a:chExt cx="1243729" cy="351013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3D6AAD-7476-1041-9FEF-2E84F5FE403F}"/>
                </a:ext>
              </a:extLst>
            </p:cNvPr>
            <p:cNvGrpSpPr/>
            <p:nvPr/>
          </p:nvGrpSpPr>
          <p:grpSpPr>
            <a:xfrm>
              <a:off x="4721217" y="1282070"/>
              <a:ext cx="252195" cy="1390495"/>
              <a:chOff x="4553310" y="1380135"/>
              <a:chExt cx="252195" cy="1390495"/>
            </a:xfrm>
          </p:grpSpPr>
          <p:sp>
            <p:nvSpPr>
              <p:cNvPr id="45" name="Shape 193">
                <a:extLst>
                  <a:ext uri="{FF2B5EF4-FFF2-40B4-BE49-F238E27FC236}">
                    <a16:creationId xmlns:a16="http://schemas.microsoft.com/office/drawing/2014/main" id="{8024CF2B-2EA2-5644-B1FF-3A292AFC4D45}"/>
                  </a:ext>
                </a:extLst>
              </p:cNvPr>
              <p:cNvSpPr txBox="1"/>
              <p:nvPr/>
            </p:nvSpPr>
            <p:spPr>
              <a:xfrm>
                <a:off x="4554712" y="1944437"/>
                <a:ext cx="249390" cy="29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</a:t>
                </a:r>
              </a:p>
            </p:txBody>
          </p:sp>
          <p:sp>
            <p:nvSpPr>
              <p:cNvPr id="46" name="Shape 194">
                <a:extLst>
                  <a:ext uri="{FF2B5EF4-FFF2-40B4-BE49-F238E27FC236}">
                    <a16:creationId xmlns:a16="http://schemas.microsoft.com/office/drawing/2014/main" id="{FA66CC39-E56C-5343-BCA4-16C04D55AFE5}"/>
                  </a:ext>
                </a:extLst>
              </p:cNvPr>
              <p:cNvSpPr txBox="1"/>
              <p:nvPr/>
            </p:nvSpPr>
            <p:spPr>
              <a:xfrm>
                <a:off x="4553310" y="1380135"/>
                <a:ext cx="252195" cy="29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</a:t>
                </a:r>
              </a:p>
            </p:txBody>
          </p:sp>
          <p:cxnSp>
            <p:nvCxnSpPr>
              <p:cNvPr id="47" name="Shape 196">
                <a:extLst>
                  <a:ext uri="{FF2B5EF4-FFF2-40B4-BE49-F238E27FC236}">
                    <a16:creationId xmlns:a16="http://schemas.microsoft.com/office/drawing/2014/main" id="{683FC0D6-0BDD-5347-8FAF-C72491EDCDD3}"/>
                  </a:ext>
                </a:extLst>
              </p:cNvPr>
              <p:cNvCxnSpPr>
                <a:cxnSpLocks/>
                <a:stCxn id="46" idx="2"/>
                <a:endCxn id="45" idx="0"/>
              </p:cNvCxnSpPr>
              <p:nvPr/>
            </p:nvCxnSpPr>
            <p:spPr>
              <a:xfrm flipH="1">
                <a:off x="4679407" y="1677810"/>
                <a:ext cx="1" cy="26662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48" name="Shape 193">
                <a:extLst>
                  <a:ext uri="{FF2B5EF4-FFF2-40B4-BE49-F238E27FC236}">
                    <a16:creationId xmlns:a16="http://schemas.microsoft.com/office/drawing/2014/main" id="{B4F2AD12-9358-3347-B03D-F738FB34894B}"/>
                  </a:ext>
                </a:extLst>
              </p:cNvPr>
              <p:cNvSpPr txBox="1"/>
              <p:nvPr/>
            </p:nvSpPr>
            <p:spPr>
              <a:xfrm>
                <a:off x="4568032" y="2472955"/>
                <a:ext cx="222750" cy="29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</a:p>
            </p:txBody>
          </p:sp>
          <p:cxnSp>
            <p:nvCxnSpPr>
              <p:cNvPr id="49" name="Shape 196">
                <a:extLst>
                  <a:ext uri="{FF2B5EF4-FFF2-40B4-BE49-F238E27FC236}">
                    <a16:creationId xmlns:a16="http://schemas.microsoft.com/office/drawing/2014/main" id="{4B2F7399-A432-514F-8E2A-8229E4559B80}"/>
                  </a:ext>
                </a:extLst>
              </p:cNvPr>
              <p:cNvCxnSpPr>
                <a:cxnSpLocks/>
                <a:stCxn id="45" idx="2"/>
                <a:endCxn id="48" idx="0"/>
              </p:cNvCxnSpPr>
              <p:nvPr/>
            </p:nvCxnSpPr>
            <p:spPr>
              <a:xfrm>
                <a:off x="4679407" y="2242112"/>
                <a:ext cx="0" cy="23084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9BF2EBB-3CDF-DB41-9F77-FD67B6F5D4B4}"/>
                </a:ext>
              </a:extLst>
            </p:cNvPr>
            <p:cNvSpPr txBox="1"/>
            <p:nvPr/>
          </p:nvSpPr>
          <p:spPr>
            <a:xfrm>
              <a:off x="4484571" y="3341727"/>
              <a:ext cx="725485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a**</a:t>
              </a:r>
            </a:p>
          </p:txBody>
        </p:sp>
        <p:sp>
          <p:nvSpPr>
            <p:cNvPr id="71" name="Rounded Rectangular Callout 70">
              <a:extLst>
                <a:ext uri="{FF2B5EF4-FFF2-40B4-BE49-F238E27FC236}">
                  <a16:creationId xmlns:a16="http://schemas.microsoft.com/office/drawing/2014/main" id="{CA007B46-E805-8143-AE22-C38FDC2635B2}"/>
                </a:ext>
              </a:extLst>
            </p:cNvPr>
            <p:cNvSpPr/>
            <p:nvPr/>
          </p:nvSpPr>
          <p:spPr>
            <a:xfrm>
              <a:off x="4209207" y="4368339"/>
              <a:ext cx="1243729" cy="423864"/>
            </a:xfrm>
            <a:prstGeom prst="wedgeRoundRectCallout">
              <a:avLst>
                <a:gd name="adj1" fmla="val -6474"/>
                <a:gd name="adj2" fmla="val -135972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((a*)*)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3B3E757-720F-7C4E-80CB-B198ECA70C28}"/>
              </a:ext>
            </a:extLst>
          </p:cNvPr>
          <p:cNvGrpSpPr/>
          <p:nvPr/>
        </p:nvGrpSpPr>
        <p:grpSpPr>
          <a:xfrm>
            <a:off x="5474892" y="1336542"/>
            <a:ext cx="1489164" cy="3435714"/>
            <a:chOff x="6151548" y="1356489"/>
            <a:chExt cx="1489164" cy="343571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F9813F6-D0C1-944F-BED3-9E215B74771E}"/>
                </a:ext>
              </a:extLst>
            </p:cNvPr>
            <p:cNvGrpSpPr/>
            <p:nvPr/>
          </p:nvGrpSpPr>
          <p:grpSpPr>
            <a:xfrm>
              <a:off x="6384186" y="1356489"/>
              <a:ext cx="1097112" cy="1152788"/>
              <a:chOff x="6966191" y="3073061"/>
              <a:chExt cx="1097112" cy="1152788"/>
            </a:xfrm>
          </p:grpSpPr>
          <p:sp>
            <p:nvSpPr>
              <p:cNvPr id="51" name="Shape 173">
                <a:extLst>
                  <a:ext uri="{FF2B5EF4-FFF2-40B4-BE49-F238E27FC236}">
                    <a16:creationId xmlns:a16="http://schemas.microsoft.com/office/drawing/2014/main" id="{ACE2571E-E26E-6C47-B740-197CE5E2F4A3}"/>
                  </a:ext>
                </a:extLst>
              </p:cNvPr>
              <p:cNvSpPr txBox="1"/>
              <p:nvPr/>
            </p:nvSpPr>
            <p:spPr>
              <a:xfrm>
                <a:off x="7840657" y="3508830"/>
                <a:ext cx="222646" cy="297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</a:p>
            </p:txBody>
          </p:sp>
          <p:sp>
            <p:nvSpPr>
              <p:cNvPr id="52" name="Shape 174">
                <a:extLst>
                  <a:ext uri="{FF2B5EF4-FFF2-40B4-BE49-F238E27FC236}">
                    <a16:creationId xmlns:a16="http://schemas.microsoft.com/office/drawing/2014/main" id="{11E6BAC5-AA49-9842-B376-4E6EA5D86B20}"/>
                  </a:ext>
                </a:extLst>
              </p:cNvPr>
              <p:cNvSpPr txBox="1"/>
              <p:nvPr/>
            </p:nvSpPr>
            <p:spPr>
              <a:xfrm>
                <a:off x="7194791" y="3480518"/>
                <a:ext cx="22740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⋅</a:t>
                </a:r>
              </a:p>
            </p:txBody>
          </p:sp>
          <p:sp>
            <p:nvSpPr>
              <p:cNvPr id="53" name="Shape 175">
                <a:extLst>
                  <a:ext uri="{FF2B5EF4-FFF2-40B4-BE49-F238E27FC236}">
                    <a16:creationId xmlns:a16="http://schemas.microsoft.com/office/drawing/2014/main" id="{A2A6CC25-10D2-8744-A12D-22889E21DA79}"/>
                  </a:ext>
                </a:extLst>
              </p:cNvPr>
              <p:cNvSpPr txBox="1"/>
              <p:nvPr/>
            </p:nvSpPr>
            <p:spPr>
              <a:xfrm>
                <a:off x="6966191" y="3925811"/>
                <a:ext cx="230981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</a:p>
            </p:txBody>
          </p:sp>
          <p:sp>
            <p:nvSpPr>
              <p:cNvPr id="54" name="Shape 176">
                <a:extLst>
                  <a:ext uri="{FF2B5EF4-FFF2-40B4-BE49-F238E27FC236}">
                    <a16:creationId xmlns:a16="http://schemas.microsoft.com/office/drawing/2014/main" id="{77E8C164-8F66-DB44-86D7-D876FABC8825}"/>
                  </a:ext>
                </a:extLst>
              </p:cNvPr>
              <p:cNvSpPr txBox="1"/>
              <p:nvPr/>
            </p:nvSpPr>
            <p:spPr>
              <a:xfrm>
                <a:off x="7366240" y="3924621"/>
                <a:ext cx="23931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</a:p>
            </p:txBody>
          </p:sp>
          <p:cxnSp>
            <p:nvCxnSpPr>
              <p:cNvPr id="55" name="Shape 177">
                <a:extLst>
                  <a:ext uri="{FF2B5EF4-FFF2-40B4-BE49-F238E27FC236}">
                    <a16:creationId xmlns:a16="http://schemas.microsoft.com/office/drawing/2014/main" id="{C465F7AD-055E-F44B-8646-4CFE95E81A2C}"/>
                  </a:ext>
                </a:extLst>
              </p:cNvPr>
              <p:cNvCxnSpPr>
                <a:stCxn id="52" idx="2"/>
                <a:endCxn id="54" idx="0"/>
              </p:cNvCxnSpPr>
              <p:nvPr/>
            </p:nvCxnSpPr>
            <p:spPr>
              <a:xfrm>
                <a:off x="7308495" y="3780555"/>
                <a:ext cx="177299" cy="14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" name="Shape 180">
                <a:extLst>
                  <a:ext uri="{FF2B5EF4-FFF2-40B4-BE49-F238E27FC236}">
                    <a16:creationId xmlns:a16="http://schemas.microsoft.com/office/drawing/2014/main" id="{FF576327-DB34-5649-B3FA-E04B04A4F7FC}"/>
                  </a:ext>
                </a:extLst>
              </p:cNvPr>
              <p:cNvSpPr txBox="1"/>
              <p:nvPr/>
            </p:nvSpPr>
            <p:spPr>
              <a:xfrm>
                <a:off x="7554906" y="3073061"/>
                <a:ext cx="185737" cy="297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⋅</a:t>
                </a:r>
              </a:p>
            </p:txBody>
          </p:sp>
          <p:cxnSp>
            <p:nvCxnSpPr>
              <p:cNvPr id="57" name="Shape 181">
                <a:extLst>
                  <a:ext uri="{FF2B5EF4-FFF2-40B4-BE49-F238E27FC236}">
                    <a16:creationId xmlns:a16="http://schemas.microsoft.com/office/drawing/2014/main" id="{BA60470B-DCB2-224B-A2B5-1ECCAED3B62D}"/>
                  </a:ext>
                </a:extLst>
              </p:cNvPr>
              <p:cNvCxnSpPr>
                <a:cxnSpLocks/>
                <a:stCxn id="56" idx="2"/>
                <a:endCxn id="52" idx="0"/>
              </p:cNvCxnSpPr>
              <p:nvPr/>
            </p:nvCxnSpPr>
            <p:spPr>
              <a:xfrm flipH="1">
                <a:off x="7308496" y="3370717"/>
                <a:ext cx="339279" cy="1098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8" name="Shape 182">
                <a:extLst>
                  <a:ext uri="{FF2B5EF4-FFF2-40B4-BE49-F238E27FC236}">
                    <a16:creationId xmlns:a16="http://schemas.microsoft.com/office/drawing/2014/main" id="{D19E976B-C8D5-5E49-B991-D5AB98A01759}"/>
                  </a:ext>
                </a:extLst>
              </p:cNvPr>
              <p:cNvCxnSpPr>
                <a:stCxn id="56" idx="2"/>
                <a:endCxn id="51" idx="0"/>
              </p:cNvCxnSpPr>
              <p:nvPr/>
            </p:nvCxnSpPr>
            <p:spPr>
              <a:xfrm>
                <a:off x="7647775" y="3370717"/>
                <a:ext cx="304200" cy="1381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9" name="Shape 185">
                <a:extLst>
                  <a:ext uri="{FF2B5EF4-FFF2-40B4-BE49-F238E27FC236}">
                    <a16:creationId xmlns:a16="http://schemas.microsoft.com/office/drawing/2014/main" id="{859AAF8A-E6FA-244E-B53A-AB84C8C37B4E}"/>
                  </a:ext>
                </a:extLst>
              </p:cNvPr>
              <p:cNvCxnSpPr>
                <a:cxnSpLocks/>
                <a:stCxn id="52" idx="2"/>
                <a:endCxn id="53" idx="0"/>
              </p:cNvCxnSpPr>
              <p:nvPr/>
            </p:nvCxnSpPr>
            <p:spPr>
              <a:xfrm flipH="1">
                <a:off x="7081682" y="3780556"/>
                <a:ext cx="226814" cy="1452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60" name="Shape 186">
                <a:extLst>
                  <a:ext uri="{FF2B5EF4-FFF2-40B4-BE49-F238E27FC236}">
                    <a16:creationId xmlns:a16="http://schemas.microsoft.com/office/drawing/2014/main" id="{AA182712-A079-114F-9D31-0A16D89E7C6E}"/>
                  </a:ext>
                </a:extLst>
              </p:cNvPr>
              <p:cNvCxnSpPr>
                <a:stCxn id="52" idx="2"/>
                <a:endCxn id="54" idx="0"/>
              </p:cNvCxnSpPr>
              <p:nvPr/>
            </p:nvCxnSpPr>
            <p:spPr>
              <a:xfrm>
                <a:off x="7308495" y="3780555"/>
                <a:ext cx="177299" cy="14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E0E6977-F16A-1941-8074-BBA375E94CA8}"/>
                </a:ext>
              </a:extLst>
            </p:cNvPr>
            <p:cNvSpPr txBox="1"/>
            <p:nvPr/>
          </p:nvSpPr>
          <p:spPr>
            <a:xfrm>
              <a:off x="6541046" y="3341726"/>
              <a:ext cx="725485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abc</a:t>
              </a:r>
              <a:endParaRPr 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Rounded Rectangular Callout 71">
              <a:extLst>
                <a:ext uri="{FF2B5EF4-FFF2-40B4-BE49-F238E27FC236}">
                  <a16:creationId xmlns:a16="http://schemas.microsoft.com/office/drawing/2014/main" id="{B4115B04-24A3-F442-8DA5-1AE398761729}"/>
                </a:ext>
              </a:extLst>
            </p:cNvPr>
            <p:cNvSpPr/>
            <p:nvPr/>
          </p:nvSpPr>
          <p:spPr>
            <a:xfrm>
              <a:off x="6151548" y="4368339"/>
              <a:ext cx="1489164" cy="423864"/>
            </a:xfrm>
            <a:prstGeom prst="wedgeRoundRectCallout">
              <a:avLst>
                <a:gd name="adj1" fmla="val -6474"/>
                <a:gd name="adj2" fmla="val -135972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((ab)c)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65D58E32-640C-9742-A2DB-2D5A92285D91}"/>
              </a:ext>
            </a:extLst>
          </p:cNvPr>
          <p:cNvSpPr/>
          <p:nvPr/>
        </p:nvSpPr>
        <p:spPr>
          <a:xfrm>
            <a:off x="6964056" y="1529087"/>
            <a:ext cx="1750176" cy="11216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Both alternation and concatenation are commutative, so we use left associativity to get a unique tree.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" name="Rectangular Callout 60">
            <a:extLst>
              <a:ext uri="{FF2B5EF4-FFF2-40B4-BE49-F238E27FC236}">
                <a16:creationId xmlns:a16="http://schemas.microsoft.com/office/drawing/2014/main" id="{D03D5884-CF97-564A-A9FC-B43BBD8BE726}"/>
              </a:ext>
            </a:extLst>
          </p:cNvPr>
          <p:cNvSpPr/>
          <p:nvPr/>
        </p:nvSpPr>
        <p:spPr>
          <a:xfrm>
            <a:off x="5936130" y="139326"/>
            <a:ext cx="3051010" cy="790046"/>
          </a:xfrm>
          <a:prstGeom prst="wedgeRectCallout">
            <a:avLst>
              <a:gd name="adj1" fmla="val -7559"/>
              <a:gd name="adj2" fmla="val 655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Q: Provide the unambiguous bracketed tree for </a:t>
            </a:r>
            <a:r>
              <a:rPr lang="en-US" sz="1400" dirty="0" err="1"/>
              <a:t>regexp</a:t>
            </a:r>
            <a:r>
              <a:rPr lang="en-US" sz="1400" dirty="0"/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ab*|c* </a:t>
            </a:r>
            <a:r>
              <a:rPr lang="en-US" sz="1400" dirty="0"/>
              <a:t>using the precedence and associativity rules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0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D3370-7898-F641-AC5A-B518B134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of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71659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/>
              <a:t>Equivalence of Regexps</a:t>
            </a:r>
          </a:p>
        </p:txBody>
      </p:sp>
      <p:sp>
        <p:nvSpPr>
          <p:cNvPr id="209" name="Shape 209"/>
          <p:cNvSpPr txBox="1">
            <a:spLocks noGrp="1"/>
          </p:cNvSpPr>
          <p:nvPr>
            <p:ph sz="half" idx="1"/>
          </p:nvPr>
        </p:nvSpPr>
        <p:spPr>
          <a:xfrm>
            <a:off x="628650" y="1369219"/>
            <a:ext cx="3886200" cy="3671888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(RS)T == R(ST)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(R|S)|T == R|(S|T) 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(R|S) == (S|R)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(R|S)T == (RT|ST)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R(S|T) == RS | RT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R == R|R 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R|R == </a:t>
            </a:r>
            <a:r>
              <a:rPr lang="en-US" dirty="0" err="1"/>
              <a:t>Rε</a:t>
            </a:r>
            <a:endParaRPr lang="en-US" dirty="0"/>
          </a:p>
        </p:txBody>
      </p:sp>
      <p:sp>
        <p:nvSpPr>
          <p:cNvPr id="210" name="Shape 210"/>
          <p:cNvSpPr txBox="1">
            <a:spLocks noGrp="1"/>
          </p:cNvSpPr>
          <p:nvPr>
            <p:ph sz="half" idx="2"/>
          </p:nvPr>
        </p:nvSpPr>
        <p:spPr>
          <a:xfrm>
            <a:off x="4629150" y="1369218"/>
            <a:ext cx="3886200" cy="3595813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R* == RR*| </a:t>
            </a:r>
            <a:r>
              <a:rPr lang="en-US" dirty="0" err="1"/>
              <a:t>ε</a:t>
            </a:r>
            <a:endParaRPr lang="en-US" dirty="0"/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R*R* == (R*)*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(R*)* == R*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RR* == R*R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(RS)*R == R(SR)*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(R|S)* == (R*S*)* 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(R*S*)* == (R*S)*R* </a:t>
            </a:r>
          </a:p>
          <a:p>
            <a:pPr indent="-25717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(R*S)*R* == (R*|S*)*</a:t>
            </a:r>
          </a:p>
        </p:txBody>
      </p:sp>
      <p:sp>
        <p:nvSpPr>
          <p:cNvPr id="207" name="Shape 20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7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Shape 211"/>
          <p:cNvSpPr txBox="1"/>
          <p:nvPr/>
        </p:nvSpPr>
        <p:spPr>
          <a:xfrm>
            <a:off x="4718304" y="523745"/>
            <a:ext cx="4306823" cy="5648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Clr>
                <a:srgbClr val="FF00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(0(10)*1)|(01)* == (01)* 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B7243C-F769-CE47-A3AF-B717C9E4F445}"/>
              </a:ext>
            </a:extLst>
          </p:cNvPr>
          <p:cNvSpPr/>
          <p:nvPr/>
        </p:nvSpPr>
        <p:spPr>
          <a:xfrm>
            <a:off x="628649" y="1435768"/>
            <a:ext cx="3686678" cy="1074821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F521F-D5CC-2342-BE49-5C0EA327140A}"/>
              </a:ext>
            </a:extLst>
          </p:cNvPr>
          <p:cNvSpPr/>
          <p:nvPr/>
        </p:nvSpPr>
        <p:spPr>
          <a:xfrm>
            <a:off x="628649" y="2571751"/>
            <a:ext cx="3686678" cy="765008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610FC-1761-B145-A94A-322DDC9F6018}"/>
              </a:ext>
            </a:extLst>
          </p:cNvPr>
          <p:cNvSpPr/>
          <p:nvPr/>
        </p:nvSpPr>
        <p:spPr>
          <a:xfrm>
            <a:off x="628649" y="3397921"/>
            <a:ext cx="3686678" cy="708858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DE0A5D-6D47-C847-83F5-3FE6047B4649}"/>
              </a:ext>
            </a:extLst>
          </p:cNvPr>
          <p:cNvSpPr/>
          <p:nvPr/>
        </p:nvSpPr>
        <p:spPr>
          <a:xfrm>
            <a:off x="3003887" y="1516668"/>
            <a:ext cx="1195136" cy="241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Commutative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AA472C9-EA71-434B-9596-A2FB0460666F}"/>
              </a:ext>
            </a:extLst>
          </p:cNvPr>
          <p:cNvSpPr/>
          <p:nvPr/>
        </p:nvSpPr>
        <p:spPr>
          <a:xfrm>
            <a:off x="3003887" y="2645285"/>
            <a:ext cx="1195136" cy="241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Factor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83AA01-A2D2-834B-8173-3CF70A41151B}"/>
              </a:ext>
            </a:extLst>
          </p:cNvPr>
          <p:cNvSpPr/>
          <p:nvPr/>
        </p:nvSpPr>
        <p:spPr>
          <a:xfrm>
            <a:off x="3003887" y="3458074"/>
            <a:ext cx="1195136" cy="241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Redundant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AE4D27-784C-2246-9E17-C5A1C642FAC9}"/>
              </a:ext>
            </a:extLst>
          </p:cNvPr>
          <p:cNvSpPr/>
          <p:nvPr/>
        </p:nvSpPr>
        <p:spPr>
          <a:xfrm>
            <a:off x="4629150" y="1435768"/>
            <a:ext cx="3686678" cy="1098661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E09129-F2A1-314D-80F9-3B0B042742ED}"/>
              </a:ext>
            </a:extLst>
          </p:cNvPr>
          <p:cNvSpPr/>
          <p:nvPr/>
        </p:nvSpPr>
        <p:spPr>
          <a:xfrm>
            <a:off x="6978316" y="1486745"/>
            <a:ext cx="1195136" cy="241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87B107-462E-E045-AAA0-3C655086D1EB}"/>
              </a:ext>
            </a:extLst>
          </p:cNvPr>
          <p:cNvSpPr/>
          <p:nvPr/>
        </p:nvSpPr>
        <p:spPr>
          <a:xfrm>
            <a:off x="4629150" y="2600979"/>
            <a:ext cx="3686678" cy="1885637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533F072-692F-A34F-9D44-A99E817C26AA}"/>
              </a:ext>
            </a:extLst>
          </p:cNvPr>
          <p:cNvSpPr/>
          <p:nvPr/>
        </p:nvSpPr>
        <p:spPr>
          <a:xfrm>
            <a:off x="6978316" y="2660027"/>
            <a:ext cx="1195136" cy="241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uild="p"/>
      <p:bldP spid="210" grpId="0" uiExpand="1" build="p"/>
      <p:bldP spid="2" grpId="0" animBg="1"/>
      <p:bldP spid="8" grpId="0" animBg="1"/>
      <p:bldP spid="9" grpId="0" animBg="1"/>
      <p:bldP spid="3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/>
              <a:t>Equivalence of Regexps</a:t>
            </a:r>
          </a:p>
        </p:txBody>
      </p:sp>
      <p:sp>
        <p:nvSpPr>
          <p:cNvPr id="207" name="Shape 20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8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Shape 211"/>
          <p:cNvSpPr txBox="1"/>
          <p:nvPr/>
        </p:nvSpPr>
        <p:spPr>
          <a:xfrm>
            <a:off x="2418586" y="4084364"/>
            <a:ext cx="4306823" cy="5648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Clr>
                <a:srgbClr val="FF00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(0(10)*1)|(01)* == (01)* ?</a:t>
            </a:r>
          </a:p>
        </p:txBody>
      </p:sp>
      <p:pic>
        <p:nvPicPr>
          <p:cNvPr id="9" name="Picture 8" descr="A close up of a device&#10;&#10;Description automatically generated">
            <a:extLst>
              <a:ext uri="{FF2B5EF4-FFF2-40B4-BE49-F238E27FC236}">
                <a16:creationId xmlns:a16="http://schemas.microsoft.com/office/drawing/2014/main" id="{60CF5B05-3E7F-4140-87D6-45A9D0D9F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980" y="1178003"/>
            <a:ext cx="3844036" cy="27821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F95D70-BB9C-AE49-97B7-61C9255787A0}"/>
              </a:ext>
            </a:extLst>
          </p:cNvPr>
          <p:cNvSpPr txBox="1"/>
          <p:nvPr/>
        </p:nvSpPr>
        <p:spPr>
          <a:xfrm>
            <a:off x="7138050" y="617041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debuggex.com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12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 dirty="0"/>
              <a:t>Equivalence of </a:t>
            </a:r>
            <a:r>
              <a:rPr lang="en-US" dirty="0" err="1"/>
              <a:t>Regexps</a:t>
            </a:r>
            <a:endParaRPr lang="en-US" dirty="0"/>
          </a:p>
        </p:txBody>
      </p:sp>
      <p:sp>
        <p:nvSpPr>
          <p:cNvPr id="219" name="Shape 219"/>
          <p:cNvSpPr txBox="1">
            <a:spLocks noGrp="1"/>
          </p:cNvSpPr>
          <p:nvPr>
            <p:ph idx="1"/>
          </p:nvPr>
        </p:nvSpPr>
        <p:spPr>
          <a:xfrm>
            <a:off x="628650" y="1369218"/>
            <a:ext cx="7886700" cy="3500437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indent="-257175">
              <a:spcBef>
                <a:spcPts val="0"/>
              </a:spcBef>
            </a:pPr>
            <a:r>
              <a:rPr lang="en-US" sz="2000" dirty="0"/>
              <a:t>(0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(10)*1</a:t>
            </a:r>
            <a:r>
              <a:rPr lang="en-US" sz="2000" dirty="0"/>
              <a:t>)|(01)*</a:t>
            </a:r>
          </a:p>
          <a:p>
            <a:pPr indent="-257175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/>
              <a:t>0</a:t>
            </a:r>
            <a:r>
              <a:rPr lang="en-US" sz="2000" dirty="0">
                <a:solidFill>
                  <a:srgbClr val="C00000"/>
                </a:solidFill>
              </a:rPr>
              <a:t>1(01)*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en-US" sz="2000" dirty="0"/>
              <a:t>|(01)*</a:t>
            </a:r>
          </a:p>
          <a:p>
            <a:pPr indent="-257175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01</a:t>
            </a:r>
            <a:r>
              <a:rPr lang="en-US" sz="2000" dirty="0"/>
              <a:t>(01)*)|(01)*</a:t>
            </a:r>
          </a:p>
          <a:p>
            <a:pPr indent="-257175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rgbClr val="C00000"/>
                </a:solidFill>
              </a:rPr>
              <a:t>(01)</a:t>
            </a:r>
            <a:r>
              <a:rPr lang="en-US" sz="2000" dirty="0"/>
              <a:t>(01)*)|(01)*</a:t>
            </a:r>
          </a:p>
          <a:p>
            <a:pPr indent="-257175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(01)(01)*</a:t>
            </a:r>
            <a:r>
              <a:rPr lang="en-US" sz="2000" dirty="0">
                <a:solidFill>
                  <a:schemeClr val="tx1"/>
                </a:solidFill>
              </a:rPr>
              <a:t>)|(</a:t>
            </a:r>
            <a:r>
              <a:rPr lang="en-US" sz="2000" dirty="0"/>
              <a:t>01)*</a:t>
            </a:r>
          </a:p>
          <a:p>
            <a:pPr indent="-257175"/>
            <a:r>
              <a:rPr lang="en-US" sz="2000" dirty="0">
                <a:solidFill>
                  <a:srgbClr val="C00000"/>
                </a:solidFill>
              </a:rPr>
              <a:t>(01)+</a:t>
            </a:r>
            <a:r>
              <a:rPr lang="en-US" sz="2000" dirty="0">
                <a:solidFill>
                  <a:schemeClr val="tx1"/>
                </a:solidFill>
              </a:rPr>
              <a:t>|(</a:t>
            </a:r>
            <a:r>
              <a:rPr lang="en-US" sz="2000" dirty="0"/>
              <a:t>01)*</a:t>
            </a:r>
          </a:p>
          <a:p>
            <a:pPr indent="-257175"/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(01)+|(01)*</a:t>
            </a:r>
          </a:p>
          <a:p>
            <a:pPr indent="-257175"/>
            <a:r>
              <a:rPr lang="en-US" sz="2000" dirty="0">
                <a:solidFill>
                  <a:srgbClr val="C00000"/>
                </a:solidFill>
              </a:rPr>
              <a:t>(01)*</a:t>
            </a:r>
          </a:p>
        </p:txBody>
      </p:sp>
      <p:sp>
        <p:nvSpPr>
          <p:cNvPr id="217" name="Shape 2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9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6BD1E409-0F48-0C4A-B09A-824886C86E4A}"/>
              </a:ext>
            </a:extLst>
          </p:cNvPr>
          <p:cNvSpPr/>
          <p:nvPr/>
        </p:nvSpPr>
        <p:spPr>
          <a:xfrm>
            <a:off x="2949702" y="1414106"/>
            <a:ext cx="2324862" cy="485108"/>
          </a:xfrm>
          <a:prstGeom prst="wedgeRoundRectCallout">
            <a:avLst>
              <a:gd name="adj1" fmla="val -55445"/>
              <a:gd name="adj2" fmla="val 29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(RS)*R </a:t>
            </a:r>
            <a:r>
              <a:rPr lang="en-US" sz="2400" dirty="0"/>
              <a:t>== </a:t>
            </a:r>
            <a:r>
              <a:rPr lang="en-US" sz="2400" dirty="0">
                <a:solidFill>
                  <a:srgbClr val="C00000"/>
                </a:solidFill>
              </a:rPr>
              <a:t>R(SR)*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8176AF64-BABD-8946-9A0C-5670201F0BD3}"/>
              </a:ext>
            </a:extLst>
          </p:cNvPr>
          <p:cNvSpPr/>
          <p:nvPr/>
        </p:nvSpPr>
        <p:spPr>
          <a:xfrm>
            <a:off x="2949702" y="2329196"/>
            <a:ext cx="2324862" cy="485108"/>
          </a:xfrm>
          <a:prstGeom prst="wedgeRoundRectCallout">
            <a:avLst>
              <a:gd name="adj1" fmla="val -55445"/>
              <a:gd name="adj2" fmla="val 29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-257175"/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RS</a:t>
            </a:r>
            <a:r>
              <a:rPr lang="en-US" sz="2400" dirty="0"/>
              <a:t> == </a:t>
            </a:r>
            <a:r>
              <a:rPr lang="en-US" sz="2400" dirty="0">
                <a:solidFill>
                  <a:srgbClr val="C00000"/>
                </a:solidFill>
              </a:rPr>
              <a:t>(RS)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A918F17-594A-9346-AF0E-DB51E0D233DE}"/>
              </a:ext>
            </a:extLst>
          </p:cNvPr>
          <p:cNvSpPr/>
          <p:nvPr/>
        </p:nvSpPr>
        <p:spPr>
          <a:xfrm>
            <a:off x="2949702" y="3244286"/>
            <a:ext cx="2324862" cy="485108"/>
          </a:xfrm>
          <a:prstGeom prst="wedgeRoundRectCallout">
            <a:avLst>
              <a:gd name="adj1" fmla="val -55445"/>
              <a:gd name="adj2" fmla="val 29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-257175"/>
            <a:r>
              <a:rPr lang="en-US" sz="2400" dirty="0">
                <a:solidFill>
                  <a:srgbClr val="C00000"/>
                </a:solidFill>
              </a:rPr>
              <a:t>R+</a:t>
            </a:r>
            <a:r>
              <a:rPr lang="en-US" sz="2400" dirty="0"/>
              <a:t> ==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RR*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B75E915F-F657-9E4F-8C54-5E17ED8EE29E}"/>
              </a:ext>
            </a:extLst>
          </p:cNvPr>
          <p:cNvSpPr/>
          <p:nvPr/>
        </p:nvSpPr>
        <p:spPr>
          <a:xfrm>
            <a:off x="2949702" y="4159376"/>
            <a:ext cx="3342132" cy="485108"/>
          </a:xfrm>
          <a:prstGeom prst="wedgeRoundRectCallout">
            <a:avLst>
              <a:gd name="adj1" fmla="val -55445"/>
              <a:gd name="adj2" fmla="val 29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-257175"/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R+|R* </a:t>
            </a:r>
            <a:r>
              <a:rPr lang="en-US" sz="2400" dirty="0"/>
              <a:t>== (RR*)|R* == </a:t>
            </a:r>
            <a:r>
              <a:rPr lang="en-US" sz="2400" dirty="0">
                <a:solidFill>
                  <a:srgbClr val="C00000"/>
                </a:solidFill>
              </a:rPr>
              <a:t>R*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CB86E25D-3A66-CA49-963C-C682C96C747C}"/>
              </a:ext>
            </a:extLst>
          </p:cNvPr>
          <p:cNvSpPr/>
          <p:nvPr/>
        </p:nvSpPr>
        <p:spPr>
          <a:xfrm>
            <a:off x="6675120" y="146063"/>
            <a:ext cx="2345288" cy="515140"/>
          </a:xfrm>
          <a:prstGeom prst="wedgeRectCallout">
            <a:avLst>
              <a:gd name="adj1" fmla="val -59261"/>
              <a:gd name="adj2" fmla="val 39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Q: Show that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1(0|(01)*</a:t>
            </a:r>
            <a:r>
              <a:rPr lang="en-US" sz="1400" dirty="0"/>
              <a:t>) is equivalent to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10|(10)*1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8F95EA2C-5C7E-DC64-20F1-62E85D5DE798}"/>
              </a:ext>
            </a:extLst>
          </p:cNvPr>
          <p:cNvSpPr/>
          <p:nvPr/>
        </p:nvSpPr>
        <p:spPr>
          <a:xfrm>
            <a:off x="6640281" y="955212"/>
            <a:ext cx="2324862" cy="485108"/>
          </a:xfrm>
          <a:prstGeom prst="wedgeRoundRectCallout">
            <a:avLst>
              <a:gd name="adj1" fmla="val -10144"/>
              <a:gd name="adj2" fmla="val -973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R(A|B) </a:t>
            </a:r>
            <a:r>
              <a:rPr lang="en-US" sz="2400" dirty="0"/>
              <a:t>== </a:t>
            </a:r>
            <a:r>
              <a:rPr lang="en-US" sz="2400" dirty="0">
                <a:solidFill>
                  <a:srgbClr val="C00000"/>
                </a:solidFill>
              </a:rPr>
              <a:t>RA|RB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uiExpand="1" build="p"/>
      <p:bldP spid="3" grpId="0" animBg="1"/>
      <p:bldP spid="9" grpId="0" animBg="1"/>
      <p:bldP spid="10" grpId="0" animBg="1"/>
      <p:bldP spid="11" grpId="0" animBg="1"/>
      <p:bldP spid="12" grpId="0" animBg="1"/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3439</TotalTime>
  <Words>520</Words>
  <Application>Microsoft Macintosh PowerPoint</Application>
  <PresentationFormat>On-screen Show (16:9)</PresentationFormat>
  <Paragraphs>97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Times New Roman</vt:lpstr>
      <vt:lpstr>Office Theme</vt:lpstr>
      <vt:lpstr>Lexical Analysis</vt:lpstr>
      <vt:lpstr>PowerPoint Presentation</vt:lpstr>
      <vt:lpstr>Regular Expressions are Trees</vt:lpstr>
      <vt:lpstr>Regular Expressions are ambiguous</vt:lpstr>
      <vt:lpstr>Regular expressions are trees</vt:lpstr>
      <vt:lpstr>Equivalence of Regular Expressions</vt:lpstr>
      <vt:lpstr>Equivalence of Regexps</vt:lpstr>
      <vt:lpstr>Equivalence of Regexps</vt:lpstr>
      <vt:lpstr>Equivalence of Regexps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</dc:title>
  <cp:lastModifiedBy>Anoop Sarkar</cp:lastModifiedBy>
  <cp:revision>67</cp:revision>
  <cp:lastPrinted>2019-05-23T19:01:58Z</cp:lastPrinted>
  <dcterms:modified xsi:type="dcterms:W3CDTF">2025-06-02T05:50:00Z</dcterms:modified>
</cp:coreProperties>
</file>