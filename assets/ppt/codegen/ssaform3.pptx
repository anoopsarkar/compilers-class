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2" r:id="rId1"/>
  </p:sldMasterIdLst>
  <p:notesMasterIdLst>
    <p:notesMasterId r:id="rId19"/>
  </p:notesMasterIdLst>
  <p:handoutMasterIdLst>
    <p:handoutMasterId r:id="rId20"/>
  </p:handoutMasterIdLst>
  <p:sldIdLst>
    <p:sldId id="350" r:id="rId2"/>
    <p:sldId id="303" r:id="rId3"/>
    <p:sldId id="329" r:id="rId4"/>
    <p:sldId id="330" r:id="rId5"/>
    <p:sldId id="343" r:id="rId6"/>
    <p:sldId id="331" r:id="rId7"/>
    <p:sldId id="333" r:id="rId8"/>
    <p:sldId id="334" r:id="rId9"/>
    <p:sldId id="335" r:id="rId10"/>
    <p:sldId id="332" r:id="rId11"/>
    <p:sldId id="351" r:id="rId12"/>
    <p:sldId id="352" r:id="rId13"/>
    <p:sldId id="357" r:id="rId14"/>
    <p:sldId id="353" r:id="rId15"/>
    <p:sldId id="356" r:id="rId16"/>
    <p:sldId id="354" r:id="rId17"/>
    <p:sldId id="355" r:id="rId18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scaleToFitPaper="1"/>
  <p:clrMru>
    <a:srgbClr val="00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46" autoAdjust="0"/>
    <p:restoredTop sz="91020"/>
  </p:normalViewPr>
  <p:slideViewPr>
    <p:cSldViewPr>
      <p:cViewPr varScale="1">
        <p:scale>
          <a:sx n="149" d="100"/>
          <a:sy n="149" d="100"/>
        </p:scale>
        <p:origin x="280" y="1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2B9AA4-819F-8549-A06A-E1B5D9D61F62}" type="datetimeFigureOut">
              <a:rPr lang="en-US" smtClean="0"/>
              <a:pPr/>
              <a:t>7/16/25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684A22-EC9B-6348-9969-97C239B2C5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6279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78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78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78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8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781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B31ADDD-57C4-B84F-BC10-C03B067E136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9565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201" name="Shape 20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D160F6A-BB48-D14B-BF5E-9741EF3DA305}" type="slidenum">
              <a:rPr lang="en-US"/>
              <a:pPr/>
              <a:t>2</a:t>
            </a:fld>
            <a:endParaRPr lang="en-US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D160F6A-BB48-D14B-BF5E-9741EF3DA305}" type="slidenum">
              <a:rPr lang="en-US"/>
              <a:pPr/>
              <a:t>3</a:t>
            </a:fld>
            <a:endParaRPr lang="en-US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D160F6A-BB48-D14B-BF5E-9741EF3DA305}" type="slidenum">
              <a:rPr lang="en-US"/>
              <a:pPr/>
              <a:t>4</a:t>
            </a:fld>
            <a:endParaRPr lang="en-US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D160F6A-BB48-D14B-BF5E-9741EF3DA305}" type="slidenum">
              <a:rPr lang="en-US"/>
              <a:pPr/>
              <a:t>5</a:t>
            </a:fld>
            <a:endParaRPr lang="en-US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D160F6A-BB48-D14B-BF5E-9741EF3DA305}" type="slidenum">
              <a:rPr lang="en-US"/>
              <a:pPr/>
              <a:t>6</a:t>
            </a:fld>
            <a:endParaRPr lang="en-US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D160F6A-BB48-D14B-BF5E-9741EF3DA305}" type="slidenum">
              <a:rPr lang="en-US"/>
              <a:pPr/>
              <a:t>7</a:t>
            </a:fld>
            <a:endParaRPr lang="en-US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D160F6A-BB48-D14B-BF5E-9741EF3DA305}" type="slidenum">
              <a:rPr lang="en-US"/>
              <a:pPr/>
              <a:t>8</a:t>
            </a:fld>
            <a:endParaRPr lang="en-US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D160F6A-BB48-D14B-BF5E-9741EF3DA305}" type="slidenum">
              <a:rPr lang="en-US"/>
              <a:pPr/>
              <a:t>9</a:t>
            </a:fld>
            <a:endParaRPr lang="en-US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D160F6A-BB48-D14B-BF5E-9741EF3DA305}" type="slidenum">
              <a:rPr lang="en-US"/>
              <a:pPr/>
              <a:t>10</a:t>
            </a:fld>
            <a:endParaRPr lang="en-US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D160F6A-BB48-D14B-BF5E-9741EF3DA305}" type="slidenum">
              <a:rPr lang="en-US"/>
              <a:pPr/>
              <a:t>11</a:t>
            </a:fld>
            <a:endParaRPr lang="en-US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D160F6A-BB48-D14B-BF5E-9741EF3DA305}" type="slidenum">
              <a:rPr lang="en-US"/>
              <a:pPr/>
              <a:t>12</a:t>
            </a:fld>
            <a:endParaRPr lang="en-US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D160F6A-BB48-D14B-BF5E-9741EF3DA305}" type="slidenum">
              <a:rPr lang="en-US"/>
              <a:pPr/>
              <a:t>13</a:t>
            </a:fld>
            <a:endParaRPr lang="en-US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6455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D160F6A-BB48-D14B-BF5E-9741EF3DA305}" type="slidenum">
              <a:rPr lang="en-US"/>
              <a:pPr/>
              <a:t>14</a:t>
            </a:fld>
            <a:endParaRPr lang="en-US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806C3-0D37-1E4B-AB06-F67F2304BA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474DE2-44F0-154B-9FE6-BCB6D1E86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E33B0-B879-9D40-9953-106C0922B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8BEE-B66E-5E46-B50F-23B30D56323F}" type="datetime1">
              <a:rPr lang="en-CA" smtClean="0"/>
              <a:t>2025-07-16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1F4B7-24D8-504D-91CD-3E8202E86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91076-2E3A-CF41-96E4-D4E77A0CF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812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10978-DDE8-6144-A6B8-517FFF2E3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37744-5627-D646-9036-52ED7E568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0F3F8-FC0C-1B43-BB73-11800B42E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06BE7-D4FF-0747-A46D-9D28D6793F9A}" type="datetime1">
              <a:rPr lang="en-CA" smtClean="0"/>
              <a:t>2025-07-16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0E874-E612-CA46-B18E-0C8FA2206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7269F-A49C-1948-BC2E-ABADCE191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225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B0754-0214-DF47-9D67-A716F6494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34BCA-78F6-F745-9EBE-EE525CDE7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707FE-6251-4E4B-BDFF-5C0B1706B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12D8A-ADE8-E648-9A51-673455F77FA4}" type="datetime1">
              <a:rPr lang="en-CA" smtClean="0"/>
              <a:t>2025-07-16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AF015-083F-9840-9A9E-9E31B7D7B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0E270-7D4E-DB45-B70B-D033519BA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515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48785-840A-474A-B8BA-27207C013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C8B25-A9AD-F143-AD1A-17A95F44E0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209DA-22E0-B146-A689-48B1E9D383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A82A87-E151-8641-8C5C-327C5209D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4D21D-FE66-404B-9D48-8813A41FDE83}" type="datetime1">
              <a:rPr lang="en-CA" smtClean="0"/>
              <a:t>2025-07-16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32E4D-CFE1-864C-892F-C0510CC3C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37C13-4A25-3440-9E41-0DB773459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86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B1DBC-EEEB-1C44-A4C7-02D9BB9CB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D77D7-D2B1-0841-9C20-538058B42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0D616F-C61F-5B43-8094-DFDD05AE6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AAF8CD-147D-0A4A-BE13-69AAC57DB7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EBD089-7443-DF4A-B93B-FC32F414CA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C8830C-AD3A-A446-BF5B-7A77BA98B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3913A-9187-9E4F-99AD-E5F9D3D715A1}" type="datetime1">
              <a:rPr lang="en-CA" smtClean="0"/>
              <a:t>2025-07-16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AAD4C6-8A32-E04D-85DA-373916480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150648-37B9-F641-A809-40BEBE4CD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954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2026B-B6A3-EF4D-842B-9C96C95EB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B243C6-3123-ED41-BC4A-2F8A58F1A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FCF0-750B-2849-A907-F64332DB8FEE}" type="datetime1">
              <a:rPr lang="en-CA" smtClean="0"/>
              <a:t>2025-07-16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8FF4D9-A959-C943-9751-31FDE7548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08D117-E466-BD48-A108-6422DCF14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824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1BBCE3-E514-D54F-B044-7DF10F00B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DF663-3970-9B45-8274-AA8FABDA274B}" type="datetime1">
              <a:rPr lang="en-CA" smtClean="0"/>
              <a:t>2025-07-16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219DF5-0E3C-2C40-BDE6-94E98A9F3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5E4FB-2E36-024F-9776-AFED77F03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746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621DF-5A92-D94F-88C5-5DB1A9683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DA461-75EB-C94E-A41A-1280134B9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D39AE-0AA2-2B40-B6F4-B24A10D9A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93C8F-B5C1-0D4A-8556-73269A2E3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809A3-0E53-524E-A233-B12C5DA91D99}" type="datetime1">
              <a:rPr lang="en-CA" smtClean="0"/>
              <a:t>2025-07-16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9A6773-21F3-7040-BF77-4C1D0B809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652BF5-D92E-A14D-B1B8-704532D27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542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FB85D-520A-BD48-A297-F7A9EDDB9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2093CD-6667-AD4E-93F7-F3B21EF98B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DCED6C-F32A-6A44-B857-EBD308B3E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4EDF9-2E61-C346-AEC1-C5515D510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FDF68-DD51-514E-B179-E22080947065}" type="datetime1">
              <a:rPr lang="en-CA" smtClean="0"/>
              <a:t>2025-07-16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F289B-5706-A047-960A-6FDB1750F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12078-4758-934E-BFE9-86E98A44E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998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4CE0D-89FC-894E-837F-75025627F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80ACAA-2C0A-304E-83F1-4EB51F17E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2CE1A-ECCD-7C45-9EC1-935CBB996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D5F46-E862-7041-B839-1084A839C514}" type="datetime1">
              <a:rPr lang="en-CA" smtClean="0"/>
              <a:t>2025-07-16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B26C1-B795-194B-A2F7-B95309E54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43C09-DCC3-4E4C-AE13-B0962DDB7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0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684669-9A93-654D-9A2F-8081C87784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AB22E1-C8CF-4B47-B5A2-1EE8384A2C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452BC-8E3F-AD42-BB94-46241CB0D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55934-2EEA-454B-B47B-39481B16D93C}" type="datetime1">
              <a:rPr lang="en-CA" smtClean="0"/>
              <a:t>2025-07-16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2FCD2-719C-FC4A-8ADE-C7C90A064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1E3A0-1E32-BB4E-B406-C12478931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9407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725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>
              <a:spcBef>
                <a:spcPts val="0"/>
              </a:spcBef>
              <a:buSzPct val="100000"/>
              <a:defRPr sz="2700"/>
            </a:lvl1pPr>
            <a:lvl2pPr lvl="1" algn="ctr">
              <a:spcBef>
                <a:spcPts val="0"/>
              </a:spcBef>
              <a:buSzPct val="100000"/>
              <a:defRPr sz="2700"/>
            </a:lvl2pPr>
            <a:lvl3pPr lvl="2" algn="ctr">
              <a:spcBef>
                <a:spcPts val="0"/>
              </a:spcBef>
              <a:buSzPct val="100000"/>
              <a:defRPr sz="2700"/>
            </a:lvl3pPr>
            <a:lvl4pPr lvl="3" algn="ctr">
              <a:spcBef>
                <a:spcPts val="0"/>
              </a:spcBef>
              <a:buSzPct val="100000"/>
              <a:defRPr sz="2700"/>
            </a:lvl4pPr>
            <a:lvl5pPr lvl="4" algn="ctr">
              <a:spcBef>
                <a:spcPts val="0"/>
              </a:spcBef>
              <a:buSzPct val="100000"/>
              <a:defRPr sz="2700"/>
            </a:lvl5pPr>
            <a:lvl6pPr lvl="5" algn="ctr">
              <a:spcBef>
                <a:spcPts val="0"/>
              </a:spcBef>
              <a:buSzPct val="100000"/>
              <a:defRPr sz="2700"/>
            </a:lvl6pPr>
            <a:lvl7pPr lvl="6" algn="ctr">
              <a:spcBef>
                <a:spcPts val="0"/>
              </a:spcBef>
              <a:buSzPct val="100000"/>
              <a:defRPr sz="2700"/>
            </a:lvl7pPr>
            <a:lvl8pPr lvl="7" algn="ctr">
              <a:spcBef>
                <a:spcPts val="0"/>
              </a:spcBef>
              <a:buSzPct val="100000"/>
              <a:defRPr sz="2700"/>
            </a:lvl8pPr>
            <a:lvl9pPr lvl="8" algn="ctr">
              <a:spcBef>
                <a:spcPts val="0"/>
              </a:spcBef>
              <a:buSzPct val="100000"/>
              <a:defRPr sz="27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05355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342900" marR="0" lvl="5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685800" marR="0" lvl="6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1028700" marR="0" lvl="7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1371600" marR="0" lvl="8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body" idx="1"/>
          </p:nvPr>
        </p:nvSpPr>
        <p:spPr>
          <a:xfrm>
            <a:off x="685801" y="1485900"/>
            <a:ext cx="3809999" cy="3086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7175" marR="0" lvl="0" indent="-104775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57213" marR="0" lvl="1" indent="-80963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57250" marR="0" lvl="2" indent="-571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0150" marR="0" lvl="3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3050" marR="0" lvl="4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85950" marR="0" lvl="5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228850" marR="0" lvl="6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2571750" marR="0" lvl="7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2914650" marR="0" lvl="8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body" idx="2"/>
          </p:nvPr>
        </p:nvSpPr>
        <p:spPr>
          <a:xfrm>
            <a:off x="4648201" y="1485900"/>
            <a:ext cx="3809999" cy="3086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7175" marR="0" lvl="0" indent="-104775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57213" marR="0" lvl="1" indent="-80963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57250" marR="0" lvl="2" indent="-571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0150" marR="0" lvl="3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3050" marR="0" lvl="4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85950" marR="0" lvl="5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228850" marR="0" lvl="6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2571750" marR="0" lvl="7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2914650" marR="0" lvl="8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dt" idx="10"/>
          </p:nvPr>
        </p:nvSpPr>
        <p:spPr>
          <a:xfrm>
            <a:off x="685801" y="4686300"/>
            <a:ext cx="1904999" cy="342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17145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0574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24003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27432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fld id="{33CDF6D5-475A-F046-87CA-412EB71D7141}" type="datetime1">
              <a:rPr lang="en-CA" smtClean="0"/>
              <a:t>2025-07-16</a:t>
            </a:fld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ft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17145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0574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24003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27432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ldNum" idx="12"/>
          </p:nvPr>
        </p:nvSpPr>
        <p:spPr>
          <a:xfrm>
            <a:off x="6553201" y="4686300"/>
            <a:ext cx="1904999" cy="3429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fld id="{00000000-1234-1234-1234-123412341234}" type="slidenum">
              <a:rPr lang="en-US" sz="105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SzPct val="25000"/>
              </a:pPr>
              <a:t>‹#›</a:t>
            </a:fld>
            <a:endParaRPr lang="en-US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01440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5FBF36-3AE9-6F4F-9D44-FDF1EDE69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33E42-24FB-9E4C-A197-FBE95A397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9F3E4-CCFD-A546-BD98-34B6A6B34C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CFB5B512-1C0B-5F4A-B1D8-07EED328189A}" type="datetime1">
              <a:rPr lang="en-CA" smtClean="0"/>
              <a:t>2025-07-16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AAA39-D2DE-7B4A-BB24-AAC6C28B6F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1F2AD-686E-E445-9758-B74AC410C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7B252BF6-6A9C-D04A-BBE8-37A07D64A1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823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wrap="square" lIns="68569" tIns="34275" rIns="68569" bIns="34275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Static Single Assignment Form</a:t>
            </a:r>
          </a:p>
        </p:txBody>
      </p:sp>
      <p:sp>
        <p:nvSpPr>
          <p:cNvPr id="204" name="Shape 204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25000"/>
            </a:pPr>
            <a:r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CMPT 379: Compilers</a:t>
            </a:r>
          </a:p>
          <a:p>
            <a:pPr>
              <a:spcBef>
                <a:spcPts val="480"/>
              </a:spcBef>
              <a:buClr>
                <a:srgbClr val="888888"/>
              </a:buClr>
              <a:buSzPct val="25000"/>
            </a:pPr>
            <a:r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Instructor: Anoop Sarkar</a:t>
            </a:r>
          </a:p>
          <a:p>
            <a:pPr>
              <a:spcBef>
                <a:spcPts val="480"/>
              </a:spcBef>
              <a:buClr>
                <a:srgbClr val="888888"/>
              </a:buClr>
              <a:buSzPct val="25000"/>
            </a:pPr>
            <a:r>
              <a:rPr lang="en-US"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anoopsarkar.github.io/compilers-class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2DF9-8F59-3B48-8E00-329792CA07DF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05" name="Shape 205"/>
          <p:cNvSpPr/>
          <p:nvPr/>
        </p:nvSpPr>
        <p:spPr>
          <a:xfrm>
            <a:off x="7092280" y="273525"/>
            <a:ext cx="1714907" cy="383175"/>
          </a:xfrm>
          <a:prstGeom prst="roundRect">
            <a:avLst>
              <a:gd name="adj" fmla="val 16667"/>
            </a:avLst>
          </a:prstGeom>
          <a:solidFill>
            <a:schemeClr val="accent4">
              <a:lumMod val="60000"/>
              <a:lumOff val="4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 anchor="t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ct val="25000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SSA Form 3</a:t>
            </a:r>
          </a:p>
        </p:txBody>
      </p:sp>
    </p:spTree>
    <p:extLst>
      <p:ext uri="{BB962C8B-B14F-4D97-AF65-F5344CB8AC3E}">
        <p14:creationId xmlns:p14="http://schemas.microsoft.com/office/powerpoint/2010/main" val="1917589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to SSA Form</a:t>
            </a:r>
          </a:p>
        </p:txBody>
      </p:sp>
      <p:sp>
        <p:nvSpPr>
          <p:cNvPr id="1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CBB7-0D72-414E-9F56-266DA4AACC86}" type="slidenum">
              <a:rPr lang="en-US"/>
              <a:pPr/>
              <a:t>2</a:t>
            </a:fld>
            <a:endParaRPr lang="en-US"/>
          </a:p>
        </p:txBody>
      </p:sp>
      <p:sp>
        <p:nvSpPr>
          <p:cNvPr id="222212" name="Text Box 4"/>
          <p:cNvSpPr txBox="1">
            <a:spLocks noChangeArrowheads="1"/>
          </p:cNvSpPr>
          <p:nvPr/>
        </p:nvSpPr>
        <p:spPr bwMode="auto">
          <a:xfrm>
            <a:off x="3771900" y="1200151"/>
            <a:ext cx="1515158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1: i := 1  j := 1</a:t>
            </a:r>
          </a:p>
          <a:p>
            <a:r>
              <a:rPr lang="en-US" sz="1800" dirty="0"/>
              <a:t>    k := 0</a:t>
            </a:r>
            <a:endParaRPr lang="en-US" sz="2100" dirty="0"/>
          </a:p>
        </p:txBody>
      </p:sp>
      <p:sp>
        <p:nvSpPr>
          <p:cNvPr id="222213" name="Text Box 5"/>
          <p:cNvSpPr txBox="1">
            <a:spLocks noChangeArrowheads="1"/>
          </p:cNvSpPr>
          <p:nvPr/>
        </p:nvSpPr>
        <p:spPr bwMode="auto">
          <a:xfrm>
            <a:off x="3886200" y="2114550"/>
            <a:ext cx="1327608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/>
              <a:t>2: if k &lt; 100</a:t>
            </a:r>
            <a:endParaRPr lang="en-US" sz="2100"/>
          </a:p>
        </p:txBody>
      </p:sp>
      <p:sp>
        <p:nvSpPr>
          <p:cNvPr id="222214" name="Text Box 6"/>
          <p:cNvSpPr txBox="1">
            <a:spLocks noChangeArrowheads="1"/>
          </p:cNvSpPr>
          <p:nvPr/>
        </p:nvSpPr>
        <p:spPr bwMode="auto">
          <a:xfrm>
            <a:off x="3200400" y="2800350"/>
            <a:ext cx="131445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/>
              <a:t>3: if j &lt; 20</a:t>
            </a:r>
            <a:endParaRPr lang="en-US" sz="2100"/>
          </a:p>
        </p:txBody>
      </p:sp>
      <p:cxnSp>
        <p:nvCxnSpPr>
          <p:cNvPr id="222215" name="AutoShape 7"/>
          <p:cNvCxnSpPr>
            <a:cxnSpLocks noChangeShapeType="1"/>
            <a:stCxn id="222212" idx="2"/>
            <a:endCxn id="222213" idx="0"/>
          </p:cNvCxnSpPr>
          <p:nvPr/>
        </p:nvCxnSpPr>
        <p:spPr bwMode="auto">
          <a:xfrm>
            <a:off x="4529479" y="1846482"/>
            <a:ext cx="20525" cy="26806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22216" name="AutoShape 8"/>
          <p:cNvCxnSpPr>
            <a:cxnSpLocks noChangeShapeType="1"/>
            <a:stCxn id="222213" idx="2"/>
            <a:endCxn id="222214" idx="0"/>
          </p:cNvCxnSpPr>
          <p:nvPr/>
        </p:nvCxnSpPr>
        <p:spPr bwMode="auto">
          <a:xfrm flipH="1">
            <a:off x="3857625" y="2483882"/>
            <a:ext cx="692379" cy="31646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22218" name="Text Box 10"/>
          <p:cNvSpPr txBox="1">
            <a:spLocks noChangeArrowheads="1"/>
          </p:cNvSpPr>
          <p:nvPr/>
        </p:nvSpPr>
        <p:spPr bwMode="auto">
          <a:xfrm>
            <a:off x="4857750" y="2800350"/>
            <a:ext cx="125730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/>
              <a:t>4: return j</a:t>
            </a:r>
          </a:p>
        </p:txBody>
      </p:sp>
      <p:sp>
        <p:nvSpPr>
          <p:cNvPr id="222219" name="Text Box 11"/>
          <p:cNvSpPr txBox="1">
            <a:spLocks noChangeArrowheads="1"/>
          </p:cNvSpPr>
          <p:nvPr/>
        </p:nvSpPr>
        <p:spPr bwMode="auto">
          <a:xfrm>
            <a:off x="3200400" y="3486151"/>
            <a:ext cx="137160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/>
              <a:t>5: j := i</a:t>
            </a:r>
          </a:p>
          <a:p>
            <a:r>
              <a:rPr lang="en-US" sz="1800"/>
              <a:t>    k := k+1</a:t>
            </a:r>
          </a:p>
        </p:txBody>
      </p:sp>
      <p:sp>
        <p:nvSpPr>
          <p:cNvPr id="222220" name="Text Box 12"/>
          <p:cNvSpPr txBox="1">
            <a:spLocks noChangeArrowheads="1"/>
          </p:cNvSpPr>
          <p:nvPr/>
        </p:nvSpPr>
        <p:spPr bwMode="auto">
          <a:xfrm>
            <a:off x="4857750" y="3486151"/>
            <a:ext cx="137160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6: </a:t>
            </a:r>
            <a:r>
              <a:rPr lang="en-US" sz="1800" dirty="0" err="1"/>
              <a:t>j</a:t>
            </a:r>
            <a:r>
              <a:rPr lang="en-US" sz="1800" dirty="0"/>
              <a:t> := </a:t>
            </a:r>
            <a:r>
              <a:rPr lang="en-US" sz="1800" dirty="0" err="1"/>
              <a:t>k</a:t>
            </a:r>
            <a:endParaRPr lang="en-US" sz="1800" dirty="0"/>
          </a:p>
          <a:p>
            <a:r>
              <a:rPr lang="en-US" sz="1800" dirty="0"/>
              <a:t>    </a:t>
            </a:r>
            <a:r>
              <a:rPr lang="en-US" sz="1800" dirty="0" err="1"/>
              <a:t>k</a:t>
            </a:r>
            <a:r>
              <a:rPr lang="en-US" sz="1800" dirty="0"/>
              <a:t> := k+1</a:t>
            </a:r>
            <a:endParaRPr lang="en-US" sz="2100" dirty="0"/>
          </a:p>
        </p:txBody>
      </p:sp>
      <p:sp>
        <p:nvSpPr>
          <p:cNvPr id="222221" name="Text Box 13"/>
          <p:cNvSpPr txBox="1">
            <a:spLocks noChangeArrowheads="1"/>
          </p:cNvSpPr>
          <p:nvPr/>
        </p:nvSpPr>
        <p:spPr bwMode="auto">
          <a:xfrm>
            <a:off x="4057650" y="4343400"/>
            <a:ext cx="114300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/>
              <a:t>7:</a:t>
            </a:r>
            <a:endParaRPr lang="en-US" sz="2100"/>
          </a:p>
        </p:txBody>
      </p:sp>
      <p:cxnSp>
        <p:nvCxnSpPr>
          <p:cNvPr id="222222" name="AutoShape 14"/>
          <p:cNvCxnSpPr>
            <a:cxnSpLocks noChangeShapeType="1"/>
            <a:stCxn id="222213" idx="2"/>
            <a:endCxn id="222218" idx="0"/>
          </p:cNvCxnSpPr>
          <p:nvPr/>
        </p:nvCxnSpPr>
        <p:spPr bwMode="auto">
          <a:xfrm>
            <a:off x="4550004" y="2483882"/>
            <a:ext cx="936396" cy="31646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22223" name="AutoShape 15"/>
          <p:cNvCxnSpPr>
            <a:cxnSpLocks noChangeShapeType="1"/>
            <a:stCxn id="222214" idx="2"/>
            <a:endCxn id="222219" idx="0"/>
          </p:cNvCxnSpPr>
          <p:nvPr/>
        </p:nvCxnSpPr>
        <p:spPr bwMode="auto">
          <a:xfrm>
            <a:off x="3857625" y="3169682"/>
            <a:ext cx="28575" cy="31646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22224" name="AutoShape 16"/>
          <p:cNvCxnSpPr>
            <a:cxnSpLocks noChangeShapeType="1"/>
            <a:stCxn id="222214" idx="2"/>
            <a:endCxn id="222220" idx="0"/>
          </p:cNvCxnSpPr>
          <p:nvPr/>
        </p:nvCxnSpPr>
        <p:spPr bwMode="auto">
          <a:xfrm>
            <a:off x="3857625" y="3169682"/>
            <a:ext cx="1685925" cy="31646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22225" name="AutoShape 17"/>
          <p:cNvCxnSpPr>
            <a:cxnSpLocks noChangeShapeType="1"/>
            <a:stCxn id="222219" idx="2"/>
            <a:endCxn id="222221" idx="0"/>
          </p:cNvCxnSpPr>
          <p:nvPr/>
        </p:nvCxnSpPr>
        <p:spPr bwMode="auto">
          <a:xfrm>
            <a:off x="3886200" y="4132482"/>
            <a:ext cx="742950" cy="21091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22226" name="AutoShape 18"/>
          <p:cNvCxnSpPr>
            <a:cxnSpLocks noChangeShapeType="1"/>
            <a:stCxn id="222220" idx="2"/>
            <a:endCxn id="222221" idx="0"/>
          </p:cNvCxnSpPr>
          <p:nvPr/>
        </p:nvCxnSpPr>
        <p:spPr bwMode="auto">
          <a:xfrm flipH="1">
            <a:off x="4629150" y="4132482"/>
            <a:ext cx="914400" cy="21091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22227" name="AutoShape 19"/>
          <p:cNvCxnSpPr>
            <a:cxnSpLocks noChangeShapeType="1"/>
            <a:stCxn id="222221" idx="2"/>
            <a:endCxn id="222213" idx="0"/>
          </p:cNvCxnSpPr>
          <p:nvPr/>
        </p:nvCxnSpPr>
        <p:spPr bwMode="auto">
          <a:xfrm rot="5400000" flipH="1">
            <a:off x="3290486" y="3374068"/>
            <a:ext cx="2598182" cy="79146"/>
          </a:xfrm>
          <a:prstGeom prst="curvedConnector5">
            <a:avLst>
              <a:gd name="adj1" fmla="val -8798"/>
              <a:gd name="adj2" fmla="val 2192304"/>
              <a:gd name="adj3" fmla="val 108798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1040116" y="1388745"/>
            <a:ext cx="1410964" cy="31393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 err="1"/>
              <a:t>i</a:t>
            </a:r>
            <a:r>
              <a:rPr lang="en-US" sz="1800" dirty="0"/>
              <a:t>:=1</a:t>
            </a:r>
          </a:p>
          <a:p>
            <a:r>
              <a:rPr lang="en-US" sz="1800" dirty="0" err="1"/>
              <a:t>j</a:t>
            </a:r>
            <a:r>
              <a:rPr lang="en-US" sz="1800" dirty="0"/>
              <a:t>:=1</a:t>
            </a:r>
          </a:p>
          <a:p>
            <a:r>
              <a:rPr lang="en-US" sz="1800" dirty="0" err="1"/>
              <a:t>k</a:t>
            </a:r>
            <a:r>
              <a:rPr lang="en-US" sz="1800" dirty="0"/>
              <a:t>:=0</a:t>
            </a:r>
          </a:p>
          <a:p>
            <a:r>
              <a:rPr lang="en-US" sz="1800" dirty="0"/>
              <a:t>while </a:t>
            </a:r>
            <a:r>
              <a:rPr lang="en-US" sz="1800" dirty="0" err="1"/>
              <a:t>k</a:t>
            </a:r>
            <a:r>
              <a:rPr lang="en-US" sz="1800" dirty="0"/>
              <a:t>&lt;100:</a:t>
            </a:r>
          </a:p>
          <a:p>
            <a:r>
              <a:rPr lang="en-US" sz="1800" dirty="0"/>
              <a:t>    if </a:t>
            </a:r>
            <a:r>
              <a:rPr lang="en-US" sz="1800" dirty="0" err="1"/>
              <a:t>j</a:t>
            </a:r>
            <a:r>
              <a:rPr lang="en-US" sz="1800" dirty="0"/>
              <a:t> &lt; 20:</a:t>
            </a:r>
          </a:p>
          <a:p>
            <a:r>
              <a:rPr lang="en-US" sz="1800" dirty="0"/>
              <a:t>        </a:t>
            </a:r>
            <a:r>
              <a:rPr lang="en-US" sz="1800" dirty="0" err="1"/>
              <a:t>j</a:t>
            </a:r>
            <a:r>
              <a:rPr lang="en-US" sz="1800" dirty="0"/>
              <a:t>:=</a:t>
            </a:r>
            <a:r>
              <a:rPr lang="en-US" sz="1800" dirty="0" err="1"/>
              <a:t>i</a:t>
            </a:r>
            <a:endParaRPr lang="en-US" sz="1800" dirty="0"/>
          </a:p>
          <a:p>
            <a:r>
              <a:rPr lang="en-US" sz="1800" dirty="0"/>
              <a:t>        </a:t>
            </a:r>
            <a:r>
              <a:rPr lang="en-US" sz="1800" dirty="0" err="1"/>
              <a:t>k</a:t>
            </a:r>
            <a:r>
              <a:rPr lang="en-US" sz="1800" dirty="0"/>
              <a:t>:=k+1</a:t>
            </a:r>
          </a:p>
          <a:p>
            <a:r>
              <a:rPr lang="en-US" sz="1800" dirty="0"/>
              <a:t>    else:</a:t>
            </a:r>
          </a:p>
          <a:p>
            <a:r>
              <a:rPr lang="en-US" sz="1800" dirty="0"/>
              <a:t>        </a:t>
            </a:r>
            <a:r>
              <a:rPr lang="en-US" sz="1800" dirty="0" err="1"/>
              <a:t>j</a:t>
            </a:r>
            <a:r>
              <a:rPr lang="en-US" sz="1800" dirty="0"/>
              <a:t>:=</a:t>
            </a:r>
            <a:r>
              <a:rPr lang="en-US" sz="1800" dirty="0" err="1"/>
              <a:t>k</a:t>
            </a:r>
            <a:endParaRPr lang="en-US" sz="1800" dirty="0"/>
          </a:p>
          <a:p>
            <a:r>
              <a:rPr lang="en-US" sz="1800" dirty="0"/>
              <a:t>        </a:t>
            </a:r>
            <a:r>
              <a:rPr lang="en-US" sz="1800" dirty="0" err="1"/>
              <a:t>k</a:t>
            </a:r>
            <a:r>
              <a:rPr lang="en-US" sz="1800" dirty="0"/>
              <a:t>:=k+1</a:t>
            </a:r>
          </a:p>
          <a:p>
            <a:r>
              <a:rPr lang="en-US" sz="1800" dirty="0"/>
              <a:t>return </a:t>
            </a:r>
            <a:r>
              <a:rPr lang="en-US" sz="1800" dirty="0" err="1"/>
              <a:t>j</a:t>
            </a:r>
            <a:endParaRPr lang="en-US" sz="1800" dirty="0"/>
          </a:p>
        </p:txBody>
      </p:sp>
      <p:sp>
        <p:nvSpPr>
          <p:cNvPr id="21" name="TextBox 20"/>
          <p:cNvSpPr txBox="1"/>
          <p:nvPr/>
        </p:nvSpPr>
        <p:spPr>
          <a:xfrm>
            <a:off x="1223994" y="1019413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Program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72150" y="1314450"/>
            <a:ext cx="2056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Control Flow Graph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to SSA Form</a:t>
            </a:r>
          </a:p>
        </p:txBody>
      </p:sp>
      <p:sp>
        <p:nvSpPr>
          <p:cNvPr id="1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CBB7-0D72-414E-9F56-266DA4AACC86}" type="slidenum">
              <a:rPr lang="en-US"/>
              <a:pPr/>
              <a:t>3</a:t>
            </a:fld>
            <a:endParaRPr lang="en-US" dirty="0"/>
          </a:p>
        </p:txBody>
      </p:sp>
      <p:sp>
        <p:nvSpPr>
          <p:cNvPr id="222212" name="Text Box 4"/>
          <p:cNvSpPr txBox="1">
            <a:spLocks noChangeArrowheads="1"/>
          </p:cNvSpPr>
          <p:nvPr/>
        </p:nvSpPr>
        <p:spPr bwMode="auto">
          <a:xfrm>
            <a:off x="2499972" y="1324297"/>
            <a:ext cx="1515158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/>
              <a:t>1: i := 1  j := 1</a:t>
            </a:r>
          </a:p>
          <a:p>
            <a:r>
              <a:rPr lang="en-US" sz="1800"/>
              <a:t>    k := 0</a:t>
            </a:r>
            <a:endParaRPr lang="en-US" sz="2100"/>
          </a:p>
        </p:txBody>
      </p:sp>
      <p:sp>
        <p:nvSpPr>
          <p:cNvPr id="222213" name="Text Box 5"/>
          <p:cNvSpPr txBox="1">
            <a:spLocks noChangeArrowheads="1"/>
          </p:cNvSpPr>
          <p:nvPr/>
        </p:nvSpPr>
        <p:spPr bwMode="auto">
          <a:xfrm>
            <a:off x="2614272" y="2238696"/>
            <a:ext cx="1327608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/>
              <a:t>2: if k &lt; 100</a:t>
            </a:r>
            <a:endParaRPr lang="en-US" sz="2100"/>
          </a:p>
        </p:txBody>
      </p:sp>
      <p:sp>
        <p:nvSpPr>
          <p:cNvPr id="222214" name="Text Box 6"/>
          <p:cNvSpPr txBox="1">
            <a:spLocks noChangeArrowheads="1"/>
          </p:cNvSpPr>
          <p:nvPr/>
        </p:nvSpPr>
        <p:spPr bwMode="auto">
          <a:xfrm>
            <a:off x="1928472" y="2924496"/>
            <a:ext cx="131445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/>
              <a:t>3: if j &lt; 20</a:t>
            </a:r>
            <a:endParaRPr lang="en-US" sz="2100"/>
          </a:p>
        </p:txBody>
      </p:sp>
      <p:cxnSp>
        <p:nvCxnSpPr>
          <p:cNvPr id="222215" name="AutoShape 7"/>
          <p:cNvCxnSpPr>
            <a:cxnSpLocks noChangeShapeType="1"/>
            <a:stCxn id="222212" idx="2"/>
            <a:endCxn id="222213" idx="0"/>
          </p:cNvCxnSpPr>
          <p:nvPr/>
        </p:nvCxnSpPr>
        <p:spPr bwMode="auto">
          <a:xfrm>
            <a:off x="3257551" y="1970628"/>
            <a:ext cx="20525" cy="26806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22216" name="AutoShape 8"/>
          <p:cNvCxnSpPr>
            <a:cxnSpLocks noChangeShapeType="1"/>
            <a:stCxn id="222213" idx="2"/>
            <a:endCxn id="222214" idx="0"/>
          </p:cNvCxnSpPr>
          <p:nvPr/>
        </p:nvCxnSpPr>
        <p:spPr bwMode="auto">
          <a:xfrm flipH="1">
            <a:off x="2585697" y="2608028"/>
            <a:ext cx="692379" cy="31646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22218" name="Text Box 10"/>
          <p:cNvSpPr txBox="1">
            <a:spLocks noChangeArrowheads="1"/>
          </p:cNvSpPr>
          <p:nvPr/>
        </p:nvSpPr>
        <p:spPr bwMode="auto">
          <a:xfrm>
            <a:off x="3585822" y="2924496"/>
            <a:ext cx="125730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/>
              <a:t>4: return j</a:t>
            </a:r>
          </a:p>
        </p:txBody>
      </p:sp>
      <p:sp>
        <p:nvSpPr>
          <p:cNvPr id="222219" name="Text Box 11"/>
          <p:cNvSpPr txBox="1">
            <a:spLocks noChangeArrowheads="1"/>
          </p:cNvSpPr>
          <p:nvPr/>
        </p:nvSpPr>
        <p:spPr bwMode="auto">
          <a:xfrm>
            <a:off x="1928472" y="3610297"/>
            <a:ext cx="137160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/>
              <a:t>5: j := i</a:t>
            </a:r>
          </a:p>
          <a:p>
            <a:r>
              <a:rPr lang="en-US" sz="1800"/>
              <a:t>    k := k+1</a:t>
            </a:r>
          </a:p>
        </p:txBody>
      </p:sp>
      <p:sp>
        <p:nvSpPr>
          <p:cNvPr id="222220" name="Text Box 12"/>
          <p:cNvSpPr txBox="1">
            <a:spLocks noChangeArrowheads="1"/>
          </p:cNvSpPr>
          <p:nvPr/>
        </p:nvSpPr>
        <p:spPr bwMode="auto">
          <a:xfrm>
            <a:off x="3585822" y="3610297"/>
            <a:ext cx="137160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6: </a:t>
            </a:r>
            <a:r>
              <a:rPr lang="en-US" sz="1800" dirty="0" err="1"/>
              <a:t>j</a:t>
            </a:r>
            <a:r>
              <a:rPr lang="en-US" sz="1800" dirty="0"/>
              <a:t> := </a:t>
            </a:r>
            <a:r>
              <a:rPr lang="en-US" sz="1800" dirty="0" err="1"/>
              <a:t>k</a:t>
            </a:r>
            <a:endParaRPr lang="en-US" sz="1800" dirty="0"/>
          </a:p>
          <a:p>
            <a:r>
              <a:rPr lang="en-US" sz="1800" dirty="0"/>
              <a:t>    </a:t>
            </a:r>
            <a:r>
              <a:rPr lang="en-US" sz="1800" dirty="0" err="1"/>
              <a:t>k</a:t>
            </a:r>
            <a:r>
              <a:rPr lang="en-US" sz="1800" dirty="0"/>
              <a:t> := k+1</a:t>
            </a:r>
            <a:endParaRPr lang="en-US" sz="2100" dirty="0"/>
          </a:p>
        </p:txBody>
      </p:sp>
      <p:sp>
        <p:nvSpPr>
          <p:cNvPr id="222221" name="Text Box 13"/>
          <p:cNvSpPr txBox="1">
            <a:spLocks noChangeArrowheads="1"/>
          </p:cNvSpPr>
          <p:nvPr/>
        </p:nvSpPr>
        <p:spPr bwMode="auto">
          <a:xfrm>
            <a:off x="2785722" y="4467546"/>
            <a:ext cx="114300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/>
              <a:t>7:</a:t>
            </a:r>
            <a:endParaRPr lang="en-US" sz="2100"/>
          </a:p>
        </p:txBody>
      </p:sp>
      <p:cxnSp>
        <p:nvCxnSpPr>
          <p:cNvPr id="222222" name="AutoShape 14"/>
          <p:cNvCxnSpPr>
            <a:cxnSpLocks noChangeShapeType="1"/>
            <a:stCxn id="222213" idx="2"/>
            <a:endCxn id="222218" idx="0"/>
          </p:cNvCxnSpPr>
          <p:nvPr/>
        </p:nvCxnSpPr>
        <p:spPr bwMode="auto">
          <a:xfrm>
            <a:off x="3278076" y="2608028"/>
            <a:ext cx="936396" cy="31646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22223" name="AutoShape 15"/>
          <p:cNvCxnSpPr>
            <a:cxnSpLocks noChangeShapeType="1"/>
            <a:stCxn id="222214" idx="2"/>
            <a:endCxn id="222219" idx="0"/>
          </p:cNvCxnSpPr>
          <p:nvPr/>
        </p:nvCxnSpPr>
        <p:spPr bwMode="auto">
          <a:xfrm>
            <a:off x="2585697" y="3293828"/>
            <a:ext cx="28575" cy="31646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22224" name="AutoShape 16"/>
          <p:cNvCxnSpPr>
            <a:cxnSpLocks noChangeShapeType="1"/>
            <a:stCxn id="222214" idx="2"/>
            <a:endCxn id="222220" idx="0"/>
          </p:cNvCxnSpPr>
          <p:nvPr/>
        </p:nvCxnSpPr>
        <p:spPr bwMode="auto">
          <a:xfrm>
            <a:off x="2585697" y="3293828"/>
            <a:ext cx="1685925" cy="31646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22225" name="AutoShape 17"/>
          <p:cNvCxnSpPr>
            <a:cxnSpLocks noChangeShapeType="1"/>
            <a:stCxn id="222219" idx="2"/>
            <a:endCxn id="222221" idx="0"/>
          </p:cNvCxnSpPr>
          <p:nvPr/>
        </p:nvCxnSpPr>
        <p:spPr bwMode="auto">
          <a:xfrm>
            <a:off x="2614272" y="4256628"/>
            <a:ext cx="742950" cy="21091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22226" name="AutoShape 18"/>
          <p:cNvCxnSpPr>
            <a:cxnSpLocks noChangeShapeType="1"/>
            <a:stCxn id="222220" idx="2"/>
            <a:endCxn id="222221" idx="0"/>
          </p:cNvCxnSpPr>
          <p:nvPr/>
        </p:nvCxnSpPr>
        <p:spPr bwMode="auto">
          <a:xfrm flipH="1">
            <a:off x="3357222" y="4256628"/>
            <a:ext cx="914400" cy="21091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22227" name="AutoShape 19"/>
          <p:cNvCxnSpPr>
            <a:cxnSpLocks noChangeShapeType="1"/>
            <a:stCxn id="222221" idx="2"/>
            <a:endCxn id="222213" idx="0"/>
          </p:cNvCxnSpPr>
          <p:nvPr/>
        </p:nvCxnSpPr>
        <p:spPr bwMode="auto">
          <a:xfrm rot="5400000" flipH="1">
            <a:off x="2018558" y="3498214"/>
            <a:ext cx="2598182" cy="79146"/>
          </a:xfrm>
          <a:prstGeom prst="curvedConnector5">
            <a:avLst>
              <a:gd name="adj1" fmla="val -8798"/>
              <a:gd name="adj2" fmla="val 2323321"/>
              <a:gd name="adj3" fmla="val 108798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2259521" y="1032718"/>
            <a:ext cx="2056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Control Flow Graph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86450" y="1600200"/>
            <a:ext cx="2148345" cy="20313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>
              <a:buFont typeface="Arial"/>
              <a:buChar char="•"/>
            </a:pPr>
            <a:r>
              <a:rPr lang="en-US" sz="1800" dirty="0"/>
              <a:t>D(1) = {2,3,4,5,6,7}</a:t>
            </a:r>
          </a:p>
          <a:p>
            <a:pPr>
              <a:buFont typeface="Arial"/>
              <a:buChar char="•"/>
            </a:pPr>
            <a:r>
              <a:rPr lang="en-US" sz="1800" dirty="0"/>
              <a:t>D(2) = {3,4,5,6,7}</a:t>
            </a:r>
          </a:p>
          <a:p>
            <a:pPr>
              <a:buFont typeface="Arial"/>
              <a:buChar char="•"/>
            </a:pPr>
            <a:r>
              <a:rPr lang="en-US" sz="1800" dirty="0"/>
              <a:t>D(3) = {5,6,7}</a:t>
            </a:r>
          </a:p>
          <a:p>
            <a:pPr>
              <a:buFont typeface="Arial"/>
              <a:buChar char="•"/>
            </a:pPr>
            <a:r>
              <a:rPr lang="en-US" sz="1800" dirty="0"/>
              <a:t>D(4) = {}</a:t>
            </a:r>
          </a:p>
          <a:p>
            <a:pPr>
              <a:buFont typeface="Arial"/>
              <a:buChar char="•"/>
            </a:pPr>
            <a:r>
              <a:rPr lang="en-US" sz="1800" dirty="0"/>
              <a:t>D(5) = {}</a:t>
            </a:r>
          </a:p>
          <a:p>
            <a:pPr>
              <a:buFont typeface="Arial"/>
              <a:buChar char="•"/>
            </a:pPr>
            <a:r>
              <a:rPr lang="en-US" sz="1800" dirty="0"/>
              <a:t>D(6) = {}</a:t>
            </a:r>
          </a:p>
          <a:p>
            <a:pPr>
              <a:buFont typeface="Arial"/>
              <a:buChar char="•"/>
            </a:pPr>
            <a:r>
              <a:rPr lang="en-US" sz="1800" dirty="0"/>
              <a:t>D(7) = {}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5993" y="1195238"/>
            <a:ext cx="2178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Dominance Relations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to SSA Form</a:t>
            </a:r>
          </a:p>
        </p:txBody>
      </p:sp>
      <p:sp>
        <p:nvSpPr>
          <p:cNvPr id="1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CBB7-0D72-414E-9F56-266DA4AACC86}" type="slidenum">
              <a:rPr lang="en-US"/>
              <a:pPr/>
              <a:t>4</a:t>
            </a:fld>
            <a:endParaRPr lang="en-US"/>
          </a:p>
        </p:txBody>
      </p:sp>
      <p:sp>
        <p:nvSpPr>
          <p:cNvPr id="222212" name="Text Box 4"/>
          <p:cNvSpPr txBox="1">
            <a:spLocks noChangeArrowheads="1"/>
          </p:cNvSpPr>
          <p:nvPr/>
        </p:nvSpPr>
        <p:spPr bwMode="auto">
          <a:xfrm>
            <a:off x="2448070" y="1355598"/>
            <a:ext cx="1515158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/>
              <a:t>1: i := 1  j := 1</a:t>
            </a:r>
          </a:p>
          <a:p>
            <a:r>
              <a:rPr lang="en-US" sz="1800"/>
              <a:t>    k := 0</a:t>
            </a:r>
            <a:endParaRPr lang="en-US" sz="2100"/>
          </a:p>
        </p:txBody>
      </p:sp>
      <p:sp>
        <p:nvSpPr>
          <p:cNvPr id="222213" name="Text Box 5"/>
          <p:cNvSpPr txBox="1">
            <a:spLocks noChangeArrowheads="1"/>
          </p:cNvSpPr>
          <p:nvPr/>
        </p:nvSpPr>
        <p:spPr bwMode="auto">
          <a:xfrm>
            <a:off x="2562370" y="2269997"/>
            <a:ext cx="1327608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/>
              <a:t>2: if k &lt; 100</a:t>
            </a:r>
            <a:endParaRPr lang="en-US" sz="2100"/>
          </a:p>
        </p:txBody>
      </p:sp>
      <p:sp>
        <p:nvSpPr>
          <p:cNvPr id="222214" name="Text Box 6"/>
          <p:cNvSpPr txBox="1">
            <a:spLocks noChangeArrowheads="1"/>
          </p:cNvSpPr>
          <p:nvPr/>
        </p:nvSpPr>
        <p:spPr bwMode="auto">
          <a:xfrm>
            <a:off x="1876570" y="2955797"/>
            <a:ext cx="131445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/>
              <a:t>3: if j &lt; 20</a:t>
            </a:r>
            <a:endParaRPr lang="en-US" sz="2100"/>
          </a:p>
        </p:txBody>
      </p:sp>
      <p:cxnSp>
        <p:nvCxnSpPr>
          <p:cNvPr id="222215" name="AutoShape 7"/>
          <p:cNvCxnSpPr>
            <a:cxnSpLocks noChangeShapeType="1"/>
            <a:stCxn id="222212" idx="2"/>
            <a:endCxn id="222213" idx="0"/>
          </p:cNvCxnSpPr>
          <p:nvPr/>
        </p:nvCxnSpPr>
        <p:spPr bwMode="auto">
          <a:xfrm>
            <a:off x="3205649" y="2001929"/>
            <a:ext cx="20525" cy="26806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22216" name="AutoShape 8"/>
          <p:cNvCxnSpPr>
            <a:cxnSpLocks noChangeShapeType="1"/>
            <a:stCxn id="222213" idx="2"/>
            <a:endCxn id="222214" idx="0"/>
          </p:cNvCxnSpPr>
          <p:nvPr/>
        </p:nvCxnSpPr>
        <p:spPr bwMode="auto">
          <a:xfrm flipH="1">
            <a:off x="2533795" y="2639329"/>
            <a:ext cx="692379" cy="31646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22218" name="Text Box 10"/>
          <p:cNvSpPr txBox="1">
            <a:spLocks noChangeArrowheads="1"/>
          </p:cNvSpPr>
          <p:nvPr/>
        </p:nvSpPr>
        <p:spPr bwMode="auto">
          <a:xfrm>
            <a:off x="3533920" y="2955797"/>
            <a:ext cx="125730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/>
              <a:t>4: return j</a:t>
            </a:r>
          </a:p>
        </p:txBody>
      </p:sp>
      <p:sp>
        <p:nvSpPr>
          <p:cNvPr id="222219" name="Text Box 11"/>
          <p:cNvSpPr txBox="1">
            <a:spLocks noChangeArrowheads="1"/>
          </p:cNvSpPr>
          <p:nvPr/>
        </p:nvSpPr>
        <p:spPr bwMode="auto">
          <a:xfrm>
            <a:off x="1876570" y="3641598"/>
            <a:ext cx="137160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/>
              <a:t>5: j := i</a:t>
            </a:r>
          </a:p>
          <a:p>
            <a:r>
              <a:rPr lang="en-US" sz="1800"/>
              <a:t>    k := k+1</a:t>
            </a:r>
          </a:p>
        </p:txBody>
      </p:sp>
      <p:sp>
        <p:nvSpPr>
          <p:cNvPr id="222220" name="Text Box 12"/>
          <p:cNvSpPr txBox="1">
            <a:spLocks noChangeArrowheads="1"/>
          </p:cNvSpPr>
          <p:nvPr/>
        </p:nvSpPr>
        <p:spPr bwMode="auto">
          <a:xfrm>
            <a:off x="3533920" y="3641598"/>
            <a:ext cx="137160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6: </a:t>
            </a:r>
            <a:r>
              <a:rPr lang="en-US" sz="1800" dirty="0" err="1"/>
              <a:t>j</a:t>
            </a:r>
            <a:r>
              <a:rPr lang="en-US" sz="1800" dirty="0"/>
              <a:t> := </a:t>
            </a:r>
            <a:r>
              <a:rPr lang="en-US" sz="1800" dirty="0" err="1"/>
              <a:t>k</a:t>
            </a:r>
            <a:endParaRPr lang="en-US" sz="1800" dirty="0"/>
          </a:p>
          <a:p>
            <a:r>
              <a:rPr lang="en-US" sz="1800" dirty="0"/>
              <a:t>    </a:t>
            </a:r>
            <a:r>
              <a:rPr lang="en-US" sz="1800" dirty="0" err="1"/>
              <a:t>k</a:t>
            </a:r>
            <a:r>
              <a:rPr lang="en-US" sz="1800" dirty="0"/>
              <a:t> := k+1</a:t>
            </a:r>
            <a:endParaRPr lang="en-US" sz="2100" dirty="0"/>
          </a:p>
        </p:txBody>
      </p:sp>
      <p:sp>
        <p:nvSpPr>
          <p:cNvPr id="222221" name="Text Box 13"/>
          <p:cNvSpPr txBox="1">
            <a:spLocks noChangeArrowheads="1"/>
          </p:cNvSpPr>
          <p:nvPr/>
        </p:nvSpPr>
        <p:spPr bwMode="auto">
          <a:xfrm>
            <a:off x="2733820" y="4498847"/>
            <a:ext cx="114300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/>
              <a:t>7:</a:t>
            </a:r>
            <a:endParaRPr lang="en-US" sz="2100"/>
          </a:p>
        </p:txBody>
      </p:sp>
      <p:cxnSp>
        <p:nvCxnSpPr>
          <p:cNvPr id="222222" name="AutoShape 14"/>
          <p:cNvCxnSpPr>
            <a:cxnSpLocks noChangeShapeType="1"/>
            <a:stCxn id="222213" idx="2"/>
            <a:endCxn id="222218" idx="0"/>
          </p:cNvCxnSpPr>
          <p:nvPr/>
        </p:nvCxnSpPr>
        <p:spPr bwMode="auto">
          <a:xfrm>
            <a:off x="3226174" y="2639329"/>
            <a:ext cx="936396" cy="31646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22223" name="AutoShape 15"/>
          <p:cNvCxnSpPr>
            <a:cxnSpLocks noChangeShapeType="1"/>
            <a:stCxn id="222214" idx="2"/>
            <a:endCxn id="222219" idx="0"/>
          </p:cNvCxnSpPr>
          <p:nvPr/>
        </p:nvCxnSpPr>
        <p:spPr bwMode="auto">
          <a:xfrm>
            <a:off x="2533795" y="3325129"/>
            <a:ext cx="28575" cy="31646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22224" name="AutoShape 16"/>
          <p:cNvCxnSpPr>
            <a:cxnSpLocks noChangeShapeType="1"/>
            <a:stCxn id="222214" idx="2"/>
            <a:endCxn id="222220" idx="0"/>
          </p:cNvCxnSpPr>
          <p:nvPr/>
        </p:nvCxnSpPr>
        <p:spPr bwMode="auto">
          <a:xfrm>
            <a:off x="2533795" y="3325129"/>
            <a:ext cx="1685925" cy="31646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22225" name="AutoShape 17"/>
          <p:cNvCxnSpPr>
            <a:cxnSpLocks noChangeShapeType="1"/>
            <a:stCxn id="222219" idx="2"/>
            <a:endCxn id="222221" idx="0"/>
          </p:cNvCxnSpPr>
          <p:nvPr/>
        </p:nvCxnSpPr>
        <p:spPr bwMode="auto">
          <a:xfrm>
            <a:off x="2562370" y="4287929"/>
            <a:ext cx="742950" cy="21091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22226" name="AutoShape 18"/>
          <p:cNvCxnSpPr>
            <a:cxnSpLocks noChangeShapeType="1"/>
            <a:stCxn id="222220" idx="2"/>
            <a:endCxn id="222221" idx="0"/>
          </p:cNvCxnSpPr>
          <p:nvPr/>
        </p:nvCxnSpPr>
        <p:spPr bwMode="auto">
          <a:xfrm flipH="1">
            <a:off x="3305320" y="4287929"/>
            <a:ext cx="914400" cy="21091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22227" name="AutoShape 19"/>
          <p:cNvCxnSpPr>
            <a:cxnSpLocks noChangeShapeType="1"/>
            <a:stCxn id="222221" idx="2"/>
            <a:endCxn id="222213" idx="0"/>
          </p:cNvCxnSpPr>
          <p:nvPr/>
        </p:nvCxnSpPr>
        <p:spPr bwMode="auto">
          <a:xfrm rot="5400000" flipH="1">
            <a:off x="1966656" y="3529515"/>
            <a:ext cx="2598182" cy="79146"/>
          </a:xfrm>
          <a:prstGeom prst="curvedConnector5">
            <a:avLst>
              <a:gd name="adj1" fmla="val -8798"/>
              <a:gd name="adj2" fmla="val 2180394"/>
              <a:gd name="adj3" fmla="val 108798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2171913" y="1038524"/>
            <a:ext cx="2056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Control Flow Graph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52674" y="510234"/>
            <a:ext cx="1930337" cy="181588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>
              <a:buFont typeface="Arial"/>
              <a:buChar char="•"/>
            </a:pPr>
            <a:r>
              <a:rPr lang="en-US" sz="1600" dirty="0"/>
              <a:t>D(1) = {2,3,4,5,6,7}</a:t>
            </a:r>
          </a:p>
          <a:p>
            <a:pPr>
              <a:buFont typeface="Arial"/>
              <a:buChar char="•"/>
            </a:pPr>
            <a:r>
              <a:rPr lang="en-US" sz="1600" dirty="0"/>
              <a:t>D(2) = {3,4,5,6,7}</a:t>
            </a:r>
          </a:p>
          <a:p>
            <a:pPr>
              <a:buFont typeface="Arial"/>
              <a:buChar char="•"/>
            </a:pPr>
            <a:r>
              <a:rPr lang="en-US" sz="1600" dirty="0"/>
              <a:t>D(3) = {5,6,7}</a:t>
            </a:r>
          </a:p>
          <a:p>
            <a:pPr>
              <a:buFont typeface="Arial"/>
              <a:buChar char="•"/>
            </a:pPr>
            <a:r>
              <a:rPr lang="en-US" sz="1600" dirty="0"/>
              <a:t>D(4) = {}</a:t>
            </a:r>
          </a:p>
          <a:p>
            <a:pPr>
              <a:buFont typeface="Arial"/>
              <a:buChar char="•"/>
            </a:pPr>
            <a:r>
              <a:rPr lang="en-US" sz="1600" dirty="0"/>
              <a:t>D(5) = {}</a:t>
            </a:r>
          </a:p>
          <a:p>
            <a:pPr>
              <a:buFont typeface="Arial"/>
              <a:buChar char="•"/>
            </a:pPr>
            <a:r>
              <a:rPr lang="en-US" sz="1600" dirty="0"/>
              <a:t>D(6) = {}</a:t>
            </a:r>
          </a:p>
          <a:p>
            <a:pPr>
              <a:buFont typeface="Arial"/>
              <a:buChar char="•"/>
            </a:pPr>
            <a:r>
              <a:rPr lang="en-US" sz="1600" dirty="0"/>
              <a:t>D(7) = {}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1241" y="153652"/>
            <a:ext cx="2178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Dominance Relations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3749" y="2490600"/>
            <a:ext cx="1653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Dominator Tree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9549" y="2835175"/>
            <a:ext cx="364202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/>
              <a:t>1: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6649" y="3921025"/>
            <a:ext cx="364202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/>
              <a:t>3: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19599" y="3921025"/>
            <a:ext cx="364202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/>
              <a:t>4: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9449" y="4549675"/>
            <a:ext cx="364202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/>
              <a:t>5: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6649" y="4549675"/>
            <a:ext cx="364202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/>
              <a:t>6: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9549" y="3406675"/>
            <a:ext cx="364202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/>
              <a:t>2: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33849" y="4549675"/>
            <a:ext cx="364202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/>
              <a:t>7:</a:t>
            </a:r>
          </a:p>
        </p:txBody>
      </p:sp>
      <p:cxnSp>
        <p:nvCxnSpPr>
          <p:cNvPr id="36" name="Straight Connector 35"/>
          <p:cNvCxnSpPr>
            <a:stCxn id="28" idx="2"/>
            <a:endCxn id="33" idx="0"/>
          </p:cNvCxnSpPr>
          <p:nvPr/>
        </p:nvCxnSpPr>
        <p:spPr bwMode="auto">
          <a:xfrm>
            <a:off x="6701650" y="3204507"/>
            <a:ext cx="0" cy="20216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7" name="Straight Connector 36"/>
          <p:cNvCxnSpPr>
            <a:stCxn id="33" idx="2"/>
            <a:endCxn id="29" idx="0"/>
          </p:cNvCxnSpPr>
          <p:nvPr/>
        </p:nvCxnSpPr>
        <p:spPr bwMode="auto">
          <a:xfrm flipH="1">
            <a:off x="6358750" y="3776007"/>
            <a:ext cx="342900" cy="14501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" name="Straight Connector 40"/>
          <p:cNvCxnSpPr>
            <a:stCxn id="33" idx="2"/>
            <a:endCxn id="30" idx="0"/>
          </p:cNvCxnSpPr>
          <p:nvPr/>
        </p:nvCxnSpPr>
        <p:spPr bwMode="auto">
          <a:xfrm>
            <a:off x="6701650" y="3776007"/>
            <a:ext cx="400050" cy="14501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4" name="Straight Connector 43"/>
          <p:cNvCxnSpPr>
            <a:stCxn id="29" idx="2"/>
            <a:endCxn id="31" idx="0"/>
          </p:cNvCxnSpPr>
          <p:nvPr/>
        </p:nvCxnSpPr>
        <p:spPr bwMode="auto">
          <a:xfrm flipH="1">
            <a:off x="5901550" y="4290357"/>
            <a:ext cx="457200" cy="25931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7" name="Straight Connector 46"/>
          <p:cNvCxnSpPr>
            <a:stCxn id="29" idx="2"/>
            <a:endCxn id="32" idx="0"/>
          </p:cNvCxnSpPr>
          <p:nvPr/>
        </p:nvCxnSpPr>
        <p:spPr bwMode="auto">
          <a:xfrm>
            <a:off x="6358750" y="4290357"/>
            <a:ext cx="0" cy="25931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0" name="Straight Connector 49"/>
          <p:cNvCxnSpPr>
            <a:stCxn id="29" idx="2"/>
            <a:endCxn id="34" idx="0"/>
          </p:cNvCxnSpPr>
          <p:nvPr/>
        </p:nvCxnSpPr>
        <p:spPr bwMode="auto">
          <a:xfrm>
            <a:off x="6358750" y="4290357"/>
            <a:ext cx="457200" cy="25931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to SSA Form</a:t>
            </a:r>
          </a:p>
        </p:txBody>
      </p:sp>
      <p:sp>
        <p:nvSpPr>
          <p:cNvPr id="1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CBB7-0D72-414E-9F56-266DA4AACC86}" type="slidenum">
              <a:rPr lang="en-US"/>
              <a:pPr/>
              <a:t>5</a:t>
            </a:fld>
            <a:endParaRPr lang="en-US"/>
          </a:p>
        </p:txBody>
      </p:sp>
      <p:sp>
        <p:nvSpPr>
          <p:cNvPr id="222212" name="Text Box 4"/>
          <p:cNvSpPr txBox="1">
            <a:spLocks noChangeArrowheads="1"/>
          </p:cNvSpPr>
          <p:nvPr/>
        </p:nvSpPr>
        <p:spPr bwMode="auto">
          <a:xfrm>
            <a:off x="2457450" y="1485901"/>
            <a:ext cx="1515158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/>
              <a:t>1: i := 1  j := 1</a:t>
            </a:r>
          </a:p>
          <a:p>
            <a:r>
              <a:rPr lang="en-US" sz="1800"/>
              <a:t>    k := 0</a:t>
            </a:r>
            <a:endParaRPr lang="en-US" sz="2100"/>
          </a:p>
        </p:txBody>
      </p:sp>
      <p:sp>
        <p:nvSpPr>
          <p:cNvPr id="222213" name="Text Box 5"/>
          <p:cNvSpPr txBox="1">
            <a:spLocks noChangeArrowheads="1"/>
          </p:cNvSpPr>
          <p:nvPr/>
        </p:nvSpPr>
        <p:spPr bwMode="auto">
          <a:xfrm>
            <a:off x="2571750" y="2400300"/>
            <a:ext cx="1327608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/>
              <a:t>2: if k &lt; 100</a:t>
            </a:r>
            <a:endParaRPr lang="en-US" sz="2100"/>
          </a:p>
        </p:txBody>
      </p:sp>
      <p:sp>
        <p:nvSpPr>
          <p:cNvPr id="222214" name="Text Box 6"/>
          <p:cNvSpPr txBox="1">
            <a:spLocks noChangeArrowheads="1"/>
          </p:cNvSpPr>
          <p:nvPr/>
        </p:nvSpPr>
        <p:spPr bwMode="auto">
          <a:xfrm>
            <a:off x="1885950" y="3086100"/>
            <a:ext cx="131445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/>
              <a:t>3: if j &lt; 20</a:t>
            </a:r>
            <a:endParaRPr lang="en-US" sz="2100"/>
          </a:p>
        </p:txBody>
      </p:sp>
      <p:cxnSp>
        <p:nvCxnSpPr>
          <p:cNvPr id="222215" name="AutoShape 7"/>
          <p:cNvCxnSpPr>
            <a:cxnSpLocks noChangeShapeType="1"/>
            <a:stCxn id="222212" idx="2"/>
            <a:endCxn id="222213" idx="0"/>
          </p:cNvCxnSpPr>
          <p:nvPr/>
        </p:nvCxnSpPr>
        <p:spPr bwMode="auto">
          <a:xfrm>
            <a:off x="3215029" y="2132232"/>
            <a:ext cx="20525" cy="26806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22216" name="AutoShape 8"/>
          <p:cNvCxnSpPr>
            <a:cxnSpLocks noChangeShapeType="1"/>
            <a:stCxn id="222213" idx="2"/>
            <a:endCxn id="222214" idx="0"/>
          </p:cNvCxnSpPr>
          <p:nvPr/>
        </p:nvCxnSpPr>
        <p:spPr bwMode="auto">
          <a:xfrm flipH="1">
            <a:off x="2543175" y="2769632"/>
            <a:ext cx="692379" cy="31646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22218" name="Text Box 10"/>
          <p:cNvSpPr txBox="1">
            <a:spLocks noChangeArrowheads="1"/>
          </p:cNvSpPr>
          <p:nvPr/>
        </p:nvSpPr>
        <p:spPr bwMode="auto">
          <a:xfrm>
            <a:off x="3543300" y="3086100"/>
            <a:ext cx="125730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/>
              <a:t>4: return j</a:t>
            </a:r>
          </a:p>
        </p:txBody>
      </p:sp>
      <p:sp>
        <p:nvSpPr>
          <p:cNvPr id="222219" name="Text Box 11"/>
          <p:cNvSpPr txBox="1">
            <a:spLocks noChangeArrowheads="1"/>
          </p:cNvSpPr>
          <p:nvPr/>
        </p:nvSpPr>
        <p:spPr bwMode="auto">
          <a:xfrm>
            <a:off x="1885950" y="3771901"/>
            <a:ext cx="137160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/>
              <a:t>5: j := i</a:t>
            </a:r>
          </a:p>
          <a:p>
            <a:r>
              <a:rPr lang="en-US" sz="1800"/>
              <a:t>    k := k+1</a:t>
            </a:r>
          </a:p>
        </p:txBody>
      </p:sp>
      <p:sp>
        <p:nvSpPr>
          <p:cNvPr id="222220" name="Text Box 12"/>
          <p:cNvSpPr txBox="1">
            <a:spLocks noChangeArrowheads="1"/>
          </p:cNvSpPr>
          <p:nvPr/>
        </p:nvSpPr>
        <p:spPr bwMode="auto">
          <a:xfrm>
            <a:off x="3543300" y="3771901"/>
            <a:ext cx="137160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6: </a:t>
            </a:r>
            <a:r>
              <a:rPr lang="en-US" sz="1800" dirty="0" err="1"/>
              <a:t>j</a:t>
            </a:r>
            <a:r>
              <a:rPr lang="en-US" sz="1800" dirty="0"/>
              <a:t> := </a:t>
            </a:r>
            <a:r>
              <a:rPr lang="en-US" sz="1800" dirty="0" err="1"/>
              <a:t>k</a:t>
            </a:r>
            <a:endParaRPr lang="en-US" sz="1800" dirty="0"/>
          </a:p>
          <a:p>
            <a:r>
              <a:rPr lang="en-US" sz="1800" dirty="0"/>
              <a:t>    </a:t>
            </a:r>
            <a:r>
              <a:rPr lang="en-US" sz="1800" dirty="0" err="1"/>
              <a:t>k</a:t>
            </a:r>
            <a:r>
              <a:rPr lang="en-US" sz="1800" dirty="0"/>
              <a:t> := k+1</a:t>
            </a:r>
            <a:endParaRPr lang="en-US" sz="2100" dirty="0"/>
          </a:p>
        </p:txBody>
      </p:sp>
      <p:sp>
        <p:nvSpPr>
          <p:cNvPr id="222221" name="Text Box 13"/>
          <p:cNvSpPr txBox="1">
            <a:spLocks noChangeArrowheads="1"/>
          </p:cNvSpPr>
          <p:nvPr/>
        </p:nvSpPr>
        <p:spPr bwMode="auto">
          <a:xfrm>
            <a:off x="2743200" y="4629150"/>
            <a:ext cx="114300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/>
              <a:t>7:</a:t>
            </a:r>
            <a:endParaRPr lang="en-US" sz="2100"/>
          </a:p>
        </p:txBody>
      </p:sp>
      <p:cxnSp>
        <p:nvCxnSpPr>
          <p:cNvPr id="222222" name="AutoShape 14"/>
          <p:cNvCxnSpPr>
            <a:cxnSpLocks noChangeShapeType="1"/>
            <a:stCxn id="222213" idx="2"/>
            <a:endCxn id="222218" idx="0"/>
          </p:cNvCxnSpPr>
          <p:nvPr/>
        </p:nvCxnSpPr>
        <p:spPr bwMode="auto">
          <a:xfrm>
            <a:off x="3235554" y="2769632"/>
            <a:ext cx="936396" cy="31646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22223" name="AutoShape 15"/>
          <p:cNvCxnSpPr>
            <a:cxnSpLocks noChangeShapeType="1"/>
            <a:stCxn id="222214" idx="2"/>
            <a:endCxn id="222219" idx="0"/>
          </p:cNvCxnSpPr>
          <p:nvPr/>
        </p:nvCxnSpPr>
        <p:spPr bwMode="auto">
          <a:xfrm>
            <a:off x="2543175" y="3455432"/>
            <a:ext cx="28575" cy="31646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22224" name="AutoShape 16"/>
          <p:cNvCxnSpPr>
            <a:cxnSpLocks noChangeShapeType="1"/>
            <a:stCxn id="222214" idx="2"/>
            <a:endCxn id="222220" idx="0"/>
          </p:cNvCxnSpPr>
          <p:nvPr/>
        </p:nvCxnSpPr>
        <p:spPr bwMode="auto">
          <a:xfrm>
            <a:off x="2543175" y="3455432"/>
            <a:ext cx="1685925" cy="31646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22225" name="AutoShape 17"/>
          <p:cNvCxnSpPr>
            <a:cxnSpLocks noChangeShapeType="1"/>
            <a:stCxn id="222219" idx="2"/>
            <a:endCxn id="222221" idx="0"/>
          </p:cNvCxnSpPr>
          <p:nvPr/>
        </p:nvCxnSpPr>
        <p:spPr bwMode="auto">
          <a:xfrm>
            <a:off x="2571750" y="4418232"/>
            <a:ext cx="742950" cy="21091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22226" name="AutoShape 18"/>
          <p:cNvCxnSpPr>
            <a:cxnSpLocks noChangeShapeType="1"/>
            <a:stCxn id="222220" idx="2"/>
            <a:endCxn id="222221" idx="0"/>
          </p:cNvCxnSpPr>
          <p:nvPr/>
        </p:nvCxnSpPr>
        <p:spPr bwMode="auto">
          <a:xfrm flipH="1">
            <a:off x="3314700" y="4418232"/>
            <a:ext cx="914400" cy="21091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22227" name="AutoShape 19"/>
          <p:cNvCxnSpPr>
            <a:cxnSpLocks noChangeShapeType="1"/>
            <a:stCxn id="222221" idx="2"/>
            <a:endCxn id="222213" idx="0"/>
          </p:cNvCxnSpPr>
          <p:nvPr/>
        </p:nvCxnSpPr>
        <p:spPr bwMode="auto">
          <a:xfrm rot="5400000" flipH="1">
            <a:off x="1976036" y="3659818"/>
            <a:ext cx="2598182" cy="79146"/>
          </a:xfrm>
          <a:prstGeom prst="curvedConnector5">
            <a:avLst>
              <a:gd name="adj1" fmla="val -8798"/>
              <a:gd name="adj2" fmla="val 2192304"/>
              <a:gd name="adj3" fmla="val 108798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2147301" y="1083350"/>
            <a:ext cx="2056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Control Flow Graph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29301" y="604391"/>
            <a:ext cx="1930337" cy="181588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>
              <a:buFont typeface="Arial"/>
              <a:buChar char="•"/>
            </a:pPr>
            <a:r>
              <a:rPr lang="en-US" sz="1600" dirty="0"/>
              <a:t>D(1) = {2,3,4,5,6,7}</a:t>
            </a:r>
          </a:p>
          <a:p>
            <a:pPr>
              <a:buFont typeface="Arial"/>
              <a:buChar char="•"/>
            </a:pPr>
            <a:r>
              <a:rPr lang="en-US" sz="1600" dirty="0"/>
              <a:t>D(2) = {3,4,5,6,7}</a:t>
            </a:r>
          </a:p>
          <a:p>
            <a:pPr>
              <a:buFont typeface="Arial"/>
              <a:buChar char="•"/>
            </a:pPr>
            <a:r>
              <a:rPr lang="en-US" sz="1600" dirty="0"/>
              <a:t>D(3) = {5,6,7}</a:t>
            </a:r>
          </a:p>
          <a:p>
            <a:pPr>
              <a:buFont typeface="Arial"/>
              <a:buChar char="•"/>
            </a:pPr>
            <a:r>
              <a:rPr lang="en-US" sz="1600" dirty="0"/>
              <a:t>D(4) = {}</a:t>
            </a:r>
          </a:p>
          <a:p>
            <a:pPr>
              <a:buFont typeface="Arial"/>
              <a:buChar char="•"/>
            </a:pPr>
            <a:r>
              <a:rPr lang="en-US" sz="1600" dirty="0"/>
              <a:t>D(5) = {}</a:t>
            </a:r>
          </a:p>
          <a:p>
            <a:pPr>
              <a:buFont typeface="Arial"/>
              <a:buChar char="•"/>
            </a:pPr>
            <a:r>
              <a:rPr lang="en-US" sz="1600" dirty="0"/>
              <a:t>D(6) = {}</a:t>
            </a:r>
          </a:p>
          <a:p>
            <a:pPr>
              <a:buFont typeface="Arial"/>
              <a:buChar char="•"/>
            </a:pPr>
            <a:r>
              <a:rPr lang="en-US" sz="1600" dirty="0"/>
              <a:t>D(7) = {}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47917" y="218003"/>
            <a:ext cx="2178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Dominance Relations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65940" y="2906634"/>
            <a:ext cx="1410964" cy="20313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>
              <a:buFont typeface="Arial"/>
              <a:buChar char="•"/>
            </a:pPr>
            <a:r>
              <a:rPr lang="en-US" sz="1800" dirty="0"/>
              <a:t>DF(1) = {}</a:t>
            </a:r>
          </a:p>
          <a:p>
            <a:pPr>
              <a:buFont typeface="Arial"/>
              <a:buChar char="•"/>
            </a:pPr>
            <a:r>
              <a:rPr lang="en-US" sz="1800" dirty="0"/>
              <a:t>DF(2) = {2}</a:t>
            </a:r>
          </a:p>
          <a:p>
            <a:pPr>
              <a:buFont typeface="Arial"/>
              <a:buChar char="•"/>
            </a:pPr>
            <a:r>
              <a:rPr lang="en-US" sz="1800" dirty="0"/>
              <a:t>DF(3) = {2}</a:t>
            </a:r>
          </a:p>
          <a:p>
            <a:pPr>
              <a:buFont typeface="Arial"/>
              <a:buChar char="•"/>
            </a:pPr>
            <a:r>
              <a:rPr lang="en-US" sz="1800" dirty="0"/>
              <a:t>DF(4) = {}</a:t>
            </a:r>
          </a:p>
          <a:p>
            <a:pPr>
              <a:buFont typeface="Arial"/>
              <a:buChar char="•"/>
            </a:pPr>
            <a:r>
              <a:rPr lang="en-US" sz="1800" dirty="0"/>
              <a:t>DF(5) = {7}</a:t>
            </a:r>
          </a:p>
          <a:p>
            <a:pPr>
              <a:buFont typeface="Arial"/>
              <a:buChar char="•"/>
            </a:pPr>
            <a:r>
              <a:rPr lang="en-US" sz="1800" dirty="0"/>
              <a:t>DF(6) = {7}</a:t>
            </a:r>
          </a:p>
          <a:p>
            <a:pPr>
              <a:buFont typeface="Arial"/>
              <a:buChar char="•"/>
            </a:pPr>
            <a:r>
              <a:rPr lang="en-US" sz="1800" dirty="0"/>
              <a:t>DF(7) = {2}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09077" y="2534886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Dominance Frontier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to SSA Form</a:t>
            </a:r>
          </a:p>
        </p:txBody>
      </p:sp>
      <p:sp>
        <p:nvSpPr>
          <p:cNvPr id="1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CBB7-0D72-414E-9F56-266DA4AACC86}" type="slidenum">
              <a:rPr lang="en-US"/>
              <a:pPr/>
              <a:t>6</a:t>
            </a:fld>
            <a:endParaRPr lang="en-US"/>
          </a:p>
        </p:txBody>
      </p:sp>
      <p:sp>
        <p:nvSpPr>
          <p:cNvPr id="23" name="Text Box 3"/>
          <p:cNvSpPr txBox="1">
            <a:spLocks noChangeArrowheads="1"/>
          </p:cNvSpPr>
          <p:nvPr/>
        </p:nvSpPr>
        <p:spPr bwMode="auto">
          <a:xfrm>
            <a:off x="2057400" y="1314451"/>
            <a:ext cx="1515158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1: </a:t>
            </a:r>
            <a:r>
              <a:rPr lang="en-US" sz="1800" dirty="0" err="1"/>
              <a:t>i</a:t>
            </a:r>
            <a:r>
              <a:rPr lang="en-US" sz="1800" dirty="0"/>
              <a:t> := 1  </a:t>
            </a:r>
            <a:r>
              <a:rPr lang="en-US" sz="1800" dirty="0" err="1"/>
              <a:t>j</a:t>
            </a:r>
            <a:r>
              <a:rPr lang="en-US" sz="1800" dirty="0"/>
              <a:t> := 1</a:t>
            </a:r>
          </a:p>
          <a:p>
            <a:r>
              <a:rPr lang="en-US" sz="1800" dirty="0"/>
              <a:t>    </a:t>
            </a:r>
            <a:r>
              <a:rPr lang="en-US" sz="1800" dirty="0" err="1"/>
              <a:t>k</a:t>
            </a:r>
            <a:r>
              <a:rPr lang="en-US" sz="1800" dirty="0"/>
              <a:t> := 0</a:t>
            </a:r>
            <a:endParaRPr lang="en-US" sz="2100" dirty="0"/>
          </a:p>
        </p:txBody>
      </p:sp>
      <p:sp>
        <p:nvSpPr>
          <p:cNvPr id="24" name="Text Box 4"/>
          <p:cNvSpPr txBox="1">
            <a:spLocks noChangeArrowheads="1"/>
          </p:cNvSpPr>
          <p:nvPr/>
        </p:nvSpPr>
        <p:spPr bwMode="auto">
          <a:xfrm>
            <a:off x="4572000" y="1257300"/>
            <a:ext cx="1828800" cy="9233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2: </a:t>
            </a:r>
          </a:p>
          <a:p>
            <a:endParaRPr lang="en-US" sz="1800" dirty="0">
              <a:sym typeface="Symbol" charset="2"/>
            </a:endParaRPr>
          </a:p>
          <a:p>
            <a:r>
              <a:rPr lang="en-US" sz="1800" dirty="0">
                <a:sym typeface="Symbol" charset="2"/>
              </a:rPr>
              <a:t>   </a:t>
            </a:r>
            <a:r>
              <a:rPr lang="en-US" sz="1800" dirty="0"/>
              <a:t> if k2 &lt; 100</a:t>
            </a:r>
          </a:p>
        </p:txBody>
      </p:sp>
      <p:sp>
        <p:nvSpPr>
          <p:cNvPr id="25" name="Text Box 5"/>
          <p:cNvSpPr txBox="1">
            <a:spLocks noChangeArrowheads="1"/>
          </p:cNvSpPr>
          <p:nvPr/>
        </p:nvSpPr>
        <p:spPr bwMode="auto">
          <a:xfrm>
            <a:off x="4000500" y="2628900"/>
            <a:ext cx="131445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3: if </a:t>
            </a:r>
            <a:r>
              <a:rPr lang="en-US" sz="1800" dirty="0" err="1"/>
              <a:t>j</a:t>
            </a:r>
            <a:r>
              <a:rPr lang="en-US" sz="1800" dirty="0"/>
              <a:t> &lt; 20</a:t>
            </a:r>
            <a:endParaRPr lang="en-US" sz="2100" dirty="0"/>
          </a:p>
        </p:txBody>
      </p:sp>
      <p:cxnSp>
        <p:nvCxnSpPr>
          <p:cNvPr id="26" name="AutoShape 6"/>
          <p:cNvCxnSpPr>
            <a:cxnSpLocks noChangeShapeType="1"/>
            <a:stCxn id="23" idx="3"/>
            <a:endCxn id="24" idx="1"/>
          </p:cNvCxnSpPr>
          <p:nvPr/>
        </p:nvCxnSpPr>
        <p:spPr bwMode="auto">
          <a:xfrm>
            <a:off x="3572558" y="1637617"/>
            <a:ext cx="999442" cy="8134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7" name="AutoShape 7"/>
          <p:cNvCxnSpPr>
            <a:cxnSpLocks noChangeShapeType="1"/>
            <a:stCxn id="24" idx="2"/>
            <a:endCxn id="25" idx="0"/>
          </p:cNvCxnSpPr>
          <p:nvPr/>
        </p:nvCxnSpPr>
        <p:spPr bwMode="auto">
          <a:xfrm flipH="1">
            <a:off x="4657725" y="2180630"/>
            <a:ext cx="828675" cy="44827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8" name="Text Box 8"/>
          <p:cNvSpPr txBox="1">
            <a:spLocks noChangeArrowheads="1"/>
          </p:cNvSpPr>
          <p:nvPr/>
        </p:nvSpPr>
        <p:spPr bwMode="auto">
          <a:xfrm>
            <a:off x="5657850" y="2628900"/>
            <a:ext cx="125730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4: return </a:t>
            </a:r>
            <a:r>
              <a:rPr lang="en-US" sz="1800" dirty="0" err="1"/>
              <a:t>j</a:t>
            </a:r>
            <a:endParaRPr lang="en-US" sz="1800" dirty="0"/>
          </a:p>
        </p:txBody>
      </p:sp>
      <p:sp>
        <p:nvSpPr>
          <p:cNvPr id="29" name="Text Box 9"/>
          <p:cNvSpPr txBox="1">
            <a:spLocks noChangeArrowheads="1"/>
          </p:cNvSpPr>
          <p:nvPr/>
        </p:nvSpPr>
        <p:spPr bwMode="auto">
          <a:xfrm>
            <a:off x="4000500" y="3314701"/>
            <a:ext cx="148590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5: </a:t>
            </a:r>
            <a:r>
              <a:rPr lang="en-US" sz="1800" dirty="0" err="1"/>
              <a:t>j</a:t>
            </a:r>
            <a:r>
              <a:rPr lang="en-US" sz="1800" dirty="0"/>
              <a:t> := </a:t>
            </a:r>
            <a:r>
              <a:rPr lang="en-US" sz="1800" dirty="0" err="1"/>
              <a:t>i</a:t>
            </a:r>
            <a:endParaRPr lang="en-US" sz="1800" dirty="0"/>
          </a:p>
          <a:p>
            <a:r>
              <a:rPr lang="en-US" sz="1800" dirty="0"/>
              <a:t>    </a:t>
            </a:r>
            <a:r>
              <a:rPr lang="en-US" sz="1800" dirty="0" err="1"/>
              <a:t>k</a:t>
            </a:r>
            <a:r>
              <a:rPr lang="en-US" sz="1800" dirty="0"/>
              <a:t> := k+1</a:t>
            </a:r>
          </a:p>
        </p:txBody>
      </p:sp>
      <p:sp>
        <p:nvSpPr>
          <p:cNvPr id="30" name="Text Box 10"/>
          <p:cNvSpPr txBox="1">
            <a:spLocks noChangeArrowheads="1"/>
          </p:cNvSpPr>
          <p:nvPr/>
        </p:nvSpPr>
        <p:spPr bwMode="auto">
          <a:xfrm>
            <a:off x="5657850" y="3314701"/>
            <a:ext cx="142875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6: </a:t>
            </a:r>
            <a:r>
              <a:rPr lang="en-US" sz="1800" dirty="0" err="1"/>
              <a:t>j</a:t>
            </a:r>
            <a:r>
              <a:rPr lang="en-US" sz="1800" dirty="0"/>
              <a:t> := </a:t>
            </a:r>
            <a:r>
              <a:rPr lang="en-US" sz="1800" dirty="0" err="1"/>
              <a:t>k</a:t>
            </a:r>
            <a:endParaRPr lang="en-US" sz="1800" dirty="0"/>
          </a:p>
          <a:p>
            <a:r>
              <a:rPr lang="en-US" sz="1800" dirty="0"/>
              <a:t>    </a:t>
            </a:r>
            <a:r>
              <a:rPr lang="en-US" sz="1800" dirty="0" err="1"/>
              <a:t>k</a:t>
            </a:r>
            <a:r>
              <a:rPr lang="en-US" sz="1800" dirty="0"/>
              <a:t> := k+1</a:t>
            </a:r>
            <a:endParaRPr lang="en-US" sz="2100" dirty="0"/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4857750" y="4171951"/>
            <a:ext cx="188595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7: </a:t>
            </a:r>
          </a:p>
          <a:p>
            <a:endParaRPr lang="en-US" sz="1800" dirty="0"/>
          </a:p>
        </p:txBody>
      </p:sp>
      <p:cxnSp>
        <p:nvCxnSpPr>
          <p:cNvPr id="32" name="AutoShape 12"/>
          <p:cNvCxnSpPr>
            <a:cxnSpLocks noChangeShapeType="1"/>
            <a:stCxn id="24" idx="2"/>
            <a:endCxn id="28" idx="0"/>
          </p:cNvCxnSpPr>
          <p:nvPr/>
        </p:nvCxnSpPr>
        <p:spPr bwMode="auto">
          <a:xfrm>
            <a:off x="5486400" y="2180630"/>
            <a:ext cx="800100" cy="44827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3" name="AutoShape 13"/>
          <p:cNvCxnSpPr>
            <a:cxnSpLocks noChangeShapeType="1"/>
            <a:stCxn id="25" idx="2"/>
            <a:endCxn id="29" idx="0"/>
          </p:cNvCxnSpPr>
          <p:nvPr/>
        </p:nvCxnSpPr>
        <p:spPr bwMode="auto">
          <a:xfrm>
            <a:off x="4657725" y="2998232"/>
            <a:ext cx="85725" cy="31646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4" name="AutoShape 14"/>
          <p:cNvCxnSpPr>
            <a:cxnSpLocks noChangeShapeType="1"/>
            <a:stCxn id="25" idx="2"/>
            <a:endCxn id="30" idx="0"/>
          </p:cNvCxnSpPr>
          <p:nvPr/>
        </p:nvCxnSpPr>
        <p:spPr bwMode="auto">
          <a:xfrm>
            <a:off x="4657725" y="2998232"/>
            <a:ext cx="1714500" cy="31646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5" name="AutoShape 15"/>
          <p:cNvCxnSpPr>
            <a:cxnSpLocks noChangeShapeType="1"/>
            <a:stCxn id="29" idx="2"/>
            <a:endCxn id="31" idx="0"/>
          </p:cNvCxnSpPr>
          <p:nvPr/>
        </p:nvCxnSpPr>
        <p:spPr bwMode="auto">
          <a:xfrm>
            <a:off x="4743450" y="3961032"/>
            <a:ext cx="1057275" cy="21091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6" name="AutoShape 16"/>
          <p:cNvCxnSpPr>
            <a:cxnSpLocks noChangeShapeType="1"/>
            <a:stCxn id="30" idx="2"/>
            <a:endCxn id="31" idx="0"/>
          </p:cNvCxnSpPr>
          <p:nvPr/>
        </p:nvCxnSpPr>
        <p:spPr bwMode="auto">
          <a:xfrm flipH="1">
            <a:off x="5800725" y="3961032"/>
            <a:ext cx="571500" cy="21091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7" name="AutoShape 17"/>
          <p:cNvCxnSpPr>
            <a:cxnSpLocks noChangeShapeType="1"/>
            <a:stCxn id="31" idx="2"/>
            <a:endCxn id="24" idx="0"/>
          </p:cNvCxnSpPr>
          <p:nvPr/>
        </p:nvCxnSpPr>
        <p:spPr bwMode="auto">
          <a:xfrm rot="5400000" flipH="1">
            <a:off x="3863072" y="2880629"/>
            <a:ext cx="3560982" cy="314325"/>
          </a:xfrm>
          <a:prstGeom prst="curvedConnector5">
            <a:avLst>
              <a:gd name="adj1" fmla="val -6420"/>
              <a:gd name="adj2" fmla="val -661013"/>
              <a:gd name="adj3" fmla="val 10642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43" name="TextBox 42"/>
          <p:cNvSpPr txBox="1"/>
          <p:nvPr/>
        </p:nvSpPr>
        <p:spPr>
          <a:xfrm>
            <a:off x="724912" y="2631331"/>
            <a:ext cx="1503938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/>
              <a:t>Variable </a:t>
            </a:r>
            <a:r>
              <a:rPr lang="en-US" sz="1800" dirty="0" err="1"/>
              <a:t>j</a:t>
            </a:r>
            <a:r>
              <a:rPr lang="en-US" sz="1800" dirty="0"/>
              <a:t> in 5</a:t>
            </a:r>
          </a:p>
          <a:p>
            <a:r>
              <a:rPr lang="en-US" sz="1800" dirty="0"/>
              <a:t>DF(5) = { 7 }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to SSA Form</a:t>
            </a:r>
          </a:p>
        </p:txBody>
      </p:sp>
      <p:sp>
        <p:nvSpPr>
          <p:cNvPr id="1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CBB7-0D72-414E-9F56-266DA4AACC86}" type="slidenum">
              <a:rPr lang="en-US"/>
              <a:pPr/>
              <a:t>7</a:t>
            </a:fld>
            <a:endParaRPr lang="en-US"/>
          </a:p>
        </p:txBody>
      </p:sp>
      <p:sp>
        <p:nvSpPr>
          <p:cNvPr id="23" name="Text Box 3"/>
          <p:cNvSpPr txBox="1">
            <a:spLocks noChangeArrowheads="1"/>
          </p:cNvSpPr>
          <p:nvPr/>
        </p:nvSpPr>
        <p:spPr bwMode="auto">
          <a:xfrm>
            <a:off x="2057400" y="1314451"/>
            <a:ext cx="1515158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1: </a:t>
            </a:r>
            <a:r>
              <a:rPr lang="en-US" sz="1800" dirty="0" err="1"/>
              <a:t>i</a:t>
            </a:r>
            <a:r>
              <a:rPr lang="en-US" sz="1800" dirty="0"/>
              <a:t> := 1  </a:t>
            </a:r>
            <a:r>
              <a:rPr lang="en-US" sz="1800" dirty="0" err="1"/>
              <a:t>j</a:t>
            </a:r>
            <a:r>
              <a:rPr lang="en-US" sz="1800" dirty="0"/>
              <a:t> := 1</a:t>
            </a:r>
          </a:p>
          <a:p>
            <a:r>
              <a:rPr lang="en-US" sz="1800" dirty="0"/>
              <a:t>    </a:t>
            </a:r>
            <a:r>
              <a:rPr lang="en-US" sz="1800" dirty="0" err="1"/>
              <a:t>k</a:t>
            </a:r>
            <a:r>
              <a:rPr lang="en-US" sz="1800" dirty="0"/>
              <a:t> := 0</a:t>
            </a:r>
            <a:endParaRPr lang="en-US" sz="2100" dirty="0"/>
          </a:p>
        </p:txBody>
      </p:sp>
      <p:sp>
        <p:nvSpPr>
          <p:cNvPr id="24" name="Text Box 4"/>
          <p:cNvSpPr txBox="1">
            <a:spLocks noChangeArrowheads="1"/>
          </p:cNvSpPr>
          <p:nvPr/>
        </p:nvSpPr>
        <p:spPr bwMode="auto">
          <a:xfrm>
            <a:off x="4572000" y="1257300"/>
            <a:ext cx="1828800" cy="9233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2: </a:t>
            </a:r>
          </a:p>
          <a:p>
            <a:endParaRPr lang="en-US" sz="1800" dirty="0">
              <a:sym typeface="Symbol" charset="2"/>
            </a:endParaRPr>
          </a:p>
          <a:p>
            <a:r>
              <a:rPr lang="en-US" sz="1800" dirty="0">
                <a:sym typeface="Symbol" charset="2"/>
              </a:rPr>
              <a:t>   </a:t>
            </a:r>
            <a:r>
              <a:rPr lang="en-US" sz="1800" dirty="0"/>
              <a:t> </a:t>
            </a:r>
            <a:r>
              <a:rPr lang="en-US" sz="1800"/>
              <a:t>if k </a:t>
            </a:r>
            <a:r>
              <a:rPr lang="en-US" sz="1800" dirty="0"/>
              <a:t>&lt; 100</a:t>
            </a:r>
          </a:p>
        </p:txBody>
      </p:sp>
      <p:sp>
        <p:nvSpPr>
          <p:cNvPr id="25" name="Text Box 5"/>
          <p:cNvSpPr txBox="1">
            <a:spLocks noChangeArrowheads="1"/>
          </p:cNvSpPr>
          <p:nvPr/>
        </p:nvSpPr>
        <p:spPr bwMode="auto">
          <a:xfrm>
            <a:off x="4000500" y="2628900"/>
            <a:ext cx="131445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3: if </a:t>
            </a:r>
            <a:r>
              <a:rPr lang="en-US" sz="1800" dirty="0" err="1"/>
              <a:t>j</a:t>
            </a:r>
            <a:r>
              <a:rPr lang="en-US" sz="1800" dirty="0"/>
              <a:t> &lt; 20</a:t>
            </a:r>
            <a:endParaRPr lang="en-US" sz="2100" dirty="0"/>
          </a:p>
        </p:txBody>
      </p:sp>
      <p:cxnSp>
        <p:nvCxnSpPr>
          <p:cNvPr id="26" name="AutoShape 6"/>
          <p:cNvCxnSpPr>
            <a:cxnSpLocks noChangeShapeType="1"/>
            <a:stCxn id="23" idx="3"/>
            <a:endCxn id="24" idx="1"/>
          </p:cNvCxnSpPr>
          <p:nvPr/>
        </p:nvCxnSpPr>
        <p:spPr bwMode="auto">
          <a:xfrm>
            <a:off x="3572558" y="1637617"/>
            <a:ext cx="999442" cy="8134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7" name="AutoShape 7"/>
          <p:cNvCxnSpPr>
            <a:cxnSpLocks noChangeShapeType="1"/>
            <a:stCxn id="24" idx="2"/>
            <a:endCxn id="25" idx="0"/>
          </p:cNvCxnSpPr>
          <p:nvPr/>
        </p:nvCxnSpPr>
        <p:spPr bwMode="auto">
          <a:xfrm flipH="1">
            <a:off x="4657725" y="2180630"/>
            <a:ext cx="828675" cy="44827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8" name="Text Box 8"/>
          <p:cNvSpPr txBox="1">
            <a:spLocks noChangeArrowheads="1"/>
          </p:cNvSpPr>
          <p:nvPr/>
        </p:nvSpPr>
        <p:spPr bwMode="auto">
          <a:xfrm>
            <a:off x="5657850" y="2628900"/>
            <a:ext cx="125730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4: return </a:t>
            </a:r>
            <a:r>
              <a:rPr lang="en-US" sz="1800" dirty="0" err="1"/>
              <a:t>j</a:t>
            </a:r>
            <a:endParaRPr lang="en-US" sz="1800" dirty="0"/>
          </a:p>
        </p:txBody>
      </p:sp>
      <p:sp>
        <p:nvSpPr>
          <p:cNvPr id="29" name="Text Box 9"/>
          <p:cNvSpPr txBox="1">
            <a:spLocks noChangeArrowheads="1"/>
          </p:cNvSpPr>
          <p:nvPr/>
        </p:nvSpPr>
        <p:spPr bwMode="auto">
          <a:xfrm>
            <a:off x="4000500" y="3314701"/>
            <a:ext cx="148590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5: </a:t>
            </a:r>
            <a:r>
              <a:rPr lang="en-US" sz="1800" dirty="0" err="1"/>
              <a:t>j</a:t>
            </a:r>
            <a:r>
              <a:rPr lang="en-US" sz="1800" dirty="0"/>
              <a:t> := </a:t>
            </a:r>
            <a:r>
              <a:rPr lang="en-US" sz="1800" dirty="0" err="1"/>
              <a:t>i</a:t>
            </a:r>
            <a:endParaRPr lang="en-US" sz="1800" dirty="0"/>
          </a:p>
          <a:p>
            <a:r>
              <a:rPr lang="en-US" sz="1800" dirty="0"/>
              <a:t>    </a:t>
            </a:r>
            <a:r>
              <a:rPr lang="en-US" sz="1800" dirty="0" err="1"/>
              <a:t>k</a:t>
            </a:r>
            <a:r>
              <a:rPr lang="en-US" sz="1800" dirty="0"/>
              <a:t> := k+1</a:t>
            </a:r>
          </a:p>
        </p:txBody>
      </p:sp>
      <p:sp>
        <p:nvSpPr>
          <p:cNvPr id="30" name="Text Box 10"/>
          <p:cNvSpPr txBox="1">
            <a:spLocks noChangeArrowheads="1"/>
          </p:cNvSpPr>
          <p:nvPr/>
        </p:nvSpPr>
        <p:spPr bwMode="auto">
          <a:xfrm>
            <a:off x="5657850" y="3314701"/>
            <a:ext cx="142875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6: </a:t>
            </a:r>
            <a:r>
              <a:rPr lang="en-US" sz="1800" dirty="0" err="1"/>
              <a:t>j</a:t>
            </a:r>
            <a:r>
              <a:rPr lang="en-US" sz="1800" dirty="0"/>
              <a:t> := </a:t>
            </a:r>
            <a:r>
              <a:rPr lang="en-US" sz="1800" dirty="0" err="1"/>
              <a:t>k</a:t>
            </a:r>
            <a:endParaRPr lang="en-US" sz="1800" dirty="0"/>
          </a:p>
          <a:p>
            <a:r>
              <a:rPr lang="en-US" sz="1800" dirty="0"/>
              <a:t>    </a:t>
            </a:r>
            <a:r>
              <a:rPr lang="en-US" sz="1800" dirty="0" err="1"/>
              <a:t>k</a:t>
            </a:r>
            <a:r>
              <a:rPr lang="en-US" sz="1800" dirty="0"/>
              <a:t> := k+1</a:t>
            </a:r>
            <a:endParaRPr lang="en-US" sz="2100" dirty="0"/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4857750" y="4171951"/>
            <a:ext cx="188595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7: </a:t>
            </a:r>
            <a:r>
              <a:rPr lang="en-US" sz="1800" dirty="0" err="1"/>
              <a:t>j</a:t>
            </a:r>
            <a:r>
              <a:rPr lang="en-US" sz="1800" dirty="0"/>
              <a:t> := </a:t>
            </a:r>
            <a:r>
              <a:rPr lang="en-US" sz="1800" dirty="0" err="1">
                <a:sym typeface="Symbol" charset="2"/>
              </a:rPr>
              <a:t>(j</a:t>
            </a:r>
            <a:r>
              <a:rPr lang="en-US" sz="1800" dirty="0">
                <a:sym typeface="Symbol" charset="2"/>
              </a:rPr>
              <a:t>, </a:t>
            </a:r>
            <a:r>
              <a:rPr lang="en-US" sz="1800" dirty="0" err="1">
                <a:sym typeface="Symbol" charset="2"/>
              </a:rPr>
              <a:t>j</a:t>
            </a:r>
            <a:r>
              <a:rPr lang="en-US" sz="1800" dirty="0">
                <a:sym typeface="Symbol" charset="2"/>
              </a:rPr>
              <a:t>)</a:t>
            </a:r>
            <a:r>
              <a:rPr lang="en-US" sz="1800" dirty="0"/>
              <a:t> </a:t>
            </a:r>
          </a:p>
          <a:p>
            <a:endParaRPr lang="en-US" sz="1800" dirty="0"/>
          </a:p>
        </p:txBody>
      </p:sp>
      <p:cxnSp>
        <p:nvCxnSpPr>
          <p:cNvPr id="32" name="AutoShape 12"/>
          <p:cNvCxnSpPr>
            <a:cxnSpLocks noChangeShapeType="1"/>
            <a:stCxn id="24" idx="2"/>
            <a:endCxn id="28" idx="0"/>
          </p:cNvCxnSpPr>
          <p:nvPr/>
        </p:nvCxnSpPr>
        <p:spPr bwMode="auto">
          <a:xfrm>
            <a:off x="5486400" y="2180630"/>
            <a:ext cx="800100" cy="44827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3" name="AutoShape 13"/>
          <p:cNvCxnSpPr>
            <a:cxnSpLocks noChangeShapeType="1"/>
            <a:stCxn id="25" idx="2"/>
            <a:endCxn id="29" idx="0"/>
          </p:cNvCxnSpPr>
          <p:nvPr/>
        </p:nvCxnSpPr>
        <p:spPr bwMode="auto">
          <a:xfrm>
            <a:off x="4657725" y="2998232"/>
            <a:ext cx="85725" cy="31646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4" name="AutoShape 14"/>
          <p:cNvCxnSpPr>
            <a:cxnSpLocks noChangeShapeType="1"/>
            <a:stCxn id="25" idx="2"/>
            <a:endCxn id="30" idx="0"/>
          </p:cNvCxnSpPr>
          <p:nvPr/>
        </p:nvCxnSpPr>
        <p:spPr bwMode="auto">
          <a:xfrm>
            <a:off x="4657725" y="2998232"/>
            <a:ext cx="1714500" cy="31646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5" name="AutoShape 15"/>
          <p:cNvCxnSpPr>
            <a:cxnSpLocks noChangeShapeType="1"/>
            <a:stCxn id="29" idx="2"/>
            <a:endCxn id="31" idx="0"/>
          </p:cNvCxnSpPr>
          <p:nvPr/>
        </p:nvCxnSpPr>
        <p:spPr bwMode="auto">
          <a:xfrm>
            <a:off x="4743450" y="3961032"/>
            <a:ext cx="1057275" cy="21091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6" name="AutoShape 16"/>
          <p:cNvCxnSpPr>
            <a:cxnSpLocks noChangeShapeType="1"/>
            <a:stCxn id="30" idx="2"/>
            <a:endCxn id="31" idx="0"/>
          </p:cNvCxnSpPr>
          <p:nvPr/>
        </p:nvCxnSpPr>
        <p:spPr bwMode="auto">
          <a:xfrm flipH="1">
            <a:off x="5800725" y="3961032"/>
            <a:ext cx="571500" cy="21091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7" name="AutoShape 17"/>
          <p:cNvCxnSpPr>
            <a:cxnSpLocks noChangeShapeType="1"/>
            <a:stCxn id="31" idx="2"/>
            <a:endCxn id="24" idx="0"/>
          </p:cNvCxnSpPr>
          <p:nvPr/>
        </p:nvCxnSpPr>
        <p:spPr bwMode="auto">
          <a:xfrm rot="5400000" flipH="1">
            <a:off x="3863072" y="2880629"/>
            <a:ext cx="3560982" cy="314325"/>
          </a:xfrm>
          <a:prstGeom prst="curvedConnector5">
            <a:avLst>
              <a:gd name="adj1" fmla="val -6420"/>
              <a:gd name="adj2" fmla="val -631022"/>
              <a:gd name="adj3" fmla="val 10642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724912" y="2517032"/>
            <a:ext cx="1503938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/>
              <a:t>Variable </a:t>
            </a:r>
            <a:r>
              <a:rPr lang="en-US" sz="1800" dirty="0" err="1"/>
              <a:t>j</a:t>
            </a:r>
            <a:r>
              <a:rPr lang="en-US" sz="1800" dirty="0"/>
              <a:t> in 5</a:t>
            </a:r>
          </a:p>
          <a:p>
            <a:r>
              <a:rPr lang="en-US" sz="1800" dirty="0"/>
              <a:t>DF(5) = { 7 }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4912" y="3317132"/>
            <a:ext cx="1503938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/>
              <a:t>Variable </a:t>
            </a:r>
            <a:r>
              <a:rPr lang="en-US" sz="1800" dirty="0" err="1"/>
              <a:t>j</a:t>
            </a:r>
            <a:r>
              <a:rPr lang="en-US" sz="1800" dirty="0"/>
              <a:t> in 7</a:t>
            </a:r>
          </a:p>
          <a:p>
            <a:r>
              <a:rPr lang="en-US" sz="1800" dirty="0"/>
              <a:t>DF(7) = { 2 }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to SSA Form</a:t>
            </a:r>
          </a:p>
        </p:txBody>
      </p:sp>
      <p:sp>
        <p:nvSpPr>
          <p:cNvPr id="1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CBB7-0D72-414E-9F56-266DA4AACC86}" type="slidenum">
              <a:rPr lang="en-US"/>
              <a:pPr/>
              <a:t>8</a:t>
            </a:fld>
            <a:endParaRPr lang="en-US"/>
          </a:p>
        </p:txBody>
      </p:sp>
      <p:sp>
        <p:nvSpPr>
          <p:cNvPr id="23" name="Text Box 3"/>
          <p:cNvSpPr txBox="1">
            <a:spLocks noChangeArrowheads="1"/>
          </p:cNvSpPr>
          <p:nvPr/>
        </p:nvSpPr>
        <p:spPr bwMode="auto">
          <a:xfrm>
            <a:off x="2057400" y="1314451"/>
            <a:ext cx="1515158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1: </a:t>
            </a:r>
            <a:r>
              <a:rPr lang="en-US" sz="1800" dirty="0" err="1"/>
              <a:t>i</a:t>
            </a:r>
            <a:r>
              <a:rPr lang="en-US" sz="1800" dirty="0"/>
              <a:t> := 1  </a:t>
            </a:r>
            <a:r>
              <a:rPr lang="en-US" sz="1800" dirty="0" err="1"/>
              <a:t>j</a:t>
            </a:r>
            <a:r>
              <a:rPr lang="en-US" sz="1800" dirty="0"/>
              <a:t> := 1</a:t>
            </a:r>
          </a:p>
          <a:p>
            <a:r>
              <a:rPr lang="en-US" sz="1800" dirty="0"/>
              <a:t>    </a:t>
            </a:r>
            <a:r>
              <a:rPr lang="en-US" sz="1800" dirty="0" err="1"/>
              <a:t>k</a:t>
            </a:r>
            <a:r>
              <a:rPr lang="en-US" sz="1800" dirty="0"/>
              <a:t> := 0</a:t>
            </a:r>
            <a:endParaRPr lang="en-US" sz="2100" dirty="0"/>
          </a:p>
        </p:txBody>
      </p:sp>
      <p:sp>
        <p:nvSpPr>
          <p:cNvPr id="24" name="Text Box 4"/>
          <p:cNvSpPr txBox="1">
            <a:spLocks noChangeArrowheads="1"/>
          </p:cNvSpPr>
          <p:nvPr/>
        </p:nvSpPr>
        <p:spPr bwMode="auto">
          <a:xfrm>
            <a:off x="4572000" y="1257300"/>
            <a:ext cx="1828800" cy="9233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2: </a:t>
            </a:r>
            <a:r>
              <a:rPr lang="en-US" sz="1800" dirty="0" err="1"/>
              <a:t>j</a:t>
            </a:r>
            <a:r>
              <a:rPr lang="en-US" sz="1800" dirty="0"/>
              <a:t> := </a:t>
            </a:r>
            <a:r>
              <a:rPr lang="en-US" sz="1800" dirty="0" err="1">
                <a:sym typeface="Symbol" charset="2"/>
              </a:rPr>
              <a:t>(j</a:t>
            </a:r>
            <a:r>
              <a:rPr lang="en-US" sz="1800" dirty="0">
                <a:sym typeface="Symbol" charset="2"/>
              </a:rPr>
              <a:t>, </a:t>
            </a:r>
            <a:r>
              <a:rPr lang="en-US" sz="1800" dirty="0" err="1">
                <a:sym typeface="Symbol" charset="2"/>
              </a:rPr>
              <a:t>j</a:t>
            </a:r>
            <a:r>
              <a:rPr lang="en-US" sz="1800" dirty="0">
                <a:sym typeface="Symbol" charset="2"/>
              </a:rPr>
              <a:t>)</a:t>
            </a:r>
            <a:endParaRPr lang="en-US" sz="1800" dirty="0"/>
          </a:p>
          <a:p>
            <a:endParaRPr lang="en-US" sz="1800" dirty="0">
              <a:sym typeface="Symbol" charset="2"/>
            </a:endParaRPr>
          </a:p>
          <a:p>
            <a:r>
              <a:rPr lang="en-US" sz="1800" dirty="0">
                <a:sym typeface="Symbol" charset="2"/>
              </a:rPr>
              <a:t>   </a:t>
            </a:r>
            <a:r>
              <a:rPr lang="en-US" sz="1800" dirty="0"/>
              <a:t> if k2 &lt; 100</a:t>
            </a:r>
          </a:p>
        </p:txBody>
      </p:sp>
      <p:sp>
        <p:nvSpPr>
          <p:cNvPr id="25" name="Text Box 5"/>
          <p:cNvSpPr txBox="1">
            <a:spLocks noChangeArrowheads="1"/>
          </p:cNvSpPr>
          <p:nvPr/>
        </p:nvSpPr>
        <p:spPr bwMode="auto">
          <a:xfrm>
            <a:off x="4000500" y="2628900"/>
            <a:ext cx="131445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3: if </a:t>
            </a:r>
            <a:r>
              <a:rPr lang="en-US" sz="1800" dirty="0" err="1"/>
              <a:t>j</a:t>
            </a:r>
            <a:r>
              <a:rPr lang="en-US" sz="1800" dirty="0"/>
              <a:t> &lt; 20</a:t>
            </a:r>
            <a:endParaRPr lang="en-US" sz="2100" dirty="0"/>
          </a:p>
        </p:txBody>
      </p:sp>
      <p:cxnSp>
        <p:nvCxnSpPr>
          <p:cNvPr id="26" name="AutoShape 6"/>
          <p:cNvCxnSpPr>
            <a:cxnSpLocks noChangeShapeType="1"/>
            <a:stCxn id="23" idx="3"/>
            <a:endCxn id="24" idx="1"/>
          </p:cNvCxnSpPr>
          <p:nvPr/>
        </p:nvCxnSpPr>
        <p:spPr bwMode="auto">
          <a:xfrm>
            <a:off x="3572558" y="1637617"/>
            <a:ext cx="999442" cy="8134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7" name="AutoShape 7"/>
          <p:cNvCxnSpPr>
            <a:cxnSpLocks noChangeShapeType="1"/>
            <a:stCxn id="24" idx="2"/>
            <a:endCxn id="25" idx="0"/>
          </p:cNvCxnSpPr>
          <p:nvPr/>
        </p:nvCxnSpPr>
        <p:spPr bwMode="auto">
          <a:xfrm flipH="1">
            <a:off x="4657725" y="2180630"/>
            <a:ext cx="828675" cy="44827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8" name="Text Box 8"/>
          <p:cNvSpPr txBox="1">
            <a:spLocks noChangeArrowheads="1"/>
          </p:cNvSpPr>
          <p:nvPr/>
        </p:nvSpPr>
        <p:spPr bwMode="auto">
          <a:xfrm>
            <a:off x="5657850" y="2628900"/>
            <a:ext cx="125730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4: return </a:t>
            </a:r>
            <a:r>
              <a:rPr lang="en-US" sz="1800" dirty="0" err="1"/>
              <a:t>j</a:t>
            </a:r>
            <a:endParaRPr lang="en-US" sz="1800" dirty="0"/>
          </a:p>
        </p:txBody>
      </p:sp>
      <p:sp>
        <p:nvSpPr>
          <p:cNvPr id="29" name="Text Box 9"/>
          <p:cNvSpPr txBox="1">
            <a:spLocks noChangeArrowheads="1"/>
          </p:cNvSpPr>
          <p:nvPr/>
        </p:nvSpPr>
        <p:spPr bwMode="auto">
          <a:xfrm>
            <a:off x="4000500" y="3314701"/>
            <a:ext cx="148590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5: </a:t>
            </a:r>
            <a:r>
              <a:rPr lang="en-US" sz="1800" dirty="0" err="1"/>
              <a:t>j</a:t>
            </a:r>
            <a:r>
              <a:rPr lang="en-US" sz="1800" dirty="0"/>
              <a:t> := </a:t>
            </a:r>
            <a:r>
              <a:rPr lang="en-US" sz="1800" dirty="0" err="1"/>
              <a:t>i</a:t>
            </a:r>
            <a:endParaRPr lang="en-US" sz="1800" dirty="0"/>
          </a:p>
          <a:p>
            <a:r>
              <a:rPr lang="en-US" sz="1800" dirty="0"/>
              <a:t>    </a:t>
            </a:r>
            <a:r>
              <a:rPr lang="en-US" sz="1800" dirty="0" err="1"/>
              <a:t>k</a:t>
            </a:r>
            <a:r>
              <a:rPr lang="en-US" sz="1800" dirty="0"/>
              <a:t> := k+1</a:t>
            </a:r>
          </a:p>
        </p:txBody>
      </p:sp>
      <p:sp>
        <p:nvSpPr>
          <p:cNvPr id="30" name="Text Box 10"/>
          <p:cNvSpPr txBox="1">
            <a:spLocks noChangeArrowheads="1"/>
          </p:cNvSpPr>
          <p:nvPr/>
        </p:nvSpPr>
        <p:spPr bwMode="auto">
          <a:xfrm>
            <a:off x="5657850" y="3314701"/>
            <a:ext cx="142875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6: </a:t>
            </a:r>
            <a:r>
              <a:rPr lang="en-US" sz="1800" dirty="0" err="1"/>
              <a:t>j</a:t>
            </a:r>
            <a:r>
              <a:rPr lang="en-US" sz="1800" dirty="0"/>
              <a:t> := </a:t>
            </a:r>
            <a:r>
              <a:rPr lang="en-US" sz="1800" dirty="0" err="1"/>
              <a:t>k</a:t>
            </a:r>
            <a:endParaRPr lang="en-US" sz="1800" dirty="0"/>
          </a:p>
          <a:p>
            <a:r>
              <a:rPr lang="en-US" sz="1800" dirty="0"/>
              <a:t>    </a:t>
            </a:r>
            <a:r>
              <a:rPr lang="en-US" sz="1800" dirty="0" err="1"/>
              <a:t>k</a:t>
            </a:r>
            <a:r>
              <a:rPr lang="en-US" sz="1800" dirty="0"/>
              <a:t> := k+1</a:t>
            </a:r>
            <a:endParaRPr lang="en-US" sz="2100" dirty="0"/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4857750" y="4171951"/>
            <a:ext cx="188595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7: </a:t>
            </a:r>
            <a:r>
              <a:rPr lang="en-US" sz="1800" dirty="0" err="1"/>
              <a:t>j</a:t>
            </a:r>
            <a:r>
              <a:rPr lang="en-US" sz="1800" dirty="0"/>
              <a:t> := </a:t>
            </a:r>
            <a:r>
              <a:rPr lang="en-US" sz="1800" dirty="0" err="1">
                <a:sym typeface="Symbol" charset="2"/>
              </a:rPr>
              <a:t>(j</a:t>
            </a:r>
            <a:r>
              <a:rPr lang="en-US" sz="1800" dirty="0">
                <a:sym typeface="Symbol" charset="2"/>
              </a:rPr>
              <a:t>, </a:t>
            </a:r>
            <a:r>
              <a:rPr lang="en-US" sz="1800" dirty="0" err="1">
                <a:sym typeface="Symbol" charset="2"/>
              </a:rPr>
              <a:t>j</a:t>
            </a:r>
            <a:r>
              <a:rPr lang="en-US" sz="1800" dirty="0">
                <a:sym typeface="Symbol" charset="2"/>
              </a:rPr>
              <a:t>)</a:t>
            </a:r>
            <a:r>
              <a:rPr lang="en-US" sz="1800" dirty="0"/>
              <a:t> </a:t>
            </a:r>
          </a:p>
          <a:p>
            <a:endParaRPr lang="en-US" sz="1800" dirty="0"/>
          </a:p>
        </p:txBody>
      </p:sp>
      <p:cxnSp>
        <p:nvCxnSpPr>
          <p:cNvPr id="32" name="AutoShape 12"/>
          <p:cNvCxnSpPr>
            <a:cxnSpLocks noChangeShapeType="1"/>
            <a:stCxn id="24" idx="2"/>
            <a:endCxn id="28" idx="0"/>
          </p:cNvCxnSpPr>
          <p:nvPr/>
        </p:nvCxnSpPr>
        <p:spPr bwMode="auto">
          <a:xfrm>
            <a:off x="5486400" y="2180630"/>
            <a:ext cx="800100" cy="44827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3" name="AutoShape 13"/>
          <p:cNvCxnSpPr>
            <a:cxnSpLocks noChangeShapeType="1"/>
            <a:stCxn id="25" idx="2"/>
            <a:endCxn id="29" idx="0"/>
          </p:cNvCxnSpPr>
          <p:nvPr/>
        </p:nvCxnSpPr>
        <p:spPr bwMode="auto">
          <a:xfrm>
            <a:off x="4657725" y="2998232"/>
            <a:ext cx="85725" cy="31646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4" name="AutoShape 14"/>
          <p:cNvCxnSpPr>
            <a:cxnSpLocks noChangeShapeType="1"/>
            <a:stCxn id="25" idx="2"/>
            <a:endCxn id="30" idx="0"/>
          </p:cNvCxnSpPr>
          <p:nvPr/>
        </p:nvCxnSpPr>
        <p:spPr bwMode="auto">
          <a:xfrm>
            <a:off x="4657725" y="2998232"/>
            <a:ext cx="1714500" cy="31646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5" name="AutoShape 15"/>
          <p:cNvCxnSpPr>
            <a:cxnSpLocks noChangeShapeType="1"/>
            <a:stCxn id="29" idx="2"/>
            <a:endCxn id="31" idx="0"/>
          </p:cNvCxnSpPr>
          <p:nvPr/>
        </p:nvCxnSpPr>
        <p:spPr bwMode="auto">
          <a:xfrm>
            <a:off x="4743450" y="3961032"/>
            <a:ext cx="1057275" cy="21091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6" name="AutoShape 16"/>
          <p:cNvCxnSpPr>
            <a:cxnSpLocks noChangeShapeType="1"/>
            <a:stCxn id="30" idx="2"/>
            <a:endCxn id="31" idx="0"/>
          </p:cNvCxnSpPr>
          <p:nvPr/>
        </p:nvCxnSpPr>
        <p:spPr bwMode="auto">
          <a:xfrm flipH="1">
            <a:off x="5800725" y="3961032"/>
            <a:ext cx="571500" cy="21091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7" name="AutoShape 17"/>
          <p:cNvCxnSpPr>
            <a:cxnSpLocks noChangeShapeType="1"/>
            <a:stCxn id="31" idx="2"/>
            <a:endCxn id="24" idx="0"/>
          </p:cNvCxnSpPr>
          <p:nvPr/>
        </p:nvCxnSpPr>
        <p:spPr bwMode="auto">
          <a:xfrm rot="5400000" flipH="1">
            <a:off x="3863072" y="2880629"/>
            <a:ext cx="3560982" cy="314325"/>
          </a:xfrm>
          <a:prstGeom prst="curvedConnector5">
            <a:avLst>
              <a:gd name="adj1" fmla="val -6420"/>
              <a:gd name="adj2" fmla="val -664012"/>
              <a:gd name="adj3" fmla="val 10642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467544" y="2427734"/>
            <a:ext cx="1503938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/>
              <a:t>Variable </a:t>
            </a:r>
            <a:r>
              <a:rPr lang="en-US" sz="1800" dirty="0" err="1"/>
              <a:t>j</a:t>
            </a:r>
            <a:r>
              <a:rPr lang="en-US" sz="1800" dirty="0"/>
              <a:t> in 5</a:t>
            </a:r>
          </a:p>
          <a:p>
            <a:r>
              <a:rPr lang="en-US" sz="1800" dirty="0"/>
              <a:t>DF(5) = { 7 }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544" y="3227834"/>
            <a:ext cx="1503938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/>
              <a:t>Variable </a:t>
            </a:r>
            <a:r>
              <a:rPr lang="en-US" sz="1800" dirty="0" err="1"/>
              <a:t>j</a:t>
            </a:r>
            <a:r>
              <a:rPr lang="en-US" sz="1800" dirty="0"/>
              <a:t> in 7</a:t>
            </a:r>
          </a:p>
          <a:p>
            <a:r>
              <a:rPr lang="en-US" sz="1800" dirty="0"/>
              <a:t>DF(7) = { 2 }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544" y="4027934"/>
            <a:ext cx="1503938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/>
              <a:t>Variable </a:t>
            </a:r>
            <a:r>
              <a:rPr lang="en-US" sz="1800" dirty="0" err="1"/>
              <a:t>j</a:t>
            </a:r>
            <a:r>
              <a:rPr lang="en-US" sz="1800" dirty="0"/>
              <a:t> in 6</a:t>
            </a:r>
          </a:p>
          <a:p>
            <a:r>
              <a:rPr lang="en-US" sz="1800" dirty="0"/>
              <a:t>DF(6) = { 7 }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to SSA Form</a:t>
            </a:r>
          </a:p>
        </p:txBody>
      </p:sp>
      <p:sp>
        <p:nvSpPr>
          <p:cNvPr id="1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CBB7-0D72-414E-9F56-266DA4AACC86}" type="slidenum">
              <a:rPr lang="en-US"/>
              <a:pPr/>
              <a:t>9</a:t>
            </a:fld>
            <a:endParaRPr lang="en-US"/>
          </a:p>
        </p:txBody>
      </p:sp>
      <p:sp>
        <p:nvSpPr>
          <p:cNvPr id="23" name="Text Box 3"/>
          <p:cNvSpPr txBox="1">
            <a:spLocks noChangeArrowheads="1"/>
          </p:cNvSpPr>
          <p:nvPr/>
        </p:nvSpPr>
        <p:spPr bwMode="auto">
          <a:xfrm>
            <a:off x="2057400" y="1314451"/>
            <a:ext cx="1515158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1: </a:t>
            </a:r>
            <a:r>
              <a:rPr lang="en-US" sz="1800" dirty="0" err="1"/>
              <a:t>i</a:t>
            </a:r>
            <a:r>
              <a:rPr lang="en-US" sz="1800" dirty="0"/>
              <a:t> := 1  </a:t>
            </a:r>
            <a:r>
              <a:rPr lang="en-US" sz="1800" dirty="0" err="1"/>
              <a:t>j</a:t>
            </a:r>
            <a:r>
              <a:rPr lang="en-US" sz="1800" dirty="0"/>
              <a:t> := 1</a:t>
            </a:r>
          </a:p>
          <a:p>
            <a:r>
              <a:rPr lang="en-US" sz="1800" dirty="0"/>
              <a:t>    </a:t>
            </a:r>
            <a:r>
              <a:rPr lang="en-US" sz="1800" dirty="0" err="1"/>
              <a:t>k</a:t>
            </a:r>
            <a:r>
              <a:rPr lang="en-US" sz="1800" dirty="0"/>
              <a:t> := 0</a:t>
            </a:r>
            <a:endParaRPr lang="en-US" sz="2100" dirty="0"/>
          </a:p>
        </p:txBody>
      </p:sp>
      <p:sp>
        <p:nvSpPr>
          <p:cNvPr id="24" name="Text Box 4"/>
          <p:cNvSpPr txBox="1">
            <a:spLocks noChangeArrowheads="1"/>
          </p:cNvSpPr>
          <p:nvPr/>
        </p:nvSpPr>
        <p:spPr bwMode="auto">
          <a:xfrm>
            <a:off x="4572000" y="1257300"/>
            <a:ext cx="1828800" cy="9233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2: </a:t>
            </a:r>
            <a:r>
              <a:rPr lang="en-US" sz="1800" dirty="0" err="1"/>
              <a:t>j</a:t>
            </a:r>
            <a:r>
              <a:rPr lang="en-US" sz="1800" dirty="0"/>
              <a:t> := </a:t>
            </a:r>
            <a:r>
              <a:rPr lang="en-US" sz="1800" dirty="0" err="1">
                <a:sym typeface="Symbol" charset="2"/>
              </a:rPr>
              <a:t>(j</a:t>
            </a:r>
            <a:r>
              <a:rPr lang="en-US" sz="1800" dirty="0">
                <a:sym typeface="Symbol" charset="2"/>
              </a:rPr>
              <a:t>, </a:t>
            </a:r>
            <a:r>
              <a:rPr lang="en-US" sz="1800" dirty="0" err="1">
                <a:sym typeface="Symbol" charset="2"/>
              </a:rPr>
              <a:t>j</a:t>
            </a:r>
            <a:r>
              <a:rPr lang="en-US" sz="1800" dirty="0">
                <a:sym typeface="Symbol" charset="2"/>
              </a:rPr>
              <a:t>)</a:t>
            </a:r>
            <a:endParaRPr lang="en-US" sz="1800" dirty="0"/>
          </a:p>
          <a:p>
            <a:r>
              <a:rPr lang="en-US" sz="1800" dirty="0"/>
              <a:t>    </a:t>
            </a:r>
            <a:r>
              <a:rPr lang="en-US" sz="1800" dirty="0" err="1"/>
              <a:t>k</a:t>
            </a:r>
            <a:r>
              <a:rPr lang="en-US" sz="1800" dirty="0"/>
              <a:t> := </a:t>
            </a:r>
            <a:r>
              <a:rPr lang="en-US" sz="1800" dirty="0" err="1">
                <a:sym typeface="Symbol" charset="2"/>
              </a:rPr>
              <a:t>(k,k</a:t>
            </a:r>
            <a:r>
              <a:rPr lang="en-US" sz="1800" dirty="0">
                <a:sym typeface="Symbol" charset="2"/>
              </a:rPr>
              <a:t>)</a:t>
            </a:r>
          </a:p>
          <a:p>
            <a:r>
              <a:rPr lang="en-US" sz="1800" dirty="0">
                <a:sym typeface="Symbol" charset="2"/>
              </a:rPr>
              <a:t>   </a:t>
            </a:r>
            <a:r>
              <a:rPr lang="en-US" sz="1800" dirty="0"/>
              <a:t> if k2 &lt; 100</a:t>
            </a:r>
          </a:p>
        </p:txBody>
      </p:sp>
      <p:sp>
        <p:nvSpPr>
          <p:cNvPr id="25" name="Text Box 5"/>
          <p:cNvSpPr txBox="1">
            <a:spLocks noChangeArrowheads="1"/>
          </p:cNvSpPr>
          <p:nvPr/>
        </p:nvSpPr>
        <p:spPr bwMode="auto">
          <a:xfrm>
            <a:off x="4000500" y="2628900"/>
            <a:ext cx="131445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3: if </a:t>
            </a:r>
            <a:r>
              <a:rPr lang="en-US" sz="1800" dirty="0" err="1"/>
              <a:t>j</a:t>
            </a:r>
            <a:r>
              <a:rPr lang="en-US" sz="1800" dirty="0"/>
              <a:t> &lt; 20</a:t>
            </a:r>
            <a:endParaRPr lang="en-US" sz="2100" dirty="0"/>
          </a:p>
        </p:txBody>
      </p:sp>
      <p:cxnSp>
        <p:nvCxnSpPr>
          <p:cNvPr id="26" name="AutoShape 6"/>
          <p:cNvCxnSpPr>
            <a:cxnSpLocks noChangeShapeType="1"/>
            <a:stCxn id="23" idx="3"/>
            <a:endCxn id="24" idx="1"/>
          </p:cNvCxnSpPr>
          <p:nvPr/>
        </p:nvCxnSpPr>
        <p:spPr bwMode="auto">
          <a:xfrm>
            <a:off x="3572558" y="1637617"/>
            <a:ext cx="999442" cy="8134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7" name="AutoShape 7"/>
          <p:cNvCxnSpPr>
            <a:cxnSpLocks noChangeShapeType="1"/>
            <a:stCxn id="24" idx="2"/>
            <a:endCxn id="25" idx="0"/>
          </p:cNvCxnSpPr>
          <p:nvPr/>
        </p:nvCxnSpPr>
        <p:spPr bwMode="auto">
          <a:xfrm flipH="1">
            <a:off x="4657725" y="2180630"/>
            <a:ext cx="828675" cy="44827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8" name="Text Box 8"/>
          <p:cNvSpPr txBox="1">
            <a:spLocks noChangeArrowheads="1"/>
          </p:cNvSpPr>
          <p:nvPr/>
        </p:nvSpPr>
        <p:spPr bwMode="auto">
          <a:xfrm>
            <a:off x="5657850" y="2628900"/>
            <a:ext cx="125730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4: return </a:t>
            </a:r>
            <a:r>
              <a:rPr lang="en-US" sz="1800" dirty="0" err="1"/>
              <a:t>j</a:t>
            </a:r>
            <a:endParaRPr lang="en-US" sz="1800" dirty="0"/>
          </a:p>
        </p:txBody>
      </p:sp>
      <p:sp>
        <p:nvSpPr>
          <p:cNvPr id="29" name="Text Box 9"/>
          <p:cNvSpPr txBox="1">
            <a:spLocks noChangeArrowheads="1"/>
          </p:cNvSpPr>
          <p:nvPr/>
        </p:nvSpPr>
        <p:spPr bwMode="auto">
          <a:xfrm>
            <a:off x="4000500" y="3314701"/>
            <a:ext cx="148590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5: </a:t>
            </a:r>
            <a:r>
              <a:rPr lang="en-US" sz="1800" dirty="0" err="1"/>
              <a:t>j</a:t>
            </a:r>
            <a:r>
              <a:rPr lang="en-US" sz="1800" dirty="0"/>
              <a:t> := </a:t>
            </a:r>
            <a:r>
              <a:rPr lang="en-US" sz="1800" dirty="0" err="1"/>
              <a:t>i</a:t>
            </a:r>
            <a:endParaRPr lang="en-US" sz="1800" dirty="0"/>
          </a:p>
          <a:p>
            <a:r>
              <a:rPr lang="en-US" sz="1800" dirty="0"/>
              <a:t>    </a:t>
            </a:r>
            <a:r>
              <a:rPr lang="en-US" sz="1800" dirty="0" err="1"/>
              <a:t>k</a:t>
            </a:r>
            <a:r>
              <a:rPr lang="en-US" sz="1800" dirty="0"/>
              <a:t> := k+1</a:t>
            </a:r>
          </a:p>
        </p:txBody>
      </p:sp>
      <p:sp>
        <p:nvSpPr>
          <p:cNvPr id="30" name="Text Box 10"/>
          <p:cNvSpPr txBox="1">
            <a:spLocks noChangeArrowheads="1"/>
          </p:cNvSpPr>
          <p:nvPr/>
        </p:nvSpPr>
        <p:spPr bwMode="auto">
          <a:xfrm>
            <a:off x="5657850" y="3314701"/>
            <a:ext cx="142875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6: </a:t>
            </a:r>
            <a:r>
              <a:rPr lang="en-US" sz="1800" dirty="0" err="1"/>
              <a:t>j</a:t>
            </a:r>
            <a:r>
              <a:rPr lang="en-US" sz="1800" dirty="0"/>
              <a:t> := </a:t>
            </a:r>
            <a:r>
              <a:rPr lang="en-US" sz="1800" dirty="0" err="1"/>
              <a:t>k</a:t>
            </a:r>
            <a:endParaRPr lang="en-US" sz="1800" dirty="0"/>
          </a:p>
          <a:p>
            <a:r>
              <a:rPr lang="en-US" sz="1800" dirty="0"/>
              <a:t>    </a:t>
            </a:r>
            <a:r>
              <a:rPr lang="en-US" sz="1800" dirty="0" err="1"/>
              <a:t>k</a:t>
            </a:r>
            <a:r>
              <a:rPr lang="en-US" sz="1800" dirty="0"/>
              <a:t> := k+1</a:t>
            </a:r>
            <a:endParaRPr lang="en-US" sz="2100" dirty="0"/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4857750" y="4171951"/>
            <a:ext cx="188595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7: </a:t>
            </a:r>
            <a:r>
              <a:rPr lang="en-US" sz="1800" dirty="0" err="1"/>
              <a:t>j</a:t>
            </a:r>
            <a:r>
              <a:rPr lang="en-US" sz="1800" dirty="0"/>
              <a:t> := </a:t>
            </a:r>
            <a:r>
              <a:rPr lang="en-US" sz="1800" dirty="0" err="1">
                <a:sym typeface="Symbol" charset="2"/>
              </a:rPr>
              <a:t>(j</a:t>
            </a:r>
            <a:r>
              <a:rPr lang="en-US" sz="1800" dirty="0">
                <a:sym typeface="Symbol" charset="2"/>
              </a:rPr>
              <a:t>, </a:t>
            </a:r>
            <a:r>
              <a:rPr lang="en-US" sz="1800" dirty="0" err="1">
                <a:sym typeface="Symbol" charset="2"/>
              </a:rPr>
              <a:t>j</a:t>
            </a:r>
            <a:r>
              <a:rPr lang="en-US" sz="1800" dirty="0">
                <a:sym typeface="Symbol" charset="2"/>
              </a:rPr>
              <a:t>)</a:t>
            </a:r>
          </a:p>
          <a:p>
            <a:r>
              <a:rPr lang="en-US" sz="1800" dirty="0"/>
              <a:t>    </a:t>
            </a:r>
            <a:r>
              <a:rPr lang="en-US" sz="1800" dirty="0" err="1"/>
              <a:t>k</a:t>
            </a:r>
            <a:r>
              <a:rPr lang="en-US" sz="1800" dirty="0"/>
              <a:t> := </a:t>
            </a:r>
            <a:r>
              <a:rPr lang="en-US" sz="1800" dirty="0" err="1">
                <a:sym typeface="Symbol" charset="2"/>
              </a:rPr>
              <a:t>(k,k</a:t>
            </a:r>
            <a:r>
              <a:rPr lang="en-US" sz="1800" dirty="0">
                <a:sym typeface="Symbol" charset="2"/>
              </a:rPr>
              <a:t>)</a:t>
            </a:r>
            <a:endParaRPr lang="en-US" sz="1800" dirty="0"/>
          </a:p>
        </p:txBody>
      </p:sp>
      <p:cxnSp>
        <p:nvCxnSpPr>
          <p:cNvPr id="32" name="AutoShape 12"/>
          <p:cNvCxnSpPr>
            <a:cxnSpLocks noChangeShapeType="1"/>
            <a:stCxn id="24" idx="2"/>
            <a:endCxn id="28" idx="0"/>
          </p:cNvCxnSpPr>
          <p:nvPr/>
        </p:nvCxnSpPr>
        <p:spPr bwMode="auto">
          <a:xfrm>
            <a:off x="5486400" y="2180630"/>
            <a:ext cx="800100" cy="44827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3" name="AutoShape 13"/>
          <p:cNvCxnSpPr>
            <a:cxnSpLocks noChangeShapeType="1"/>
            <a:stCxn id="25" idx="2"/>
            <a:endCxn id="29" idx="0"/>
          </p:cNvCxnSpPr>
          <p:nvPr/>
        </p:nvCxnSpPr>
        <p:spPr bwMode="auto">
          <a:xfrm>
            <a:off x="4657725" y="2998232"/>
            <a:ext cx="85725" cy="31646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4" name="AutoShape 14"/>
          <p:cNvCxnSpPr>
            <a:cxnSpLocks noChangeShapeType="1"/>
            <a:stCxn id="25" idx="2"/>
            <a:endCxn id="30" idx="0"/>
          </p:cNvCxnSpPr>
          <p:nvPr/>
        </p:nvCxnSpPr>
        <p:spPr bwMode="auto">
          <a:xfrm>
            <a:off x="4657725" y="2998232"/>
            <a:ext cx="1714500" cy="31646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5" name="AutoShape 15"/>
          <p:cNvCxnSpPr>
            <a:cxnSpLocks noChangeShapeType="1"/>
            <a:stCxn id="29" idx="2"/>
            <a:endCxn id="31" idx="0"/>
          </p:cNvCxnSpPr>
          <p:nvPr/>
        </p:nvCxnSpPr>
        <p:spPr bwMode="auto">
          <a:xfrm>
            <a:off x="4743450" y="3961032"/>
            <a:ext cx="1057275" cy="21091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6" name="AutoShape 16"/>
          <p:cNvCxnSpPr>
            <a:cxnSpLocks noChangeShapeType="1"/>
            <a:stCxn id="30" idx="2"/>
            <a:endCxn id="31" idx="0"/>
          </p:cNvCxnSpPr>
          <p:nvPr/>
        </p:nvCxnSpPr>
        <p:spPr bwMode="auto">
          <a:xfrm flipH="1">
            <a:off x="5800725" y="3961032"/>
            <a:ext cx="571500" cy="21091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7" name="AutoShape 17"/>
          <p:cNvCxnSpPr>
            <a:cxnSpLocks noChangeShapeType="1"/>
            <a:stCxn id="31" idx="2"/>
            <a:endCxn id="24" idx="0"/>
          </p:cNvCxnSpPr>
          <p:nvPr/>
        </p:nvCxnSpPr>
        <p:spPr bwMode="auto">
          <a:xfrm rot="5400000" flipH="1">
            <a:off x="3863072" y="2880629"/>
            <a:ext cx="3560982" cy="314325"/>
          </a:xfrm>
          <a:prstGeom prst="curvedConnector5">
            <a:avLst>
              <a:gd name="adj1" fmla="val -6420"/>
              <a:gd name="adj2" fmla="val -571041"/>
              <a:gd name="adj3" fmla="val 10642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519735" y="2490400"/>
            <a:ext cx="1537665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/>
              <a:t>Variable </a:t>
            </a:r>
            <a:r>
              <a:rPr lang="en-US" sz="1800" dirty="0" err="1"/>
              <a:t>k</a:t>
            </a:r>
            <a:r>
              <a:rPr lang="en-US" sz="1800" dirty="0"/>
              <a:t> in 5</a:t>
            </a:r>
          </a:p>
          <a:p>
            <a:r>
              <a:rPr lang="en-US" sz="1800" dirty="0"/>
              <a:t>DF(5) = { 7 }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735" y="3290500"/>
            <a:ext cx="1537665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/>
              <a:t>Variable </a:t>
            </a:r>
            <a:r>
              <a:rPr lang="en-US" sz="1800" dirty="0" err="1"/>
              <a:t>k</a:t>
            </a:r>
            <a:r>
              <a:rPr lang="en-US" sz="1800" dirty="0"/>
              <a:t> in 7</a:t>
            </a:r>
          </a:p>
          <a:p>
            <a:r>
              <a:rPr lang="en-US" sz="1800" dirty="0"/>
              <a:t>DF(7) = { 2 }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735" y="4090600"/>
            <a:ext cx="1537665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/>
              <a:t>Variable </a:t>
            </a:r>
            <a:r>
              <a:rPr lang="en-US" sz="1800" dirty="0" err="1"/>
              <a:t>k</a:t>
            </a:r>
            <a:r>
              <a:rPr lang="en-US" sz="1800" dirty="0"/>
              <a:t> in 6</a:t>
            </a:r>
          </a:p>
          <a:p>
            <a:r>
              <a:rPr lang="en-US" sz="1800" dirty="0"/>
              <a:t>DF(6) = { 7 }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to SSA Form</a:t>
            </a:r>
          </a:p>
        </p:txBody>
      </p:sp>
      <p:sp>
        <p:nvSpPr>
          <p:cNvPr id="1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CBB7-0D72-414E-9F56-266DA4AACC86}" type="slidenum">
              <a:rPr lang="en-US"/>
              <a:pPr/>
              <a:t>10</a:t>
            </a:fld>
            <a:endParaRPr lang="en-US"/>
          </a:p>
        </p:txBody>
      </p:sp>
      <p:sp>
        <p:nvSpPr>
          <p:cNvPr id="23" name="Text Box 3"/>
          <p:cNvSpPr txBox="1">
            <a:spLocks noChangeArrowheads="1"/>
          </p:cNvSpPr>
          <p:nvPr/>
        </p:nvSpPr>
        <p:spPr bwMode="auto">
          <a:xfrm>
            <a:off x="2057401" y="1314451"/>
            <a:ext cx="1745991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1: i1 := 1  j1 := 1</a:t>
            </a:r>
          </a:p>
          <a:p>
            <a:r>
              <a:rPr lang="en-US" sz="1800" dirty="0"/>
              <a:t>    k1 := 0</a:t>
            </a:r>
            <a:endParaRPr lang="en-US" sz="2100" dirty="0"/>
          </a:p>
        </p:txBody>
      </p:sp>
      <p:sp>
        <p:nvSpPr>
          <p:cNvPr id="24" name="Text Box 4"/>
          <p:cNvSpPr txBox="1">
            <a:spLocks noChangeArrowheads="1"/>
          </p:cNvSpPr>
          <p:nvPr/>
        </p:nvSpPr>
        <p:spPr bwMode="auto">
          <a:xfrm>
            <a:off x="4572000" y="1257300"/>
            <a:ext cx="1828800" cy="9233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/>
              <a:t>2: j2 := </a:t>
            </a:r>
            <a:r>
              <a:rPr lang="en-US" sz="1800">
                <a:sym typeface="Symbol" charset="2"/>
              </a:rPr>
              <a:t>(j4, j1)</a:t>
            </a:r>
          </a:p>
          <a:p>
            <a:r>
              <a:rPr lang="en-US" sz="1800">
                <a:sym typeface="Symbol" charset="2"/>
              </a:rPr>
              <a:t>    </a:t>
            </a:r>
            <a:r>
              <a:rPr lang="en-US" sz="1800"/>
              <a:t>k2 := </a:t>
            </a:r>
            <a:r>
              <a:rPr lang="en-US" sz="1800">
                <a:sym typeface="Symbol" charset="2"/>
              </a:rPr>
              <a:t>(k4, k1)</a:t>
            </a:r>
          </a:p>
          <a:p>
            <a:r>
              <a:rPr lang="en-US" sz="1800">
                <a:sym typeface="Symbol" charset="2"/>
              </a:rPr>
              <a:t>   </a:t>
            </a:r>
            <a:r>
              <a:rPr lang="en-US" sz="1800"/>
              <a:t> if k2 &lt; 100</a:t>
            </a:r>
          </a:p>
        </p:txBody>
      </p:sp>
      <p:sp>
        <p:nvSpPr>
          <p:cNvPr id="25" name="Text Box 5"/>
          <p:cNvSpPr txBox="1">
            <a:spLocks noChangeArrowheads="1"/>
          </p:cNvSpPr>
          <p:nvPr/>
        </p:nvSpPr>
        <p:spPr bwMode="auto">
          <a:xfrm>
            <a:off x="4000500" y="2628900"/>
            <a:ext cx="131445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/>
              <a:t>3: if j2 &lt; 20</a:t>
            </a:r>
            <a:endParaRPr lang="en-US" sz="2100"/>
          </a:p>
        </p:txBody>
      </p:sp>
      <p:cxnSp>
        <p:nvCxnSpPr>
          <p:cNvPr id="26" name="AutoShape 6"/>
          <p:cNvCxnSpPr>
            <a:cxnSpLocks noChangeShapeType="1"/>
            <a:stCxn id="23" idx="3"/>
            <a:endCxn id="24" idx="1"/>
          </p:cNvCxnSpPr>
          <p:nvPr/>
        </p:nvCxnSpPr>
        <p:spPr bwMode="auto">
          <a:xfrm>
            <a:off x="3803392" y="1637617"/>
            <a:ext cx="768608" cy="8134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7" name="AutoShape 7"/>
          <p:cNvCxnSpPr>
            <a:cxnSpLocks noChangeShapeType="1"/>
            <a:stCxn id="24" idx="2"/>
            <a:endCxn id="25" idx="0"/>
          </p:cNvCxnSpPr>
          <p:nvPr/>
        </p:nvCxnSpPr>
        <p:spPr bwMode="auto">
          <a:xfrm flipH="1">
            <a:off x="4657725" y="2180630"/>
            <a:ext cx="828675" cy="44827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8" name="Text Box 8"/>
          <p:cNvSpPr txBox="1">
            <a:spLocks noChangeArrowheads="1"/>
          </p:cNvSpPr>
          <p:nvPr/>
        </p:nvSpPr>
        <p:spPr bwMode="auto">
          <a:xfrm>
            <a:off x="5657850" y="2628900"/>
            <a:ext cx="125730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/>
              <a:t>4: return j2</a:t>
            </a:r>
          </a:p>
        </p:txBody>
      </p:sp>
      <p:sp>
        <p:nvSpPr>
          <p:cNvPr id="29" name="Text Box 9"/>
          <p:cNvSpPr txBox="1">
            <a:spLocks noChangeArrowheads="1"/>
          </p:cNvSpPr>
          <p:nvPr/>
        </p:nvSpPr>
        <p:spPr bwMode="auto">
          <a:xfrm>
            <a:off x="4000500" y="3314701"/>
            <a:ext cx="148590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/>
              <a:t>5: j3 := i1</a:t>
            </a:r>
          </a:p>
          <a:p>
            <a:r>
              <a:rPr lang="en-US" sz="1800"/>
              <a:t>    k3 := k2+1</a:t>
            </a:r>
          </a:p>
        </p:txBody>
      </p:sp>
      <p:sp>
        <p:nvSpPr>
          <p:cNvPr id="30" name="Text Box 10"/>
          <p:cNvSpPr txBox="1">
            <a:spLocks noChangeArrowheads="1"/>
          </p:cNvSpPr>
          <p:nvPr/>
        </p:nvSpPr>
        <p:spPr bwMode="auto">
          <a:xfrm>
            <a:off x="5657850" y="3314701"/>
            <a:ext cx="142875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6: j5 := k2</a:t>
            </a:r>
          </a:p>
          <a:p>
            <a:r>
              <a:rPr lang="en-US" sz="1800" dirty="0"/>
              <a:t>    k5 := k2+1</a:t>
            </a:r>
            <a:endParaRPr lang="en-US" sz="2100" dirty="0"/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4857750" y="4171950"/>
            <a:ext cx="1885950" cy="69249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7: j4 := </a:t>
            </a:r>
            <a:r>
              <a:rPr lang="en-US" sz="1800" dirty="0">
                <a:sym typeface="Symbol" charset="2"/>
              </a:rPr>
              <a:t>(j3, j5)</a:t>
            </a:r>
          </a:p>
          <a:p>
            <a:r>
              <a:rPr lang="en-US" sz="2100" dirty="0"/>
              <a:t>   </a:t>
            </a:r>
            <a:r>
              <a:rPr lang="en-US" sz="1800" dirty="0"/>
              <a:t>k4 := </a:t>
            </a:r>
            <a:r>
              <a:rPr lang="en-US" sz="1800" dirty="0">
                <a:sym typeface="Symbol" charset="2"/>
              </a:rPr>
              <a:t>(k3,k5)</a:t>
            </a:r>
          </a:p>
        </p:txBody>
      </p:sp>
      <p:cxnSp>
        <p:nvCxnSpPr>
          <p:cNvPr id="32" name="AutoShape 12"/>
          <p:cNvCxnSpPr>
            <a:cxnSpLocks noChangeShapeType="1"/>
            <a:stCxn id="24" idx="2"/>
            <a:endCxn id="28" idx="0"/>
          </p:cNvCxnSpPr>
          <p:nvPr/>
        </p:nvCxnSpPr>
        <p:spPr bwMode="auto">
          <a:xfrm>
            <a:off x="5486400" y="2180630"/>
            <a:ext cx="800100" cy="44827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3" name="AutoShape 13"/>
          <p:cNvCxnSpPr>
            <a:cxnSpLocks noChangeShapeType="1"/>
            <a:stCxn id="25" idx="2"/>
            <a:endCxn id="29" idx="0"/>
          </p:cNvCxnSpPr>
          <p:nvPr/>
        </p:nvCxnSpPr>
        <p:spPr bwMode="auto">
          <a:xfrm>
            <a:off x="4657725" y="2998232"/>
            <a:ext cx="85725" cy="31646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4" name="AutoShape 14"/>
          <p:cNvCxnSpPr>
            <a:cxnSpLocks noChangeShapeType="1"/>
            <a:stCxn id="25" idx="2"/>
            <a:endCxn id="30" idx="0"/>
          </p:cNvCxnSpPr>
          <p:nvPr/>
        </p:nvCxnSpPr>
        <p:spPr bwMode="auto">
          <a:xfrm>
            <a:off x="4657725" y="2998232"/>
            <a:ext cx="1714500" cy="31646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5" name="AutoShape 15"/>
          <p:cNvCxnSpPr>
            <a:cxnSpLocks noChangeShapeType="1"/>
            <a:stCxn id="29" idx="2"/>
            <a:endCxn id="31" idx="0"/>
          </p:cNvCxnSpPr>
          <p:nvPr/>
        </p:nvCxnSpPr>
        <p:spPr bwMode="auto">
          <a:xfrm>
            <a:off x="4743450" y="3961032"/>
            <a:ext cx="1057275" cy="21091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6" name="AutoShape 16"/>
          <p:cNvCxnSpPr>
            <a:cxnSpLocks noChangeShapeType="1"/>
            <a:stCxn id="30" idx="2"/>
            <a:endCxn id="31" idx="0"/>
          </p:cNvCxnSpPr>
          <p:nvPr/>
        </p:nvCxnSpPr>
        <p:spPr bwMode="auto">
          <a:xfrm flipH="1">
            <a:off x="5800725" y="3961032"/>
            <a:ext cx="571500" cy="21091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7" name="AutoShape 17"/>
          <p:cNvCxnSpPr>
            <a:cxnSpLocks noChangeShapeType="1"/>
            <a:stCxn id="31" idx="2"/>
            <a:endCxn id="24" idx="0"/>
          </p:cNvCxnSpPr>
          <p:nvPr/>
        </p:nvCxnSpPr>
        <p:spPr bwMode="auto">
          <a:xfrm rot="5400000" flipH="1">
            <a:off x="3839989" y="2903712"/>
            <a:ext cx="3607147" cy="314325"/>
          </a:xfrm>
          <a:prstGeom prst="curvedConnector5">
            <a:avLst>
              <a:gd name="adj1" fmla="val -6337"/>
              <a:gd name="adj2" fmla="val -613028"/>
              <a:gd name="adj3" fmla="val 106337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to SSA Form</a:t>
            </a:r>
          </a:p>
        </p:txBody>
      </p:sp>
      <p:sp>
        <p:nvSpPr>
          <p:cNvPr id="1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CBB7-0D72-414E-9F56-266DA4AACC86}" type="slidenum">
              <a:rPr lang="en-US"/>
              <a:pPr/>
              <a:t>11</a:t>
            </a:fld>
            <a:endParaRPr lang="en-US"/>
          </a:p>
        </p:txBody>
      </p:sp>
      <p:sp>
        <p:nvSpPr>
          <p:cNvPr id="222212" name="Text Box 4"/>
          <p:cNvSpPr txBox="1">
            <a:spLocks noChangeArrowheads="1"/>
          </p:cNvSpPr>
          <p:nvPr/>
        </p:nvSpPr>
        <p:spPr bwMode="auto">
          <a:xfrm>
            <a:off x="2596066" y="1765362"/>
            <a:ext cx="1192955" cy="69249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1: k := 100</a:t>
            </a:r>
          </a:p>
          <a:p>
            <a:r>
              <a:rPr lang="en-US" sz="2100" dirty="0"/>
              <a:t>    </a:t>
            </a:r>
            <a:r>
              <a:rPr lang="en-US" sz="1800" dirty="0" err="1"/>
              <a:t>i</a:t>
            </a:r>
            <a:r>
              <a:rPr lang="en-US" sz="1800" dirty="0"/>
              <a:t> := 0</a:t>
            </a:r>
            <a:endParaRPr lang="en-US" sz="2100" dirty="0"/>
          </a:p>
        </p:txBody>
      </p:sp>
      <p:sp>
        <p:nvSpPr>
          <p:cNvPr id="222213" name="Text Box 5"/>
          <p:cNvSpPr txBox="1">
            <a:spLocks noChangeArrowheads="1"/>
          </p:cNvSpPr>
          <p:nvPr/>
        </p:nvSpPr>
        <p:spPr bwMode="auto">
          <a:xfrm>
            <a:off x="2710366" y="2679762"/>
            <a:ext cx="1276311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2: if </a:t>
            </a:r>
            <a:r>
              <a:rPr lang="en-US" sz="1800" dirty="0" err="1"/>
              <a:t>i</a:t>
            </a:r>
            <a:r>
              <a:rPr lang="en-US" sz="1800" dirty="0"/>
              <a:t> &lt; 100</a:t>
            </a:r>
            <a:endParaRPr lang="en-US" sz="2100" dirty="0"/>
          </a:p>
        </p:txBody>
      </p:sp>
      <p:sp>
        <p:nvSpPr>
          <p:cNvPr id="222214" name="Text Box 6"/>
          <p:cNvSpPr txBox="1">
            <a:spLocks noChangeArrowheads="1"/>
          </p:cNvSpPr>
          <p:nvPr/>
        </p:nvSpPr>
        <p:spPr bwMode="auto">
          <a:xfrm>
            <a:off x="2024566" y="3365563"/>
            <a:ext cx="131445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3: k := k+1</a:t>
            </a:r>
          </a:p>
          <a:p>
            <a:r>
              <a:rPr lang="en-US" sz="1800" dirty="0"/>
              <a:t>    </a:t>
            </a:r>
            <a:r>
              <a:rPr lang="en-US" sz="1800" dirty="0" err="1"/>
              <a:t>i</a:t>
            </a:r>
            <a:r>
              <a:rPr lang="en-US" sz="1800" dirty="0"/>
              <a:t> := i+1</a:t>
            </a:r>
          </a:p>
        </p:txBody>
      </p:sp>
      <p:cxnSp>
        <p:nvCxnSpPr>
          <p:cNvPr id="222215" name="AutoShape 7"/>
          <p:cNvCxnSpPr>
            <a:cxnSpLocks noChangeShapeType="1"/>
            <a:stCxn id="222212" idx="2"/>
            <a:endCxn id="222213" idx="0"/>
          </p:cNvCxnSpPr>
          <p:nvPr/>
        </p:nvCxnSpPr>
        <p:spPr bwMode="auto">
          <a:xfrm>
            <a:off x="3192544" y="2457859"/>
            <a:ext cx="155978" cy="22190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22216" name="AutoShape 8"/>
          <p:cNvCxnSpPr>
            <a:cxnSpLocks noChangeShapeType="1"/>
            <a:stCxn id="222213" idx="2"/>
            <a:endCxn id="222214" idx="0"/>
          </p:cNvCxnSpPr>
          <p:nvPr/>
        </p:nvCxnSpPr>
        <p:spPr bwMode="auto">
          <a:xfrm flipH="1">
            <a:off x="2681791" y="3049094"/>
            <a:ext cx="666731" cy="31646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22218" name="Text Box 10"/>
          <p:cNvSpPr txBox="1">
            <a:spLocks noChangeArrowheads="1"/>
          </p:cNvSpPr>
          <p:nvPr/>
        </p:nvSpPr>
        <p:spPr bwMode="auto">
          <a:xfrm>
            <a:off x="3681916" y="3365562"/>
            <a:ext cx="125730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4: return k</a:t>
            </a:r>
          </a:p>
        </p:txBody>
      </p:sp>
      <p:cxnSp>
        <p:nvCxnSpPr>
          <p:cNvPr id="222222" name="AutoShape 14"/>
          <p:cNvCxnSpPr>
            <a:cxnSpLocks noChangeShapeType="1"/>
            <a:stCxn id="222213" idx="2"/>
            <a:endCxn id="222218" idx="0"/>
          </p:cNvCxnSpPr>
          <p:nvPr/>
        </p:nvCxnSpPr>
        <p:spPr bwMode="auto">
          <a:xfrm>
            <a:off x="3348522" y="3049094"/>
            <a:ext cx="962044" cy="31646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22227" name="AutoShape 19"/>
          <p:cNvCxnSpPr>
            <a:cxnSpLocks noChangeShapeType="1"/>
            <a:stCxn id="222214" idx="2"/>
            <a:endCxn id="222213" idx="0"/>
          </p:cNvCxnSpPr>
          <p:nvPr/>
        </p:nvCxnSpPr>
        <p:spPr bwMode="auto">
          <a:xfrm rot="5400000" flipH="1" flipV="1">
            <a:off x="2349090" y="3012462"/>
            <a:ext cx="1332132" cy="666731"/>
          </a:xfrm>
          <a:prstGeom prst="curvedConnector5">
            <a:avLst>
              <a:gd name="adj1" fmla="val -17160"/>
              <a:gd name="adj2" fmla="val -136195"/>
              <a:gd name="adj3" fmla="val 110791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283268" y="1892320"/>
            <a:ext cx="1467736" cy="175432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00" dirty="0"/>
              <a:t>k:=100</a:t>
            </a:r>
          </a:p>
          <a:p>
            <a:r>
              <a:rPr lang="en-US" sz="1800" dirty="0" err="1"/>
              <a:t>i</a:t>
            </a:r>
            <a:r>
              <a:rPr lang="en-US" sz="1800" dirty="0"/>
              <a:t>:=0</a:t>
            </a:r>
          </a:p>
          <a:p>
            <a:r>
              <a:rPr lang="en-US" sz="1800" dirty="0"/>
              <a:t>while </a:t>
            </a:r>
            <a:r>
              <a:rPr lang="en-US" sz="1800" dirty="0" err="1"/>
              <a:t>i</a:t>
            </a:r>
            <a:r>
              <a:rPr lang="en-US" sz="1800" dirty="0"/>
              <a:t>&lt;100:</a:t>
            </a:r>
          </a:p>
          <a:p>
            <a:r>
              <a:rPr lang="en-US" sz="1800" dirty="0"/>
              <a:t>    k:=k+1</a:t>
            </a:r>
          </a:p>
          <a:p>
            <a:r>
              <a:rPr lang="en-US" sz="1800" dirty="0"/>
              <a:t>    </a:t>
            </a:r>
            <a:r>
              <a:rPr lang="en-US" sz="1800" dirty="0" err="1"/>
              <a:t>i</a:t>
            </a:r>
            <a:r>
              <a:rPr lang="en-US" sz="1800" dirty="0"/>
              <a:t>:=i+1</a:t>
            </a:r>
          </a:p>
          <a:p>
            <a:r>
              <a:rPr lang="en-US" sz="1800" dirty="0"/>
              <a:t>return 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227" y="1485616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Program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73778" y="1221600"/>
            <a:ext cx="2056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Control Flow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3029" y="1347467"/>
            <a:ext cx="1628972" cy="12003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>
              <a:buFont typeface="Arial"/>
              <a:buChar char="•"/>
            </a:pPr>
            <a:r>
              <a:rPr lang="en-US" sz="1800" dirty="0"/>
              <a:t>D(1) = {2,3,4}</a:t>
            </a:r>
          </a:p>
          <a:p>
            <a:pPr>
              <a:buFont typeface="Arial"/>
              <a:buChar char="•"/>
            </a:pPr>
            <a:r>
              <a:rPr lang="en-US" sz="1800" dirty="0"/>
              <a:t>D(2) = {3,4}</a:t>
            </a:r>
          </a:p>
          <a:p>
            <a:pPr>
              <a:buFont typeface="Arial"/>
              <a:buChar char="•"/>
            </a:pPr>
            <a:r>
              <a:rPr lang="en-US" sz="1800" dirty="0"/>
              <a:t>D(3) = {}</a:t>
            </a:r>
          </a:p>
          <a:p>
            <a:pPr>
              <a:buFont typeface="Arial"/>
              <a:buChar char="•"/>
            </a:pPr>
            <a:r>
              <a:rPr lang="en-US" sz="1800" dirty="0"/>
              <a:t>D(4) = {}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8114" y="835819"/>
            <a:ext cx="2178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Dominance Relations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2032" y="3323480"/>
            <a:ext cx="1410964" cy="12003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>
              <a:buFont typeface="Arial"/>
              <a:buChar char="•"/>
            </a:pPr>
            <a:r>
              <a:rPr lang="en-US" sz="1800" dirty="0"/>
              <a:t>DF(1) = {}</a:t>
            </a:r>
          </a:p>
          <a:p>
            <a:pPr>
              <a:buFont typeface="Arial"/>
              <a:buChar char="•"/>
            </a:pPr>
            <a:r>
              <a:rPr lang="en-US" sz="1800" dirty="0"/>
              <a:t>DF(2) = {2}</a:t>
            </a:r>
          </a:p>
          <a:p>
            <a:pPr>
              <a:buFont typeface="Arial"/>
              <a:buChar char="•"/>
            </a:pPr>
            <a:r>
              <a:rPr lang="en-US" sz="1800" dirty="0"/>
              <a:t>DF(3) = {2}</a:t>
            </a:r>
          </a:p>
          <a:p>
            <a:pPr>
              <a:buFont typeface="Arial"/>
              <a:buChar char="•"/>
            </a:pPr>
            <a:r>
              <a:rPr lang="en-US" sz="1800" dirty="0"/>
              <a:t>DF(4) = {}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2234" y="2864428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Dominance Frontier</a:t>
            </a:r>
          </a:p>
        </p:txBody>
      </p:sp>
    </p:spTree>
    <p:extLst>
      <p:ext uri="{BB962C8B-B14F-4D97-AF65-F5344CB8AC3E}">
        <p14:creationId xmlns:p14="http://schemas.microsoft.com/office/powerpoint/2010/main" val="3316770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 animBg="1"/>
      <p:bldP spid="23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to SSA Form</a:t>
            </a:r>
          </a:p>
        </p:txBody>
      </p:sp>
      <p:sp>
        <p:nvSpPr>
          <p:cNvPr id="1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CBB7-0D72-414E-9F56-266DA4AACC86}" type="slidenum">
              <a:rPr lang="en-US"/>
              <a:pPr/>
              <a:t>12</a:t>
            </a:fld>
            <a:endParaRPr lang="en-US"/>
          </a:p>
        </p:txBody>
      </p:sp>
      <p:sp>
        <p:nvSpPr>
          <p:cNvPr id="222212" name="Text Box 4"/>
          <p:cNvSpPr txBox="1">
            <a:spLocks noChangeArrowheads="1"/>
          </p:cNvSpPr>
          <p:nvPr/>
        </p:nvSpPr>
        <p:spPr bwMode="auto">
          <a:xfrm>
            <a:off x="2596066" y="1765362"/>
            <a:ext cx="1192955" cy="69249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1: k := 100</a:t>
            </a:r>
          </a:p>
          <a:p>
            <a:r>
              <a:rPr lang="en-US" sz="2100" dirty="0"/>
              <a:t>    </a:t>
            </a:r>
            <a:r>
              <a:rPr lang="en-US" sz="1800" dirty="0" err="1"/>
              <a:t>i</a:t>
            </a:r>
            <a:r>
              <a:rPr lang="en-US" sz="1800" dirty="0"/>
              <a:t> := 0</a:t>
            </a:r>
            <a:endParaRPr lang="en-US" sz="2100" dirty="0"/>
          </a:p>
        </p:txBody>
      </p:sp>
      <p:sp>
        <p:nvSpPr>
          <p:cNvPr id="222213" name="Text Box 5"/>
          <p:cNvSpPr txBox="1">
            <a:spLocks noChangeArrowheads="1"/>
          </p:cNvSpPr>
          <p:nvPr/>
        </p:nvSpPr>
        <p:spPr bwMode="auto">
          <a:xfrm>
            <a:off x="2710366" y="2679762"/>
            <a:ext cx="1338828" cy="9233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2: </a:t>
            </a:r>
            <a:r>
              <a:rPr lang="en-US" sz="1800" dirty="0" err="1"/>
              <a:t>i</a:t>
            </a:r>
            <a:r>
              <a:rPr lang="en-US" sz="1800" dirty="0"/>
              <a:t> = </a:t>
            </a:r>
            <a:r>
              <a:rPr lang="en-US" sz="1800" dirty="0">
                <a:sym typeface="Symbol" charset="2"/>
              </a:rPr>
              <a:t>(</a:t>
            </a:r>
            <a:r>
              <a:rPr lang="en-US" sz="1800" dirty="0" err="1">
                <a:sym typeface="Symbol" charset="2"/>
              </a:rPr>
              <a:t>i,i</a:t>
            </a:r>
            <a:r>
              <a:rPr lang="en-US" sz="1800" dirty="0">
                <a:sym typeface="Symbol" charset="2"/>
              </a:rPr>
              <a:t>)</a:t>
            </a:r>
            <a:endParaRPr lang="en-US" sz="1800" dirty="0"/>
          </a:p>
          <a:p>
            <a:r>
              <a:rPr lang="en-US" sz="1800" dirty="0"/>
              <a:t>    k = </a:t>
            </a:r>
            <a:r>
              <a:rPr lang="en-US" sz="1800" dirty="0">
                <a:sym typeface="Symbol" charset="2"/>
              </a:rPr>
              <a:t>(</a:t>
            </a:r>
            <a:r>
              <a:rPr lang="en-US" sz="1800" dirty="0" err="1">
                <a:sym typeface="Symbol" charset="2"/>
              </a:rPr>
              <a:t>k,k</a:t>
            </a:r>
            <a:r>
              <a:rPr lang="en-US" sz="1800" dirty="0">
                <a:sym typeface="Symbol" charset="2"/>
              </a:rPr>
              <a:t>)</a:t>
            </a:r>
            <a:endParaRPr lang="en-US" sz="1800" dirty="0"/>
          </a:p>
          <a:p>
            <a:r>
              <a:rPr lang="en-US" sz="1800" dirty="0"/>
              <a:t>    if </a:t>
            </a:r>
            <a:r>
              <a:rPr lang="en-US" sz="1800" dirty="0" err="1"/>
              <a:t>i</a:t>
            </a:r>
            <a:r>
              <a:rPr lang="en-US" sz="1800" dirty="0"/>
              <a:t> &lt; 100</a:t>
            </a:r>
            <a:endParaRPr lang="en-US" sz="2100" dirty="0"/>
          </a:p>
        </p:txBody>
      </p:sp>
      <p:sp>
        <p:nvSpPr>
          <p:cNvPr id="222214" name="Text Box 6"/>
          <p:cNvSpPr txBox="1">
            <a:spLocks noChangeArrowheads="1"/>
          </p:cNvSpPr>
          <p:nvPr/>
        </p:nvSpPr>
        <p:spPr bwMode="auto">
          <a:xfrm>
            <a:off x="1996548" y="3975907"/>
            <a:ext cx="131445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3: k := k+1</a:t>
            </a:r>
          </a:p>
          <a:p>
            <a:r>
              <a:rPr lang="en-US" sz="1800" dirty="0"/>
              <a:t>    </a:t>
            </a:r>
            <a:r>
              <a:rPr lang="en-US" sz="1800" dirty="0" err="1"/>
              <a:t>i</a:t>
            </a:r>
            <a:r>
              <a:rPr lang="en-US" sz="1800" dirty="0"/>
              <a:t> := i+1</a:t>
            </a:r>
          </a:p>
        </p:txBody>
      </p:sp>
      <p:cxnSp>
        <p:nvCxnSpPr>
          <p:cNvPr id="222215" name="AutoShape 7"/>
          <p:cNvCxnSpPr>
            <a:cxnSpLocks noChangeShapeType="1"/>
            <a:stCxn id="222212" idx="2"/>
            <a:endCxn id="222213" idx="0"/>
          </p:cNvCxnSpPr>
          <p:nvPr/>
        </p:nvCxnSpPr>
        <p:spPr bwMode="auto">
          <a:xfrm>
            <a:off x="3192544" y="2457859"/>
            <a:ext cx="187236" cy="22190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22216" name="AutoShape 8"/>
          <p:cNvCxnSpPr>
            <a:cxnSpLocks noChangeShapeType="1"/>
            <a:stCxn id="222213" idx="2"/>
            <a:endCxn id="222214" idx="0"/>
          </p:cNvCxnSpPr>
          <p:nvPr/>
        </p:nvCxnSpPr>
        <p:spPr bwMode="auto">
          <a:xfrm flipH="1">
            <a:off x="2653773" y="3603092"/>
            <a:ext cx="726007" cy="37281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22218" name="Text Box 10"/>
          <p:cNvSpPr txBox="1">
            <a:spLocks noChangeArrowheads="1"/>
          </p:cNvSpPr>
          <p:nvPr/>
        </p:nvSpPr>
        <p:spPr bwMode="auto">
          <a:xfrm>
            <a:off x="3653898" y="3975906"/>
            <a:ext cx="125730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4: return k</a:t>
            </a:r>
          </a:p>
        </p:txBody>
      </p:sp>
      <p:cxnSp>
        <p:nvCxnSpPr>
          <p:cNvPr id="222222" name="AutoShape 14"/>
          <p:cNvCxnSpPr>
            <a:cxnSpLocks noChangeShapeType="1"/>
            <a:stCxn id="222213" idx="2"/>
            <a:endCxn id="222218" idx="0"/>
          </p:cNvCxnSpPr>
          <p:nvPr/>
        </p:nvCxnSpPr>
        <p:spPr bwMode="auto">
          <a:xfrm>
            <a:off x="3379780" y="3603092"/>
            <a:ext cx="902768" cy="37281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22227" name="AutoShape 19"/>
          <p:cNvCxnSpPr>
            <a:cxnSpLocks noChangeShapeType="1"/>
            <a:stCxn id="222214" idx="2"/>
            <a:endCxn id="222213" idx="0"/>
          </p:cNvCxnSpPr>
          <p:nvPr/>
        </p:nvCxnSpPr>
        <p:spPr bwMode="auto">
          <a:xfrm rot="5400000" flipH="1" flipV="1">
            <a:off x="2045538" y="3287996"/>
            <a:ext cx="1942476" cy="726007"/>
          </a:xfrm>
          <a:prstGeom prst="curvedConnector5">
            <a:avLst>
              <a:gd name="adj1" fmla="val -11768"/>
              <a:gd name="adj2" fmla="val -121695"/>
              <a:gd name="adj3" fmla="val 10643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2573778" y="1221600"/>
            <a:ext cx="2056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Control Flow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1051" y="1257530"/>
            <a:ext cx="1628972" cy="12003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>
              <a:buFont typeface="Arial"/>
              <a:buChar char="•"/>
            </a:pPr>
            <a:r>
              <a:rPr lang="en-US" sz="1800" dirty="0"/>
              <a:t>D(1) = {2,3,4}</a:t>
            </a:r>
          </a:p>
          <a:p>
            <a:pPr>
              <a:buFont typeface="Arial"/>
              <a:buChar char="•"/>
            </a:pPr>
            <a:r>
              <a:rPr lang="en-US" sz="1800" dirty="0"/>
              <a:t>D(2) = {3,4}</a:t>
            </a:r>
          </a:p>
          <a:p>
            <a:pPr>
              <a:buFont typeface="Arial"/>
              <a:buChar char="•"/>
            </a:pPr>
            <a:r>
              <a:rPr lang="en-US" sz="1800" dirty="0"/>
              <a:t>D(3) = {}</a:t>
            </a:r>
          </a:p>
          <a:p>
            <a:pPr>
              <a:buFont typeface="Arial"/>
              <a:buChar char="•"/>
            </a:pPr>
            <a:r>
              <a:rPr lang="en-US" sz="1800" dirty="0"/>
              <a:t>D(4) = {}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96136" y="809812"/>
            <a:ext cx="2178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Dominance Relations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0054" y="3189334"/>
            <a:ext cx="1410964" cy="12003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>
              <a:buFont typeface="Arial"/>
              <a:buChar char="•"/>
            </a:pPr>
            <a:r>
              <a:rPr lang="en-US" sz="1800" dirty="0"/>
              <a:t>DF(1) = {}</a:t>
            </a:r>
          </a:p>
          <a:p>
            <a:pPr>
              <a:buFont typeface="Arial"/>
              <a:buChar char="•"/>
            </a:pPr>
            <a:r>
              <a:rPr lang="en-US" sz="1800" dirty="0"/>
              <a:t>DF(2) = {2}</a:t>
            </a:r>
          </a:p>
          <a:p>
            <a:pPr>
              <a:buFont typeface="Arial"/>
              <a:buChar char="•"/>
            </a:pPr>
            <a:r>
              <a:rPr lang="en-US" sz="1800" dirty="0"/>
              <a:t>DF(3) = {2}</a:t>
            </a:r>
          </a:p>
          <a:p>
            <a:pPr>
              <a:buFont typeface="Arial"/>
              <a:buChar char="•"/>
            </a:pPr>
            <a:r>
              <a:rPr lang="en-US" sz="1800" dirty="0"/>
              <a:t>DF(4) = {}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60256" y="2726506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Dominance Frontier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9719" y="1331313"/>
            <a:ext cx="1498808" cy="5847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Variable </a:t>
            </a:r>
            <a:r>
              <a:rPr lang="en-US" sz="1600" dirty="0" err="1"/>
              <a:t>i,k</a:t>
            </a:r>
            <a:r>
              <a:rPr lang="en-US" sz="1600" dirty="0"/>
              <a:t> in 1</a:t>
            </a:r>
          </a:p>
          <a:p>
            <a:r>
              <a:rPr lang="en-US" sz="1600" dirty="0"/>
              <a:t>DF(1) = {}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9718" y="2057521"/>
            <a:ext cx="1344920" cy="5847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Variable </a:t>
            </a:r>
            <a:r>
              <a:rPr lang="en-US" sz="1600" dirty="0" err="1"/>
              <a:t>i</a:t>
            </a:r>
            <a:r>
              <a:rPr lang="en-US" sz="1600" dirty="0"/>
              <a:t> in 2</a:t>
            </a:r>
          </a:p>
          <a:p>
            <a:r>
              <a:rPr lang="en-US" sz="1600" dirty="0"/>
              <a:t>DF(2) = {2}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9719" y="2783729"/>
            <a:ext cx="1498808" cy="5847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Variable </a:t>
            </a:r>
            <a:r>
              <a:rPr lang="en-US" sz="1600" dirty="0" err="1"/>
              <a:t>i,k</a:t>
            </a:r>
            <a:r>
              <a:rPr lang="en-US" sz="1600" dirty="0"/>
              <a:t> in 3</a:t>
            </a:r>
          </a:p>
          <a:p>
            <a:r>
              <a:rPr lang="en-US" sz="1600" dirty="0"/>
              <a:t>DF(3) = {2}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9644" y="3510381"/>
            <a:ext cx="1389804" cy="5847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Variable k in 4</a:t>
            </a:r>
          </a:p>
          <a:p>
            <a:r>
              <a:rPr lang="en-US" sz="1600" dirty="0"/>
              <a:t>DF(4) = {}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A6575E-BD95-7F4E-8D37-869934F147E3}"/>
              </a:ext>
            </a:extLst>
          </p:cNvPr>
          <p:cNvSpPr/>
          <p:nvPr/>
        </p:nvSpPr>
        <p:spPr>
          <a:xfrm>
            <a:off x="2987824" y="2726506"/>
            <a:ext cx="864096" cy="27729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93846A5-D083-1641-8CF0-D41647BBBFDC}"/>
              </a:ext>
            </a:extLst>
          </p:cNvPr>
          <p:cNvSpPr/>
          <p:nvPr/>
        </p:nvSpPr>
        <p:spPr>
          <a:xfrm>
            <a:off x="2987824" y="3026153"/>
            <a:ext cx="1008112" cy="27729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26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32" grpId="0" animBg="1"/>
      <p:bldP spid="2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to SSA Form</a:t>
            </a:r>
          </a:p>
        </p:txBody>
      </p:sp>
      <p:sp>
        <p:nvSpPr>
          <p:cNvPr id="1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CBB7-0D72-414E-9F56-266DA4AACC86}" type="slidenum">
              <a:rPr lang="en-US"/>
              <a:pPr/>
              <a:t>13</a:t>
            </a:fld>
            <a:endParaRPr lang="en-US"/>
          </a:p>
        </p:txBody>
      </p:sp>
      <p:sp>
        <p:nvSpPr>
          <p:cNvPr id="222212" name="Text Box 4"/>
          <p:cNvSpPr txBox="1">
            <a:spLocks noChangeArrowheads="1"/>
          </p:cNvSpPr>
          <p:nvPr/>
        </p:nvSpPr>
        <p:spPr bwMode="auto">
          <a:xfrm>
            <a:off x="2596066" y="1765362"/>
            <a:ext cx="1192955" cy="69249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1: k := 100</a:t>
            </a:r>
          </a:p>
          <a:p>
            <a:r>
              <a:rPr lang="en-US" sz="2100" dirty="0"/>
              <a:t>    </a:t>
            </a:r>
            <a:r>
              <a:rPr lang="en-US" sz="1800" dirty="0" err="1"/>
              <a:t>i</a:t>
            </a:r>
            <a:r>
              <a:rPr lang="en-US" sz="1800" dirty="0"/>
              <a:t> := 0</a:t>
            </a:r>
            <a:endParaRPr lang="en-US" sz="2100" dirty="0"/>
          </a:p>
        </p:txBody>
      </p:sp>
      <p:sp>
        <p:nvSpPr>
          <p:cNvPr id="222213" name="Text Box 5"/>
          <p:cNvSpPr txBox="1">
            <a:spLocks noChangeArrowheads="1"/>
          </p:cNvSpPr>
          <p:nvPr/>
        </p:nvSpPr>
        <p:spPr bwMode="auto">
          <a:xfrm>
            <a:off x="2710366" y="2679762"/>
            <a:ext cx="1338828" cy="9233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2: </a:t>
            </a:r>
            <a:r>
              <a:rPr lang="en-US" sz="1800" dirty="0" err="1"/>
              <a:t>i</a:t>
            </a:r>
            <a:r>
              <a:rPr lang="en-US" sz="1800" dirty="0"/>
              <a:t> = </a:t>
            </a:r>
            <a:r>
              <a:rPr lang="en-US" sz="1800" dirty="0">
                <a:sym typeface="Symbol" charset="2"/>
              </a:rPr>
              <a:t>(</a:t>
            </a:r>
            <a:r>
              <a:rPr lang="en-US" sz="1800" dirty="0" err="1">
                <a:sym typeface="Symbol" charset="2"/>
              </a:rPr>
              <a:t>i,i</a:t>
            </a:r>
            <a:r>
              <a:rPr lang="en-US" sz="1800" dirty="0">
                <a:sym typeface="Symbol" charset="2"/>
              </a:rPr>
              <a:t>)</a:t>
            </a:r>
            <a:endParaRPr lang="en-US" sz="1800" dirty="0"/>
          </a:p>
          <a:p>
            <a:r>
              <a:rPr lang="en-US" sz="1800" dirty="0"/>
              <a:t>    k = </a:t>
            </a:r>
            <a:r>
              <a:rPr lang="en-US" sz="1800" dirty="0">
                <a:sym typeface="Symbol" charset="2"/>
              </a:rPr>
              <a:t>(</a:t>
            </a:r>
            <a:r>
              <a:rPr lang="en-US" sz="1800" dirty="0" err="1">
                <a:sym typeface="Symbol" charset="2"/>
              </a:rPr>
              <a:t>k,k</a:t>
            </a:r>
            <a:r>
              <a:rPr lang="en-US" sz="1800" dirty="0">
                <a:sym typeface="Symbol" charset="2"/>
              </a:rPr>
              <a:t>)</a:t>
            </a:r>
            <a:endParaRPr lang="en-US" sz="1800" dirty="0"/>
          </a:p>
          <a:p>
            <a:r>
              <a:rPr lang="en-US" sz="1800" dirty="0"/>
              <a:t>    if </a:t>
            </a:r>
            <a:r>
              <a:rPr lang="en-US" sz="1800" dirty="0" err="1"/>
              <a:t>i</a:t>
            </a:r>
            <a:r>
              <a:rPr lang="en-US" sz="1800" dirty="0"/>
              <a:t> &lt; 100</a:t>
            </a:r>
            <a:endParaRPr lang="en-US" sz="2100" dirty="0"/>
          </a:p>
        </p:txBody>
      </p:sp>
      <p:sp>
        <p:nvSpPr>
          <p:cNvPr id="222214" name="Text Box 6"/>
          <p:cNvSpPr txBox="1">
            <a:spLocks noChangeArrowheads="1"/>
          </p:cNvSpPr>
          <p:nvPr/>
        </p:nvSpPr>
        <p:spPr bwMode="auto">
          <a:xfrm>
            <a:off x="1996548" y="3975907"/>
            <a:ext cx="131445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3: k := k+1</a:t>
            </a:r>
          </a:p>
          <a:p>
            <a:r>
              <a:rPr lang="en-US" sz="1800" dirty="0"/>
              <a:t>    </a:t>
            </a:r>
            <a:r>
              <a:rPr lang="en-US" sz="1800" dirty="0" err="1"/>
              <a:t>i</a:t>
            </a:r>
            <a:r>
              <a:rPr lang="en-US" sz="1800" dirty="0"/>
              <a:t> := i+1</a:t>
            </a:r>
          </a:p>
        </p:txBody>
      </p:sp>
      <p:cxnSp>
        <p:nvCxnSpPr>
          <p:cNvPr id="222215" name="AutoShape 7"/>
          <p:cNvCxnSpPr>
            <a:cxnSpLocks noChangeShapeType="1"/>
            <a:stCxn id="222212" idx="2"/>
            <a:endCxn id="222213" idx="0"/>
          </p:cNvCxnSpPr>
          <p:nvPr/>
        </p:nvCxnSpPr>
        <p:spPr bwMode="auto">
          <a:xfrm>
            <a:off x="3192544" y="2457859"/>
            <a:ext cx="187236" cy="22190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22216" name="AutoShape 8"/>
          <p:cNvCxnSpPr>
            <a:cxnSpLocks noChangeShapeType="1"/>
            <a:stCxn id="222213" idx="2"/>
            <a:endCxn id="222214" idx="0"/>
          </p:cNvCxnSpPr>
          <p:nvPr/>
        </p:nvCxnSpPr>
        <p:spPr bwMode="auto">
          <a:xfrm flipH="1">
            <a:off x="2653773" y="3603092"/>
            <a:ext cx="726007" cy="37281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22218" name="Text Box 10"/>
          <p:cNvSpPr txBox="1">
            <a:spLocks noChangeArrowheads="1"/>
          </p:cNvSpPr>
          <p:nvPr/>
        </p:nvSpPr>
        <p:spPr bwMode="auto">
          <a:xfrm>
            <a:off x="3653898" y="3975906"/>
            <a:ext cx="125730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4: return k</a:t>
            </a:r>
          </a:p>
        </p:txBody>
      </p:sp>
      <p:cxnSp>
        <p:nvCxnSpPr>
          <p:cNvPr id="222222" name="AutoShape 14"/>
          <p:cNvCxnSpPr>
            <a:cxnSpLocks noChangeShapeType="1"/>
            <a:stCxn id="222213" idx="2"/>
            <a:endCxn id="222218" idx="0"/>
          </p:cNvCxnSpPr>
          <p:nvPr/>
        </p:nvCxnSpPr>
        <p:spPr bwMode="auto">
          <a:xfrm>
            <a:off x="3379780" y="3603092"/>
            <a:ext cx="902768" cy="37281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22227" name="AutoShape 19"/>
          <p:cNvCxnSpPr>
            <a:cxnSpLocks noChangeShapeType="1"/>
            <a:stCxn id="222214" idx="2"/>
            <a:endCxn id="222213" idx="0"/>
          </p:cNvCxnSpPr>
          <p:nvPr/>
        </p:nvCxnSpPr>
        <p:spPr bwMode="auto">
          <a:xfrm rot="5400000" flipH="1" flipV="1">
            <a:off x="2045538" y="3287996"/>
            <a:ext cx="1942476" cy="726007"/>
          </a:xfrm>
          <a:prstGeom prst="curvedConnector5">
            <a:avLst>
              <a:gd name="adj1" fmla="val -11768"/>
              <a:gd name="adj2" fmla="val -121695"/>
              <a:gd name="adj3" fmla="val 10643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2573778" y="1221600"/>
            <a:ext cx="2056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Control Flow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1051" y="1257530"/>
            <a:ext cx="1628972" cy="12003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>
              <a:buFont typeface="Arial"/>
              <a:buChar char="•"/>
            </a:pPr>
            <a:r>
              <a:rPr lang="en-US" sz="1800" dirty="0"/>
              <a:t>D(1) = {2,3,4}</a:t>
            </a:r>
          </a:p>
          <a:p>
            <a:pPr>
              <a:buFont typeface="Arial"/>
              <a:buChar char="•"/>
            </a:pPr>
            <a:r>
              <a:rPr lang="en-US" sz="1800" dirty="0"/>
              <a:t>D(2) = {3,4}</a:t>
            </a:r>
          </a:p>
          <a:p>
            <a:pPr>
              <a:buFont typeface="Arial"/>
              <a:buChar char="•"/>
            </a:pPr>
            <a:r>
              <a:rPr lang="en-US" sz="1800" dirty="0"/>
              <a:t>D(3) = {}</a:t>
            </a:r>
          </a:p>
          <a:p>
            <a:pPr>
              <a:buFont typeface="Arial"/>
              <a:buChar char="•"/>
            </a:pPr>
            <a:r>
              <a:rPr lang="en-US" sz="1800" dirty="0"/>
              <a:t>D(4) = {}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96136" y="809812"/>
            <a:ext cx="2178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Dominance Relations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0054" y="3189334"/>
            <a:ext cx="1410964" cy="12003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>
              <a:buFont typeface="Arial"/>
              <a:buChar char="•"/>
            </a:pPr>
            <a:r>
              <a:rPr lang="en-US" sz="1800" dirty="0"/>
              <a:t>DF(1) = {}</a:t>
            </a:r>
          </a:p>
          <a:p>
            <a:pPr>
              <a:buFont typeface="Arial"/>
              <a:buChar char="•"/>
            </a:pPr>
            <a:r>
              <a:rPr lang="en-US" sz="1800" dirty="0"/>
              <a:t>DF(2) = {2}</a:t>
            </a:r>
          </a:p>
          <a:p>
            <a:pPr>
              <a:buFont typeface="Arial"/>
              <a:buChar char="•"/>
            </a:pPr>
            <a:r>
              <a:rPr lang="en-US" sz="1800" dirty="0"/>
              <a:t>DF(3) = {2}</a:t>
            </a:r>
          </a:p>
          <a:p>
            <a:pPr>
              <a:buFont typeface="Arial"/>
              <a:buChar char="•"/>
            </a:pPr>
            <a:r>
              <a:rPr lang="en-US" sz="1800" dirty="0"/>
              <a:t>DF(4) = {}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60256" y="2726506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Dominance Frontier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9719" y="1331313"/>
            <a:ext cx="1498808" cy="5847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Variable </a:t>
            </a:r>
            <a:r>
              <a:rPr lang="en-US" sz="1600" dirty="0" err="1"/>
              <a:t>i,k</a:t>
            </a:r>
            <a:r>
              <a:rPr lang="en-US" sz="1600" dirty="0"/>
              <a:t> in 1</a:t>
            </a:r>
          </a:p>
          <a:p>
            <a:r>
              <a:rPr lang="en-US" sz="1600" dirty="0"/>
              <a:t>DF(1) = {}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9718" y="2057521"/>
            <a:ext cx="1344920" cy="5847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Variable </a:t>
            </a:r>
            <a:r>
              <a:rPr lang="en-US" sz="1600" dirty="0" err="1"/>
              <a:t>i</a:t>
            </a:r>
            <a:r>
              <a:rPr lang="en-US" sz="1600" dirty="0"/>
              <a:t> in 2</a:t>
            </a:r>
          </a:p>
          <a:p>
            <a:r>
              <a:rPr lang="en-US" sz="1600" dirty="0"/>
              <a:t>DF(2) = {2}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9719" y="2783729"/>
            <a:ext cx="1498808" cy="5847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Variable </a:t>
            </a:r>
            <a:r>
              <a:rPr lang="en-US" sz="1600" dirty="0" err="1"/>
              <a:t>i,k</a:t>
            </a:r>
            <a:r>
              <a:rPr lang="en-US" sz="1600" dirty="0"/>
              <a:t> in 3</a:t>
            </a:r>
          </a:p>
          <a:p>
            <a:r>
              <a:rPr lang="en-US" sz="1600" dirty="0"/>
              <a:t>DF(3) = {2}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9644" y="3510381"/>
            <a:ext cx="1389804" cy="5847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Variable k in 4</a:t>
            </a:r>
          </a:p>
          <a:p>
            <a:r>
              <a:rPr lang="en-US" sz="1600" dirty="0"/>
              <a:t>DF(4) = {} </a:t>
            </a:r>
          </a:p>
        </p:txBody>
      </p:sp>
    </p:spTree>
    <p:extLst>
      <p:ext uri="{BB962C8B-B14F-4D97-AF65-F5344CB8AC3E}">
        <p14:creationId xmlns:p14="http://schemas.microsoft.com/office/powerpoint/2010/main" val="1612169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to SSA Form</a:t>
            </a:r>
          </a:p>
        </p:txBody>
      </p:sp>
      <p:sp>
        <p:nvSpPr>
          <p:cNvPr id="1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CBB7-0D72-414E-9F56-266DA4AACC86}" type="slidenum">
              <a:rPr lang="en-US"/>
              <a:pPr/>
              <a:t>14</a:t>
            </a:fld>
            <a:endParaRPr lang="en-US"/>
          </a:p>
        </p:txBody>
      </p:sp>
      <p:sp>
        <p:nvSpPr>
          <p:cNvPr id="222212" name="Text Box 4"/>
          <p:cNvSpPr txBox="1">
            <a:spLocks noChangeArrowheads="1"/>
          </p:cNvSpPr>
          <p:nvPr/>
        </p:nvSpPr>
        <p:spPr bwMode="auto">
          <a:xfrm>
            <a:off x="3622180" y="1387320"/>
            <a:ext cx="1308371" cy="69249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1: k1 := 100</a:t>
            </a:r>
          </a:p>
          <a:p>
            <a:r>
              <a:rPr lang="en-US" sz="2100" dirty="0"/>
              <a:t>    </a:t>
            </a:r>
            <a:r>
              <a:rPr lang="en-US" sz="1800" dirty="0"/>
              <a:t>i1 := 0</a:t>
            </a:r>
            <a:endParaRPr lang="en-US" sz="2100" dirty="0"/>
          </a:p>
        </p:txBody>
      </p:sp>
      <p:sp>
        <p:nvSpPr>
          <p:cNvPr id="222213" name="Text Box 5"/>
          <p:cNvSpPr txBox="1">
            <a:spLocks noChangeArrowheads="1"/>
          </p:cNvSpPr>
          <p:nvPr/>
        </p:nvSpPr>
        <p:spPr bwMode="auto">
          <a:xfrm>
            <a:off x="3736480" y="2301720"/>
            <a:ext cx="1685077" cy="9233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2: i2 = </a:t>
            </a:r>
            <a:r>
              <a:rPr lang="en-US" sz="1800" dirty="0">
                <a:sym typeface="Symbol" charset="2"/>
              </a:rPr>
              <a:t>(i1,i3)</a:t>
            </a:r>
            <a:endParaRPr lang="en-US" sz="1800" dirty="0"/>
          </a:p>
          <a:p>
            <a:r>
              <a:rPr lang="en-US" sz="1800" dirty="0"/>
              <a:t>    k2 = </a:t>
            </a:r>
            <a:r>
              <a:rPr lang="en-US" sz="1800" dirty="0">
                <a:sym typeface="Symbol" charset="2"/>
              </a:rPr>
              <a:t>(k1,k3)</a:t>
            </a:r>
            <a:endParaRPr lang="en-US" sz="1800" dirty="0"/>
          </a:p>
          <a:p>
            <a:r>
              <a:rPr lang="en-US" sz="1800" dirty="0"/>
              <a:t>    if i2 &lt; 100</a:t>
            </a:r>
            <a:endParaRPr lang="en-US" sz="2100" dirty="0"/>
          </a:p>
        </p:txBody>
      </p:sp>
      <p:sp>
        <p:nvSpPr>
          <p:cNvPr id="222214" name="Text Box 6"/>
          <p:cNvSpPr txBox="1">
            <a:spLocks noChangeArrowheads="1"/>
          </p:cNvSpPr>
          <p:nvPr/>
        </p:nvSpPr>
        <p:spPr bwMode="auto">
          <a:xfrm>
            <a:off x="3022662" y="3597865"/>
            <a:ext cx="1495332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3: k3 := k2+1</a:t>
            </a:r>
          </a:p>
          <a:p>
            <a:r>
              <a:rPr lang="en-US" sz="1800" dirty="0"/>
              <a:t>    i3 := i2+1</a:t>
            </a:r>
          </a:p>
        </p:txBody>
      </p:sp>
      <p:cxnSp>
        <p:nvCxnSpPr>
          <p:cNvPr id="222215" name="AutoShape 7"/>
          <p:cNvCxnSpPr>
            <a:cxnSpLocks noChangeShapeType="1"/>
            <a:stCxn id="222212" idx="2"/>
            <a:endCxn id="222213" idx="0"/>
          </p:cNvCxnSpPr>
          <p:nvPr/>
        </p:nvCxnSpPr>
        <p:spPr bwMode="auto">
          <a:xfrm>
            <a:off x="4276366" y="2079817"/>
            <a:ext cx="302653" cy="22190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22216" name="AutoShape 8"/>
          <p:cNvCxnSpPr>
            <a:cxnSpLocks noChangeShapeType="1"/>
            <a:stCxn id="222213" idx="2"/>
            <a:endCxn id="222214" idx="0"/>
          </p:cNvCxnSpPr>
          <p:nvPr/>
        </p:nvCxnSpPr>
        <p:spPr bwMode="auto">
          <a:xfrm flipH="1">
            <a:off x="3770328" y="3225050"/>
            <a:ext cx="808691" cy="37281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22218" name="Text Box 10"/>
          <p:cNvSpPr txBox="1">
            <a:spLocks noChangeArrowheads="1"/>
          </p:cNvSpPr>
          <p:nvPr/>
        </p:nvSpPr>
        <p:spPr bwMode="auto">
          <a:xfrm>
            <a:off x="4680012" y="3597864"/>
            <a:ext cx="125730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4: return k2</a:t>
            </a:r>
          </a:p>
        </p:txBody>
      </p:sp>
      <p:cxnSp>
        <p:nvCxnSpPr>
          <p:cNvPr id="222222" name="AutoShape 14"/>
          <p:cNvCxnSpPr>
            <a:cxnSpLocks noChangeShapeType="1"/>
            <a:stCxn id="222213" idx="2"/>
            <a:endCxn id="222218" idx="0"/>
          </p:cNvCxnSpPr>
          <p:nvPr/>
        </p:nvCxnSpPr>
        <p:spPr bwMode="auto">
          <a:xfrm>
            <a:off x="4579019" y="3225050"/>
            <a:ext cx="729643" cy="37281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22227" name="AutoShape 19"/>
          <p:cNvCxnSpPr>
            <a:cxnSpLocks noChangeShapeType="1"/>
            <a:stCxn id="222214" idx="2"/>
            <a:endCxn id="222213" idx="0"/>
          </p:cNvCxnSpPr>
          <p:nvPr/>
        </p:nvCxnSpPr>
        <p:spPr bwMode="auto">
          <a:xfrm rot="5400000" flipH="1" flipV="1">
            <a:off x="3203435" y="2868612"/>
            <a:ext cx="1942476" cy="808691"/>
          </a:xfrm>
          <a:prstGeom prst="curvedConnector5">
            <a:avLst>
              <a:gd name="adj1" fmla="val -11768"/>
              <a:gd name="adj2" fmla="val -165047"/>
              <a:gd name="adj3" fmla="val 10643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492114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9D43E-DF8E-A748-A5DD-BAC579E4D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Slides</a:t>
            </a:r>
          </a:p>
        </p:txBody>
      </p:sp>
    </p:spTree>
    <p:extLst>
      <p:ext uri="{BB962C8B-B14F-4D97-AF65-F5344CB8AC3E}">
        <p14:creationId xmlns:p14="http://schemas.microsoft.com/office/powerpoint/2010/main" val="41120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815917" y="1005576"/>
            <a:ext cx="1013419" cy="9694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1: </a:t>
            </a:r>
            <a:r>
              <a:rPr lang="en-US" sz="1800" dirty="0" err="1"/>
              <a:t>i</a:t>
            </a:r>
            <a:r>
              <a:rPr lang="en-US" sz="1800" dirty="0"/>
              <a:t> := 1</a:t>
            </a:r>
          </a:p>
          <a:p>
            <a:r>
              <a:rPr lang="en-US" sz="2100" dirty="0"/>
              <a:t>   </a:t>
            </a:r>
            <a:r>
              <a:rPr lang="en-US" sz="1800" dirty="0"/>
              <a:t>j := 2</a:t>
            </a:r>
          </a:p>
          <a:p>
            <a:r>
              <a:rPr lang="en-US" sz="1800" dirty="0"/>
              <a:t>   k := 10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031941" y="303498"/>
            <a:ext cx="659155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entry</a:t>
            </a:r>
            <a:endParaRPr lang="en-US" sz="2100" dirty="0"/>
          </a:p>
        </p:txBody>
      </p:sp>
      <p:cxnSp>
        <p:nvCxnSpPr>
          <p:cNvPr id="8" name="Straight Arrow Connector 7"/>
          <p:cNvCxnSpPr>
            <a:stCxn id="6" idx="2"/>
            <a:endCxn id="5" idx="0"/>
          </p:cNvCxnSpPr>
          <p:nvPr/>
        </p:nvCxnSpPr>
        <p:spPr bwMode="auto">
          <a:xfrm flipH="1">
            <a:off x="4322627" y="672830"/>
            <a:ext cx="38892" cy="33274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3491880" y="2355726"/>
            <a:ext cx="168668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2: if </a:t>
            </a:r>
            <a:r>
              <a:rPr lang="en-US" sz="1800" dirty="0" err="1"/>
              <a:t>i</a:t>
            </a:r>
            <a:r>
              <a:rPr lang="en-US" sz="1800" dirty="0"/>
              <a:t> &lt; k </a:t>
            </a:r>
            <a:r>
              <a:rPr lang="en-US" sz="1800" dirty="0" err="1"/>
              <a:t>goto</a:t>
            </a:r>
            <a:r>
              <a:rPr lang="en-US" sz="1800" dirty="0"/>
              <a:t> 3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2519772" y="3111810"/>
            <a:ext cx="1220206" cy="69249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3: </a:t>
            </a:r>
            <a:r>
              <a:rPr lang="en-US" sz="1800" dirty="0" err="1"/>
              <a:t>i</a:t>
            </a:r>
            <a:r>
              <a:rPr lang="en-US" sz="1800" dirty="0"/>
              <a:t> := </a:t>
            </a:r>
            <a:r>
              <a:rPr lang="en-US" sz="1800" dirty="0" err="1"/>
              <a:t>i</a:t>
            </a:r>
            <a:r>
              <a:rPr lang="en-US" sz="1800" dirty="0"/>
              <a:t> + 1</a:t>
            </a:r>
          </a:p>
          <a:p>
            <a:r>
              <a:rPr lang="en-US" sz="2100" dirty="0"/>
              <a:t>   </a:t>
            </a:r>
            <a:r>
              <a:rPr lang="en-US" sz="1800" dirty="0"/>
              <a:t>j := j * 2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4193959" y="3759882"/>
            <a:ext cx="979755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5: print j</a:t>
            </a: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5922150" y="3759882"/>
            <a:ext cx="1220206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6: </a:t>
            </a:r>
            <a:r>
              <a:rPr lang="en-US" sz="1800" dirty="0" err="1"/>
              <a:t>i</a:t>
            </a:r>
            <a:r>
              <a:rPr lang="en-US" sz="1800" dirty="0"/>
              <a:t> := </a:t>
            </a:r>
            <a:r>
              <a:rPr lang="en-US" sz="1800" dirty="0" err="1"/>
              <a:t>i</a:t>
            </a:r>
            <a:r>
              <a:rPr lang="en-US" sz="1800" dirty="0"/>
              <a:t> + 1</a:t>
            </a:r>
          </a:p>
        </p:txBody>
      </p:sp>
      <p:cxnSp>
        <p:nvCxnSpPr>
          <p:cNvPr id="16" name="Straight Arrow Connector 15"/>
          <p:cNvCxnSpPr>
            <a:stCxn id="5" idx="2"/>
            <a:endCxn id="10" idx="0"/>
          </p:cNvCxnSpPr>
          <p:nvPr/>
        </p:nvCxnSpPr>
        <p:spPr bwMode="auto">
          <a:xfrm>
            <a:off x="4322627" y="1975072"/>
            <a:ext cx="12593" cy="3806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4517994" y="3111810"/>
            <a:ext cx="2032929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/>
              <a:t>4: </a:t>
            </a:r>
            <a:r>
              <a:rPr lang="en-US" sz="1800" dirty="0"/>
              <a:t>if j &gt; k*10 </a:t>
            </a:r>
            <a:r>
              <a:rPr lang="en-US" sz="1800" dirty="0" err="1"/>
              <a:t>goto</a:t>
            </a:r>
            <a:r>
              <a:rPr lang="en-US" sz="1800" dirty="0"/>
              <a:t> 5</a:t>
            </a:r>
          </a:p>
        </p:txBody>
      </p:sp>
      <p:sp>
        <p:nvSpPr>
          <p:cNvPr id="19" name="Text Box 4"/>
          <p:cNvSpPr txBox="1">
            <a:spLocks noChangeArrowheads="1"/>
          </p:cNvSpPr>
          <p:nvPr/>
        </p:nvSpPr>
        <p:spPr bwMode="auto">
          <a:xfrm>
            <a:off x="5274079" y="4407954"/>
            <a:ext cx="530915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exit</a:t>
            </a:r>
            <a:endParaRPr lang="en-US" sz="2100" dirty="0"/>
          </a:p>
        </p:txBody>
      </p:sp>
      <p:cxnSp>
        <p:nvCxnSpPr>
          <p:cNvPr id="21" name="Straight Arrow Connector 20"/>
          <p:cNvCxnSpPr>
            <a:stCxn id="10" idx="2"/>
          </p:cNvCxnSpPr>
          <p:nvPr/>
        </p:nvCxnSpPr>
        <p:spPr bwMode="auto">
          <a:xfrm flipH="1">
            <a:off x="3329863" y="2725058"/>
            <a:ext cx="1005357" cy="38675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Straight Arrow Connector 22"/>
          <p:cNvCxnSpPr>
            <a:stCxn id="10" idx="2"/>
          </p:cNvCxnSpPr>
          <p:nvPr/>
        </p:nvCxnSpPr>
        <p:spPr bwMode="auto">
          <a:xfrm>
            <a:off x="4335220" y="2725058"/>
            <a:ext cx="1100876" cy="33274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5" name="Straight Arrow Connector 24"/>
          <p:cNvCxnSpPr>
            <a:stCxn id="17" idx="2"/>
            <a:endCxn id="12" idx="0"/>
          </p:cNvCxnSpPr>
          <p:nvPr/>
        </p:nvCxnSpPr>
        <p:spPr bwMode="auto">
          <a:xfrm flipH="1">
            <a:off x="4683837" y="3481142"/>
            <a:ext cx="850622" cy="27874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7" name="Straight Arrow Connector 26"/>
          <p:cNvCxnSpPr>
            <a:stCxn id="17" idx="2"/>
          </p:cNvCxnSpPr>
          <p:nvPr/>
        </p:nvCxnSpPr>
        <p:spPr bwMode="auto">
          <a:xfrm>
            <a:off x="5534459" y="3481142"/>
            <a:ext cx="873745" cy="2247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Straight Arrow Connector 28"/>
          <p:cNvCxnSpPr>
            <a:stCxn id="12" idx="2"/>
            <a:endCxn id="19" idx="0"/>
          </p:cNvCxnSpPr>
          <p:nvPr/>
        </p:nvCxnSpPr>
        <p:spPr bwMode="auto">
          <a:xfrm>
            <a:off x="4683837" y="4129214"/>
            <a:ext cx="855700" cy="27874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1" name="Straight Arrow Connector 30"/>
          <p:cNvCxnSpPr>
            <a:stCxn id="13" idx="2"/>
            <a:endCxn id="19" idx="0"/>
          </p:cNvCxnSpPr>
          <p:nvPr/>
        </p:nvCxnSpPr>
        <p:spPr bwMode="auto">
          <a:xfrm flipH="1">
            <a:off x="5539537" y="4129214"/>
            <a:ext cx="992716" cy="27874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3" name="Curved Connector 32"/>
          <p:cNvCxnSpPr>
            <a:stCxn id="11" idx="2"/>
            <a:endCxn id="10" idx="0"/>
          </p:cNvCxnSpPr>
          <p:nvPr/>
        </p:nvCxnSpPr>
        <p:spPr bwMode="auto">
          <a:xfrm rot="5400000" flipH="1" flipV="1">
            <a:off x="3008256" y="2477344"/>
            <a:ext cx="1448581" cy="1205345"/>
          </a:xfrm>
          <a:prstGeom prst="curvedConnector5">
            <a:avLst>
              <a:gd name="adj1" fmla="val -15781"/>
              <a:gd name="adj2" fmla="val -116863"/>
              <a:gd name="adj3" fmla="val 115781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62FDB-F864-E842-91C2-6712A2A87806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541F21-D673-014A-9347-56D87794EB48}"/>
              </a:ext>
            </a:extLst>
          </p:cNvPr>
          <p:cNvSpPr txBox="1"/>
          <p:nvPr/>
        </p:nvSpPr>
        <p:spPr>
          <a:xfrm>
            <a:off x="6916354" y="656286"/>
            <a:ext cx="1975221" cy="175432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>
              <a:buFont typeface="Arial"/>
              <a:buChar char="•"/>
            </a:pPr>
            <a:r>
              <a:rPr lang="en-US" sz="1800" dirty="0"/>
              <a:t>D(1) = {2,3,4,5,6}</a:t>
            </a:r>
          </a:p>
          <a:p>
            <a:pPr>
              <a:buFont typeface="Arial"/>
              <a:buChar char="•"/>
            </a:pPr>
            <a:r>
              <a:rPr lang="en-US" sz="1800" dirty="0"/>
              <a:t>D(2) = {3,4,5,6}</a:t>
            </a:r>
          </a:p>
          <a:p>
            <a:pPr>
              <a:buFont typeface="Arial"/>
              <a:buChar char="•"/>
            </a:pPr>
            <a:r>
              <a:rPr lang="en-US" sz="1800" dirty="0"/>
              <a:t>D(3) = {}</a:t>
            </a:r>
          </a:p>
          <a:p>
            <a:pPr>
              <a:buFont typeface="Arial"/>
              <a:buChar char="•"/>
            </a:pPr>
            <a:r>
              <a:rPr lang="en-US" sz="1800" dirty="0"/>
              <a:t>D(4) = {5,6}</a:t>
            </a:r>
          </a:p>
          <a:p>
            <a:pPr>
              <a:buFont typeface="Arial"/>
              <a:buChar char="•"/>
            </a:pPr>
            <a:r>
              <a:rPr lang="en-US" sz="1800" dirty="0"/>
              <a:t>D(5) = {}</a:t>
            </a:r>
          </a:p>
          <a:p>
            <a:pPr>
              <a:buFont typeface="Arial"/>
              <a:buChar char="•"/>
            </a:pPr>
            <a:r>
              <a:rPr lang="en-US" sz="1800" dirty="0"/>
              <a:t>D(6) = {}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D7BB3C-F934-F643-A492-534913C9FF8B}"/>
              </a:ext>
            </a:extLst>
          </p:cNvPr>
          <p:cNvSpPr txBox="1"/>
          <p:nvPr/>
        </p:nvSpPr>
        <p:spPr>
          <a:xfrm>
            <a:off x="6641439" y="208568"/>
            <a:ext cx="2178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Dominance Relations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56D384-57D9-814B-AE1D-A2C9C3E0EBA3}"/>
              </a:ext>
            </a:extLst>
          </p:cNvPr>
          <p:cNvSpPr txBox="1"/>
          <p:nvPr/>
        </p:nvSpPr>
        <p:spPr>
          <a:xfrm>
            <a:off x="7462154" y="3016921"/>
            <a:ext cx="1410964" cy="175432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>
              <a:buFont typeface="Arial"/>
              <a:buChar char="•"/>
            </a:pPr>
            <a:r>
              <a:rPr lang="en-US" sz="1800" dirty="0"/>
              <a:t>DF(1) = {}</a:t>
            </a:r>
          </a:p>
          <a:p>
            <a:pPr>
              <a:buFont typeface="Arial"/>
              <a:buChar char="•"/>
            </a:pPr>
            <a:r>
              <a:rPr lang="en-US" sz="1800" dirty="0"/>
              <a:t>DF(2) = {2}</a:t>
            </a:r>
          </a:p>
          <a:p>
            <a:pPr>
              <a:buFont typeface="Arial"/>
              <a:buChar char="•"/>
            </a:pPr>
            <a:r>
              <a:rPr lang="en-US" sz="1800" dirty="0"/>
              <a:t>DF(3) = {2}</a:t>
            </a:r>
          </a:p>
          <a:p>
            <a:pPr>
              <a:buFont typeface="Arial"/>
              <a:buChar char="•"/>
            </a:pPr>
            <a:r>
              <a:rPr lang="en-US" sz="1800" dirty="0"/>
              <a:t>DF(4) = {}</a:t>
            </a:r>
          </a:p>
          <a:p>
            <a:pPr>
              <a:buFont typeface="Arial"/>
              <a:buChar char="•"/>
            </a:pPr>
            <a:r>
              <a:rPr lang="en-US" sz="1800" dirty="0"/>
              <a:t>DF(5) = {}</a:t>
            </a:r>
          </a:p>
          <a:p>
            <a:pPr>
              <a:buFont typeface="Arial"/>
              <a:buChar char="•"/>
            </a:pPr>
            <a:r>
              <a:rPr lang="en-US" sz="1800" dirty="0"/>
              <a:t>DF(6) = {}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4BB760-6E9A-B541-8A8A-CFB340CF98EA}"/>
              </a:ext>
            </a:extLst>
          </p:cNvPr>
          <p:cNvSpPr txBox="1"/>
          <p:nvPr/>
        </p:nvSpPr>
        <p:spPr>
          <a:xfrm>
            <a:off x="7142356" y="2554093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Dominance Frontier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B90280-F069-ED4C-B791-00EC2FABF7EE}"/>
              </a:ext>
            </a:extLst>
          </p:cNvPr>
          <p:cNvSpPr txBox="1"/>
          <p:nvPr/>
        </p:nvSpPr>
        <p:spPr>
          <a:xfrm>
            <a:off x="366766" y="638638"/>
            <a:ext cx="1498808" cy="5847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Variable i,j in 3</a:t>
            </a:r>
          </a:p>
          <a:p>
            <a:r>
              <a:rPr lang="en-US" sz="1600" dirty="0"/>
              <a:t>DF(3) = {2}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1178B4-801E-5148-B725-44ADF98EEB4A}"/>
              </a:ext>
            </a:extLst>
          </p:cNvPr>
          <p:cNvSpPr txBox="1"/>
          <p:nvPr/>
        </p:nvSpPr>
        <p:spPr>
          <a:xfrm>
            <a:off x="346001" y="1410020"/>
            <a:ext cx="1498808" cy="5847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Variable </a:t>
            </a:r>
            <a:r>
              <a:rPr lang="en-US" sz="1600" dirty="0" err="1"/>
              <a:t>i,k</a:t>
            </a:r>
            <a:r>
              <a:rPr lang="en-US" sz="1600" dirty="0"/>
              <a:t> in 2</a:t>
            </a:r>
          </a:p>
          <a:p>
            <a:r>
              <a:rPr lang="en-US" sz="1600" dirty="0"/>
              <a:t>DF(2) = {2} </a:t>
            </a:r>
          </a:p>
        </p:txBody>
      </p:sp>
    </p:spTree>
    <p:extLst>
      <p:ext uri="{BB962C8B-B14F-4D97-AF65-F5344CB8AC3E}">
        <p14:creationId xmlns:p14="http://schemas.microsoft.com/office/powerpoint/2010/main" val="2014610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869923" y="633739"/>
            <a:ext cx="1192955" cy="101566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1: k1 := 10</a:t>
            </a:r>
          </a:p>
          <a:p>
            <a:r>
              <a:rPr lang="en-US" sz="2100" dirty="0"/>
              <a:t>    </a:t>
            </a:r>
            <a:r>
              <a:rPr lang="en-US" sz="1800" dirty="0"/>
              <a:t>i1 := 1</a:t>
            </a:r>
          </a:p>
          <a:p>
            <a:r>
              <a:rPr lang="en-US" sz="2100" dirty="0"/>
              <a:t>    </a:t>
            </a:r>
            <a:r>
              <a:rPr lang="en-US" sz="1800" dirty="0"/>
              <a:t>j1 := 2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136823" y="101413"/>
            <a:ext cx="659155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entry</a:t>
            </a:r>
            <a:endParaRPr lang="en-US" sz="2100" dirty="0"/>
          </a:p>
        </p:txBody>
      </p:sp>
      <p:cxnSp>
        <p:nvCxnSpPr>
          <p:cNvPr id="8" name="Straight Arrow Connector 7"/>
          <p:cNvCxnSpPr>
            <a:stCxn id="6" idx="2"/>
            <a:endCxn id="5" idx="0"/>
          </p:cNvCxnSpPr>
          <p:nvPr/>
        </p:nvCxnSpPr>
        <p:spPr bwMode="auto">
          <a:xfrm>
            <a:off x="4466401" y="470745"/>
            <a:ext cx="0" cy="16299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3437874" y="1912561"/>
            <a:ext cx="2026517" cy="120032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2:   i2 := </a:t>
            </a:r>
            <a:r>
              <a:rPr lang="en-US" sz="1800" dirty="0">
                <a:sym typeface="Symbol" charset="2"/>
              </a:rPr>
              <a:t>(i1,i3)</a:t>
            </a:r>
          </a:p>
          <a:p>
            <a:r>
              <a:rPr lang="en-US" sz="1800" dirty="0">
                <a:sym typeface="Symbol" charset="2"/>
              </a:rPr>
              <a:t>      j2 := (j1,j3)</a:t>
            </a:r>
          </a:p>
          <a:p>
            <a:r>
              <a:rPr lang="en-US" sz="1800" dirty="0">
                <a:sym typeface="Symbol" charset="2"/>
              </a:rPr>
              <a:t>      k1:= (k1,k1)</a:t>
            </a:r>
          </a:p>
          <a:p>
            <a:r>
              <a:rPr lang="en-US" sz="1800" dirty="0"/>
              <a:t>      if i2 &lt; k1 </a:t>
            </a:r>
            <a:r>
              <a:rPr lang="en-US" sz="1800" dirty="0" err="1"/>
              <a:t>goto</a:t>
            </a:r>
            <a:r>
              <a:rPr lang="en-US" sz="1800" dirty="0"/>
              <a:t> 3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2195736" y="3489852"/>
            <a:ext cx="1451038" cy="69249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3: i3 := i2 + 1</a:t>
            </a:r>
          </a:p>
          <a:p>
            <a:r>
              <a:rPr lang="en-US" sz="2100" dirty="0"/>
              <a:t>   </a:t>
            </a:r>
            <a:r>
              <a:rPr lang="en-US" sz="1800" dirty="0"/>
              <a:t>j3 := j2 * 2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4193958" y="3975906"/>
            <a:ext cx="1095172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5: print j2</a:t>
            </a: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5922150" y="3975906"/>
            <a:ext cx="1451038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6: i4 := i2 + 1</a:t>
            </a:r>
          </a:p>
        </p:txBody>
      </p:sp>
      <p:cxnSp>
        <p:nvCxnSpPr>
          <p:cNvPr id="16" name="Straight Arrow Connector 15"/>
          <p:cNvCxnSpPr>
            <a:stCxn id="5" idx="2"/>
            <a:endCxn id="10" idx="0"/>
          </p:cNvCxnSpPr>
          <p:nvPr/>
        </p:nvCxnSpPr>
        <p:spPr bwMode="auto">
          <a:xfrm flipH="1">
            <a:off x="4451133" y="1649402"/>
            <a:ext cx="15268" cy="26315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4517994" y="3327834"/>
            <a:ext cx="2263761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4: if j2 &gt; k1*10 </a:t>
            </a:r>
            <a:r>
              <a:rPr lang="en-US" sz="1800" dirty="0" err="1"/>
              <a:t>goto</a:t>
            </a:r>
            <a:r>
              <a:rPr lang="en-US" sz="1800" dirty="0"/>
              <a:t> 5</a:t>
            </a:r>
          </a:p>
        </p:txBody>
      </p:sp>
      <p:sp>
        <p:nvSpPr>
          <p:cNvPr id="19" name="Text Box 4"/>
          <p:cNvSpPr txBox="1">
            <a:spLocks noChangeArrowheads="1"/>
          </p:cNvSpPr>
          <p:nvPr/>
        </p:nvSpPr>
        <p:spPr bwMode="auto">
          <a:xfrm>
            <a:off x="5274079" y="4623978"/>
            <a:ext cx="530915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exit</a:t>
            </a:r>
            <a:endParaRPr lang="en-US" sz="2100" dirty="0"/>
          </a:p>
        </p:txBody>
      </p:sp>
      <p:cxnSp>
        <p:nvCxnSpPr>
          <p:cNvPr id="21" name="Straight Arrow Connector 20"/>
          <p:cNvCxnSpPr>
            <a:stCxn id="10" idx="2"/>
            <a:endCxn id="11" idx="0"/>
          </p:cNvCxnSpPr>
          <p:nvPr/>
        </p:nvCxnSpPr>
        <p:spPr bwMode="auto">
          <a:xfrm flipH="1">
            <a:off x="2921255" y="3112890"/>
            <a:ext cx="1529878" cy="37696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Straight Arrow Connector 22"/>
          <p:cNvCxnSpPr>
            <a:cxnSpLocks/>
            <a:stCxn id="10" idx="2"/>
          </p:cNvCxnSpPr>
          <p:nvPr/>
        </p:nvCxnSpPr>
        <p:spPr bwMode="auto">
          <a:xfrm>
            <a:off x="4451133" y="3112890"/>
            <a:ext cx="1088404" cy="2149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5" name="Straight Arrow Connector 24"/>
          <p:cNvCxnSpPr>
            <a:stCxn id="17" idx="2"/>
            <a:endCxn id="12" idx="0"/>
          </p:cNvCxnSpPr>
          <p:nvPr/>
        </p:nvCxnSpPr>
        <p:spPr bwMode="auto">
          <a:xfrm flipH="1">
            <a:off x="4741544" y="3697166"/>
            <a:ext cx="908331" cy="27874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7" name="Straight Arrow Connector 26"/>
          <p:cNvCxnSpPr>
            <a:stCxn id="17" idx="2"/>
          </p:cNvCxnSpPr>
          <p:nvPr/>
        </p:nvCxnSpPr>
        <p:spPr bwMode="auto">
          <a:xfrm>
            <a:off x="5649875" y="3697166"/>
            <a:ext cx="758329" cy="2247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Straight Arrow Connector 28"/>
          <p:cNvCxnSpPr>
            <a:stCxn id="12" idx="2"/>
            <a:endCxn id="19" idx="0"/>
          </p:cNvCxnSpPr>
          <p:nvPr/>
        </p:nvCxnSpPr>
        <p:spPr bwMode="auto">
          <a:xfrm>
            <a:off x="4741544" y="4345238"/>
            <a:ext cx="797993" cy="27874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1" name="Straight Arrow Connector 30"/>
          <p:cNvCxnSpPr>
            <a:stCxn id="13" idx="2"/>
            <a:endCxn id="19" idx="0"/>
          </p:cNvCxnSpPr>
          <p:nvPr/>
        </p:nvCxnSpPr>
        <p:spPr bwMode="auto">
          <a:xfrm flipH="1">
            <a:off x="5539537" y="4345238"/>
            <a:ext cx="1108132" cy="27874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3" name="Curved Connector 32"/>
          <p:cNvCxnSpPr>
            <a:stCxn id="11" idx="2"/>
            <a:endCxn id="10" idx="0"/>
          </p:cNvCxnSpPr>
          <p:nvPr/>
        </p:nvCxnSpPr>
        <p:spPr bwMode="auto">
          <a:xfrm rot="5400000" flipH="1" flipV="1">
            <a:off x="2551300" y="2282516"/>
            <a:ext cx="2269788" cy="1529878"/>
          </a:xfrm>
          <a:prstGeom prst="curvedConnector5">
            <a:avLst>
              <a:gd name="adj1" fmla="val -10071"/>
              <a:gd name="adj2" fmla="val -88390"/>
              <a:gd name="adj3" fmla="val 110071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62FDB-F864-E842-91C2-6712A2A87806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2" name="Rectangular Callout 21">
            <a:extLst>
              <a:ext uri="{FF2B5EF4-FFF2-40B4-BE49-F238E27FC236}">
                <a16:creationId xmlns:a16="http://schemas.microsoft.com/office/drawing/2014/main" id="{5C90C86D-EE67-8444-9628-475DD89531FD}"/>
              </a:ext>
            </a:extLst>
          </p:cNvPr>
          <p:cNvSpPr/>
          <p:nvPr/>
        </p:nvSpPr>
        <p:spPr>
          <a:xfrm>
            <a:off x="5518645" y="2284798"/>
            <a:ext cx="1746193" cy="360040"/>
          </a:xfrm>
          <a:prstGeom prst="wedgeRectCallout">
            <a:avLst>
              <a:gd name="adj1" fmla="val -70537"/>
              <a:gd name="adj2" fmla="val 4715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can be removed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7EAC83-C81F-994C-9FA5-0FD21FBB9691}"/>
              </a:ext>
            </a:extLst>
          </p:cNvPr>
          <p:cNvSpPr txBox="1"/>
          <p:nvPr/>
        </p:nvSpPr>
        <p:spPr>
          <a:xfrm>
            <a:off x="366766" y="638638"/>
            <a:ext cx="1498808" cy="5847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Variable i,j in 3</a:t>
            </a:r>
          </a:p>
          <a:p>
            <a:r>
              <a:rPr lang="en-US" sz="1600" dirty="0"/>
              <a:t>DF(3) = {2}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AA0A1D5-6407-2040-BCE5-5BE018F7339C}"/>
              </a:ext>
            </a:extLst>
          </p:cNvPr>
          <p:cNvSpPr txBox="1"/>
          <p:nvPr/>
        </p:nvSpPr>
        <p:spPr>
          <a:xfrm>
            <a:off x="346001" y="1410020"/>
            <a:ext cx="1498808" cy="5847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Variable </a:t>
            </a:r>
            <a:r>
              <a:rPr lang="en-US" sz="1600" dirty="0" err="1"/>
              <a:t>i,k</a:t>
            </a:r>
            <a:r>
              <a:rPr lang="en-US" sz="1600" dirty="0"/>
              <a:t> in 2</a:t>
            </a:r>
          </a:p>
          <a:p>
            <a:r>
              <a:rPr lang="en-US" sz="1600" dirty="0"/>
              <a:t>DF(2) = {2} </a:t>
            </a:r>
          </a:p>
        </p:txBody>
      </p:sp>
    </p:spTree>
    <p:extLst>
      <p:ext uri="{BB962C8B-B14F-4D97-AF65-F5344CB8AC3E}">
        <p14:creationId xmlns:p14="http://schemas.microsoft.com/office/powerpoint/2010/main" val="899993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4607</TotalTime>
  <Words>1825</Words>
  <Application>Microsoft Macintosh PowerPoint</Application>
  <PresentationFormat>On-screen Show (16:9)</PresentationFormat>
  <Paragraphs>358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Times</vt:lpstr>
      <vt:lpstr>Arial</vt:lpstr>
      <vt:lpstr>Calibri</vt:lpstr>
      <vt:lpstr>Calibri Light</vt:lpstr>
      <vt:lpstr>Symbol</vt:lpstr>
      <vt:lpstr>Times New Roman</vt:lpstr>
      <vt:lpstr>1_Office Theme</vt:lpstr>
      <vt:lpstr>Static Single Assignment Form</vt:lpstr>
      <vt:lpstr>Converting to SSA Form</vt:lpstr>
      <vt:lpstr>Converting to SSA Form</vt:lpstr>
      <vt:lpstr>Converting to SSA Form</vt:lpstr>
      <vt:lpstr>Converting to SSA Form</vt:lpstr>
      <vt:lpstr>Converting to SSA Form</vt:lpstr>
      <vt:lpstr>Converting to SSA Form</vt:lpstr>
      <vt:lpstr>Converting to SSA Form</vt:lpstr>
      <vt:lpstr>Converting to SSA Form</vt:lpstr>
      <vt:lpstr>Converting to SSA Form</vt:lpstr>
      <vt:lpstr>Converting to SSA Form</vt:lpstr>
      <vt:lpstr>Converting to SSA Form</vt:lpstr>
      <vt:lpstr>Converting to SSA Form</vt:lpstr>
      <vt:lpstr>Converting to SSA Form</vt:lpstr>
      <vt:lpstr>Extra Slides</vt:lpstr>
      <vt:lpstr>PowerPoint Presentation</vt:lpstr>
      <vt:lpstr>PowerPoint Presentation</vt:lpstr>
    </vt:vector>
  </TitlesOfParts>
  <Company>SFU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CMPT 379  Compilers</dc:title>
  <dc:creator>Anoop Sarkar</dc:creator>
  <cp:lastModifiedBy>Anoop Sarkar</cp:lastModifiedBy>
  <cp:revision>1167</cp:revision>
  <cp:lastPrinted>2011-11-29T07:18:27Z</cp:lastPrinted>
  <dcterms:created xsi:type="dcterms:W3CDTF">2011-11-30T17:42:58Z</dcterms:created>
  <dcterms:modified xsi:type="dcterms:W3CDTF">2025-07-17T02:53:14Z</dcterms:modified>
</cp:coreProperties>
</file>