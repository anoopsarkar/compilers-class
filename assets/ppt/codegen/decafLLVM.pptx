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39"/>
  </p:notesMasterIdLst>
  <p:handoutMasterIdLst>
    <p:handoutMasterId r:id="rId40"/>
  </p:handoutMasterIdLst>
  <p:sldIdLst>
    <p:sldId id="382" r:id="rId2"/>
    <p:sldId id="269" r:id="rId3"/>
    <p:sldId id="258" r:id="rId4"/>
    <p:sldId id="259" r:id="rId5"/>
    <p:sldId id="260" r:id="rId6"/>
    <p:sldId id="387" r:id="rId7"/>
    <p:sldId id="261" r:id="rId8"/>
    <p:sldId id="262" r:id="rId9"/>
    <p:sldId id="264" r:id="rId10"/>
    <p:sldId id="271" r:id="rId11"/>
    <p:sldId id="273" r:id="rId12"/>
    <p:sldId id="263" r:id="rId13"/>
    <p:sldId id="384" r:id="rId14"/>
    <p:sldId id="385" r:id="rId15"/>
    <p:sldId id="386" r:id="rId16"/>
    <p:sldId id="383" r:id="rId17"/>
    <p:sldId id="265" r:id="rId18"/>
    <p:sldId id="266" r:id="rId19"/>
    <p:sldId id="267" r:id="rId20"/>
    <p:sldId id="394" r:id="rId21"/>
    <p:sldId id="395" r:id="rId22"/>
    <p:sldId id="268" r:id="rId23"/>
    <p:sldId id="388" r:id="rId24"/>
    <p:sldId id="389" r:id="rId25"/>
    <p:sldId id="390" r:id="rId26"/>
    <p:sldId id="399" r:id="rId27"/>
    <p:sldId id="400" r:id="rId28"/>
    <p:sldId id="401" r:id="rId29"/>
    <p:sldId id="403" r:id="rId30"/>
    <p:sldId id="404" r:id="rId31"/>
    <p:sldId id="405" r:id="rId32"/>
    <p:sldId id="391" r:id="rId33"/>
    <p:sldId id="392" r:id="rId34"/>
    <p:sldId id="393" r:id="rId35"/>
    <p:sldId id="396" r:id="rId36"/>
    <p:sldId id="397" r:id="rId37"/>
    <p:sldId id="398" r:id="rId38"/>
  </p:sldIdLst>
  <p:sldSz cx="9144000" cy="51435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6"/>
    <p:restoredTop sz="90732"/>
  </p:normalViewPr>
  <p:slideViewPr>
    <p:cSldViewPr>
      <p:cViewPr varScale="1">
        <p:scale>
          <a:sx n="180" d="100"/>
          <a:sy n="180" d="100"/>
        </p:scale>
        <p:origin x="1472" y="1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7B186-84AC-564A-BA3D-0F3633C8B4F8}" type="datetimeFigureOut">
              <a:rPr lang="en-US" smtClean="0">
                <a:latin typeface="Calibri" panose="020F0502020204030204" pitchFamily="34" charset="0"/>
              </a:rPr>
              <a:pPr/>
              <a:t>7/28/25</a:t>
            </a:fld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74F989-4BC2-5640-A245-2EFCF8DFC070}" type="slidenum">
              <a:rPr lang="en-US" smtClean="0">
                <a:latin typeface="Calibri" panose="020F0502020204030204" pitchFamily="34" charset="0"/>
              </a:rPr>
              <a:pPr/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2810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373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373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373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fld id="{16F2ECA2-7522-F840-8CFD-4BF72A0F811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119427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01" name="Shape 2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6414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06C3-0D37-1E4B-AB06-F67F2304B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74DE2-44F0-154B-9FE6-BCB6D1E86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E33B0-B879-9D40-9953-106C0922B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DC762-1116-2146-A47C-D79A5A5DBAFD}" type="datetime1">
              <a:rPr lang="en-CA" smtClean="0"/>
              <a:t>2025-07-28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1F4B7-24D8-504D-91CD-3E8202E86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91076-2E3A-CF41-96E4-D4E77A0C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97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0978-DDE8-6144-A6B8-517FFF2E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37744-5627-D646-9036-52ED7E568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Aft>
                <a:spcPts val="600"/>
              </a:spcAft>
              <a:defRPr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  <a:lvl4pPr>
              <a:spcAft>
                <a:spcPts val="600"/>
              </a:spcAft>
              <a:defRPr/>
            </a:lvl4pPr>
            <a:lvl5pPr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F3F8-FC0C-1B43-BB73-11800B4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49525-9B7D-5945-A782-775278635E42}" type="datetime1">
              <a:rPr lang="en-CA" smtClean="0"/>
              <a:t>2025-07-28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E874-E612-CA46-B18E-0C8FA2206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7269F-A49C-1948-BC2E-ABADCE19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934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0754-0214-DF47-9D67-A716F649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34BCA-78F6-F745-9EBE-EE525CDE7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707FE-6251-4E4B-BDFF-5C0B1706B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E1499-BDD1-6940-8C79-13A8B8E63D57}" type="datetime1">
              <a:rPr lang="en-CA" smtClean="0"/>
              <a:t>2025-07-28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AF015-083F-9840-9A9E-9E31B7D7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0E270-7D4E-DB45-B70B-D033519B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308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48785-840A-474A-B8BA-27207C01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C8B25-A9AD-F143-AD1A-17A95F44E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209DA-22E0-B146-A689-48B1E9D38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82A87-E151-8641-8C5C-327C5209D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0EF3-18A7-4644-8DA2-1EB9CA66C736}" type="datetime1">
              <a:rPr lang="en-CA" smtClean="0"/>
              <a:t>2025-07-28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2E4D-CFE1-864C-892F-C0510CC3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37C13-4A25-3440-9E41-0DB773459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51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B1DBC-EEEB-1C44-A4C7-02D9BB9C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D77D7-D2B1-0841-9C20-538058B42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0D616F-C61F-5B43-8094-DFDD05AE6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AF8CD-147D-0A4A-BE13-69AAC57DB7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EBD089-7443-DF4A-B93B-FC32F414CA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8830C-AD3A-A446-BF5B-7A77BA98B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38FC1-2481-FB4A-91E5-87F3422DE2D5}" type="datetime1">
              <a:rPr lang="en-CA" smtClean="0"/>
              <a:t>2025-07-28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AAD4C6-8A32-E04D-85DA-37391648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50648-37B9-F641-A809-40BEBE4CD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89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026B-B6A3-EF4D-842B-9C96C95E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B243C6-3123-ED41-BC4A-2F8A58F1A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5C515-1622-C840-89B2-A4A55D34866A}" type="datetime1">
              <a:rPr lang="en-CA" smtClean="0"/>
              <a:t>2025-07-28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FF4D9-A959-C943-9751-31FDE7548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8D117-E466-BD48-A108-6422DCF1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93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BBCE3-E514-D54F-B044-7DF10F00B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77E75-6C88-BB47-AC6F-0DCA859E7113}" type="datetime1">
              <a:rPr lang="en-CA" smtClean="0"/>
              <a:t>2025-07-28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219DF5-0E3C-2C40-BDE6-94E98A9F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E4FB-2E36-024F-9776-AFED77F0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93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21DF-5A92-D94F-88C5-5DB1A9683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DA461-75EB-C94E-A41A-1280134B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39AE-0AA2-2B40-B6F4-B24A10D9A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93C8F-B5C1-0D4A-8556-73269A2E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12F8B-7E05-A047-BAC3-EE71BEBBE5BE}" type="datetime1">
              <a:rPr lang="en-CA" smtClean="0"/>
              <a:t>2025-07-28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A6773-21F3-7040-BF77-4C1D0B809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52BF5-D92E-A14D-B1B8-704532D27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28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FB85D-520A-BD48-A297-F7A9EDDB9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2093CD-6667-AD4E-93F7-F3B21EF98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CED6C-F32A-6A44-B857-EBD308B3E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4EDF9-2E61-C346-AEC1-C5515D51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9F72A-E93E-B546-8268-6408A6E1DA62}" type="datetime1">
              <a:rPr lang="en-CA" smtClean="0"/>
              <a:t>2025-07-28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F289B-5706-A047-960A-6FDB1750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12078-4758-934E-BFE9-86E98A44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7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4CE0D-89FC-894E-837F-75025627F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0ACAA-2C0A-304E-83F1-4EB51F17E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2CE1A-ECCD-7C45-9EC1-935CBB99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FEDD1-5A1B-2342-BAF0-F7C5511A73CE}" type="datetime1">
              <a:rPr lang="en-CA" smtClean="0"/>
              <a:t>2025-07-28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B26C1-B795-194B-A2F7-B95309E5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43C09-DCC3-4E4C-AE13-B0962DD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21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684669-9A93-654D-9A2F-8081C8778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B22E1-C8CF-4B47-B5A2-1EE8384A2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452BC-8E3F-AD42-BB94-46241CB0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E59AE-0AE1-4048-8BD6-D39FC0EBB194}" type="datetime1">
              <a:rPr lang="en-CA" smtClean="0"/>
              <a:t>2025-07-28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2FCD2-719C-FC4A-8ADE-C7C90A064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1E3A0-1E32-BB4E-B406-C1247893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5371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725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2700"/>
            </a:lvl1pPr>
            <a:lvl2pPr lvl="1" algn="ctr">
              <a:spcBef>
                <a:spcPts val="0"/>
              </a:spcBef>
              <a:buSzPct val="100000"/>
              <a:defRPr sz="2700"/>
            </a:lvl2pPr>
            <a:lvl3pPr lvl="2" algn="ctr">
              <a:spcBef>
                <a:spcPts val="0"/>
              </a:spcBef>
              <a:buSzPct val="100000"/>
              <a:defRPr sz="2700"/>
            </a:lvl3pPr>
            <a:lvl4pPr lvl="3" algn="ctr">
              <a:spcBef>
                <a:spcPts val="0"/>
              </a:spcBef>
              <a:buSzPct val="100000"/>
              <a:defRPr sz="2700"/>
            </a:lvl4pPr>
            <a:lvl5pPr lvl="4" algn="ctr">
              <a:spcBef>
                <a:spcPts val="0"/>
              </a:spcBef>
              <a:buSzPct val="100000"/>
              <a:defRPr sz="2700"/>
            </a:lvl5pPr>
            <a:lvl6pPr lvl="5" algn="ctr">
              <a:spcBef>
                <a:spcPts val="0"/>
              </a:spcBef>
              <a:buSzPct val="100000"/>
              <a:defRPr sz="2700"/>
            </a:lvl6pPr>
            <a:lvl7pPr lvl="6" algn="ctr">
              <a:spcBef>
                <a:spcPts val="0"/>
              </a:spcBef>
              <a:buSzPct val="100000"/>
              <a:defRPr sz="2700"/>
            </a:lvl7pPr>
            <a:lvl8pPr lvl="7" algn="ctr">
              <a:spcBef>
                <a:spcPts val="0"/>
              </a:spcBef>
              <a:buSzPct val="100000"/>
              <a:defRPr sz="2700"/>
            </a:lvl8pPr>
            <a:lvl9pPr lvl="8" algn="ctr">
              <a:spcBef>
                <a:spcPts val="0"/>
              </a:spcBef>
              <a:buSzPct val="100000"/>
              <a:defRPr sz="2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43812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685800" y="457200"/>
            <a:ext cx="77724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342900" marR="0" lvl="5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685800" marR="0" lvl="6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028700" marR="0" lvl="7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371600" marR="0" lvl="8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6858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6482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858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5532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r">
              <a:buSzPct val="25000"/>
            </a:pPr>
            <a:fld id="{00000000-1234-1234-1234-123412341234}" type="slidenum">
              <a:rPr lang="en-US" sz="105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algn="r">
                <a:buSzPct val="25000"/>
              </a:pPr>
              <a:t>‹#›</a:t>
            </a:fld>
            <a:endParaRPr lang="en-US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858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5FBF36-3AE9-6F4F-9D44-FDF1EDE69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33E42-24FB-9E4C-A197-FBE95A397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9F3E4-CCFD-A546-BD98-34B6A6B34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97DF4AC7-DB73-7444-A2A7-FD79FE1A2B2B}" type="datetime1">
              <a:rPr lang="en-CA" smtClean="0"/>
              <a:pPr/>
              <a:t>2025-07-28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AAA39-D2DE-7B4A-BB24-AAC6C28B6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1F2AD-686E-E445-9758-B74AC410C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7B252BF6-6A9C-D04A-BBE8-37A07D64A1C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926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203"/>
          <p:cNvSpPr txBox="1">
            <a:spLocks noGrp="1"/>
          </p:cNvSpPr>
          <p:nvPr>
            <p:ph type="ctrTitle"/>
          </p:nvPr>
        </p:nvSpPr>
        <p:spPr>
          <a:xfrm>
            <a:off x="1143000" y="116119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ctr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to LLVM</a:t>
            </a:r>
          </a:p>
        </p:txBody>
      </p:sp>
      <p:sp>
        <p:nvSpPr>
          <p:cNvPr id="204" name="Shape 204"/>
          <p:cNvSpPr txBox="1">
            <a:spLocks noGrp="1"/>
          </p:cNvSpPr>
          <p:nvPr>
            <p:ph type="subTitle" idx="1"/>
          </p:nvPr>
        </p:nvSpPr>
        <p:spPr>
          <a:xfrm>
            <a:off x="1143000" y="302094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CMPT 379: Compilers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Instructor: Anoop Sarkar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sz="1800" dirty="0" err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anoopsarkar.github.io</a:t>
            </a:r>
            <a:r>
              <a:rPr lang="en-US" sz="1800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/compilers-class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3F20B2-AEC3-6A42-B2F3-26D9A0DA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E0B67-940A-1642-BEDB-1ACB28CE496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05" name="Shape 205"/>
          <p:cNvSpPr/>
          <p:nvPr/>
        </p:nvSpPr>
        <p:spPr>
          <a:xfrm>
            <a:off x="7020272" y="273525"/>
            <a:ext cx="1750911" cy="383175"/>
          </a:xfrm>
          <a:prstGeom prst="roundRect">
            <a:avLst>
              <a:gd name="adj" fmla="val 16667"/>
            </a:avLst>
          </a:prstGeom>
          <a:solidFill>
            <a:schemeClr val="accent4">
              <a:lumMod val="60000"/>
              <a:lumOff val="40000"/>
            </a:schemeClr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68569" tIns="34275" rIns="68569" bIns="34275" anchor="t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ct val="25000"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Decaf and LLVM</a:t>
            </a:r>
          </a:p>
        </p:txBody>
      </p:sp>
    </p:spTree>
    <p:extLst>
      <p:ext uri="{BB962C8B-B14F-4D97-AF65-F5344CB8AC3E}">
        <p14:creationId xmlns:p14="http://schemas.microsoft.com/office/powerpoint/2010/main" val="3691388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39747-437E-6149-A5A0-36D1B37F1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F72B01-E5CC-164B-B0C9-FBBE30CB7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C67CD-6733-D04F-B9BE-AD105949F24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6C41FC-5A7C-F340-AB12-8A010D53C440}"/>
              </a:ext>
            </a:extLst>
          </p:cNvPr>
          <p:cNvSpPr txBox="1"/>
          <p:nvPr/>
        </p:nvSpPr>
        <p:spPr>
          <a:xfrm>
            <a:off x="628650" y="1320829"/>
            <a:ext cx="667965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::Module *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TheModule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ea typeface="Anonymous Pro" panose="020606090302020005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static 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IRBuilder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&lt;&gt; Builder(</a:t>
            </a:r>
            <a:r>
              <a:rPr lang="en-US" sz="2000" dirty="0" err="1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TheContext</a:t>
            </a:r>
            <a:r>
              <a:rPr lang="en-US" sz="2000" dirty="0">
                <a:latin typeface="Consolas" panose="020B0609020204030204" pitchFamily="49" charset="0"/>
                <a:ea typeface="Anonymous Pro" panose="020606090302020005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0CEA0715-8EDC-4643-8702-964C081A31EF}"/>
              </a:ext>
            </a:extLst>
          </p:cNvPr>
          <p:cNvSpPr/>
          <p:nvPr/>
        </p:nvSpPr>
        <p:spPr bwMode="auto">
          <a:xfrm>
            <a:off x="6457950" y="195903"/>
            <a:ext cx="2484276" cy="918102"/>
          </a:xfrm>
          <a:prstGeom prst="wedgeRoundRectCallout">
            <a:avLst>
              <a:gd name="adj1" fmla="val -105571"/>
              <a:gd name="adj2" fmla="val 72784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global variable contains all the generated code.</a:t>
            </a:r>
            <a:endParaRPr lang="en-US" sz="1800" dirty="0">
              <a:latin typeface="+mn-lt"/>
            </a:endParaRP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D5819536-9DEF-E347-8AAD-4E6523DF6343}"/>
              </a:ext>
            </a:extLst>
          </p:cNvPr>
          <p:cNvSpPr/>
          <p:nvPr/>
        </p:nvSpPr>
        <p:spPr bwMode="auto">
          <a:xfrm>
            <a:off x="6457950" y="3033964"/>
            <a:ext cx="2484276" cy="918102"/>
          </a:xfrm>
          <a:prstGeom prst="wedgeRoundRectCallout">
            <a:avLst>
              <a:gd name="adj1" fmla="val -71059"/>
              <a:gd name="adj2" fmla="val -4698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This is the method used to construct the LLVM intermediate code (IR).</a:t>
            </a: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EACD604C-C9ED-2045-92BD-7A38B301DD8A}"/>
              </a:ext>
            </a:extLst>
          </p:cNvPr>
          <p:cNvSpPr/>
          <p:nvPr/>
        </p:nvSpPr>
        <p:spPr bwMode="auto">
          <a:xfrm>
            <a:off x="6477829" y="1300666"/>
            <a:ext cx="2484276" cy="918102"/>
          </a:xfrm>
          <a:prstGeom prst="wedgeRoundRectCallout">
            <a:avLst>
              <a:gd name="adj1" fmla="val -77218"/>
              <a:gd name="adj2" fmla="val 38048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+mn-lt"/>
                <a:ea typeface="Anonymous Pro" panose="02060609030202000504" pitchFamily="49" charset="0"/>
              </a:rPr>
              <a:t>The calls to Builder will sometimes use </a:t>
            </a:r>
            <a:r>
              <a:rPr lang="en-US" sz="1800" dirty="0" err="1">
                <a:latin typeface="+mn-lt"/>
                <a:ea typeface="Anonymous Pro" panose="02060609030202000504" pitchFamily="49" charset="0"/>
              </a:rPr>
              <a:t>TheContext</a:t>
            </a:r>
            <a:r>
              <a:rPr lang="en-US" sz="1800" dirty="0">
                <a:latin typeface="+mn-lt"/>
                <a:ea typeface="Anonymous Pro" panose="02060609030202000504" pitchFamily="49" charset="0"/>
              </a:rPr>
              <a:t>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232CD5-6DE2-4F46-A12E-FD342B333170}"/>
              </a:ext>
            </a:extLst>
          </p:cNvPr>
          <p:cNvSpPr/>
          <p:nvPr/>
        </p:nvSpPr>
        <p:spPr bwMode="auto">
          <a:xfrm>
            <a:off x="630340" y="3206319"/>
            <a:ext cx="4356970" cy="64807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Make sure your </a:t>
            </a:r>
            <a:r>
              <a:rPr lang="en-US" sz="1800" dirty="0" err="1">
                <a:latin typeface="Calibri" panose="020F0502020204030204" pitchFamily="34" charset="0"/>
                <a:ea typeface="Anonymous Pro" panose="02060609030202000504" pitchFamily="49" charset="0"/>
              </a:rPr>
              <a:t>yacc</a:t>
            </a:r>
            <a:r>
              <a:rPr lang="en-US" sz="1800" dirty="0">
                <a:latin typeface="Calibri" panose="020F0502020204030204" pitchFamily="34" charset="0"/>
                <a:ea typeface="Anonymous Pro" panose="02060609030202000504" pitchFamily="49" charset="0"/>
              </a:rPr>
              <a:t> actions incrementally generate instructions in the right order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6A939B-0F00-0340-AD4B-0EC178853DD2}"/>
              </a:ext>
            </a:extLst>
          </p:cNvPr>
          <p:cNvSpPr/>
          <p:nvPr/>
        </p:nvSpPr>
        <p:spPr bwMode="auto">
          <a:xfrm>
            <a:off x="628650" y="4193304"/>
            <a:ext cx="5167030" cy="32266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r>
              <a:rPr lang="en-CA" sz="1800" dirty="0">
                <a:latin typeface="Calibri" panose="020F0502020204030204" pitchFamily="34" charset="0"/>
              </a:rPr>
              <a:t>To print out the LLVM output:</a:t>
            </a:r>
          </a:p>
          <a:p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TheModule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-&gt;print(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::errs(), </a:t>
            </a:r>
            <a:r>
              <a:rPr lang="en-CA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r>
              <a:rPr lang="en-CA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049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34686" y="1498174"/>
            <a:ext cx="847462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decafType</a:t>
            </a:r>
            <a:r>
              <a:rPr lang="en-US" sz="2000" dirty="0">
                <a:latin typeface="Calibri" panose="020F0502020204030204" pitchFamily="34" charset="0"/>
              </a:rPr>
              <a:t> 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switch (ty) {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voidTy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Builder.getVoidTy</a:t>
            </a:r>
            <a:r>
              <a:rPr lang="en-US" sz="20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intTy</a:t>
            </a:r>
            <a:r>
              <a:rPr lang="en-US" sz="2000" dirty="0">
                <a:latin typeface="Calibri" panose="020F0502020204030204" pitchFamily="34" charset="0"/>
              </a:rPr>
              <a:t>: return Builder.getInt32Ty();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boolTy</a:t>
            </a:r>
            <a:r>
              <a:rPr lang="en-US" sz="2000" dirty="0">
                <a:latin typeface="Calibri" panose="020F0502020204030204" pitchFamily="34" charset="0"/>
              </a:rPr>
              <a:t>: return Builder.getInt1Ty();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case </a:t>
            </a:r>
            <a:r>
              <a:rPr lang="en-US" sz="2000" dirty="0" err="1">
                <a:latin typeface="Calibri" panose="020F0502020204030204" pitchFamily="34" charset="0"/>
              </a:rPr>
              <a:t>stringTy</a:t>
            </a:r>
            <a:r>
              <a:rPr lang="en-US" sz="2000" dirty="0">
                <a:latin typeface="Calibri" panose="020F0502020204030204" pitchFamily="34" charset="0"/>
              </a:rPr>
              <a:t>: return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PointerType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getUnqual</a:t>
            </a:r>
            <a:r>
              <a:rPr lang="en-US" sz="2000" dirty="0">
                <a:latin typeface="Calibri" panose="020F0502020204030204" pitchFamily="34" charset="0"/>
              </a:rPr>
              <a:t>(Builder.getInt8Ty());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        default: throw </a:t>
            </a:r>
            <a:r>
              <a:rPr lang="en-US" sz="2000" dirty="0" err="1">
                <a:latin typeface="Calibri" panose="020F0502020204030204" pitchFamily="34" charset="0"/>
              </a:rPr>
              <a:t>runtime_error</a:t>
            </a:r>
            <a:r>
              <a:rPr lang="en-US" sz="2000" dirty="0">
                <a:latin typeface="Calibri" panose="020F0502020204030204" pitchFamily="34" charset="0"/>
              </a:rPr>
              <a:t>("unknown type in </a:t>
            </a:r>
            <a:r>
              <a:rPr lang="en-US" sz="2000" dirty="0" err="1">
                <a:latin typeface="Calibri" panose="020F0502020204030204" pitchFamily="34" charset="0"/>
              </a:rPr>
              <a:t>getType</a:t>
            </a:r>
            <a:r>
              <a:rPr lang="en-US" sz="2000" dirty="0">
                <a:latin typeface="Calibri" panose="020F0502020204030204" pitchFamily="34" charset="0"/>
              </a:rPr>
              <a:t> call");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}</a:t>
            </a:r>
          </a:p>
          <a:p>
            <a:r>
              <a:rPr lang="en-US" sz="2000" dirty="0">
                <a:latin typeface="Calibri" panose="020F0502020204030204" pitchFamily="34" charset="0"/>
              </a:rPr>
              <a:t>}</a:t>
            </a:r>
            <a:endParaRPr lang="en-US" sz="1800" dirty="0">
              <a:latin typeface="Calibri" panose="020F0502020204030204" pitchFamily="34" charset="0"/>
            </a:endParaRPr>
          </a:p>
        </p:txBody>
      </p:sp>
      <p:sp>
        <p:nvSpPr>
          <p:cNvPr id="4" name="Rectangular Callout 3">
            <a:extLst>
              <a:ext uri="{FF2B5EF4-FFF2-40B4-BE49-F238E27FC236}">
                <a16:creationId xmlns:a16="http://schemas.microsoft.com/office/drawing/2014/main" id="{3AC10117-1C7A-9B43-9226-5A103558BD2E}"/>
              </a:ext>
            </a:extLst>
          </p:cNvPr>
          <p:cNvSpPr/>
          <p:nvPr/>
        </p:nvSpPr>
        <p:spPr>
          <a:xfrm>
            <a:off x="5508104" y="206529"/>
            <a:ext cx="3528392" cy="994172"/>
          </a:xfrm>
          <a:prstGeom prst="wedgeRectCallout">
            <a:avLst>
              <a:gd name="adj1" fmla="val -80477"/>
              <a:gd name="adj2" fmla="val 777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/>
              <a:t>decafType</a:t>
            </a:r>
            <a:r>
              <a:rPr lang="en-US" sz="1800" dirty="0"/>
              <a:t> is not an LLVM data type. Your </a:t>
            </a:r>
            <a:r>
              <a:rPr lang="en-US" sz="1800" dirty="0" err="1"/>
              <a:t>yacc</a:t>
            </a:r>
            <a:r>
              <a:rPr lang="en-US" sz="1800" dirty="0"/>
              <a:t> program defines it for all the types in a Decaf program</a:t>
            </a:r>
          </a:p>
        </p:txBody>
      </p:sp>
    </p:spTree>
    <p:extLst>
      <p:ext uri="{BB962C8B-B14F-4D97-AF65-F5344CB8AC3E}">
        <p14:creationId xmlns:p14="http://schemas.microsoft.com/office/powerpoint/2010/main" val="5355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76800" y="1134491"/>
            <a:ext cx="506324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::Constant *</a:t>
            </a:r>
            <a:r>
              <a:rPr lang="en-US" sz="1800" dirty="0" err="1">
                <a:latin typeface="Calibri" panose="020F0502020204030204" pitchFamily="34" charset="0"/>
              </a:rPr>
              <a:t>getZeroInit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decafType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switch (</a:t>
            </a:r>
            <a:r>
              <a:rPr lang="en-US" sz="1800" dirty="0" err="1">
                <a:latin typeface="Calibri" panose="020F0502020204030204" pitchFamily="34" charset="0"/>
              </a:rPr>
              <a:t>ty</a:t>
            </a:r>
            <a:r>
              <a:rPr lang="en-US" sz="1800" dirty="0">
                <a:latin typeface="Calibri" panose="020F0502020204030204" pitchFamily="34" charset="0"/>
              </a:rPr>
              <a:t>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intTy</a:t>
            </a:r>
            <a:r>
              <a:rPr lang="en-US" sz="1800" dirty="0">
                <a:latin typeface="Calibri" panose="020F0502020204030204" pitchFamily="34" charset="0"/>
              </a:rPr>
              <a:t>: return Builder.getInt32(0);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case </a:t>
            </a:r>
            <a:r>
              <a:rPr lang="en-US" sz="1800" dirty="0" err="1">
                <a:latin typeface="Calibri" panose="020F0502020204030204" pitchFamily="34" charset="0"/>
              </a:rPr>
              <a:t>boolTy</a:t>
            </a:r>
            <a:r>
              <a:rPr lang="en-US" sz="1800" dirty="0">
                <a:latin typeface="Calibri" panose="020F0502020204030204" pitchFamily="34" charset="0"/>
              </a:rPr>
              <a:t>: return Builder.getInt1(0);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    default: throw </a:t>
            </a:r>
            <a:r>
              <a:rPr lang="en-US" sz="1800" dirty="0" err="1">
                <a:latin typeface="Calibri" panose="020F0502020204030204" pitchFamily="34" charset="0"/>
              </a:rPr>
              <a:t>runtime_error</a:t>
            </a:r>
            <a:r>
              <a:rPr lang="en-US" sz="1800" dirty="0">
                <a:latin typeface="Calibri" panose="020F0502020204030204" pitchFamily="34" charset="0"/>
              </a:rPr>
              <a:t>("unknown type");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}  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6800" y="3273561"/>
            <a:ext cx="63067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</a:t>
            </a:r>
            <a:r>
              <a:rPr lang="en-US" sz="1800" dirty="0" err="1">
                <a:latin typeface="Calibri" panose="020F0502020204030204" pitchFamily="34" charset="0"/>
              </a:rPr>
              <a:t>StringConstAST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Codegen</a:t>
            </a:r>
            <a:r>
              <a:rPr lang="en-US" sz="1800" dirty="0">
                <a:latin typeface="Calibri" panose="020F0502020204030204" pitchFamily="34" charset="0"/>
              </a:rPr>
              <a:t>() 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const</a:t>
            </a:r>
            <a:r>
              <a:rPr lang="en-US" sz="1800" dirty="0">
                <a:latin typeface="Calibri" panose="020F0502020204030204" pitchFamily="34" charset="0"/>
              </a:rPr>
              <a:t> char *s = </a:t>
            </a:r>
            <a:r>
              <a:rPr lang="en-US" sz="1800" dirty="0" err="1">
                <a:latin typeface="Calibri" panose="020F0502020204030204" pitchFamily="34" charset="0"/>
              </a:rPr>
              <a:t>StringConst.c_str</a:t>
            </a:r>
            <a:r>
              <a:rPr lang="en-US" sz="1800" dirty="0">
                <a:latin typeface="Calibri" panose="020F0502020204030204" pitchFamily="34" charset="0"/>
              </a:rPr>
              <a:t>();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::Value *GS = </a:t>
            </a:r>
            <a:r>
              <a:rPr lang="en-US" sz="1800" dirty="0" err="1">
                <a:latin typeface="Calibri" panose="020F0502020204030204" pitchFamily="34" charset="0"/>
              </a:rPr>
              <a:t>Builder.CreateGlobalString</a:t>
            </a:r>
            <a:r>
              <a:rPr lang="en-US" sz="1800" dirty="0">
                <a:latin typeface="Calibri" panose="020F0502020204030204" pitchFamily="34" charset="0"/>
              </a:rPr>
              <a:t>(s, "</a:t>
            </a:r>
            <a:r>
              <a:rPr lang="en-US" sz="1800" dirty="0" err="1">
                <a:latin typeface="Calibri" panose="020F0502020204030204" pitchFamily="34" charset="0"/>
              </a:rPr>
              <a:t>globalstring</a:t>
            </a:r>
            <a:r>
              <a:rPr lang="en-US" sz="1800" dirty="0">
                <a:latin typeface="Calibri" panose="020F0502020204030204" pitchFamily="34" charset="0"/>
              </a:rPr>
              <a:t>");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GS;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// e.g. can be used in </a:t>
            </a:r>
            <a:r>
              <a:rPr lang="en-US" sz="1800" dirty="0" err="1">
                <a:latin typeface="Calibri" panose="020F0502020204030204" pitchFamily="34" charset="0"/>
              </a:rPr>
              <a:t>Builder.CreateCall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print_string</a:t>
            </a:r>
            <a:r>
              <a:rPr lang="en-US" sz="1800" dirty="0">
                <a:latin typeface="Calibri" panose="020F0502020204030204" pitchFamily="34" charset="0"/>
              </a:rPr>
              <a:t>, GS);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1981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105" y="1007137"/>
            <a:ext cx="632211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 *</a:t>
            </a:r>
            <a:r>
              <a:rPr lang="en-US" sz="1800" dirty="0" err="1">
                <a:latin typeface="Calibri" panose="020F0502020204030204" pitchFamily="34" charset="0"/>
              </a:rPr>
              <a:t>defineVariable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::Type *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string 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)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{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*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 = </a:t>
            </a:r>
          </a:p>
          <a:p>
            <a:r>
              <a:rPr lang="en-US" sz="1800" dirty="0">
                <a:latin typeface="Calibri" panose="020F0502020204030204" pitchFamily="34" charset="0"/>
              </a:rPr>
              <a:t>		</a:t>
            </a:r>
            <a:r>
              <a:rPr lang="en-US" sz="1800" dirty="0" err="1">
                <a:latin typeface="Calibri" panose="020F0502020204030204" pitchFamily="34" charset="0"/>
              </a:rPr>
              <a:t>Builder.CreateAlloca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llvmTy</a:t>
            </a:r>
            <a:r>
              <a:rPr lang="en-US" sz="1800" dirty="0">
                <a:latin typeface="Calibri" panose="020F0502020204030204" pitchFamily="34" charset="0"/>
              </a:rPr>
              <a:t>, 0, </a:t>
            </a:r>
            <a:r>
              <a:rPr lang="en-US" sz="1800" dirty="0" err="1">
                <a:latin typeface="Calibri" panose="020F0502020204030204" pitchFamily="34" charset="0"/>
              </a:rPr>
              <a:t>ident.c_str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syms.enter_symtbl</a:t>
            </a:r>
            <a:r>
              <a:rPr lang="en-US" sz="1800" dirty="0">
                <a:latin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</a:rPr>
              <a:t>ident</a:t>
            </a:r>
            <a:r>
              <a:rPr lang="en-US" sz="1800" dirty="0">
                <a:latin typeface="Calibri" panose="020F0502020204030204" pitchFamily="34" charset="0"/>
              </a:rPr>
              <a:t>,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Alloca</a:t>
            </a:r>
            <a:r>
              <a:rPr lang="en-US" sz="1800" dirty="0">
                <a:latin typeface="Calibri" panose="020F0502020204030204" pitchFamily="34" charset="0"/>
              </a:rPr>
              <a:t>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05" y="3702505"/>
            <a:ext cx="7073027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latin typeface="Calibri" panose="020F0502020204030204" pitchFamily="34" charset="0"/>
              </a:rPr>
              <a:t>Using the Variable: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</a:t>
            </a:r>
            <a:r>
              <a:rPr lang="en-US" sz="1800" dirty="0" err="1">
                <a:latin typeface="Calibri" panose="020F0502020204030204" pitchFamily="34" charset="0"/>
              </a:rPr>
              <a:t>llvm</a:t>
            </a:r>
            <a:r>
              <a:rPr lang="en-US" sz="1800" dirty="0">
                <a:latin typeface="Calibri" panose="020F0502020204030204" pitchFamily="34" charset="0"/>
              </a:rPr>
              <a:t>::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 *V = (</a:t>
            </a:r>
            <a:r>
              <a:rPr lang="en-US" sz="1800" dirty="0" err="1">
                <a:latin typeface="Calibri" panose="020F0502020204030204" pitchFamily="34" charset="0"/>
              </a:rPr>
              <a:t>AllocaInst</a:t>
            </a:r>
            <a:r>
              <a:rPr lang="en-US" sz="1800" dirty="0">
                <a:latin typeface="Calibri" panose="020F0502020204030204" pitchFamily="34" charset="0"/>
              </a:rPr>
              <a:t> *)</a:t>
            </a:r>
            <a:r>
              <a:rPr lang="en-US" sz="1800" dirty="0" err="1">
                <a:latin typeface="Calibri" panose="020F0502020204030204" pitchFamily="34" charset="0"/>
              </a:rPr>
              <a:t>syms.access_symtbl</a:t>
            </a:r>
            <a:r>
              <a:rPr lang="en-US" sz="1800" dirty="0">
                <a:latin typeface="Calibri" panose="020F0502020204030204" pitchFamily="34" charset="0"/>
              </a:rPr>
              <a:t>(Name);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if (V == NULL) throw </a:t>
            </a:r>
            <a:r>
              <a:rPr lang="en-US" sz="1800" dirty="0" err="1">
                <a:latin typeface="Calibri" panose="020F0502020204030204" pitchFamily="34" charset="0"/>
              </a:rPr>
              <a:t>runtime_error</a:t>
            </a:r>
            <a:r>
              <a:rPr lang="en-US" sz="1800" dirty="0">
                <a:latin typeface="Calibri" panose="020F0502020204030204" pitchFamily="34" charset="0"/>
              </a:rPr>
              <a:t>("could not find variable: " + Name);</a:t>
            </a:r>
          </a:p>
          <a:p>
            <a:r>
              <a:rPr lang="en-US" sz="1800" dirty="0">
                <a:latin typeface="Calibri" panose="020F0502020204030204" pitchFamily="34" charset="0"/>
              </a:rPr>
              <a:t>    return </a:t>
            </a:r>
            <a:r>
              <a:rPr lang="en-US" sz="1800" dirty="0" err="1">
                <a:latin typeface="Calibri" panose="020F0502020204030204" pitchFamily="34" charset="0"/>
              </a:rPr>
              <a:t>Builder.CreateLoad</a:t>
            </a:r>
            <a:r>
              <a:rPr lang="en-US" sz="1800" dirty="0">
                <a:latin typeface="Calibri" panose="020F0502020204030204" pitchFamily="34" charset="0"/>
              </a:rPr>
              <a:t>(V-&gt;</a:t>
            </a:r>
            <a:r>
              <a:rPr lang="en-US" sz="1800" dirty="0" err="1">
                <a:latin typeface="Calibri" panose="020F0502020204030204" pitchFamily="34" charset="0"/>
              </a:rPr>
              <a:t>getAllocatedType</a:t>
            </a:r>
            <a:r>
              <a:rPr lang="en-US" sz="1800" dirty="0">
                <a:latin typeface="Calibri" panose="020F0502020204030204" pitchFamily="34" charset="0"/>
              </a:rPr>
              <a:t>(), V, </a:t>
            </a:r>
            <a:r>
              <a:rPr lang="en-US" sz="1800" dirty="0" err="1">
                <a:latin typeface="Calibri" panose="020F0502020204030204" pitchFamily="34" charset="0"/>
              </a:rPr>
              <a:t>Name.c_str</a:t>
            </a:r>
            <a:r>
              <a:rPr lang="en-US" sz="1800" dirty="0">
                <a:latin typeface="Calibri" panose="020F0502020204030204" pitchFamily="34" charset="0"/>
              </a:rPr>
              <a:t>());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687536C4-53C2-834B-8B6B-0D466E2F520D}"/>
              </a:ext>
            </a:extLst>
          </p:cNvPr>
          <p:cNvSpPr/>
          <p:nvPr/>
        </p:nvSpPr>
        <p:spPr>
          <a:xfrm>
            <a:off x="4754631" y="2859782"/>
            <a:ext cx="3406638" cy="1126932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identifier. We store an </a:t>
            </a:r>
            <a:r>
              <a:rPr lang="en-US" sz="1800" dirty="0" err="1"/>
              <a:t>AllocaInst</a:t>
            </a:r>
            <a:r>
              <a:rPr lang="en-US" sz="1800" dirty="0"/>
              <a:t>* for each variable.</a:t>
            </a:r>
          </a:p>
        </p:txBody>
      </p:sp>
    </p:spTree>
    <p:extLst>
      <p:ext uri="{BB962C8B-B14F-4D97-AF65-F5344CB8AC3E}">
        <p14:creationId xmlns:p14="http://schemas.microsoft.com/office/powerpoint/2010/main" val="392680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74BB9-19F2-B242-8BFB-37C7D81C8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and checking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CCC25-87B6-E34F-B722-C1742A2CA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CF9795-1EC4-474B-98E3-362D283FD300}"/>
              </a:ext>
            </a:extLst>
          </p:cNvPr>
          <p:cNvSpPr txBox="1"/>
          <p:nvPr/>
        </p:nvSpPr>
        <p:spPr>
          <a:xfrm>
            <a:off x="755576" y="1143554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a = b</a:t>
            </a: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B2CDE18F-FA97-B34A-BCEB-C7D60E9EB41A}"/>
              </a:ext>
            </a:extLst>
          </p:cNvPr>
          <p:cNvSpPr/>
          <p:nvPr/>
        </p:nvSpPr>
        <p:spPr>
          <a:xfrm>
            <a:off x="2483768" y="1431586"/>
            <a:ext cx="3406638" cy="576064"/>
          </a:xfrm>
          <a:prstGeom prst="wedgeRectCallout">
            <a:avLst>
              <a:gd name="adj1" fmla="val -68731"/>
              <a:gd name="adj2" fmla="val -521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We need to check if type of </a:t>
            </a:r>
            <a:r>
              <a:rPr lang="en-US" sz="1800" dirty="0" err="1"/>
              <a:t>lvalue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the same as type of </a:t>
            </a:r>
            <a:r>
              <a:rPr lang="en-US" sz="1800" dirty="0" err="1"/>
              <a:t>rvalue</a:t>
            </a:r>
            <a:r>
              <a:rPr lang="en-US" sz="1800" dirty="0"/>
              <a:t>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sz="1800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6A67D-C78E-784A-8890-865740C44D0D}"/>
              </a:ext>
            </a:extLst>
          </p:cNvPr>
          <p:cNvSpPr txBox="1"/>
          <p:nvPr/>
        </p:nvSpPr>
        <p:spPr>
          <a:xfrm>
            <a:off x="827584" y="2247233"/>
            <a:ext cx="3852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assign: T_ID T_ASSIGN expr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429BD68-0AEC-7D41-9F18-BA14CA5D1AC8}"/>
              </a:ext>
            </a:extLst>
          </p:cNvPr>
          <p:cNvSpPr/>
          <p:nvPr/>
        </p:nvSpPr>
        <p:spPr>
          <a:xfrm>
            <a:off x="1907704" y="2634338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Name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C179676-1C5A-2540-B78D-6845F7A26570}"/>
              </a:ext>
            </a:extLst>
          </p:cNvPr>
          <p:cNvSpPr/>
          <p:nvPr/>
        </p:nvSpPr>
        <p:spPr>
          <a:xfrm>
            <a:off x="3887833" y="2640841"/>
            <a:ext cx="792088" cy="2160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/>
              <a:t>rvalue</a:t>
            </a:r>
            <a:endParaRPr lang="en-US" sz="1800" dirty="0"/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50ED283-ADB8-5542-82E3-FD6DBB80733E}"/>
              </a:ext>
            </a:extLst>
          </p:cNvPr>
          <p:cNvSpPr/>
          <p:nvPr/>
        </p:nvSpPr>
        <p:spPr>
          <a:xfrm>
            <a:off x="179512" y="3002217"/>
            <a:ext cx="3384376" cy="913334"/>
          </a:xfrm>
          <a:prstGeom prst="wedgeRectCallout">
            <a:avLst>
              <a:gd name="adj1" fmla="val 7198"/>
              <a:gd name="adj2" fmla="val -6257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*)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syms.access_symtbl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(Name);</a:t>
            </a:r>
          </a:p>
        </p:txBody>
      </p:sp>
      <p:sp>
        <p:nvSpPr>
          <p:cNvPr id="10" name="Rectangular Callout 9">
            <a:extLst>
              <a:ext uri="{FF2B5EF4-FFF2-40B4-BE49-F238E27FC236}">
                <a16:creationId xmlns:a16="http://schemas.microsoft.com/office/drawing/2014/main" id="{CADFB7CA-AB49-DF40-9888-A918863DDD06}"/>
              </a:ext>
            </a:extLst>
          </p:cNvPr>
          <p:cNvSpPr/>
          <p:nvPr/>
        </p:nvSpPr>
        <p:spPr>
          <a:xfrm>
            <a:off x="4187086" y="3017156"/>
            <a:ext cx="4705394" cy="576064"/>
          </a:xfrm>
          <a:prstGeom prst="wedgeRectCallout">
            <a:avLst>
              <a:gd name="adj1" fmla="val -37256"/>
              <a:gd name="adj2" fmla="val -747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const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8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PointerType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getUnqual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8FA35C-79C7-0C4A-BCCB-4CEB07D020FB}"/>
              </a:ext>
            </a:extLst>
          </p:cNvPr>
          <p:cNvSpPr txBox="1"/>
          <p:nvPr/>
        </p:nvSpPr>
        <p:spPr>
          <a:xfrm>
            <a:off x="4099766" y="3758912"/>
            <a:ext cx="49968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sz="18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==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rvalue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1393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a Function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1249882"/>
            <a:ext cx="5381025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initalize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return type </a:t>
            </a:r>
          </a:p>
          <a:p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getLLVMType</a:t>
            </a:r>
            <a:r>
              <a:rPr lang="en-US" sz="2000" dirty="0">
                <a:latin typeface="Calibri" panose="020F0502020204030204" pitchFamily="34" charset="0"/>
              </a:rPr>
              <a:t>(</a:t>
            </a:r>
            <a:r>
              <a:rPr lang="en-US" sz="2000" dirty="0" err="1">
                <a:latin typeface="Calibri" panose="020F0502020204030204" pitchFamily="34" charset="0"/>
              </a:rPr>
              <a:t>ReturnType</a:t>
            </a:r>
            <a:r>
              <a:rPr lang="en-US" sz="2000">
                <a:latin typeface="Calibri" panose="020F0502020204030204" pitchFamily="34" charset="0"/>
              </a:rPr>
              <a:t>);</a:t>
            </a:r>
          </a:p>
          <a:p>
            <a:r>
              <a:rPr lang="en-US" sz="2000">
                <a:latin typeface="Calibri" panose="020F0502020204030204" pitchFamily="34" charset="0"/>
              </a:rPr>
              <a:t>std</a:t>
            </a:r>
            <a:r>
              <a:rPr lang="en-US" sz="2000" dirty="0">
                <a:latin typeface="Calibri" panose="020F0502020204030204" pitchFamily="34" charset="0"/>
              </a:rPr>
              <a:t>::vector&lt;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::Type *&gt;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; </a:t>
            </a:r>
          </a:p>
          <a:p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// </a:t>
            </a:r>
            <a:r>
              <a:rPr lang="en-US" sz="2000" dirty="0" err="1">
                <a:solidFill>
                  <a:srgbClr val="C00000"/>
                </a:solidFill>
                <a:latin typeface="Calibri" panose="020F0502020204030204" pitchFamily="34" charset="0"/>
              </a:rPr>
              <a:t>args</a:t>
            </a:r>
            <a:r>
              <a:rPr lang="en-US" sz="2000" dirty="0">
                <a:solidFill>
                  <a:srgbClr val="C00000"/>
                </a:solidFill>
                <a:latin typeface="Calibri" panose="020F0502020204030204" pitchFamily="34" charset="0"/>
              </a:rPr>
              <a:t> := initialize the vector of argument types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 *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 =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</a:t>
            </a:r>
            <a:r>
              <a:rPr lang="en-US" sz="2000" dirty="0" err="1">
                <a:latin typeface="Calibri" panose="020F0502020204030204" pitchFamily="34" charset="0"/>
              </a:rPr>
              <a:t>FunctionType</a:t>
            </a:r>
            <a:r>
              <a:rPr lang="en-US" sz="2000" dirty="0">
                <a:latin typeface="Calibri" panose="020F0502020204030204" pitchFamily="34" charset="0"/>
              </a:rPr>
              <a:t>::get(</a:t>
            </a:r>
            <a:r>
              <a:rPr lang="en-US" sz="2000" dirty="0" err="1">
                <a:latin typeface="Calibri" panose="020F0502020204030204" pitchFamily="34" charset="0"/>
              </a:rPr>
              <a:t>returnTy</a:t>
            </a:r>
            <a:r>
              <a:rPr lang="en-US" sz="2000" dirty="0">
                <a:latin typeface="Calibri" panose="020F0502020204030204" pitchFamily="34" charset="0"/>
              </a:rPr>
              <a:t>, </a:t>
            </a:r>
            <a:r>
              <a:rPr lang="en-US" sz="2000" dirty="0" err="1">
                <a:latin typeface="Calibri" panose="020F0502020204030204" pitchFamily="34" charset="0"/>
              </a:rPr>
              <a:t>args</a:t>
            </a:r>
            <a:r>
              <a:rPr lang="en-US" sz="2000" dirty="0">
                <a:latin typeface="Calibri" panose="020F0502020204030204" pitchFamily="34" charset="0"/>
              </a:rPr>
              <a:t>, false),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llvm</a:t>
            </a:r>
            <a:r>
              <a:rPr lang="en-US" sz="2000" dirty="0">
                <a:latin typeface="Calibri" panose="020F0502020204030204" pitchFamily="34" charset="0"/>
              </a:rPr>
              <a:t>::Function::</a:t>
            </a:r>
            <a:r>
              <a:rPr lang="en-US" sz="2000" dirty="0" err="1">
                <a:latin typeface="Calibri" panose="020F0502020204030204" pitchFamily="34" charset="0"/>
              </a:rPr>
              <a:t>ExternalLinkage</a:t>
            </a:r>
            <a:r>
              <a:rPr lang="en-US" sz="2000" dirty="0">
                <a:latin typeface="Calibri" panose="020F0502020204030204" pitchFamily="34" charset="0"/>
              </a:rPr>
              <a:t>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Name,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       </a:t>
            </a:r>
            <a:r>
              <a:rPr lang="en-US" sz="2000" dirty="0" err="1">
                <a:latin typeface="Calibri" panose="020F0502020204030204" pitchFamily="34" charset="0"/>
              </a:rPr>
              <a:t>TheModule</a:t>
            </a:r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</a:rPr>
              <a:t>    );</a:t>
            </a:r>
          </a:p>
          <a:p>
            <a:r>
              <a:rPr lang="en-US" sz="2000" dirty="0">
                <a:latin typeface="Calibri" panose="020F0502020204030204" pitchFamily="34" charset="0"/>
              </a:rPr>
              <a:t> </a:t>
            </a:r>
            <a:r>
              <a:rPr lang="en-US" sz="2000" dirty="0" err="1">
                <a:latin typeface="Calibri" panose="020F0502020204030204" pitchFamily="34" charset="0"/>
              </a:rPr>
              <a:t>syms.enter_symtbl</a:t>
            </a:r>
            <a:r>
              <a:rPr lang="en-US" sz="2000" dirty="0">
                <a:latin typeface="Calibri" panose="020F0502020204030204" pitchFamily="34" charset="0"/>
              </a:rPr>
              <a:t>(Name, </a:t>
            </a:r>
            <a:r>
              <a:rPr lang="en-US" sz="2000" dirty="0" err="1">
                <a:latin typeface="Calibri" panose="020F0502020204030204" pitchFamily="34" charset="0"/>
              </a:rPr>
              <a:t>func</a:t>
            </a:r>
            <a:r>
              <a:rPr lang="en-US" sz="2000" dirty="0">
                <a:latin typeface="Calibri" panose="020F0502020204030204" pitchFamily="34" charset="0"/>
              </a:rPr>
              <a:t>);</a:t>
            </a:r>
          </a:p>
        </p:txBody>
      </p:sp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95E53A29-7A1A-F640-BEC2-7C81FB7A0208}"/>
              </a:ext>
            </a:extLst>
          </p:cNvPr>
          <p:cNvSpPr/>
          <p:nvPr/>
        </p:nvSpPr>
        <p:spPr>
          <a:xfrm>
            <a:off x="4765762" y="3485077"/>
            <a:ext cx="3384376" cy="817082"/>
          </a:xfrm>
          <a:prstGeom prst="wedgeRectCallout">
            <a:avLst>
              <a:gd name="adj1" fmla="val -66041"/>
              <a:gd name="adj2" fmla="val 340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This is the symbol table you need to keep information about each identifier</a:t>
            </a:r>
          </a:p>
        </p:txBody>
      </p:sp>
    </p:spTree>
    <p:extLst>
      <p:ext uri="{BB962C8B-B14F-4D97-AF65-F5344CB8AC3E}">
        <p14:creationId xmlns:p14="http://schemas.microsoft.com/office/powerpoint/2010/main" val="186279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Promoting Types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3435846"/>
            <a:ext cx="726333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::Value *promo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Builder.CreateZExt</a:t>
            </a:r>
            <a:r>
              <a:rPr lang="en-US" sz="2100" dirty="0">
                <a:latin typeface="Calibri" panose="020F0502020204030204" pitchFamily="34" charset="0"/>
              </a:rPr>
              <a:t>(*</a:t>
            </a:r>
            <a:r>
              <a:rPr lang="en-US" sz="2100" dirty="0" err="1">
                <a:latin typeface="Calibri" panose="020F0502020204030204" pitchFamily="34" charset="0"/>
              </a:rPr>
              <a:t>i</a:t>
            </a:r>
            <a:r>
              <a:rPr lang="en-US" sz="2100" dirty="0">
                <a:latin typeface="Calibri" panose="020F0502020204030204" pitchFamily="34" charset="0"/>
              </a:rPr>
              <a:t>, Builder.getInt32Ty(), "</a:t>
            </a:r>
            <a:r>
              <a:rPr lang="en-US" sz="2100" dirty="0" err="1">
                <a:latin typeface="Calibri" panose="020F0502020204030204" pitchFamily="34" charset="0"/>
              </a:rPr>
              <a:t>zexttmp</a:t>
            </a:r>
            <a:r>
              <a:rPr lang="en-US" sz="2100" dirty="0">
                <a:latin typeface="Calibri" panose="020F0502020204030204" pitchFamily="34" charset="0"/>
              </a:rPr>
              <a:t>");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8650" y="1419622"/>
            <a:ext cx="70396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What if the variable is of type i1 (</a:t>
            </a:r>
            <a:r>
              <a:rPr lang="en-US" dirty="0" err="1">
                <a:latin typeface="Calibri" panose="020F0502020204030204" pitchFamily="34" charset="0"/>
              </a:rPr>
              <a:t>boolean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But the function only takes i32 (</a:t>
            </a:r>
            <a:r>
              <a:rPr lang="en-US" dirty="0" err="1">
                <a:latin typeface="Calibri" panose="020F0502020204030204" pitchFamily="34" charset="0"/>
              </a:rPr>
              <a:t>int</a:t>
            </a:r>
            <a:r>
              <a:rPr lang="en-US" dirty="0">
                <a:latin typeface="Calibri" panose="020F0502020204030204" pitchFamily="34" charset="0"/>
              </a:rPr>
              <a:t>)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We must promote the type i1 to i32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LLVM can do that for you using the </a:t>
            </a:r>
            <a:r>
              <a:rPr lang="en-US" dirty="0" err="1">
                <a:latin typeface="Calibri" panose="020F0502020204030204" pitchFamily="34" charset="0"/>
              </a:rPr>
              <a:t>ZExt</a:t>
            </a:r>
            <a:r>
              <a:rPr lang="en-US" dirty="0">
                <a:latin typeface="Calibri" panose="020F0502020204030204" pitchFamily="34" charset="0"/>
              </a:rPr>
              <a:t> instruction</a:t>
            </a:r>
          </a:p>
        </p:txBody>
      </p:sp>
    </p:spTree>
    <p:extLst>
      <p:ext uri="{BB962C8B-B14F-4D97-AF65-F5344CB8AC3E}">
        <p14:creationId xmlns:p14="http://schemas.microsoft.com/office/powerpoint/2010/main" val="423468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Blocks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43508" y="1233736"/>
            <a:ext cx="885698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Create a new basic block which contains a sequence of LLVM instructions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 *BB =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BasicBlock</a:t>
            </a:r>
            <a:r>
              <a:rPr lang="en-US" sz="2100" dirty="0">
                <a:latin typeface="Calibri" panose="020F0502020204030204" pitchFamily="34" charset="0"/>
              </a:rPr>
              <a:t>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TheContext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"entry",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	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insert into symbol table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syms.enter_symtbl</a:t>
            </a:r>
            <a:r>
              <a:rPr lang="en-US" sz="2100" dirty="0">
                <a:latin typeface="Calibri" panose="020F0502020204030204" pitchFamily="34" charset="0"/>
              </a:rPr>
              <a:t>(string("entry"), BB);</a:t>
            </a:r>
          </a:p>
          <a:p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// All subsequent calls to </a:t>
            </a:r>
            <a:r>
              <a:rPr lang="en-US" sz="2100" dirty="0" err="1">
                <a:solidFill>
                  <a:srgbClr val="C00000"/>
                </a:solidFill>
                <a:latin typeface="Calibri" panose="020F0502020204030204" pitchFamily="34" charset="0"/>
              </a:rPr>
              <a:t>IRBuilder</a:t>
            </a:r>
            <a:r>
              <a:rPr lang="en-US" sz="2100" dirty="0">
                <a:solidFill>
                  <a:srgbClr val="C00000"/>
                </a:solidFill>
                <a:latin typeface="Calibri" panose="020F0502020204030204" pitchFamily="34" charset="0"/>
              </a:rPr>
              <a:t> will place instructions in this location</a:t>
            </a:r>
          </a:p>
          <a:p>
            <a:r>
              <a:rPr lang="en-US" sz="2100" dirty="0" err="1">
                <a:latin typeface="Calibri" panose="020F0502020204030204" pitchFamily="34" charset="0"/>
              </a:rPr>
              <a:t>Builder.SetInsertPoint</a:t>
            </a:r>
            <a:r>
              <a:rPr lang="en-US" sz="2100" dirty="0">
                <a:latin typeface="Calibri" panose="020F0502020204030204" pitchFamily="34" charset="0"/>
              </a:rPr>
              <a:t>(BB);</a:t>
            </a:r>
          </a:p>
        </p:txBody>
      </p:sp>
    </p:spTree>
    <p:extLst>
      <p:ext uri="{BB962C8B-B14F-4D97-AF65-F5344CB8AC3E}">
        <p14:creationId xmlns:p14="http://schemas.microsoft.com/office/powerpoint/2010/main" val="278775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04081" y="1262709"/>
            <a:ext cx="833583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+mn-lt"/>
              </a:rPr>
              <a:t>When you generate code for a method declaration do the following:</a:t>
            </a:r>
          </a:p>
          <a:p>
            <a:endParaRPr lang="en-US" sz="2100" dirty="0">
              <a:latin typeface="+mn-lt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 new symbol table for local variables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Create a</a:t>
            </a:r>
            <a:r>
              <a:rPr lang="en-US" sz="2100" dirty="0">
                <a:latin typeface="Calibri" panose="020F0502020204030204" pitchFamily="34" charset="0"/>
              </a:rPr>
              <a:t>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BasicBlock</a:t>
            </a:r>
            <a:r>
              <a:rPr lang="en-US" sz="2100" dirty="0">
                <a:latin typeface="+mn-lt"/>
              </a:rPr>
              <a:t>, let's say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Set insertion point for instructions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(BB)</a:t>
            </a:r>
            <a:endParaRPr lang="en-US" sz="2100" dirty="0">
              <a:latin typeface="+mn-lt"/>
              <a:cs typeface="Consolas" panose="020B0609020204030204" pitchFamily="49" charset="0"/>
            </a:endParaRP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Add the arguments to the function as allocated on the stack (next slide)</a:t>
            </a:r>
          </a:p>
          <a:p>
            <a:pPr marL="385763" indent="-385763">
              <a:buFont typeface="+mj-lt"/>
              <a:buAutoNum type="arabicPeriod"/>
            </a:pPr>
            <a:r>
              <a:rPr lang="en-US" sz="2100" dirty="0">
                <a:latin typeface="+mn-lt"/>
              </a:rPr>
              <a:t>You can check if a function has a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100" dirty="0">
                <a:latin typeface="+mn-lt"/>
              </a:rPr>
              <a:t> statement by checking if the value of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BB-&gt;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getTerminator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is 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100" dirty="0">
                <a:latin typeface="+mn-lt"/>
                <a:cs typeface="Consolas" panose="020B0609020204030204" pitchFamily="49" charset="0"/>
              </a:rPr>
              <a:t>.</a:t>
            </a:r>
            <a:endParaRPr lang="en-US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918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4C77-F4B9-DC4D-BA3E-000E19B92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parameters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7AC7A-2823-CB48-81E5-41E68DC1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0BF5-77A1-9F48-B60C-059E6880B4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68612" y="1289507"/>
            <a:ext cx="8213172" cy="788697"/>
          </a:xfrm>
          <a:solidFill>
            <a:schemeClr val="accent5">
              <a:lumMod val="20000"/>
              <a:lumOff val="8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For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Function*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dirty="0"/>
              <a:t>iterate through the function arguments and allocate them into the stack.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B2C2D-BA7F-4D46-9F9A-C4AB370BF454}"/>
              </a:ext>
            </a:extLst>
          </p:cNvPr>
          <p:cNvSpPr txBox="1"/>
          <p:nvPr/>
        </p:nvSpPr>
        <p:spPr>
          <a:xfrm>
            <a:off x="467057" y="2315111"/>
            <a:ext cx="734694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for (auto 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: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args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CreateEntryBlockAlloca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Store the initial value into the </a:t>
            </a:r>
            <a:r>
              <a:rPr lang="en-US" sz="2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Add to symbol table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syms.enter_symtbl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Arg.getName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(),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6788E3-AC78-3D41-AFF6-7303371CE405}"/>
              </a:ext>
            </a:extLst>
          </p:cNvPr>
          <p:cNvSpPr txBox="1"/>
          <p:nvPr/>
        </p:nvSpPr>
        <p:spPr>
          <a:xfrm>
            <a:off x="4869501" y="147216"/>
            <a:ext cx="31768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foo(x int)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x = 1;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671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Tricks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28650" y="1238495"/>
            <a:ext cx="797579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Finding the current function you are in:</a:t>
            </a:r>
          </a:p>
          <a:p>
            <a:pPr lvl="1"/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 *</a:t>
            </a:r>
            <a:r>
              <a:rPr lang="en-US" sz="2100" dirty="0" err="1">
                <a:latin typeface="Calibri" panose="020F0502020204030204" pitchFamily="34" charset="0"/>
              </a:rPr>
              <a:t>func</a:t>
            </a:r>
            <a:r>
              <a:rPr lang="en-US" sz="2100" dirty="0">
                <a:latin typeface="Calibri" panose="020F0502020204030204" pitchFamily="34" charset="0"/>
              </a:rPr>
              <a:t> = </a:t>
            </a:r>
            <a:r>
              <a:rPr lang="en-US" sz="2100" dirty="0" err="1">
                <a:latin typeface="Calibri" panose="020F0502020204030204" pitchFamily="34" charset="0"/>
              </a:rPr>
              <a:t>Builder.GetInsertBlock</a:t>
            </a:r>
            <a:r>
              <a:rPr lang="en-US" sz="2100" dirty="0">
                <a:latin typeface="Calibri" panose="020F0502020204030204" pitchFamily="34" charset="0"/>
              </a:rPr>
              <a:t>()-&gt;</a:t>
            </a:r>
            <a:r>
              <a:rPr lang="en-US" sz="2100" dirty="0" err="1">
                <a:latin typeface="Calibri" panose="020F0502020204030204" pitchFamily="34" charset="0"/>
              </a:rPr>
              <a:t>getParent</a:t>
            </a:r>
            <a:r>
              <a:rPr lang="en-US" sz="2100" dirty="0">
                <a:latin typeface="Calibri" panose="020F0502020204030204" pitchFamily="34" charset="0"/>
              </a:rPr>
              <a:t>();</a:t>
            </a:r>
          </a:p>
          <a:p>
            <a:pPr marL="257175" indent="-257175">
              <a:buFont typeface="Arial"/>
              <a:buChar char="•"/>
            </a:pPr>
            <a:r>
              <a:rPr lang="en-US" dirty="0">
                <a:latin typeface="Calibri" panose="020F0502020204030204" pitchFamily="34" charset="0"/>
              </a:rPr>
              <a:t>External function</a:t>
            </a:r>
          </a:p>
          <a:p>
            <a:r>
              <a:rPr lang="en-US" dirty="0">
                <a:latin typeface="Calibri" panose="020F0502020204030204" pitchFamily="34" charset="0"/>
              </a:rPr>
              <a:t>    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::Function::Create(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</a:t>
            </a:r>
            <a:r>
              <a:rPr lang="en-US" sz="2100" dirty="0" err="1">
                <a:latin typeface="Calibri" panose="020F0502020204030204" pitchFamily="34" charset="0"/>
              </a:rPr>
              <a:t>FunctionType</a:t>
            </a:r>
            <a:r>
              <a:rPr lang="en-US" sz="2100" dirty="0">
                <a:latin typeface="Calibri" panose="020F0502020204030204" pitchFamily="34" charset="0"/>
              </a:rPr>
              <a:t>::get(</a:t>
            </a:r>
            <a:r>
              <a:rPr lang="en-US" sz="2100" dirty="0" err="1">
                <a:latin typeface="Calibri" panose="020F0502020204030204" pitchFamily="34" charset="0"/>
              </a:rPr>
              <a:t>returnTy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  <a:r>
              <a:rPr lang="en-US" sz="2100" dirty="0" err="1">
                <a:latin typeface="Calibri" panose="020F0502020204030204" pitchFamily="34" charset="0"/>
              </a:rPr>
              <a:t>args</a:t>
            </a:r>
            <a:r>
              <a:rPr lang="en-US" sz="2100" dirty="0">
                <a:latin typeface="Calibri" panose="020F0502020204030204" pitchFamily="34" charset="0"/>
              </a:rPr>
              <a:t>, false),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llvm</a:t>
            </a:r>
            <a:r>
              <a:rPr lang="en-US" sz="2100" dirty="0">
                <a:latin typeface="Calibri" panose="020F0502020204030204" pitchFamily="34" charset="0"/>
              </a:rPr>
              <a:t>::Function::</a:t>
            </a:r>
            <a:r>
              <a:rPr lang="en-US" sz="2100" dirty="0" err="1">
                <a:latin typeface="Calibri" panose="020F0502020204030204" pitchFamily="34" charset="0"/>
              </a:rPr>
              <a:t>ExternalLinkage</a:t>
            </a:r>
            <a:r>
              <a:rPr lang="en-US" sz="2100" dirty="0">
                <a:latin typeface="Calibri" panose="020F0502020204030204" pitchFamily="34" charset="0"/>
              </a:rPr>
              <a:t>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Name, </a:t>
            </a:r>
          </a:p>
          <a:p>
            <a:r>
              <a:rPr lang="en-US" sz="2100" dirty="0">
                <a:latin typeface="Calibri" panose="020F0502020204030204" pitchFamily="34" charset="0"/>
              </a:rPr>
              <a:t>	</a:t>
            </a:r>
            <a:r>
              <a:rPr lang="en-US" sz="2100" dirty="0" err="1">
                <a:latin typeface="Calibri" panose="020F0502020204030204" pitchFamily="34" charset="0"/>
              </a:rPr>
              <a:t>TheModule</a:t>
            </a:r>
            <a:r>
              <a:rPr lang="en-US" sz="2100" dirty="0">
                <a:latin typeface="Calibri" panose="020F0502020204030204" pitchFamily="34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55303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8098C-DC77-7241-A43A-3B61A7E6C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Modulus in LLVM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8EB81-7D45-4F40-A800-2F049113B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CreateSRem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CA" dirty="0"/>
              <a:t>for signed operators in Decaf</a:t>
            </a:r>
          </a:p>
          <a:p>
            <a:r>
              <a:rPr lang="en-CA" dirty="0"/>
              <a:t>LLVM uses the C/C++ style modulus </a:t>
            </a:r>
          </a:p>
          <a:p>
            <a:r>
              <a:rPr lang="en-CA" dirty="0"/>
              <a:t>So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-4%3 == -1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820F9-123D-5D4A-BA0B-486061B6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507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C3578-CF40-6944-89C9-DE6B9C4AD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 Function Declarations</a:t>
            </a:r>
          </a:p>
        </p:txBody>
      </p:sp>
    </p:spTree>
    <p:extLst>
      <p:ext uri="{BB962C8B-B14F-4D97-AF65-F5344CB8AC3E}">
        <p14:creationId xmlns:p14="http://schemas.microsoft.com/office/powerpoint/2010/main" val="2130071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1B92-6B89-AA43-B98D-CE8295521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Backwards Declarations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FD94A-158D-7E43-9F88-741A8A91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15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C07872-49EF-9A41-AF65-3F6A6AB77C87}"/>
              </a:ext>
            </a:extLst>
          </p:cNvPr>
          <p:cNvSpPr txBox="1"/>
          <p:nvPr/>
        </p:nvSpPr>
        <p:spPr>
          <a:xfrm>
            <a:off x="660496" y="1432590"/>
            <a:ext cx="4839786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extern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(int) void;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Test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test(10, 13);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test(a int, b int) void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(a);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print_int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(b);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029B9EEC-024E-FE4E-BDD9-DBAE0B4EB184}"/>
              </a:ext>
            </a:extLst>
          </p:cNvPr>
          <p:cNvSpPr/>
          <p:nvPr/>
        </p:nvSpPr>
        <p:spPr>
          <a:xfrm>
            <a:off x="3995936" y="1851670"/>
            <a:ext cx="3406638" cy="864096"/>
          </a:xfrm>
          <a:prstGeom prst="wedgeRectCallout">
            <a:avLst>
              <a:gd name="adj1" fmla="val -73844"/>
              <a:gd name="adj2" fmla="val 329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/>
              <a:t>Iterate through the list of function signatures and insert them into the symbol table. </a:t>
            </a:r>
          </a:p>
        </p:txBody>
      </p:sp>
    </p:spTree>
    <p:extLst>
      <p:ext uri="{BB962C8B-B14F-4D97-AF65-F5344CB8AC3E}">
        <p14:creationId xmlns:p14="http://schemas.microsoft.com/office/powerpoint/2010/main" val="98756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9A0B8-6D70-0C49-AB4A-2C7E09B39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>
                <a:solidFill>
                  <a:srgbClr val="000000"/>
                </a:solidFill>
              </a:rPr>
              <a:t>Control Flow in LLVM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729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 dirty="0" err="1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Inside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IfStmt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Set up a new symbol table for code locations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iftrue</a:t>
            </a:r>
            <a:r>
              <a:rPr lang="en-US" dirty="0"/>
              <a:t> (see slide 9)</a:t>
            </a: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iffalse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/>
              <a:t>Create a new </a:t>
            </a:r>
            <a:r>
              <a:rPr lang="en-US" dirty="0" err="1"/>
              <a:t>BasicBlock</a:t>
            </a:r>
            <a:r>
              <a:rPr lang="en-US" dirty="0"/>
              <a:t> called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  <a:p>
            <a:pPr lvl="1"/>
            <a:r>
              <a:rPr lang="en-US" dirty="0"/>
              <a:t>Subsequent code generation anywhere else can insert code into these code locations</a:t>
            </a:r>
          </a:p>
          <a:p>
            <a:pPr lvl="1"/>
            <a:r>
              <a:rPr lang="en-US" dirty="0"/>
              <a:t>Can be used for break, continue, short-circuits, etc.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61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</a:t>
            </a:r>
            <a:r>
              <a:rPr lang="en-US"/>
              <a:t>Backpatching</a:t>
            </a:r>
            <a:r>
              <a:rPr lang="en-US" dirty="0"/>
              <a:t>” in LLVM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54028" y="1665412"/>
            <a:ext cx="5735866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  // </a:t>
            </a:r>
            <a:r>
              <a:rPr lang="en-US" sz="1800" b="1" dirty="0" err="1">
                <a:solidFill>
                  <a:srgbClr val="C00000"/>
                </a:solidFill>
              </a:rPr>
              <a:t>val</a:t>
            </a:r>
            <a:r>
              <a:rPr lang="en-US" sz="1800" dirty="0">
                <a:solidFill>
                  <a:srgbClr val="C00000"/>
                </a:solidFill>
              </a:rPr>
              <a:t> contains the Expr value for the conditional</a:t>
            </a:r>
          </a:p>
          <a:p>
            <a:r>
              <a:rPr lang="en-US" sz="1800" dirty="0">
                <a:solidFill>
                  <a:srgbClr val="000000"/>
                </a:solidFill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Builder.CreateCondBr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IfTrueBB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IfTrueBlock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325" y="3760883"/>
            <a:ext cx="6896440" cy="92333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Builder.CreateBr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pop the symbol table after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IfStmt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is done</a:t>
            </a:r>
          </a:p>
          <a:p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EndBB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7584" y="1161836"/>
            <a:ext cx="535435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Setting up the branching between Basic Blocks: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84" y="3121497"/>
            <a:ext cx="630615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</a:rPr>
              <a:t>After the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IfStmt</a:t>
            </a:r>
            <a:r>
              <a:rPr lang="en-US" sz="2100" dirty="0">
                <a:latin typeface="Calibri" panose="020F0502020204030204" pitchFamily="34" charset="0"/>
              </a:rPr>
              <a:t> we continue with the end Basic Block:</a:t>
            </a:r>
          </a:p>
        </p:txBody>
      </p:sp>
    </p:spTree>
    <p:extLst>
      <p:ext uri="{BB962C8B-B14F-4D97-AF65-F5344CB8AC3E}">
        <p14:creationId xmlns:p14="http://schemas.microsoft.com/office/powerpoint/2010/main" val="3552448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Single Assignment in LLVM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1562571"/>
          </a:xfrm>
        </p:spPr>
        <p:txBody>
          <a:bodyPr/>
          <a:lstStyle/>
          <a:p>
            <a:r>
              <a:rPr lang="en-US" dirty="0"/>
              <a:t>For normal control flow using </a:t>
            </a:r>
            <a:r>
              <a:rPr lang="en-US" dirty="0" err="1"/>
              <a:t>CreateBr</a:t>
            </a:r>
            <a:r>
              <a:rPr lang="en-US" dirty="0"/>
              <a:t> and </a:t>
            </a:r>
            <a:r>
              <a:rPr lang="en-US" dirty="0" err="1"/>
              <a:t>CreateCondBr</a:t>
            </a:r>
            <a:r>
              <a:rPr lang="en-US" dirty="0"/>
              <a:t> no need for Phi functions</a:t>
            </a:r>
          </a:p>
          <a:p>
            <a:r>
              <a:rPr lang="en-US" dirty="0"/>
              <a:t>LLVM produces the Phi functions automatically using algorithms we will study in class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32F20A-E870-5440-911B-0A0C10F65979}"/>
              </a:ext>
            </a:extLst>
          </p:cNvPr>
          <p:cNvSpPr/>
          <p:nvPr/>
        </p:nvSpPr>
        <p:spPr>
          <a:xfrm>
            <a:off x="2195736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BB1: x1 =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869C11-1354-9648-A1DE-7B9429020F44}"/>
              </a:ext>
            </a:extLst>
          </p:cNvPr>
          <p:cNvSpPr/>
          <p:nvPr/>
        </p:nvSpPr>
        <p:spPr>
          <a:xfrm>
            <a:off x="4577977" y="3147814"/>
            <a:ext cx="122413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BB2: x2 =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CCB3DD-9935-054F-87FE-47D57AC63CD1}"/>
              </a:ext>
            </a:extLst>
          </p:cNvPr>
          <p:cNvSpPr/>
          <p:nvPr/>
        </p:nvSpPr>
        <p:spPr>
          <a:xfrm>
            <a:off x="2915816" y="4155926"/>
            <a:ext cx="2088232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BB3: x3 = Phi(x1, x2)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868A5D8-94C5-134E-A7DC-D56E1385DAD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2807804" y="3507854"/>
            <a:ext cx="1152128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CB84FE6-2BF9-C04D-8DE1-69B1209284C9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3959932" y="3507854"/>
            <a:ext cx="1230113" cy="64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49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90284-CF15-5A5C-ACB4-6F30E1649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1DD36-2C2A-F45A-50B7-2D88A9E94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Loops and local variables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F31D81-7460-0942-5E8D-B5B20EE1B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C8593-2995-5708-088C-F5C39534685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In loops (while/for) we create a declare basic block and declare the variables in the loop block: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6AFA2-786A-9E7F-993D-4E056633D23F}"/>
              </a:ext>
            </a:extLst>
          </p:cNvPr>
          <p:cNvSpPr txBox="1"/>
          <p:nvPr/>
        </p:nvSpPr>
        <p:spPr>
          <a:xfrm>
            <a:off x="359532" y="2209088"/>
            <a:ext cx="8424936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// On first entry, generate var declarations: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BasicBlock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DeclBB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BasicBlock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::Create(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TheContext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"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decl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",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Builder.SetInsertPoint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DeclBB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Body-&gt;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getVars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Codegen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Builder.CreateBr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BodyBB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072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5DEC0-0BC7-72D1-FFCA-D1E79E1D5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70A6-591D-3486-2D48-2764C43E3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Loops and local variables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24908-C063-0B42-4610-B598F236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705F2-B9FD-FBA1-57B3-045052762D9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9236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avoid defining the variables in the loop basic block each time by skipping the </a:t>
            </a:r>
            <a:r>
              <a:rPr lang="en-US" dirty="0" err="1"/>
              <a:t>DeclBB</a:t>
            </a:r>
            <a:r>
              <a:rPr lang="en-US" dirty="0"/>
              <a:t> but then we must reset the values at the end of the loop.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A20FB-1CDB-9298-E055-FF234FB46427}"/>
              </a:ext>
            </a:extLst>
          </p:cNvPr>
          <p:cNvSpPr txBox="1"/>
          <p:nvPr/>
        </p:nvSpPr>
        <p:spPr>
          <a:xfrm>
            <a:off x="359532" y="2209088"/>
            <a:ext cx="8424936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Body-&gt;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getVars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ResetValues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ResetValues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*)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syms.access_symtbl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local_variable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getZeroInit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local_variable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()),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);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656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Short-circuit of </a:t>
            </a:r>
            <a:r>
              <a:rPr lang="en-US" sz="3000" dirty="0" err="1"/>
              <a:t>boolean</a:t>
            </a:r>
            <a:r>
              <a:rPr lang="en-US" sz="3000" dirty="0"/>
              <a:t> expressions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For short circuit of </a:t>
            </a:r>
            <a:r>
              <a:rPr lang="en-US" dirty="0" err="1"/>
              <a:t>boolean</a:t>
            </a:r>
            <a:r>
              <a:rPr lang="en-US" dirty="0"/>
              <a:t> expressions you have to write the PHI function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32" y="2140937"/>
            <a:ext cx="8424936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PHINode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Builder.CreatePHI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(type, 2, "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");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 is an LLVM::Type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(L,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addIncoming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21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OpValBB</a:t>
            </a:r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are the two basic blocks that are incoming blocks for the PHI function</a:t>
            </a:r>
            <a:endParaRPr lang="en-US" sz="21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466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827584" y="1419622"/>
            <a:ext cx="49936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package 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CA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main() int {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var a, b, c bool;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a = true; b = false;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	c = a || b;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	} </a:t>
            </a:r>
          </a:p>
          <a:p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8500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1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260D1-69D6-534C-BD2B-54FFE929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Short-circuit of </a:t>
            </a:r>
            <a:r>
              <a:rPr lang="en-US" sz="3600" dirty="0" err="1"/>
              <a:t>boolean</a:t>
            </a:r>
            <a:r>
              <a:rPr lang="en-US" sz="3600" dirty="0"/>
              <a:t> expressions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A4D194-1A47-054C-944C-ABE804389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8109E3-493D-7F45-BFC2-F87F7260087B}"/>
              </a:ext>
            </a:extLst>
          </p:cNvPr>
          <p:cNvSpPr txBox="1"/>
          <p:nvPr/>
        </p:nvSpPr>
        <p:spPr>
          <a:xfrm>
            <a:off x="720640" y="1222240"/>
            <a:ext cx="44582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ModuleID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'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sckt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’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source_filename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"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DecafComp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define i32 @main() { </a:t>
            </a:r>
          </a:p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; removed all variable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code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true,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false,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%a1 = load i1, i1* %a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i1 %a1,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0E52F-DAC7-C24B-8506-4D8E7EABF150}"/>
              </a:ext>
            </a:extLst>
          </p:cNvPr>
          <p:cNvSpPr txBox="1"/>
          <p:nvPr/>
        </p:nvSpPr>
        <p:spPr>
          <a:xfrm>
            <a:off x="665722" y="3502083"/>
            <a:ext cx="27687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%b2 = load i1, i1* %b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or i1 %a1, %b2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br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label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A303C-B688-4843-B5BA-109A2B1CD57F}"/>
              </a:ext>
            </a:extLst>
          </p:cNvPr>
          <p:cNvSpPr txBox="1"/>
          <p:nvPr/>
        </p:nvSpPr>
        <p:spPr>
          <a:xfrm>
            <a:off x="3888992" y="3649733"/>
            <a:ext cx="48558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skctend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: ; 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preds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  phi i1 [ %a1,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func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], [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ortmp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noskct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]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store i1 %</a:t>
            </a:r>
            <a:r>
              <a:rPr lang="en-CA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phival</a:t>
            </a:r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, i1* %c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  ret i32 0 </a:t>
            </a:r>
          </a:p>
          <a:p>
            <a:r>
              <a:rPr lang="en-CA" sz="1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E9967B2-1694-2440-A6CB-D01496DC8415}"/>
              </a:ext>
            </a:extLst>
          </p:cNvPr>
          <p:cNvCxnSpPr>
            <a:stCxn id="4" idx="2"/>
          </p:cNvCxnSpPr>
          <p:nvPr/>
        </p:nvCxnSpPr>
        <p:spPr>
          <a:xfrm flipH="1">
            <a:off x="2160800" y="3253565"/>
            <a:ext cx="788976" cy="24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06257D-4C4F-4542-97EE-79B18E879E57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3434429" y="3979137"/>
            <a:ext cx="454563" cy="3630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856F19-E7A0-6B4B-81C4-323FE403CBCD}"/>
              </a:ext>
            </a:extLst>
          </p:cNvPr>
          <p:cNvSpPr txBox="1"/>
          <p:nvPr/>
        </p:nvSpPr>
        <p:spPr>
          <a:xfrm>
            <a:off x="5453803" y="1530399"/>
            <a:ext cx="2053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 = a || b;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165190-925B-DC4A-A171-212AE6D8B3F6}"/>
              </a:ext>
            </a:extLst>
          </p:cNvPr>
          <p:cNvSpPr/>
          <p:nvPr/>
        </p:nvSpPr>
        <p:spPr>
          <a:xfrm>
            <a:off x="5456266" y="2156661"/>
            <a:ext cx="1924046" cy="5632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if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US" sz="1800" dirty="0"/>
              <a:t> is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800" dirty="0"/>
              <a:t> then do not evaluate 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6DD7F-84B3-464E-97F2-45A27969D387}"/>
              </a:ext>
            </a:extLst>
          </p:cNvPr>
          <p:cNvSpPr/>
          <p:nvPr/>
        </p:nvSpPr>
        <p:spPr>
          <a:xfrm>
            <a:off x="1538741" y="2945776"/>
            <a:ext cx="440971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1BABD-3E36-BE40-9F04-F11F1ADF92AC}"/>
              </a:ext>
            </a:extLst>
          </p:cNvPr>
          <p:cNvSpPr/>
          <p:nvPr/>
        </p:nvSpPr>
        <p:spPr>
          <a:xfrm>
            <a:off x="2589184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84ABAF-4BD1-5B46-B8D3-769AC9B24473}"/>
              </a:ext>
            </a:extLst>
          </p:cNvPr>
          <p:cNvSpPr/>
          <p:nvPr/>
        </p:nvSpPr>
        <p:spPr>
          <a:xfrm>
            <a:off x="3888992" y="3684053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9D424F-8E9A-FA49-81BC-81191E4B6618}"/>
              </a:ext>
            </a:extLst>
          </p:cNvPr>
          <p:cNvSpPr/>
          <p:nvPr/>
        </p:nvSpPr>
        <p:spPr>
          <a:xfrm>
            <a:off x="4155577" y="2945776"/>
            <a:ext cx="90269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D6064D-D646-5C4D-A1B4-E7BC689D2424}"/>
              </a:ext>
            </a:extLst>
          </p:cNvPr>
          <p:cNvSpPr/>
          <p:nvPr/>
        </p:nvSpPr>
        <p:spPr>
          <a:xfrm>
            <a:off x="665722" y="3525474"/>
            <a:ext cx="776526" cy="2485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252FFA0-DB60-744B-8EA8-DAF917B3E148}"/>
              </a:ext>
            </a:extLst>
          </p:cNvPr>
          <p:cNvSpPr/>
          <p:nvPr/>
        </p:nvSpPr>
        <p:spPr>
          <a:xfrm>
            <a:off x="5946546" y="1049291"/>
            <a:ext cx="2660794" cy="301024"/>
          </a:xfrm>
          <a:prstGeom prst="wedgeRoundRectCallout">
            <a:avLst>
              <a:gd name="adj1" fmla="val -35501"/>
              <a:gd name="adj2" fmla="val 150266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*L = LHS-&gt;</a:t>
            </a:r>
            <a:r>
              <a:rPr lang="en-US" sz="1400" dirty="0" err="1"/>
              <a:t>Codegen</a:t>
            </a:r>
            <a:r>
              <a:rPr lang="en-US" sz="1400" dirty="0"/>
              <a:t>();</a:t>
            </a:r>
          </a:p>
        </p:txBody>
      </p:sp>
      <p:sp>
        <p:nvSpPr>
          <p:cNvPr id="18" name="Rounded Rectangular Callout 17">
            <a:extLst>
              <a:ext uri="{FF2B5EF4-FFF2-40B4-BE49-F238E27FC236}">
                <a16:creationId xmlns:a16="http://schemas.microsoft.com/office/drawing/2014/main" id="{27B96BA9-6A9A-564B-9D81-94E63BBC9093}"/>
              </a:ext>
            </a:extLst>
          </p:cNvPr>
          <p:cNvSpPr/>
          <p:nvPr/>
        </p:nvSpPr>
        <p:spPr>
          <a:xfrm>
            <a:off x="15315" y="4475776"/>
            <a:ext cx="4140262" cy="455549"/>
          </a:xfrm>
          <a:prstGeom prst="wedgeRoundRectCallout">
            <a:avLst>
              <a:gd name="adj1" fmla="val 23173"/>
              <a:gd name="adj2" fmla="val -112778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 err="1"/>
              <a:t>llvm</a:t>
            </a:r>
            <a:r>
              <a:rPr lang="en-US" sz="1400" dirty="0"/>
              <a:t>::Value *</a:t>
            </a:r>
            <a:r>
              <a:rPr lang="en-US" sz="1400" dirty="0" err="1"/>
              <a:t>opval</a:t>
            </a:r>
            <a:r>
              <a:rPr lang="en-US" sz="1400" dirty="0"/>
              <a:t> = </a:t>
            </a:r>
            <a:r>
              <a:rPr lang="en-US" sz="1400" dirty="0" err="1"/>
              <a:t>Builder.CreateOr</a:t>
            </a:r>
            <a:r>
              <a:rPr lang="en-US" sz="1400" dirty="0"/>
              <a:t>(L, R, "</a:t>
            </a:r>
            <a:r>
              <a:rPr lang="en-US" sz="1400" dirty="0" err="1"/>
              <a:t>ortmp</a:t>
            </a:r>
            <a:r>
              <a:rPr lang="en-US" sz="1400" dirty="0"/>
              <a:t>");</a:t>
            </a:r>
          </a:p>
          <a:p>
            <a:r>
              <a:rPr lang="en-US" sz="1400" dirty="0" err="1"/>
              <a:t>llvm</a:t>
            </a:r>
            <a:r>
              <a:rPr lang="en-US" sz="1400" dirty="0"/>
              <a:t>::</a:t>
            </a:r>
            <a:r>
              <a:rPr lang="en-US" sz="1400" dirty="0" err="1"/>
              <a:t>BasicBlock</a:t>
            </a:r>
            <a:r>
              <a:rPr lang="en-US" sz="1400" dirty="0"/>
              <a:t> *</a:t>
            </a:r>
            <a:r>
              <a:rPr lang="en-US" sz="1400" dirty="0" err="1"/>
              <a:t>OpValBB</a:t>
            </a:r>
            <a:r>
              <a:rPr lang="en-US" sz="1400" dirty="0"/>
              <a:t> = </a:t>
            </a:r>
            <a:r>
              <a:rPr lang="en-US" sz="1400" dirty="0" err="1"/>
              <a:t>Builder.GetInsertBlock</a:t>
            </a:r>
            <a:r>
              <a:rPr lang="en-US" sz="1400" dirty="0"/>
              <a:t>();</a:t>
            </a:r>
          </a:p>
        </p:txBody>
      </p:sp>
      <p:sp>
        <p:nvSpPr>
          <p:cNvPr id="19" name="Rounded Rectangular Callout 18">
            <a:extLst>
              <a:ext uri="{FF2B5EF4-FFF2-40B4-BE49-F238E27FC236}">
                <a16:creationId xmlns:a16="http://schemas.microsoft.com/office/drawing/2014/main" id="{0C06B635-F1DD-934D-AB1D-B85002A65D51}"/>
              </a:ext>
            </a:extLst>
          </p:cNvPr>
          <p:cNvSpPr/>
          <p:nvPr/>
        </p:nvSpPr>
        <p:spPr>
          <a:xfrm>
            <a:off x="5453804" y="2839202"/>
            <a:ext cx="3510684" cy="810531"/>
          </a:xfrm>
          <a:prstGeom prst="wedgeRoundRectCallout">
            <a:avLst>
              <a:gd name="adj1" fmla="val 20102"/>
              <a:gd name="adj2" fmla="val 106665"/>
              <a:gd name="adj3" fmla="val 1666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 err="1"/>
              <a:t>llvm</a:t>
            </a:r>
            <a:r>
              <a:rPr lang="en-US" sz="1200" dirty="0"/>
              <a:t>::</a:t>
            </a:r>
            <a:r>
              <a:rPr lang="en-US" sz="1200" dirty="0" err="1"/>
              <a:t>PHINode</a:t>
            </a:r>
            <a:r>
              <a:rPr lang="en-US" sz="1200" dirty="0"/>
              <a:t> *</a:t>
            </a:r>
            <a:r>
              <a:rPr lang="en-US" sz="1200" dirty="0" err="1"/>
              <a:t>val</a:t>
            </a:r>
            <a:r>
              <a:rPr lang="en-US" sz="1200" dirty="0"/>
              <a:t> = </a:t>
            </a:r>
          </a:p>
          <a:p>
            <a:r>
              <a:rPr lang="en-US" sz="1200" dirty="0"/>
              <a:t>    </a:t>
            </a:r>
            <a:r>
              <a:rPr lang="en-US" sz="1200" dirty="0" err="1"/>
              <a:t>Builder.CreatePHI</a:t>
            </a:r>
            <a:r>
              <a:rPr lang="en-US" sz="1200" dirty="0"/>
              <a:t>(L-&gt;</a:t>
            </a:r>
            <a:r>
              <a:rPr lang="en-US" sz="1200" dirty="0" err="1"/>
              <a:t>getType</a:t>
            </a:r>
            <a:r>
              <a:rPr lang="en-US" sz="1200" dirty="0"/>
              <a:t>(), 2, "</a:t>
            </a:r>
            <a:r>
              <a:rPr lang="en-US" sz="1200" dirty="0" err="1"/>
              <a:t>phival</a:t>
            </a:r>
            <a:r>
              <a:rPr lang="en-US" sz="1200" dirty="0"/>
              <a:t>");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(L, </a:t>
            </a:r>
            <a:r>
              <a:rPr lang="en-US" sz="1200" dirty="0" err="1"/>
              <a:t>CurBB</a:t>
            </a:r>
            <a:r>
              <a:rPr lang="en-US" sz="1200" dirty="0"/>
              <a:t>); / * </a:t>
            </a:r>
            <a:r>
              <a:rPr lang="en-US" sz="1200" dirty="0" err="1"/>
              <a:t>func</a:t>
            </a:r>
            <a:r>
              <a:rPr lang="en-US" sz="1200" dirty="0"/>
              <a:t> */</a:t>
            </a:r>
          </a:p>
          <a:p>
            <a:r>
              <a:rPr lang="en-US" sz="1200" dirty="0" err="1"/>
              <a:t>val</a:t>
            </a:r>
            <a:r>
              <a:rPr lang="en-US" sz="1200" dirty="0"/>
              <a:t>-&gt;</a:t>
            </a:r>
            <a:r>
              <a:rPr lang="en-US" sz="1200" dirty="0" err="1"/>
              <a:t>addIncoming</a:t>
            </a:r>
            <a:r>
              <a:rPr lang="en-US" sz="1200" dirty="0"/>
              <a:t>(</a:t>
            </a:r>
            <a:r>
              <a:rPr lang="en-US" sz="1200" dirty="0" err="1"/>
              <a:t>opval</a:t>
            </a:r>
            <a:r>
              <a:rPr lang="en-US" sz="1200" dirty="0"/>
              <a:t>, </a:t>
            </a:r>
            <a:r>
              <a:rPr lang="en-US" sz="1200" dirty="0" err="1"/>
              <a:t>OpValBB</a:t>
            </a:r>
            <a:r>
              <a:rPr lang="en-US" sz="1200" dirty="0"/>
              <a:t>); / * </a:t>
            </a:r>
            <a:r>
              <a:rPr lang="en-US" sz="1200" dirty="0" err="1"/>
              <a:t>noskct</a:t>
            </a:r>
            <a:r>
              <a:rPr lang="en-US" sz="1200" dirty="0"/>
              <a:t> */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4223DD-B07D-F747-9223-A94711B9E453}"/>
              </a:ext>
            </a:extLst>
          </p:cNvPr>
          <p:cNvSpPr/>
          <p:nvPr/>
        </p:nvSpPr>
        <p:spPr>
          <a:xfrm>
            <a:off x="2788891" y="125911"/>
            <a:ext cx="6175597" cy="4068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/>
              <a:t>Q: Why is </a:t>
            </a:r>
            <a:r>
              <a:rPr lang="en-US" sz="1800" dirty="0" err="1"/>
              <a:t>CreatePHI</a:t>
            </a:r>
            <a:r>
              <a:rPr lang="en-US" sz="1800" dirty="0"/>
              <a:t> using </a:t>
            </a:r>
            <a:r>
              <a:rPr lang="en-US" sz="1800" dirty="0" err="1"/>
              <a:t>OpValBB</a:t>
            </a:r>
            <a:r>
              <a:rPr lang="en-US" sz="1800" dirty="0"/>
              <a:t> not </a:t>
            </a:r>
            <a:r>
              <a:rPr lang="en-US" sz="1800" dirty="0" err="1"/>
              <a:t>NoSkctBB</a:t>
            </a:r>
            <a:r>
              <a:rPr lang="en-US" sz="1800" dirty="0"/>
              <a:t> aka </a:t>
            </a:r>
            <a:r>
              <a:rPr lang="en-US" sz="1800" dirty="0" err="1"/>
              <a:t>nosckt</a:t>
            </a:r>
            <a:r>
              <a:rPr lang="en-US" sz="1800" dirty="0"/>
              <a:t>: ?</a:t>
            </a:r>
            <a:endParaRPr lang="en-US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32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B0713-AE8B-1274-4E67-7DEDB3714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11149-9D71-0E15-9B1E-558219B3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 err="1">
                <a:solidFill>
                  <a:srgbClr val="000000"/>
                </a:solidFill>
              </a:rPr>
              <a:t>GetElementPointer</a:t>
            </a:r>
            <a:r>
              <a:rPr lang="en-CA" sz="2800" dirty="0">
                <a:solidFill>
                  <a:srgbClr val="000000"/>
                </a:solidFill>
              </a:rPr>
              <a:t> (GEP)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612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AC9F-A00D-AB3A-12F1-81ABD8C6E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8CFBC-D619-62A0-65EB-CE3D99379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Dealing with non-scalar types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6C5295-D46C-4FE6-5F16-CED3C0514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B083D-4936-E1EB-891A-FE3322A8FC7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419621"/>
          </a:xfrm>
        </p:spPr>
        <p:txBody>
          <a:bodyPr/>
          <a:lstStyle/>
          <a:p>
            <a:r>
              <a:rPr lang="en-US" dirty="0"/>
              <a:t>Consider this C code: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16A54E-2B42-161F-6B40-C8CE00E3DAB9}"/>
              </a:ext>
            </a:extLst>
          </p:cNvPr>
          <p:cNvSpPr txBox="1"/>
          <p:nvPr/>
        </p:nvSpPr>
        <p:spPr>
          <a:xfrm>
            <a:off x="827584" y="1663809"/>
            <a:ext cx="4428492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int f1;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int f2;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void munge(struct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*P)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P[0].f1 = P[1].f1 + P[2].f2;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munger_struct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Array[3];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munge(Array);</a:t>
            </a:r>
          </a:p>
        </p:txBody>
      </p:sp>
    </p:spTree>
    <p:extLst>
      <p:ext uri="{BB962C8B-B14F-4D97-AF65-F5344CB8AC3E}">
        <p14:creationId xmlns:p14="http://schemas.microsoft.com/office/powerpoint/2010/main" val="365427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D2E3C-9714-2AE4-7E71-458FD346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8848CC-7651-0EAB-2527-38E5322CC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9EDD09-896B-D824-4E22-E4B4C602F267}"/>
              </a:ext>
            </a:extLst>
          </p:cNvPr>
          <p:cNvSpPr txBox="1"/>
          <p:nvPr/>
        </p:nvSpPr>
        <p:spPr>
          <a:xfrm>
            <a:off x="251520" y="195486"/>
            <a:ext cx="4320480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int f1;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int f2;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void munge(struct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*P)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P[0].f1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P[1].f1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+ 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P[2].f2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FA23A5-58CA-71D7-B3E0-2453DEEE79D7}"/>
              </a:ext>
            </a:extLst>
          </p:cNvPr>
          <p:cNvSpPr txBox="1"/>
          <p:nvPr/>
        </p:nvSpPr>
        <p:spPr>
          <a:xfrm>
            <a:off x="228990" y="2139702"/>
            <a:ext cx="7871402" cy="280076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define void @munge(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%P)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entry: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getelementptr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struct.munger_struct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%P, i32 1, i32 0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%tmp1 = load i32,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tmp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%tmp2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getelementptr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struct.munger_struct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%P, i32 2, i32 1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%tmp3 = load i32,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%tmp2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%tmp4 = add i32 %tmp3, %tmp1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%tmp5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getelementptr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struct.munger_struct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%P, i32 0, i32 0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store i32 %tmp4,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%tmp5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ret void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DC3CAB-1508-6F2E-D5A9-A0C75B370A8C}"/>
              </a:ext>
            </a:extLst>
          </p:cNvPr>
          <p:cNvSpPr/>
          <p:nvPr/>
        </p:nvSpPr>
        <p:spPr>
          <a:xfrm>
            <a:off x="1619672" y="1419622"/>
            <a:ext cx="936104" cy="36004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75A04-4910-77CD-8C9A-D87D610652A2}"/>
              </a:ext>
            </a:extLst>
          </p:cNvPr>
          <p:cNvSpPr/>
          <p:nvPr/>
        </p:nvSpPr>
        <p:spPr>
          <a:xfrm>
            <a:off x="5364088" y="2643758"/>
            <a:ext cx="2376264" cy="27384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8D4781-62EC-DE4D-4D32-32D642AAD03B}"/>
              </a:ext>
            </a:extLst>
          </p:cNvPr>
          <p:cNvSpPr/>
          <p:nvPr/>
        </p:nvSpPr>
        <p:spPr>
          <a:xfrm>
            <a:off x="2771800" y="1420334"/>
            <a:ext cx="936104" cy="36004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63EDF-8543-C987-F826-B6B9AB968D95}"/>
              </a:ext>
            </a:extLst>
          </p:cNvPr>
          <p:cNvSpPr/>
          <p:nvPr/>
        </p:nvSpPr>
        <p:spPr>
          <a:xfrm>
            <a:off x="5508104" y="3179639"/>
            <a:ext cx="2376264" cy="27384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A78567-F03A-C34A-FF4D-56E428F43DCD}"/>
              </a:ext>
            </a:extLst>
          </p:cNvPr>
          <p:cNvSpPr/>
          <p:nvPr/>
        </p:nvSpPr>
        <p:spPr>
          <a:xfrm>
            <a:off x="467544" y="1419622"/>
            <a:ext cx="936104" cy="36004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EEAE3-5C4F-7CEC-C76B-EA5AA0A1B7C1}"/>
              </a:ext>
            </a:extLst>
          </p:cNvPr>
          <p:cNvSpPr/>
          <p:nvPr/>
        </p:nvSpPr>
        <p:spPr>
          <a:xfrm>
            <a:off x="5508104" y="3867894"/>
            <a:ext cx="2376264" cy="32908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33B623-3AC7-3D09-78F0-F54A3381C8A6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2087724" y="1779662"/>
            <a:ext cx="4464496" cy="864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9EC72EC-AAF8-7644-9CE6-0F4CDAFD754A}"/>
              </a:ext>
            </a:extLst>
          </p:cNvPr>
          <p:cNvCxnSpPr>
            <a:stCxn id="11" idx="2"/>
          </p:cNvCxnSpPr>
          <p:nvPr/>
        </p:nvCxnSpPr>
        <p:spPr>
          <a:xfrm>
            <a:off x="3239852" y="1780374"/>
            <a:ext cx="3348372" cy="13992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FBED801-8968-F6D9-47DD-A6223427C9EF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935596" y="1779662"/>
            <a:ext cx="5760640" cy="2088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1616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E43B3-918C-BDD2-EEAE-AFDB27AA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FF561-AFF6-8842-77B1-198C906E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Why is the extra 0 index required?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20C850-8CC5-EED0-6BAD-499DB9BF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DCC9C-0051-BB0F-FFB0-6AE058154D2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CA" dirty="0"/>
              <a:t>This question arises most often when the GEP instruction is applied to a global variable which is always a pointer type.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63E98-6038-68CA-5511-09AEFC4FDFAC}"/>
              </a:ext>
            </a:extLst>
          </p:cNvPr>
          <p:cNvSpPr txBox="1"/>
          <p:nvPr/>
        </p:nvSpPr>
        <p:spPr>
          <a:xfrm>
            <a:off x="359532" y="1964424"/>
            <a:ext cx="8424936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external global {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i32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idx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getelementptr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i32 },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MyStruct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i64 0, i32 1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1D534D2-1480-9B23-CBA4-2CA38A38E7F5}"/>
              </a:ext>
            </a:extLst>
          </p:cNvPr>
          <p:cNvSpPr txBox="1">
            <a:spLocks/>
          </p:cNvSpPr>
          <p:nvPr/>
        </p:nvSpPr>
        <p:spPr>
          <a:xfrm>
            <a:off x="641567" y="3003798"/>
            <a:ext cx="7543750" cy="17634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The type of %</a:t>
            </a:r>
            <a:r>
              <a:rPr lang="en-CA" dirty="0" err="1"/>
              <a:t>MyStruct</a:t>
            </a:r>
            <a:r>
              <a:rPr lang="en-CA" dirty="0"/>
              <a:t> is </a:t>
            </a:r>
            <a:r>
              <a:rPr lang="en-CA" i="1" dirty="0"/>
              <a:t>not</a:t>
            </a:r>
            <a:r>
              <a:rPr lang="en-CA" dirty="0"/>
              <a:t> { </a:t>
            </a:r>
            <a:r>
              <a:rPr lang="en-CA" dirty="0" err="1"/>
              <a:t>ptr</a:t>
            </a:r>
            <a:r>
              <a:rPr lang="en-CA" dirty="0"/>
              <a:t>, i32 } but rather </a:t>
            </a:r>
            <a:r>
              <a:rPr lang="en-CA" dirty="0" err="1"/>
              <a:t>ptr</a:t>
            </a:r>
            <a:r>
              <a:rPr lang="en-CA" dirty="0"/>
              <a:t>. That is, %</a:t>
            </a:r>
            <a:r>
              <a:rPr lang="en-CA" dirty="0" err="1"/>
              <a:t>MyStruct</a:t>
            </a:r>
            <a:r>
              <a:rPr lang="en-CA" dirty="0"/>
              <a:t> is a pointer (to a structure), not a structure itself.</a:t>
            </a:r>
          </a:p>
          <a:p>
            <a:r>
              <a:rPr lang="en-CA" dirty="0"/>
              <a:t>The first index, i64 0 is required to step over the global variable %</a:t>
            </a:r>
            <a:r>
              <a:rPr lang="en-CA" dirty="0" err="1"/>
              <a:t>MyStruct</a:t>
            </a:r>
            <a:r>
              <a:rPr lang="en-CA" dirty="0"/>
              <a:t>.</a:t>
            </a:r>
          </a:p>
          <a:p>
            <a:r>
              <a:rPr lang="en-CA" dirty="0"/>
              <a:t>The second index, i32 1 selects the second field of the structure (the i32).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8098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4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98B6-7B31-3B5D-42C6-F36CB1E4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5B3A-05AE-B4F6-7B27-37A67D240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What is dereferenced by GEP?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4DF8BA-C05E-8435-1C38-DDE956C14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99B67-6680-820F-8BBB-42AEF8A6217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4"/>
            <a:ext cx="7543750" cy="1715765"/>
          </a:xfrm>
        </p:spPr>
        <p:txBody>
          <a:bodyPr>
            <a:normAutofit/>
          </a:bodyPr>
          <a:lstStyle/>
          <a:p>
            <a:r>
              <a:rPr lang="en-CA" dirty="0"/>
              <a:t>The </a:t>
            </a:r>
            <a:r>
              <a:rPr lang="en-CA" dirty="0" err="1"/>
              <a:t>GetElementPtr</a:t>
            </a:r>
            <a:r>
              <a:rPr lang="en-CA" dirty="0"/>
              <a:t> instruction dereferences nothing. That is, it doesn’t access memory in any way. </a:t>
            </a:r>
          </a:p>
          <a:p>
            <a:r>
              <a:rPr lang="en-CA" dirty="0"/>
              <a:t>That’s what the Load and Store instructions are for. </a:t>
            </a:r>
          </a:p>
          <a:p>
            <a:r>
              <a:rPr lang="en-CA" dirty="0"/>
              <a:t>GEP is only involved in the computation of addresses.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0B0435-9033-62E0-9BA5-97DB4EEC61B4}"/>
              </a:ext>
            </a:extLst>
          </p:cNvPr>
          <p:cNvSpPr txBox="1"/>
          <p:nvPr/>
        </p:nvSpPr>
        <p:spPr>
          <a:xfrm>
            <a:off x="359532" y="2931789"/>
            <a:ext cx="8424936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@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MyVar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external global { i32, [40 x i32 ]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%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idx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getelementptr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{ i32, [40 x i32] },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@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MyVar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, i64 0, i32 1, i64 17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37982A-86B7-9D15-3818-E7F8A3D2F26A}"/>
              </a:ext>
            </a:extLst>
          </p:cNvPr>
          <p:cNvSpPr txBox="1">
            <a:spLocks/>
          </p:cNvSpPr>
          <p:nvPr/>
        </p:nvSpPr>
        <p:spPr>
          <a:xfrm>
            <a:off x="628650" y="4011910"/>
            <a:ext cx="7543750" cy="10291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GEP instruction can index through the global variable, into the second field of the structure and access the 18th i32 in the array there.</a:t>
            </a:r>
          </a:p>
        </p:txBody>
      </p:sp>
    </p:spTree>
    <p:extLst>
      <p:ext uri="{BB962C8B-B14F-4D97-AF65-F5344CB8AC3E}">
        <p14:creationId xmlns:p14="http://schemas.microsoft.com/office/powerpoint/2010/main" val="390218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0E7D9-30AC-B814-0560-90DD7737B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1AC75-7991-7FE7-94E8-24A083F6F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What does inbounds mean?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08709D-A360-5B81-454C-D748F17F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D8717-7E19-A090-03AF-DB8B98EEFAB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4"/>
            <a:ext cx="7543750" cy="3443958"/>
          </a:xfrm>
        </p:spPr>
        <p:txBody>
          <a:bodyPr>
            <a:normAutofit/>
          </a:bodyPr>
          <a:lstStyle/>
          <a:p>
            <a:r>
              <a:rPr lang="en-CA" dirty="0"/>
              <a:t>The inbounds keyword is designed to describe low-level pointer arithmetic overflow conditions</a:t>
            </a:r>
          </a:p>
          <a:p>
            <a:r>
              <a:rPr lang="en-CA" dirty="0"/>
              <a:t>It does not refer to any array indexing rules.</a:t>
            </a:r>
          </a:p>
          <a:p>
            <a:r>
              <a:rPr lang="en-CA" dirty="0"/>
              <a:t>With the inbounds keyword, the result value of the GEP is poison if the address is outside the actual underlying allocated object and not the address one-past-the-end.</a:t>
            </a:r>
          </a:p>
          <a:p>
            <a:r>
              <a:rPr lang="en-CA" dirty="0"/>
              <a:t>Performing a load or a store requires an address of allocated and sufficiently aligned memory. </a:t>
            </a:r>
          </a:p>
          <a:p>
            <a:r>
              <a:rPr lang="en-CA" dirty="0"/>
              <a:t>But the GEP itself is only concerned with computing addresses.</a:t>
            </a:r>
          </a:p>
        </p:txBody>
      </p:sp>
    </p:spTree>
    <p:extLst>
      <p:ext uri="{BB962C8B-B14F-4D97-AF65-F5344CB8AC3E}">
        <p14:creationId xmlns:p14="http://schemas.microsoft.com/office/powerpoint/2010/main" val="322596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E4F46-CCF2-883A-4E71-C5B405B5E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B912E-543D-CA31-73C0-68EE94AC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>
                <a:solidFill>
                  <a:srgbClr val="000000"/>
                </a:solidFill>
              </a:rPr>
              <a:t>Global variables and Arrays in LLVM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5694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AF358-F5CE-A761-9402-03661C070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36A37-3A0F-63A8-9FE6-29780848A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Checking types for a </a:t>
            </a:r>
            <a:r>
              <a:rPr lang="en-US" sz="3000" dirty="0" err="1"/>
              <a:t>CreateLoad</a:t>
            </a:r>
            <a:endParaRPr lang="en-US" sz="3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64199E-1B72-C377-AA10-93B0DA8E0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4542B3-338F-450A-1833-A01D911BF9A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Sometimes you need to load from stack (</a:t>
            </a:r>
            <a:r>
              <a:rPr lang="en-US" dirty="0" err="1"/>
              <a:t>AllocaInst</a:t>
            </a:r>
            <a:r>
              <a:rPr lang="en-US" dirty="0"/>
              <a:t>) or from field variable (global variables in Decaf)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FDB2B0-EDDA-DE72-7BAC-5FBEED2ADE4C}"/>
              </a:ext>
            </a:extLst>
          </p:cNvPr>
          <p:cNvSpPr txBox="1"/>
          <p:nvPr/>
        </p:nvSpPr>
        <p:spPr>
          <a:xfrm>
            <a:off x="359532" y="1964424"/>
            <a:ext cx="8424936" cy="30469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::Type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inferType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::Value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::isa&lt;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GlobalVariable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GlobalVariable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gv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::cast&lt;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GlobalVariable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gv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getValueType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 else if 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::isa&lt;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::cast&lt;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getAllocatedType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()-&gt;print(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::outs());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554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8BEE2-8F36-C6BA-DF25-7129C0AD7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2117-5891-F6C2-2DD6-3772AA41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Array types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2CF04-FB5A-4A53-1050-28E16267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0CD9D-1837-82CB-1128-9D0E9801BD9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216025"/>
            <a:ext cx="7543750" cy="707653"/>
          </a:xfrm>
        </p:spPr>
        <p:txBody>
          <a:bodyPr/>
          <a:lstStyle/>
          <a:p>
            <a:r>
              <a:rPr lang="en-US" dirty="0"/>
              <a:t>For int and bool types in Decaf we have field declarations that can be arrays over that type. To get the array type use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2C910-53C4-5F5E-8F6A-66412BD52418}"/>
              </a:ext>
            </a:extLst>
          </p:cNvPr>
          <p:cNvSpPr txBox="1"/>
          <p:nvPr/>
        </p:nvSpPr>
        <p:spPr>
          <a:xfrm>
            <a:off x="359532" y="2209088"/>
            <a:ext cx="8424936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decafType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ty, int size)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switch (ty)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case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intTy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return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::get(Builder.getInt32Ty(), size);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case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boolTy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 return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::get(Builder.getInt1Ty(), size);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default: throw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("unknown type in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call");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3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36B44-A584-4DD9-135A-3E5E5A58F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D61F-92BC-1660-1819-24BA942F2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Checking if </a:t>
            </a:r>
            <a:r>
              <a:rPr lang="en-US" sz="3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3000" dirty="0">
                <a:latin typeface="Consolas" panose="020B0609020204030204" pitchFamily="49" charset="0"/>
                <a:cs typeface="Consolas" panose="020B0609020204030204" pitchFamily="49" charset="0"/>
              </a:rPr>
              <a:t>::Value* </a:t>
            </a:r>
            <a:r>
              <a:rPr lang="en-US" sz="3000" dirty="0"/>
              <a:t>is an array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5D2ADC-7AA4-72E9-106D-7A1F3ACCA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46413-A2AA-1F3F-01FB-491C23644C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28650" y="1030898"/>
            <a:ext cx="8155818" cy="1108804"/>
          </a:xfrm>
        </p:spPr>
        <p:txBody>
          <a:bodyPr>
            <a:normAutofit/>
          </a:bodyPr>
          <a:lstStyle/>
          <a:p>
            <a:r>
              <a:rPr lang="en-US" dirty="0"/>
              <a:t>Since we are storing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::Value* </a:t>
            </a:r>
            <a:r>
              <a:rPr lang="en-US" dirty="0"/>
              <a:t>in the symbol table, we sometimes have to check if it is an array. In Decaf arrays are always field declarations (global variables).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28505D-EA8B-9F15-419E-98DD2DCFB64A}"/>
              </a:ext>
            </a:extLst>
          </p:cNvPr>
          <p:cNvSpPr txBox="1"/>
          <p:nvPr/>
        </p:nvSpPr>
        <p:spPr>
          <a:xfrm>
            <a:off x="359532" y="2209088"/>
            <a:ext cx="8424936" cy="280076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isGlobalArrayType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::Value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(NULL ==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false;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if 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::isa&lt;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GlobalVariable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))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AllocaInst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*)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val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(Builder.getInt32(0) !=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Alloca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getArraySize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false;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428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2355-1E87-FD12-D7C5-84E4973FA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D356E-9DA2-1A74-65D7-BD1F43CD0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Getting a value from an array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91E4A-5583-2552-FD41-0CCAAA407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92A05-5B5B-959C-1EFD-6A5468F475D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94091" y="1020228"/>
            <a:ext cx="8155818" cy="727670"/>
          </a:xfrm>
        </p:spPr>
        <p:txBody>
          <a:bodyPr>
            <a:normAutofit/>
          </a:bodyPr>
          <a:lstStyle/>
          <a:p>
            <a:r>
              <a:rPr lang="en-US" sz="2000" dirty="0"/>
              <a:t>Let's assume we have the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i32</a:t>
            </a:r>
            <a:r>
              <a:rPr lang="en-US" sz="2000" dirty="0"/>
              <a:t> value of the index into the array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GlobalVariable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*array</a:t>
            </a:r>
            <a:r>
              <a:rPr lang="en-US" sz="2000" dirty="0"/>
              <a:t> stored as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::Value *index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2516AD-4851-9799-0314-9BCDF085B996}"/>
              </a:ext>
            </a:extLst>
          </p:cNvPr>
          <p:cNvSpPr txBox="1"/>
          <p:nvPr/>
        </p:nvSpPr>
        <p:spPr>
          <a:xfrm>
            <a:off x="237245" y="1747898"/>
            <a:ext cx="8532948" cy="329320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::Value *zero =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ConstantInt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::get(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::Type::getInt32Ty(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TheContext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 0);</a:t>
            </a:r>
          </a:p>
          <a:p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::Value *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arrayloc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Builder.CreateInBoundsGEP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array-&gt;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getValueType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array,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{zero, index},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arrayloc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);</a:t>
            </a: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::Type *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array-&gt;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getValueType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dyn_cast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::Type *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elemTy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getElementType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Builder.CreateLoad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elemTy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arrayloc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"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arrayval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");</a:t>
            </a:r>
          </a:p>
        </p:txBody>
      </p:sp>
    </p:spTree>
    <p:extLst>
      <p:ext uri="{BB962C8B-B14F-4D97-AF65-F5344CB8AC3E}">
        <p14:creationId xmlns:p14="http://schemas.microsoft.com/office/powerpoint/2010/main" val="263706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699F6-678A-2807-E683-2C9EB1574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5F7FD-8E21-F3B2-956C-ABA356CCA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 dirty="0"/>
              <a:t>Assigning a new value into an array location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3DB74B-6DDC-0511-9681-E9F25585E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C104B-E445-B247-BB91-C10CB560B869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F870E-BD00-D2C0-CAD2-8E4F47C4542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48539" y="1230820"/>
            <a:ext cx="8110357" cy="616308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This is similar to reading a value from an array assuming we have an </a:t>
            </a:r>
            <a:r>
              <a:rPr lang="en-US" sz="2000" dirty="0" err="1"/>
              <a:t>rvalue</a:t>
            </a:r>
            <a:r>
              <a:rPr lang="en-US" sz="2000" dirty="0"/>
              <a:t> defined as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::Value*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rvalue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609F38-C58B-CBA9-48D2-87F4180E6F8A}"/>
              </a:ext>
            </a:extLst>
          </p:cNvPr>
          <p:cNvSpPr txBox="1"/>
          <p:nvPr/>
        </p:nvSpPr>
        <p:spPr>
          <a:xfrm>
            <a:off x="248108" y="2051065"/>
            <a:ext cx="8511220" cy="23083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::Value *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lvalue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Builder.CreateInBoundsGEP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array-&gt;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getValueType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array,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{zero, index},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arrayloc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);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arrTy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static_cast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llvm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*&gt;(array-&gt;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getValueType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());</a:t>
            </a:r>
          </a:p>
          <a:p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Builder.CreateStore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rvalue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lvalue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70487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5486</TotalTime>
  <Words>3224</Words>
  <Application>Microsoft Macintosh PowerPoint</Application>
  <PresentationFormat>On-screen Show (16:9)</PresentationFormat>
  <Paragraphs>408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Times</vt:lpstr>
      <vt:lpstr>Arial</vt:lpstr>
      <vt:lpstr>Calibri</vt:lpstr>
      <vt:lpstr>Calibri Light</vt:lpstr>
      <vt:lpstr>Consolas</vt:lpstr>
      <vt:lpstr>Times New Roman</vt:lpstr>
      <vt:lpstr>1_Office Theme</vt:lpstr>
      <vt:lpstr>Introduction to LLVM</vt:lpstr>
      <vt:lpstr>Setting up</vt:lpstr>
      <vt:lpstr>Types in LLVM</vt:lpstr>
      <vt:lpstr>Constants in LLVM</vt:lpstr>
      <vt:lpstr>Local Variables in LLVM</vt:lpstr>
      <vt:lpstr>Assignment and checking types</vt:lpstr>
      <vt:lpstr>Declaring a Function in LLVM</vt:lpstr>
      <vt:lpstr>Promoting Types in LLVM</vt:lpstr>
      <vt:lpstr>Basic Blocks in LLVM</vt:lpstr>
      <vt:lpstr>Function parameters</vt:lpstr>
      <vt:lpstr>Function parameters</vt:lpstr>
      <vt:lpstr>Useful Tricks in LLVM</vt:lpstr>
      <vt:lpstr>Modulus in LLVM</vt:lpstr>
      <vt:lpstr>Backward Function Declarations</vt:lpstr>
      <vt:lpstr>Backwards Declarations</vt:lpstr>
      <vt:lpstr>Control Flow in LLVM</vt:lpstr>
      <vt:lpstr>“Backpatching” in LLVM</vt:lpstr>
      <vt:lpstr>“Backpatching” in LLVM</vt:lpstr>
      <vt:lpstr>Static Single Assignment in LLVM</vt:lpstr>
      <vt:lpstr>Loops and local variables</vt:lpstr>
      <vt:lpstr>Loops and local variables</vt:lpstr>
      <vt:lpstr>Short-circuit of boolean expressions</vt:lpstr>
      <vt:lpstr>Short-circuit of boolean expressions</vt:lpstr>
      <vt:lpstr>Short-circuit of boolean expressions</vt:lpstr>
      <vt:lpstr>Short-circuit of boolean expressions</vt:lpstr>
      <vt:lpstr>GetElementPointer (GEP)</vt:lpstr>
      <vt:lpstr>Dealing with non-scalar types</vt:lpstr>
      <vt:lpstr>PowerPoint Presentation</vt:lpstr>
      <vt:lpstr>Why is the extra 0 index required?</vt:lpstr>
      <vt:lpstr>What is dereferenced by GEP?</vt:lpstr>
      <vt:lpstr>What does inbounds mean?</vt:lpstr>
      <vt:lpstr>Global variables and Arrays in LLVM</vt:lpstr>
      <vt:lpstr>Checking types for a CreateLoad</vt:lpstr>
      <vt:lpstr>Array types</vt:lpstr>
      <vt:lpstr>Checking if llvm::Value* is an array</vt:lpstr>
      <vt:lpstr>Getting a value from an array</vt:lpstr>
      <vt:lpstr>Assigning a new value into an array location</vt:lpstr>
    </vt:vector>
  </TitlesOfParts>
  <Company>SFU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379  Compilers</dc:title>
  <dc:creator>Anoop Sarkar</dc:creator>
  <cp:lastModifiedBy>Anoop Sarkar</cp:lastModifiedBy>
  <cp:revision>696</cp:revision>
  <cp:lastPrinted>2019-07-04T15:47:24Z</cp:lastPrinted>
  <dcterms:created xsi:type="dcterms:W3CDTF">2011-11-10T22:26:16Z</dcterms:created>
  <dcterms:modified xsi:type="dcterms:W3CDTF">2025-07-28T20:32:16Z</dcterms:modified>
</cp:coreProperties>
</file>