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2" r:id="rId1"/>
  </p:sldMasterIdLst>
  <p:notesMasterIdLst>
    <p:notesMasterId r:id="rId25"/>
  </p:notesMasterIdLst>
  <p:handoutMasterIdLst>
    <p:handoutMasterId r:id="rId26"/>
  </p:handoutMasterIdLst>
  <p:sldIdLst>
    <p:sldId id="382" r:id="rId2"/>
    <p:sldId id="269" r:id="rId3"/>
    <p:sldId id="258" r:id="rId4"/>
    <p:sldId id="259" r:id="rId5"/>
    <p:sldId id="260" r:id="rId6"/>
    <p:sldId id="387" r:id="rId7"/>
    <p:sldId id="261" r:id="rId8"/>
    <p:sldId id="262" r:id="rId9"/>
    <p:sldId id="264" r:id="rId10"/>
    <p:sldId id="271" r:id="rId11"/>
    <p:sldId id="273" r:id="rId12"/>
    <p:sldId id="263" r:id="rId13"/>
    <p:sldId id="384" r:id="rId14"/>
    <p:sldId id="385" r:id="rId15"/>
    <p:sldId id="386" r:id="rId16"/>
    <p:sldId id="383" r:id="rId17"/>
    <p:sldId id="265" r:id="rId18"/>
    <p:sldId id="266" r:id="rId19"/>
    <p:sldId id="267" r:id="rId20"/>
    <p:sldId id="268" r:id="rId21"/>
    <p:sldId id="388" r:id="rId22"/>
    <p:sldId id="389" r:id="rId23"/>
    <p:sldId id="390" r:id="rId24"/>
  </p:sldIdLst>
  <p:sldSz cx="9144000" cy="5143500" type="screen16x9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charset="0"/>
        <a:ea typeface="+mn-ea"/>
        <a:cs typeface="+mn-cs"/>
      </a:defRPr>
    </a:lvl5pPr>
    <a:lvl6pPr marL="2286000" algn="l" defTabSz="457200" rtl="0" eaLnBrk="1" latinLnBrk="0" hangingPunct="1">
      <a:defRPr sz="2400" kern="1200">
        <a:solidFill>
          <a:schemeClr val="tx1"/>
        </a:solidFill>
        <a:latin typeface="Times" charset="0"/>
        <a:ea typeface="+mn-ea"/>
        <a:cs typeface="+mn-cs"/>
      </a:defRPr>
    </a:lvl6pPr>
    <a:lvl7pPr marL="2743200" algn="l" defTabSz="457200" rtl="0" eaLnBrk="1" latinLnBrk="0" hangingPunct="1">
      <a:defRPr sz="2400" kern="1200">
        <a:solidFill>
          <a:schemeClr val="tx1"/>
        </a:solidFill>
        <a:latin typeface="Times" charset="0"/>
        <a:ea typeface="+mn-ea"/>
        <a:cs typeface="+mn-cs"/>
      </a:defRPr>
    </a:lvl7pPr>
    <a:lvl8pPr marL="3200400" algn="l" defTabSz="457200" rtl="0" eaLnBrk="1" latinLnBrk="0" hangingPunct="1">
      <a:defRPr sz="2400" kern="1200">
        <a:solidFill>
          <a:schemeClr val="tx1"/>
        </a:solidFill>
        <a:latin typeface="Times" charset="0"/>
        <a:ea typeface="+mn-ea"/>
        <a:cs typeface="+mn-cs"/>
      </a:defRPr>
    </a:lvl8pPr>
    <a:lvl9pPr marL="3657600" algn="l" defTabSz="457200" rtl="0" eaLnBrk="1" latinLnBrk="0" hangingPunct="1">
      <a:defRPr sz="2400" kern="1200">
        <a:solidFill>
          <a:schemeClr val="tx1"/>
        </a:solidFill>
        <a:latin typeface="Times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2" scaleToFitPaper="1"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593"/>
    <p:restoredTop sz="90816"/>
  </p:normalViewPr>
  <p:slideViewPr>
    <p:cSldViewPr>
      <p:cViewPr varScale="1">
        <p:scale>
          <a:sx n="148" d="100"/>
          <a:sy n="148" d="100"/>
        </p:scale>
        <p:origin x="728" y="18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Calibri" panose="020F050202020403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27B186-84AC-564A-BA3D-0F3633C8B4F8}" type="datetimeFigureOut">
              <a:rPr lang="en-US" smtClean="0">
                <a:latin typeface="Calibri" panose="020F0502020204030204" pitchFamily="34" charset="0"/>
              </a:rPr>
              <a:pPr/>
              <a:t>7/7/25</a:t>
            </a:fld>
            <a:endParaRPr lang="en-US" dirty="0">
              <a:latin typeface="Calibri" panose="020F05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Calibri" panose="020F050202020403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F74F989-4BC2-5640-A245-2EFCF8DFC070}" type="slidenum">
              <a:rPr lang="en-US" smtClean="0">
                <a:latin typeface="Calibri" panose="020F0502020204030204" pitchFamily="34" charset="0"/>
              </a:rPr>
              <a:pPr/>
              <a:t>‹#›</a:t>
            </a:fld>
            <a:endParaRPr lang="en-US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828105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="0" i="0">
                <a:latin typeface="Calibri" panose="020F05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373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 i="0">
                <a:latin typeface="Calibri" panose="020F05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373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7373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373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="0" i="0">
                <a:latin typeface="Calibri" panose="020F05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373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 i="0">
                <a:latin typeface="Calibri" panose="020F0502020204030204" pitchFamily="34" charset="0"/>
              </a:defRPr>
            </a:lvl1pPr>
          </a:lstStyle>
          <a:p>
            <a:fld id="{16F2ECA2-7522-F840-8CFD-4BF72A0F811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119427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b="0" i="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Shape 20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  <p:sp>
        <p:nvSpPr>
          <p:cNvPr id="201" name="Shape 20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364149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4806C3-0D37-1E4B-AB06-F67F2304BA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474DE2-44F0-154B-9FE6-BCB6D1E865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4E33B0-B879-9D40-9953-106C0922B8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DC762-1116-2146-A47C-D79A5A5DBAFD}" type="datetime1">
              <a:rPr lang="en-CA" smtClean="0"/>
              <a:t>2025-07-07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01F4B7-24D8-504D-91CD-3E8202E86F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891076-2E3A-CF41-96E4-D4E77A0CF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52BF6-6A9C-D04A-BBE8-37A07D64A1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27978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D10978-DDE8-6144-A6B8-517FFF2E3C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A37744-5627-D646-9036-52ED7E568A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spcAft>
                <a:spcPts val="600"/>
              </a:spcAft>
              <a:defRPr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  <a:lvl4pPr>
              <a:spcAft>
                <a:spcPts val="600"/>
              </a:spcAft>
              <a:defRPr/>
            </a:lvl4pPr>
            <a:lvl5pPr>
              <a:spcAft>
                <a:spcPts val="600"/>
              </a:spcAft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D0F3F8-FC0C-1B43-BB73-11800B42E6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49525-9B7D-5945-A782-775278635E42}" type="datetime1">
              <a:rPr lang="en-CA" smtClean="0"/>
              <a:t>2025-07-07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00E874-E612-CA46-B18E-0C8FA22060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77269F-A49C-1948-BC2E-ABADCE1911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52BF6-6A9C-D04A-BBE8-37A07D64A1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934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B0754-0214-DF47-9D67-A716F6494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234BCA-78F6-F745-9EBE-EE525CDE7A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D707FE-6251-4E4B-BDFF-5C0B1706BE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E1499-BDD1-6940-8C79-13A8B8E63D57}" type="datetime1">
              <a:rPr lang="en-CA" smtClean="0"/>
              <a:t>2025-07-07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2AF015-083F-9840-9A9E-9E31B7D7BE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A0E270-7D4E-DB45-B70B-D033519BA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52BF6-6A9C-D04A-BBE8-37A07D64A1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308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E48785-840A-474A-B8BA-27207C0139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3C8B25-A9AD-F143-AD1A-17A95F44E0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4209DA-22E0-B146-A689-48B1E9D383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A82A87-E151-8641-8C5C-327C5209D6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70EF3-18A7-4644-8DA2-1EB9CA66C736}" type="datetime1">
              <a:rPr lang="en-CA" smtClean="0"/>
              <a:t>2025-07-07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432E4D-CFE1-864C-892F-C0510CC3CF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737C13-4A25-3440-9E41-0DB773459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52BF6-6A9C-D04A-BBE8-37A07D64A1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00510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5B1DBC-EEEB-1C44-A4C7-02D9BB9CB0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5D77D7-D2B1-0841-9C20-538058B429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0D616F-C61F-5B43-8094-DFDD05AE6B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CAAF8CD-147D-0A4A-BE13-69AAC57DB7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2EBD089-7443-DF4A-B93B-FC32F414CA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4C8830C-AD3A-A446-BF5B-7A77BA98B6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38FC1-2481-FB4A-91E5-87F3422DE2D5}" type="datetime1">
              <a:rPr lang="en-CA" smtClean="0"/>
              <a:t>2025-07-07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EAAD4C6-8A32-E04D-85DA-3739164804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150648-37B9-F641-A809-40BEBE4CD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52BF6-6A9C-D04A-BBE8-37A07D64A1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6891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2026B-B6A3-EF4D-842B-9C96C95EBC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9B243C6-3123-ED41-BC4A-2F8A58F1AD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D5C515-1622-C840-89B2-A4A55D34866A}" type="datetime1">
              <a:rPr lang="en-CA" smtClean="0"/>
              <a:t>2025-07-07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8FF4D9-A959-C943-9751-31FDE7548C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08D117-E466-BD48-A108-6422DCF14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52BF6-6A9C-D04A-BBE8-37A07D64A1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39388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61BBCE3-E514-D54F-B044-7DF10F00B6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77E75-6C88-BB47-AC6F-0DCA859E7113}" type="datetime1">
              <a:rPr lang="en-CA" smtClean="0"/>
              <a:t>2025-07-07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E219DF5-0E3C-2C40-BDE6-94E98A9F37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75E4FB-2E36-024F-9776-AFED77F03E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52BF6-6A9C-D04A-BBE8-37A07D64A1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54938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B621DF-5A92-D94F-88C5-5DB1A96835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5DA461-75EB-C94E-A41A-1280134B90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1D39AE-0AA2-2B40-B6F4-B24A10D9AA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593C8F-B5C1-0D4A-8556-73269A2E3E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12F8B-7E05-A047-BAC3-EE71BEBBE5BE}" type="datetime1">
              <a:rPr lang="en-CA" smtClean="0"/>
              <a:t>2025-07-07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9A6773-21F3-7040-BF77-4C1D0B809C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652BF5-D92E-A14D-B1B8-704532D27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52BF6-6A9C-D04A-BBE8-37A07D64A1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89282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DFB85D-520A-BD48-A297-F7A9EDDB93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A2093CD-6667-AD4E-93F7-F3B21EF98B7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DCED6C-F32A-6A44-B857-EBD308B3E7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F4EDF9-2E61-C346-AEC1-C5515D5109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D9F72A-E93E-B546-8268-6408A6E1DA62}" type="datetime1">
              <a:rPr lang="en-CA" smtClean="0"/>
              <a:t>2025-07-07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8F289B-5706-A047-960A-6FDB1750F2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612078-4758-934E-BFE9-86E98A44EE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52BF6-6A9C-D04A-BBE8-37A07D64A1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31721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4CE0D-89FC-894E-837F-75025627F1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80ACAA-2C0A-304E-83F1-4EB51F17E2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F2CE1A-ECCD-7C45-9EC1-935CBB996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FEDD1-5A1B-2342-BAF0-F7C5511A73CE}" type="datetime1">
              <a:rPr lang="en-CA" smtClean="0"/>
              <a:t>2025-07-07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CB26C1-B795-194B-A2F7-B95309E54F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243C09-DCC3-4E4C-AE13-B0962DDB7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52BF6-6A9C-D04A-BBE8-37A07D64A1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2521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7684669-9A93-654D-9A2F-8081C877842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AB22E1-C8CF-4B47-B5A2-1EE8384A2C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0452BC-8E3F-AD42-BB94-46241CB0D0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9E59AE-0AE1-4048-8BD6-D39FC0EBB194}" type="datetime1">
              <a:rPr lang="en-CA" smtClean="0"/>
              <a:t>2025-07-07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62FCD2-719C-FC4A-8ADE-C7C90A064A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91E3A0-1E32-BB4E-B406-C12478931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52BF6-6A9C-D04A-BBE8-37A07D64A1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75371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Section 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18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725"/>
          </a:xfrm>
          <a:prstGeom prst="rect">
            <a:avLst/>
          </a:prstGeom>
        </p:spPr>
        <p:txBody>
          <a:bodyPr lIns="91425" tIns="91425" rIns="91425" bIns="91425" anchor="ctr" anchorCtr="0"/>
          <a:lstStyle>
            <a:lvl1pPr lvl="0" algn="ctr">
              <a:spcBef>
                <a:spcPts val="0"/>
              </a:spcBef>
              <a:buSzPct val="100000"/>
              <a:defRPr sz="2700"/>
            </a:lvl1pPr>
            <a:lvl2pPr lvl="1" algn="ctr">
              <a:spcBef>
                <a:spcPts val="0"/>
              </a:spcBef>
              <a:buSzPct val="100000"/>
              <a:defRPr sz="2700"/>
            </a:lvl2pPr>
            <a:lvl3pPr lvl="2" algn="ctr">
              <a:spcBef>
                <a:spcPts val="0"/>
              </a:spcBef>
              <a:buSzPct val="100000"/>
              <a:defRPr sz="2700"/>
            </a:lvl3pPr>
            <a:lvl4pPr lvl="3" algn="ctr">
              <a:spcBef>
                <a:spcPts val="0"/>
              </a:spcBef>
              <a:buSzPct val="100000"/>
              <a:defRPr sz="2700"/>
            </a:lvl4pPr>
            <a:lvl5pPr lvl="4" algn="ctr">
              <a:spcBef>
                <a:spcPts val="0"/>
              </a:spcBef>
              <a:buSzPct val="100000"/>
              <a:defRPr sz="2700"/>
            </a:lvl5pPr>
            <a:lvl6pPr lvl="5" algn="ctr">
              <a:spcBef>
                <a:spcPts val="0"/>
              </a:spcBef>
              <a:buSzPct val="100000"/>
              <a:defRPr sz="2700"/>
            </a:lvl6pPr>
            <a:lvl7pPr lvl="6" algn="ctr">
              <a:spcBef>
                <a:spcPts val="0"/>
              </a:spcBef>
              <a:buSzPct val="100000"/>
              <a:defRPr sz="2700"/>
            </a:lvl7pPr>
            <a:lvl8pPr lvl="7" algn="ctr">
              <a:spcBef>
                <a:spcPts val="0"/>
              </a:spcBef>
              <a:buSzPct val="100000"/>
              <a:defRPr sz="2700"/>
            </a:lvl8pPr>
            <a:lvl9pPr lvl="8" algn="ctr">
              <a:spcBef>
                <a:spcPts val="0"/>
              </a:spcBef>
              <a:buSzPct val="100000"/>
              <a:defRPr sz="27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143812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33"/>
          <p:cNvSpPr txBox="1">
            <a:spLocks noGrp="1"/>
          </p:cNvSpPr>
          <p:nvPr>
            <p:ph type="title"/>
          </p:nvPr>
        </p:nvSpPr>
        <p:spPr>
          <a:xfrm>
            <a:off x="685800" y="457200"/>
            <a:ext cx="7772400" cy="85725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33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33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33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33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33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342900" marR="0" lvl="5" indent="0" algn="ctr" rtl="0">
              <a:spcBef>
                <a:spcPts val="0"/>
              </a:spcBef>
              <a:spcAft>
                <a:spcPts val="0"/>
              </a:spcAft>
              <a:buNone/>
              <a:defRPr sz="33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685800" marR="0" lvl="6" indent="0" algn="ctr" rtl="0">
              <a:spcBef>
                <a:spcPts val="0"/>
              </a:spcBef>
              <a:spcAft>
                <a:spcPts val="0"/>
              </a:spcAft>
              <a:buNone/>
              <a:defRPr sz="33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1028700" marR="0" lvl="7" indent="0" algn="ctr" rtl="0">
              <a:spcBef>
                <a:spcPts val="0"/>
              </a:spcBef>
              <a:spcAft>
                <a:spcPts val="0"/>
              </a:spcAft>
              <a:buNone/>
              <a:defRPr sz="33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1371600" marR="0" lvl="8" indent="0" algn="ctr" rtl="0">
              <a:spcBef>
                <a:spcPts val="0"/>
              </a:spcBef>
              <a:spcAft>
                <a:spcPts val="0"/>
              </a:spcAft>
              <a:buNone/>
              <a:defRPr sz="33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34" name="Shape 34"/>
          <p:cNvSpPr txBox="1">
            <a:spLocks noGrp="1"/>
          </p:cNvSpPr>
          <p:nvPr>
            <p:ph type="body" idx="1"/>
          </p:nvPr>
        </p:nvSpPr>
        <p:spPr>
          <a:xfrm>
            <a:off x="685801" y="1485900"/>
            <a:ext cx="3809999" cy="30861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257175" marR="0" lvl="0" indent="-104775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557213" marR="0" lvl="1" indent="-80963" algn="l" rtl="0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–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857250" marR="0" lvl="2" indent="-5715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200150" marR="0" lvl="3" indent="-762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–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543050" marR="0" lvl="4" indent="-762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»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885950" marR="0" lvl="5" indent="-762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»"/>
              <a:defRPr sz="15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2228850" marR="0" lvl="6" indent="-762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»"/>
              <a:defRPr sz="15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2571750" marR="0" lvl="7" indent="-762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»"/>
              <a:defRPr sz="15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2914650" marR="0" lvl="8" indent="-762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»"/>
              <a:defRPr sz="15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35" name="Shape 35"/>
          <p:cNvSpPr txBox="1">
            <a:spLocks noGrp="1"/>
          </p:cNvSpPr>
          <p:nvPr>
            <p:ph type="body" idx="2"/>
          </p:nvPr>
        </p:nvSpPr>
        <p:spPr>
          <a:xfrm>
            <a:off x="4648201" y="1485900"/>
            <a:ext cx="3809999" cy="30861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257175" marR="0" lvl="0" indent="-104775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557213" marR="0" lvl="1" indent="-80963" algn="l" rtl="0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–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857250" marR="0" lvl="2" indent="-5715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200150" marR="0" lvl="3" indent="-762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–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543050" marR="0" lvl="4" indent="-762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»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885950" marR="0" lvl="5" indent="-762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»"/>
              <a:defRPr sz="15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2228850" marR="0" lvl="6" indent="-762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»"/>
              <a:defRPr sz="15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2571750" marR="0" lvl="7" indent="-762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»"/>
              <a:defRPr sz="15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2914650" marR="0" lvl="8" indent="-762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»"/>
              <a:defRPr sz="15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36" name="Shape 36"/>
          <p:cNvSpPr txBox="1">
            <a:spLocks noGrp="1"/>
          </p:cNvSpPr>
          <p:nvPr>
            <p:ph type="dt" idx="10"/>
          </p:nvPr>
        </p:nvSpPr>
        <p:spPr>
          <a:xfrm>
            <a:off x="685801" y="4686300"/>
            <a:ext cx="1904999" cy="3429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0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342900" marR="0" lvl="1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685800" marR="0" lvl="2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028700" marR="0" lvl="3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1371600" marR="0" lvl="4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17145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20574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24003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27432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37" name="Shape 37"/>
          <p:cNvSpPr txBox="1">
            <a:spLocks noGrp="1"/>
          </p:cNvSpPr>
          <p:nvPr>
            <p:ph type="ftr" idx="11"/>
          </p:nvPr>
        </p:nvSpPr>
        <p:spPr>
          <a:xfrm>
            <a:off x="31242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0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342900" marR="0" lvl="1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685800" marR="0" lvl="2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028700" marR="0" lvl="3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1371600" marR="0" lvl="4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17145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20574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24003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27432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38" name="Shape 38"/>
          <p:cNvSpPr txBox="1">
            <a:spLocks noGrp="1"/>
          </p:cNvSpPr>
          <p:nvPr>
            <p:ph type="sldNum" idx="12"/>
          </p:nvPr>
        </p:nvSpPr>
        <p:spPr>
          <a:xfrm>
            <a:off x="6553201" y="4686300"/>
            <a:ext cx="1904999" cy="3429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algn="r">
              <a:buSzPct val="25000"/>
            </a:pPr>
            <a:fld id="{00000000-1234-1234-1234-123412341234}" type="slidenum">
              <a:rPr lang="en-US" sz="105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algn="r">
                <a:buSzPct val="25000"/>
              </a:pPr>
              <a:t>‹#›</a:t>
            </a:fld>
            <a:endParaRPr lang="en-US"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285844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05FBF36-3AE9-6F4F-9D44-FDF1EDE691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433E42-24FB-9E4C-A197-FBE95A3978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A9F3E4-CCFD-A546-BD98-34B6A6B34C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0" i="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fld id="{97DF4AC7-DB73-7444-A2A7-FD79FE1A2B2B}" type="datetime1">
              <a:rPr lang="en-CA" smtClean="0"/>
              <a:pPr/>
              <a:t>2025-07-07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8AAA39-D2DE-7B4A-BB24-AAC6C28B6F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0" i="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61F2AD-686E-E445-9758-B74AC410CE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0" i="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fld id="{7B252BF6-6A9C-D04A-BBE8-37A07D64A1C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69263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Shape 203"/>
          <p:cNvSpPr txBox="1">
            <a:spLocks noGrp="1"/>
          </p:cNvSpPr>
          <p:nvPr>
            <p:ph type="ctrTitle"/>
          </p:nvPr>
        </p:nvSpPr>
        <p:spPr>
          <a:xfrm>
            <a:off x="1143000" y="116119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vert="horz" wrap="square" lIns="68569" tIns="34275" rIns="68569" bIns="34275" numCol="1" anchor="ctr" anchorCtr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0"/>
              </a:spcBef>
            </a:pP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Introduction to LLVM</a:t>
            </a:r>
          </a:p>
        </p:txBody>
      </p:sp>
      <p:sp>
        <p:nvSpPr>
          <p:cNvPr id="204" name="Shape 204"/>
          <p:cNvSpPr txBox="1">
            <a:spLocks noGrp="1"/>
          </p:cNvSpPr>
          <p:nvPr>
            <p:ph type="subTitle" idx="1"/>
          </p:nvPr>
        </p:nvSpPr>
        <p:spPr>
          <a:xfrm>
            <a:off x="1143000" y="3020948"/>
            <a:ext cx="6858000" cy="1241822"/>
          </a:xfrm>
          <a:prstGeom prst="rect">
            <a:avLst/>
          </a:prstGeom>
          <a:noFill/>
          <a:ln>
            <a:noFill/>
          </a:ln>
        </p:spPr>
        <p:txBody>
          <a:bodyPr vert="horz" wrap="square" lIns="68569" tIns="34275" rIns="68569" bIns="34275" numCol="1" anchor="t" anchorCtr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ct val="25000"/>
            </a:pPr>
            <a:r>
              <a:rPr lang="en-US" dirty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CMPT 379: Compilers</a:t>
            </a:r>
          </a:p>
          <a:p>
            <a:pPr>
              <a:spcBef>
                <a:spcPts val="480"/>
              </a:spcBef>
              <a:buClr>
                <a:srgbClr val="888888"/>
              </a:buClr>
              <a:buSzPct val="25000"/>
            </a:pPr>
            <a:r>
              <a:rPr lang="en-US" dirty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Instructor: Anoop Sarkar</a:t>
            </a:r>
          </a:p>
          <a:p>
            <a:pPr>
              <a:spcBef>
                <a:spcPts val="480"/>
              </a:spcBef>
              <a:buClr>
                <a:srgbClr val="888888"/>
              </a:buClr>
              <a:buSzPct val="25000"/>
            </a:pPr>
            <a:r>
              <a:rPr lang="en-US" sz="1800" dirty="0" err="1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anoopsarkar.github.io</a:t>
            </a:r>
            <a:r>
              <a:rPr lang="en-US" sz="1800" dirty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/compilers-class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63F20B2-AEC3-6A42-B2F3-26D9A0DA1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E0B67-940A-1642-BEDB-1ACB28CE4965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205" name="Shape 205"/>
          <p:cNvSpPr/>
          <p:nvPr/>
        </p:nvSpPr>
        <p:spPr>
          <a:xfrm>
            <a:off x="7020272" y="273525"/>
            <a:ext cx="1750911" cy="383175"/>
          </a:xfrm>
          <a:prstGeom prst="roundRect">
            <a:avLst>
              <a:gd name="adj" fmla="val 16667"/>
            </a:avLst>
          </a:prstGeom>
          <a:solidFill>
            <a:schemeClr val="accent4">
              <a:lumMod val="60000"/>
              <a:lumOff val="40000"/>
            </a:schemeClr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68569" tIns="34275" rIns="68569" bIns="34275" anchor="t" anchorCtr="0">
            <a:noAutofit/>
          </a:bodyPr>
          <a:lstStyle/>
          <a:p>
            <a:pPr algn="ctr">
              <a:spcBef>
                <a:spcPts val="0"/>
              </a:spcBef>
              <a:buClr>
                <a:schemeClr val="dk1"/>
              </a:buClr>
              <a:buSzPct val="25000"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Decaf and LLVM</a:t>
            </a:r>
          </a:p>
        </p:txBody>
      </p:sp>
    </p:spTree>
    <p:extLst>
      <p:ext uri="{BB962C8B-B14F-4D97-AF65-F5344CB8AC3E}">
        <p14:creationId xmlns:p14="http://schemas.microsoft.com/office/powerpoint/2010/main" val="36913880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39747-437E-6149-A5A0-36D1B37F1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Setting up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BF72B01-E5CC-164B-B0C9-FBBE30CB7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C67CD-6733-D04F-B9BE-AD105949F24E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6C41FC-5A7C-F340-AB12-8A010D53C440}"/>
              </a:ext>
            </a:extLst>
          </p:cNvPr>
          <p:cNvSpPr txBox="1"/>
          <p:nvPr/>
        </p:nvSpPr>
        <p:spPr>
          <a:xfrm>
            <a:off x="628650" y="1320829"/>
            <a:ext cx="6679654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ea typeface="Anonymous Pro" panose="02060609030202000504" pitchFamily="49" charset="0"/>
                <a:cs typeface="Consolas" panose="020B0609020204030204" pitchFamily="49" charset="0"/>
              </a:rPr>
              <a:t>static </a:t>
            </a:r>
            <a:r>
              <a:rPr lang="en-US" sz="2000" dirty="0" err="1">
                <a:latin typeface="Consolas" panose="020B0609020204030204" pitchFamily="49" charset="0"/>
                <a:ea typeface="Anonymous Pro" panose="02060609030202000504" pitchFamily="49" charset="0"/>
                <a:cs typeface="Consolas" panose="020B0609020204030204" pitchFamily="49" charset="0"/>
              </a:rPr>
              <a:t>llvm</a:t>
            </a:r>
            <a:r>
              <a:rPr lang="en-US" sz="2000" dirty="0">
                <a:latin typeface="Consolas" panose="020B0609020204030204" pitchFamily="49" charset="0"/>
                <a:ea typeface="Anonymous Pro" panose="02060609030202000504" pitchFamily="49" charset="0"/>
                <a:cs typeface="Consolas" panose="020B0609020204030204" pitchFamily="49" charset="0"/>
              </a:rPr>
              <a:t>::Module *</a:t>
            </a:r>
            <a:r>
              <a:rPr lang="en-US" sz="2000" dirty="0" err="1">
                <a:latin typeface="Consolas" panose="020B0609020204030204" pitchFamily="49" charset="0"/>
                <a:ea typeface="Anonymous Pro" panose="02060609030202000504" pitchFamily="49" charset="0"/>
                <a:cs typeface="Consolas" panose="020B0609020204030204" pitchFamily="49" charset="0"/>
              </a:rPr>
              <a:t>TheModule</a:t>
            </a:r>
            <a:r>
              <a:rPr lang="en-US" sz="2000" dirty="0">
                <a:latin typeface="Consolas" panose="020B0609020204030204" pitchFamily="49" charset="0"/>
                <a:ea typeface="Anonymous Pro" panose="02060609030202000504" pitchFamily="49" charset="0"/>
                <a:cs typeface="Consolas" panose="020B0609020204030204" pitchFamily="49" charset="0"/>
              </a:rPr>
              <a:t>;</a:t>
            </a:r>
          </a:p>
          <a:p>
            <a:endParaRPr lang="en-US" sz="2000" dirty="0">
              <a:latin typeface="Consolas" panose="020B0609020204030204" pitchFamily="49" charset="0"/>
              <a:ea typeface="Anonymous Pro" panose="02060609030202000504" pitchFamily="49" charset="0"/>
              <a:cs typeface="Consolas" panose="020B0609020204030204" pitchFamily="49" charset="0"/>
            </a:endParaRPr>
          </a:p>
          <a:p>
            <a:r>
              <a:rPr lang="en-US" sz="2000" dirty="0">
                <a:latin typeface="Consolas" panose="020B0609020204030204" pitchFamily="49" charset="0"/>
                <a:ea typeface="Anonymous Pro" panose="02060609030202000504" pitchFamily="49" charset="0"/>
                <a:cs typeface="Consolas" panose="020B0609020204030204" pitchFamily="49" charset="0"/>
              </a:rPr>
              <a:t>static </a:t>
            </a:r>
            <a:r>
              <a:rPr lang="en-US" sz="2000" dirty="0" err="1">
                <a:latin typeface="Consolas" panose="020B0609020204030204" pitchFamily="49" charset="0"/>
                <a:ea typeface="Anonymous Pro" panose="02060609030202000504" pitchFamily="49" charset="0"/>
                <a:cs typeface="Consolas" panose="020B0609020204030204" pitchFamily="49" charset="0"/>
              </a:rPr>
              <a:t>llvm</a:t>
            </a:r>
            <a:r>
              <a:rPr lang="en-US" sz="2000" dirty="0">
                <a:latin typeface="Consolas" panose="020B0609020204030204" pitchFamily="49" charset="0"/>
                <a:ea typeface="Anonymous Pro" panose="02060609030202000504" pitchFamily="49" charset="0"/>
                <a:cs typeface="Consolas" panose="020B0609020204030204" pitchFamily="49" charset="0"/>
              </a:rPr>
              <a:t>::</a:t>
            </a:r>
            <a:r>
              <a:rPr lang="en-US" sz="2000" dirty="0" err="1">
                <a:latin typeface="Consolas" panose="020B0609020204030204" pitchFamily="49" charset="0"/>
                <a:ea typeface="Anonymous Pro" panose="02060609030202000504" pitchFamily="49" charset="0"/>
                <a:cs typeface="Consolas" panose="020B0609020204030204" pitchFamily="49" charset="0"/>
              </a:rPr>
              <a:t>LLVMContext</a:t>
            </a:r>
            <a:r>
              <a:rPr lang="en-US" sz="2000" dirty="0">
                <a:latin typeface="Consolas" panose="020B0609020204030204" pitchFamily="49" charset="0"/>
                <a:ea typeface="Anonymous Pro" panose="02060609030202000504" pitchFamily="49" charset="0"/>
                <a:cs typeface="Consolas" panose="020B0609020204030204" pitchFamily="49" charset="0"/>
              </a:rPr>
              <a:t> </a:t>
            </a:r>
            <a:r>
              <a:rPr lang="en-US" sz="2000" dirty="0" err="1">
                <a:latin typeface="Consolas" panose="020B0609020204030204" pitchFamily="49" charset="0"/>
                <a:ea typeface="Anonymous Pro" panose="02060609030202000504" pitchFamily="49" charset="0"/>
                <a:cs typeface="Consolas" panose="020B0609020204030204" pitchFamily="49" charset="0"/>
              </a:rPr>
              <a:t>TheContext</a:t>
            </a:r>
            <a:r>
              <a:rPr lang="en-US" sz="2000" dirty="0">
                <a:latin typeface="Consolas" panose="020B0609020204030204" pitchFamily="49" charset="0"/>
                <a:ea typeface="Anonymous Pro" panose="02060609030202000504" pitchFamily="49" charset="0"/>
                <a:cs typeface="Consolas" panose="020B0609020204030204" pitchFamily="49" charset="0"/>
              </a:rPr>
              <a:t>;</a:t>
            </a:r>
          </a:p>
          <a:p>
            <a:endParaRPr lang="en-US" sz="2000" dirty="0">
              <a:latin typeface="Consolas" panose="020B0609020204030204" pitchFamily="49" charset="0"/>
              <a:ea typeface="Anonymous Pro" panose="02060609030202000504" pitchFamily="49" charset="0"/>
              <a:cs typeface="Consolas" panose="020B0609020204030204" pitchFamily="49" charset="0"/>
            </a:endParaRPr>
          </a:p>
          <a:p>
            <a:r>
              <a:rPr lang="en-US" sz="2000" dirty="0">
                <a:latin typeface="Consolas" panose="020B0609020204030204" pitchFamily="49" charset="0"/>
                <a:ea typeface="Anonymous Pro" panose="02060609030202000504" pitchFamily="49" charset="0"/>
                <a:cs typeface="Consolas" panose="020B0609020204030204" pitchFamily="49" charset="0"/>
              </a:rPr>
              <a:t>static </a:t>
            </a:r>
            <a:r>
              <a:rPr lang="en-US" sz="2000" dirty="0" err="1">
                <a:latin typeface="Consolas" panose="020B0609020204030204" pitchFamily="49" charset="0"/>
                <a:ea typeface="Anonymous Pro" panose="02060609030202000504" pitchFamily="49" charset="0"/>
                <a:cs typeface="Consolas" panose="020B0609020204030204" pitchFamily="49" charset="0"/>
              </a:rPr>
              <a:t>llvm</a:t>
            </a:r>
            <a:r>
              <a:rPr lang="en-US" sz="2000" dirty="0">
                <a:latin typeface="Consolas" panose="020B0609020204030204" pitchFamily="49" charset="0"/>
                <a:ea typeface="Anonymous Pro" panose="02060609030202000504" pitchFamily="49" charset="0"/>
                <a:cs typeface="Consolas" panose="020B0609020204030204" pitchFamily="49" charset="0"/>
              </a:rPr>
              <a:t>::</a:t>
            </a:r>
            <a:r>
              <a:rPr lang="en-US" sz="2000" dirty="0" err="1">
                <a:latin typeface="Consolas" panose="020B0609020204030204" pitchFamily="49" charset="0"/>
                <a:ea typeface="Anonymous Pro" panose="02060609030202000504" pitchFamily="49" charset="0"/>
                <a:cs typeface="Consolas" panose="020B0609020204030204" pitchFamily="49" charset="0"/>
              </a:rPr>
              <a:t>IRBuilder</a:t>
            </a:r>
            <a:r>
              <a:rPr lang="en-US" sz="2000" dirty="0">
                <a:latin typeface="Consolas" panose="020B0609020204030204" pitchFamily="49" charset="0"/>
                <a:ea typeface="Anonymous Pro" panose="02060609030202000504" pitchFamily="49" charset="0"/>
                <a:cs typeface="Consolas" panose="020B0609020204030204" pitchFamily="49" charset="0"/>
              </a:rPr>
              <a:t>&lt;&gt; Builder(</a:t>
            </a:r>
            <a:r>
              <a:rPr lang="en-US" sz="2000" dirty="0" err="1">
                <a:latin typeface="Consolas" panose="020B0609020204030204" pitchFamily="49" charset="0"/>
                <a:ea typeface="Anonymous Pro" panose="02060609030202000504" pitchFamily="49" charset="0"/>
                <a:cs typeface="Consolas" panose="020B0609020204030204" pitchFamily="49" charset="0"/>
              </a:rPr>
              <a:t>TheContext</a:t>
            </a:r>
            <a:r>
              <a:rPr lang="en-US" sz="2000" dirty="0">
                <a:latin typeface="Consolas" panose="020B0609020204030204" pitchFamily="49" charset="0"/>
                <a:ea typeface="Anonymous Pro" panose="02060609030202000504" pitchFamily="49" charset="0"/>
                <a:cs typeface="Consolas" panose="020B0609020204030204" pitchFamily="49" charset="0"/>
              </a:rPr>
              <a:t>);</a:t>
            </a:r>
          </a:p>
        </p:txBody>
      </p:sp>
      <p:sp>
        <p:nvSpPr>
          <p:cNvPr id="5" name="Rounded Rectangular Callout 4">
            <a:extLst>
              <a:ext uri="{FF2B5EF4-FFF2-40B4-BE49-F238E27FC236}">
                <a16:creationId xmlns:a16="http://schemas.microsoft.com/office/drawing/2014/main" id="{0CEA0715-8EDC-4643-8702-964C081A31EF}"/>
              </a:ext>
            </a:extLst>
          </p:cNvPr>
          <p:cNvSpPr/>
          <p:nvPr/>
        </p:nvSpPr>
        <p:spPr bwMode="auto">
          <a:xfrm>
            <a:off x="6457950" y="195903"/>
            <a:ext cx="2484276" cy="918102"/>
          </a:xfrm>
          <a:prstGeom prst="wedgeRoundRectCallout">
            <a:avLst>
              <a:gd name="adj1" fmla="val -105571"/>
              <a:gd name="adj2" fmla="val 72784"/>
              <a:gd name="adj3" fmla="val 16667"/>
            </a:avLst>
          </a:prstGeom>
          <a:solidFill>
            <a:schemeClr val="accent5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sz="1800" dirty="0">
                <a:latin typeface="+mn-lt"/>
                <a:ea typeface="Anonymous Pro" panose="02060609030202000504" pitchFamily="49" charset="0"/>
              </a:rPr>
              <a:t>This global variable contains all the generated code.</a:t>
            </a:r>
            <a:endParaRPr lang="en-US" sz="1800" dirty="0">
              <a:latin typeface="+mn-lt"/>
            </a:endParaRPr>
          </a:p>
        </p:txBody>
      </p:sp>
      <p:sp>
        <p:nvSpPr>
          <p:cNvPr id="6" name="Rounded Rectangular Callout 5">
            <a:extLst>
              <a:ext uri="{FF2B5EF4-FFF2-40B4-BE49-F238E27FC236}">
                <a16:creationId xmlns:a16="http://schemas.microsoft.com/office/drawing/2014/main" id="{D5819536-9DEF-E347-8AAD-4E6523DF6343}"/>
              </a:ext>
            </a:extLst>
          </p:cNvPr>
          <p:cNvSpPr/>
          <p:nvPr/>
        </p:nvSpPr>
        <p:spPr bwMode="auto">
          <a:xfrm>
            <a:off x="6457950" y="3033964"/>
            <a:ext cx="2484276" cy="918102"/>
          </a:xfrm>
          <a:prstGeom prst="wedgeRoundRectCallout">
            <a:avLst>
              <a:gd name="adj1" fmla="val -71059"/>
              <a:gd name="adj2" fmla="val -46980"/>
              <a:gd name="adj3" fmla="val 16667"/>
            </a:avLst>
          </a:prstGeom>
          <a:solidFill>
            <a:schemeClr val="accent5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sz="1800" dirty="0">
                <a:latin typeface="+mn-lt"/>
                <a:ea typeface="Anonymous Pro" panose="02060609030202000504" pitchFamily="49" charset="0"/>
              </a:rPr>
              <a:t>This is the method used to construct the LLVM intermediate code (IR).</a:t>
            </a:r>
          </a:p>
        </p:txBody>
      </p:sp>
      <p:sp>
        <p:nvSpPr>
          <p:cNvPr id="7" name="Rounded Rectangular Callout 6">
            <a:extLst>
              <a:ext uri="{FF2B5EF4-FFF2-40B4-BE49-F238E27FC236}">
                <a16:creationId xmlns:a16="http://schemas.microsoft.com/office/drawing/2014/main" id="{EACD604C-C9ED-2045-92BD-7A38B301DD8A}"/>
              </a:ext>
            </a:extLst>
          </p:cNvPr>
          <p:cNvSpPr/>
          <p:nvPr/>
        </p:nvSpPr>
        <p:spPr bwMode="auto">
          <a:xfrm>
            <a:off x="6477829" y="1300666"/>
            <a:ext cx="2484276" cy="918102"/>
          </a:xfrm>
          <a:prstGeom prst="wedgeRoundRectCallout">
            <a:avLst>
              <a:gd name="adj1" fmla="val -77218"/>
              <a:gd name="adj2" fmla="val 38048"/>
              <a:gd name="adj3" fmla="val 16667"/>
            </a:avLst>
          </a:prstGeom>
          <a:solidFill>
            <a:schemeClr val="accent5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sz="1800" dirty="0">
                <a:latin typeface="+mn-lt"/>
                <a:ea typeface="Anonymous Pro" panose="02060609030202000504" pitchFamily="49" charset="0"/>
              </a:rPr>
              <a:t>The calls to Builder will sometimes use </a:t>
            </a:r>
            <a:r>
              <a:rPr lang="en-US" sz="1800" dirty="0" err="1">
                <a:latin typeface="+mn-lt"/>
                <a:ea typeface="Anonymous Pro" panose="02060609030202000504" pitchFamily="49" charset="0"/>
              </a:rPr>
              <a:t>TheContext</a:t>
            </a:r>
            <a:r>
              <a:rPr lang="en-US" sz="1800" dirty="0">
                <a:latin typeface="+mn-lt"/>
                <a:ea typeface="Anonymous Pro" panose="02060609030202000504" pitchFamily="49" charset="0"/>
              </a:rPr>
              <a:t>.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C232CD5-6DE2-4F46-A12E-FD342B333170}"/>
              </a:ext>
            </a:extLst>
          </p:cNvPr>
          <p:cNvSpPr/>
          <p:nvPr/>
        </p:nvSpPr>
        <p:spPr bwMode="auto">
          <a:xfrm>
            <a:off x="630340" y="3206319"/>
            <a:ext cx="4356970" cy="64807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sz="1800" dirty="0">
                <a:latin typeface="Calibri" panose="020F0502020204030204" pitchFamily="34" charset="0"/>
                <a:ea typeface="Anonymous Pro" panose="02060609030202000504" pitchFamily="49" charset="0"/>
              </a:rPr>
              <a:t>Make sure your </a:t>
            </a:r>
            <a:r>
              <a:rPr lang="en-US" sz="1800" dirty="0" err="1">
                <a:latin typeface="Calibri" panose="020F0502020204030204" pitchFamily="34" charset="0"/>
                <a:ea typeface="Anonymous Pro" panose="02060609030202000504" pitchFamily="49" charset="0"/>
              </a:rPr>
              <a:t>yacc</a:t>
            </a:r>
            <a:r>
              <a:rPr lang="en-US" sz="1800" dirty="0">
                <a:latin typeface="Calibri" panose="020F0502020204030204" pitchFamily="34" charset="0"/>
                <a:ea typeface="Anonymous Pro" panose="02060609030202000504" pitchFamily="49" charset="0"/>
              </a:rPr>
              <a:t> actions incrementally generate instructions in the right order</a:t>
            </a:r>
            <a:endParaRPr lang="en-US" sz="1800" dirty="0">
              <a:latin typeface="Calibri" panose="020F050202020403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D6A939B-0F00-0340-AD4B-0EC178853DD2}"/>
              </a:ext>
            </a:extLst>
          </p:cNvPr>
          <p:cNvSpPr/>
          <p:nvPr/>
        </p:nvSpPr>
        <p:spPr bwMode="auto">
          <a:xfrm>
            <a:off x="628650" y="4193304"/>
            <a:ext cx="5167030" cy="32266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r>
              <a:rPr lang="en-CA" sz="1800" dirty="0">
                <a:latin typeface="Calibri" panose="020F0502020204030204" pitchFamily="34" charset="0"/>
              </a:rPr>
              <a:t>To print out the LLVM output:</a:t>
            </a:r>
          </a:p>
          <a:p>
            <a:r>
              <a:rPr lang="en-CA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TheModule</a:t>
            </a:r>
            <a:r>
              <a:rPr lang="en-CA" sz="1800" dirty="0">
                <a:latin typeface="Consolas" panose="020B0609020204030204" pitchFamily="49" charset="0"/>
                <a:cs typeface="Consolas" panose="020B0609020204030204" pitchFamily="49" charset="0"/>
              </a:rPr>
              <a:t>-&gt;print(</a:t>
            </a:r>
            <a:r>
              <a:rPr lang="en-CA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llvm</a:t>
            </a:r>
            <a:r>
              <a:rPr lang="en-CA" sz="1800" dirty="0">
                <a:latin typeface="Consolas" panose="020B0609020204030204" pitchFamily="49" charset="0"/>
                <a:cs typeface="Consolas" panose="020B0609020204030204" pitchFamily="49" charset="0"/>
              </a:rPr>
              <a:t>::errs(), </a:t>
            </a:r>
            <a:r>
              <a:rPr lang="en-CA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nullptr</a:t>
            </a:r>
            <a:r>
              <a:rPr lang="en-CA" sz="1800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  <a:endParaRPr lang="en-US" sz="18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70494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9" grpId="0" animBg="1"/>
      <p:bldP spid="10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in LLVM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2C104B-E445-B247-BB91-C10CB560B869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334686" y="1498174"/>
            <a:ext cx="8474628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>
                <a:latin typeface="Calibri" panose="020F0502020204030204" pitchFamily="34" charset="0"/>
              </a:rPr>
              <a:t>llvm</a:t>
            </a:r>
            <a:r>
              <a:rPr lang="en-US" sz="2000" dirty="0">
                <a:latin typeface="Calibri" panose="020F0502020204030204" pitchFamily="34" charset="0"/>
              </a:rPr>
              <a:t>::Type *</a:t>
            </a:r>
            <a:r>
              <a:rPr lang="en-US" sz="2000" dirty="0" err="1">
                <a:latin typeface="Calibri" panose="020F0502020204030204" pitchFamily="34" charset="0"/>
              </a:rPr>
              <a:t>getLLVMType</a:t>
            </a:r>
            <a:r>
              <a:rPr lang="en-US" sz="2000" dirty="0">
                <a:latin typeface="Calibri" panose="020F0502020204030204" pitchFamily="34" charset="0"/>
              </a:rPr>
              <a:t>(</a:t>
            </a:r>
            <a:r>
              <a:rPr lang="en-US" sz="2000" dirty="0" err="1">
                <a:latin typeface="Calibri" panose="020F0502020204030204" pitchFamily="34" charset="0"/>
              </a:rPr>
              <a:t>decafType</a:t>
            </a:r>
            <a:r>
              <a:rPr lang="en-US" sz="2000" dirty="0">
                <a:latin typeface="Calibri" panose="020F0502020204030204" pitchFamily="34" charset="0"/>
              </a:rPr>
              <a:t> ty) {</a:t>
            </a:r>
          </a:p>
          <a:p>
            <a:r>
              <a:rPr lang="en-US" sz="2000" dirty="0">
                <a:latin typeface="Calibri" panose="020F0502020204030204" pitchFamily="34" charset="0"/>
              </a:rPr>
              <a:t>        switch (ty) {</a:t>
            </a:r>
          </a:p>
          <a:p>
            <a:r>
              <a:rPr lang="en-US" sz="2000" dirty="0">
                <a:latin typeface="Calibri" panose="020F0502020204030204" pitchFamily="34" charset="0"/>
              </a:rPr>
              <a:t>                case </a:t>
            </a:r>
            <a:r>
              <a:rPr lang="en-US" sz="2000" dirty="0" err="1">
                <a:latin typeface="Calibri" panose="020F0502020204030204" pitchFamily="34" charset="0"/>
              </a:rPr>
              <a:t>voidTy</a:t>
            </a:r>
            <a:r>
              <a:rPr lang="en-US" sz="2000" dirty="0">
                <a:latin typeface="Calibri" panose="020F0502020204030204" pitchFamily="34" charset="0"/>
              </a:rPr>
              <a:t>: return </a:t>
            </a:r>
            <a:r>
              <a:rPr lang="en-US" sz="2000" dirty="0" err="1">
                <a:latin typeface="Calibri" panose="020F0502020204030204" pitchFamily="34" charset="0"/>
              </a:rPr>
              <a:t>Builder.getVoidTy</a:t>
            </a:r>
            <a:r>
              <a:rPr lang="en-US" sz="2000" dirty="0">
                <a:latin typeface="Calibri" panose="020F0502020204030204" pitchFamily="34" charset="0"/>
              </a:rPr>
              <a:t>();</a:t>
            </a:r>
          </a:p>
          <a:p>
            <a:r>
              <a:rPr lang="en-US" sz="2000" dirty="0">
                <a:latin typeface="Calibri" panose="020F0502020204030204" pitchFamily="34" charset="0"/>
              </a:rPr>
              <a:t>                case </a:t>
            </a:r>
            <a:r>
              <a:rPr lang="en-US" sz="2000" dirty="0" err="1">
                <a:latin typeface="Calibri" panose="020F0502020204030204" pitchFamily="34" charset="0"/>
              </a:rPr>
              <a:t>intTy</a:t>
            </a:r>
            <a:r>
              <a:rPr lang="en-US" sz="2000" dirty="0">
                <a:latin typeface="Calibri" panose="020F0502020204030204" pitchFamily="34" charset="0"/>
              </a:rPr>
              <a:t>: return Builder.getInt32Ty();</a:t>
            </a:r>
          </a:p>
          <a:p>
            <a:r>
              <a:rPr lang="en-US" sz="2000" dirty="0">
                <a:latin typeface="Calibri" panose="020F0502020204030204" pitchFamily="34" charset="0"/>
              </a:rPr>
              <a:t>                case </a:t>
            </a:r>
            <a:r>
              <a:rPr lang="en-US" sz="2000" dirty="0" err="1">
                <a:latin typeface="Calibri" panose="020F0502020204030204" pitchFamily="34" charset="0"/>
              </a:rPr>
              <a:t>boolTy</a:t>
            </a:r>
            <a:r>
              <a:rPr lang="en-US" sz="2000" dirty="0">
                <a:latin typeface="Calibri" panose="020F0502020204030204" pitchFamily="34" charset="0"/>
              </a:rPr>
              <a:t>: return Builder.getInt1Ty();</a:t>
            </a:r>
          </a:p>
          <a:p>
            <a:r>
              <a:rPr lang="en-US" sz="2000" dirty="0">
                <a:latin typeface="Calibri" panose="020F0502020204030204" pitchFamily="34" charset="0"/>
              </a:rPr>
              <a:t>                case </a:t>
            </a:r>
            <a:r>
              <a:rPr lang="en-US" sz="2000" dirty="0" err="1">
                <a:latin typeface="Calibri" panose="020F0502020204030204" pitchFamily="34" charset="0"/>
              </a:rPr>
              <a:t>stringTy</a:t>
            </a:r>
            <a:r>
              <a:rPr lang="en-US" sz="2000" dirty="0">
                <a:latin typeface="Calibri" panose="020F0502020204030204" pitchFamily="34" charset="0"/>
              </a:rPr>
              <a:t>: return </a:t>
            </a:r>
            <a:r>
              <a:rPr lang="en-US" sz="2000" dirty="0" err="1">
                <a:latin typeface="Calibri" panose="020F0502020204030204" pitchFamily="34" charset="0"/>
              </a:rPr>
              <a:t>llvm</a:t>
            </a:r>
            <a:r>
              <a:rPr lang="en-US" sz="2000" dirty="0">
                <a:latin typeface="Calibri" panose="020F0502020204030204" pitchFamily="34" charset="0"/>
              </a:rPr>
              <a:t>::</a:t>
            </a:r>
            <a:r>
              <a:rPr lang="en-US" sz="2000" dirty="0" err="1">
                <a:latin typeface="Calibri" panose="020F0502020204030204" pitchFamily="34" charset="0"/>
              </a:rPr>
              <a:t>PointerType</a:t>
            </a:r>
            <a:r>
              <a:rPr lang="en-US" sz="2000" dirty="0">
                <a:latin typeface="Calibri" panose="020F0502020204030204" pitchFamily="34" charset="0"/>
              </a:rPr>
              <a:t>::</a:t>
            </a:r>
            <a:r>
              <a:rPr lang="en-US" sz="2000" dirty="0" err="1">
                <a:latin typeface="Calibri" panose="020F0502020204030204" pitchFamily="34" charset="0"/>
              </a:rPr>
              <a:t>getUnqual</a:t>
            </a:r>
            <a:r>
              <a:rPr lang="en-US" sz="2000" dirty="0">
                <a:latin typeface="Calibri" panose="020F0502020204030204" pitchFamily="34" charset="0"/>
              </a:rPr>
              <a:t>(Builder.getInt8Ty());</a:t>
            </a:r>
          </a:p>
          <a:p>
            <a:r>
              <a:rPr lang="en-US" sz="2000" dirty="0">
                <a:latin typeface="Calibri" panose="020F0502020204030204" pitchFamily="34" charset="0"/>
              </a:rPr>
              <a:t>                default: throw </a:t>
            </a:r>
            <a:r>
              <a:rPr lang="en-US" sz="2000" dirty="0" err="1">
                <a:latin typeface="Calibri" panose="020F0502020204030204" pitchFamily="34" charset="0"/>
              </a:rPr>
              <a:t>runtime_error</a:t>
            </a:r>
            <a:r>
              <a:rPr lang="en-US" sz="2000" dirty="0">
                <a:latin typeface="Calibri" panose="020F0502020204030204" pitchFamily="34" charset="0"/>
              </a:rPr>
              <a:t>("unknown type in </a:t>
            </a:r>
            <a:r>
              <a:rPr lang="en-US" sz="2000" dirty="0" err="1">
                <a:latin typeface="Calibri" panose="020F0502020204030204" pitchFamily="34" charset="0"/>
              </a:rPr>
              <a:t>getType</a:t>
            </a:r>
            <a:r>
              <a:rPr lang="en-US" sz="2000" dirty="0">
                <a:latin typeface="Calibri" panose="020F0502020204030204" pitchFamily="34" charset="0"/>
              </a:rPr>
              <a:t> call");</a:t>
            </a:r>
          </a:p>
          <a:p>
            <a:r>
              <a:rPr lang="en-US" sz="2000" dirty="0">
                <a:latin typeface="Calibri" panose="020F0502020204030204" pitchFamily="34" charset="0"/>
              </a:rPr>
              <a:t>        }</a:t>
            </a:r>
          </a:p>
          <a:p>
            <a:r>
              <a:rPr lang="en-US" sz="2000" dirty="0">
                <a:latin typeface="Calibri" panose="020F0502020204030204" pitchFamily="34" charset="0"/>
              </a:rPr>
              <a:t>}</a:t>
            </a:r>
            <a:endParaRPr lang="en-US" sz="1800" dirty="0">
              <a:latin typeface="Calibri" panose="020F0502020204030204" pitchFamily="34" charset="0"/>
            </a:endParaRPr>
          </a:p>
        </p:txBody>
      </p:sp>
      <p:sp>
        <p:nvSpPr>
          <p:cNvPr id="4" name="Rectangular Callout 3">
            <a:extLst>
              <a:ext uri="{FF2B5EF4-FFF2-40B4-BE49-F238E27FC236}">
                <a16:creationId xmlns:a16="http://schemas.microsoft.com/office/drawing/2014/main" id="{3AC10117-1C7A-9B43-9226-5A103558BD2E}"/>
              </a:ext>
            </a:extLst>
          </p:cNvPr>
          <p:cNvSpPr/>
          <p:nvPr/>
        </p:nvSpPr>
        <p:spPr>
          <a:xfrm>
            <a:off x="5508104" y="206529"/>
            <a:ext cx="3528392" cy="994172"/>
          </a:xfrm>
          <a:prstGeom prst="wedgeRectCallout">
            <a:avLst>
              <a:gd name="adj1" fmla="val -80477"/>
              <a:gd name="adj2" fmla="val 7775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dirty="0" err="1"/>
              <a:t>decafType</a:t>
            </a:r>
            <a:r>
              <a:rPr lang="en-US" sz="1800" dirty="0"/>
              <a:t> is not an LLVM data type. Your </a:t>
            </a:r>
            <a:r>
              <a:rPr lang="en-US" sz="1800" dirty="0" err="1"/>
              <a:t>yacc</a:t>
            </a:r>
            <a:r>
              <a:rPr lang="en-US" sz="1800" dirty="0"/>
              <a:t> program defines it for all the types in a Decaf program</a:t>
            </a:r>
          </a:p>
        </p:txBody>
      </p:sp>
    </p:spTree>
    <p:extLst>
      <p:ext uri="{BB962C8B-B14F-4D97-AF65-F5344CB8AC3E}">
        <p14:creationId xmlns:p14="http://schemas.microsoft.com/office/powerpoint/2010/main" val="53554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Constants in LLVM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2C104B-E445-B247-BB91-C10CB560B869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776800" y="1134491"/>
            <a:ext cx="5063246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err="1">
                <a:latin typeface="Calibri" panose="020F0502020204030204" pitchFamily="34" charset="0"/>
              </a:rPr>
              <a:t>llvm</a:t>
            </a:r>
            <a:r>
              <a:rPr lang="en-US" sz="1800" dirty="0">
                <a:latin typeface="Calibri" panose="020F0502020204030204" pitchFamily="34" charset="0"/>
              </a:rPr>
              <a:t>::Constant *</a:t>
            </a:r>
            <a:r>
              <a:rPr lang="en-US" sz="1800" dirty="0" err="1">
                <a:latin typeface="Calibri" panose="020F0502020204030204" pitchFamily="34" charset="0"/>
              </a:rPr>
              <a:t>getZeroInit</a:t>
            </a:r>
            <a:r>
              <a:rPr lang="en-US" sz="1800" dirty="0">
                <a:latin typeface="Calibri" panose="020F0502020204030204" pitchFamily="34" charset="0"/>
              </a:rPr>
              <a:t>(</a:t>
            </a:r>
            <a:r>
              <a:rPr lang="en-US" sz="1800" dirty="0" err="1">
                <a:latin typeface="Calibri" panose="020F0502020204030204" pitchFamily="34" charset="0"/>
              </a:rPr>
              <a:t>decafType</a:t>
            </a:r>
            <a:r>
              <a:rPr lang="en-US" sz="1800" dirty="0">
                <a:latin typeface="Calibri" panose="020F0502020204030204" pitchFamily="34" charset="0"/>
              </a:rPr>
              <a:t> </a:t>
            </a:r>
            <a:r>
              <a:rPr lang="en-US" sz="1800" dirty="0" err="1">
                <a:latin typeface="Calibri" panose="020F0502020204030204" pitchFamily="34" charset="0"/>
              </a:rPr>
              <a:t>ty</a:t>
            </a:r>
            <a:r>
              <a:rPr lang="en-US" sz="1800" dirty="0">
                <a:latin typeface="Calibri" panose="020F0502020204030204" pitchFamily="34" charset="0"/>
              </a:rPr>
              <a:t>) {</a:t>
            </a:r>
          </a:p>
          <a:p>
            <a:r>
              <a:rPr lang="en-US" sz="1800" dirty="0">
                <a:latin typeface="Calibri" panose="020F0502020204030204" pitchFamily="34" charset="0"/>
              </a:rPr>
              <a:t>    switch (</a:t>
            </a:r>
            <a:r>
              <a:rPr lang="en-US" sz="1800" dirty="0" err="1">
                <a:latin typeface="Calibri" panose="020F0502020204030204" pitchFamily="34" charset="0"/>
              </a:rPr>
              <a:t>ty</a:t>
            </a:r>
            <a:r>
              <a:rPr lang="en-US" sz="1800" dirty="0">
                <a:latin typeface="Calibri" panose="020F0502020204030204" pitchFamily="34" charset="0"/>
              </a:rPr>
              <a:t>) {</a:t>
            </a:r>
          </a:p>
          <a:p>
            <a:r>
              <a:rPr lang="en-US" sz="1800" dirty="0">
                <a:latin typeface="Calibri" panose="020F0502020204030204" pitchFamily="34" charset="0"/>
              </a:rPr>
              <a:t>        case </a:t>
            </a:r>
            <a:r>
              <a:rPr lang="en-US" sz="1800" dirty="0" err="1">
                <a:latin typeface="Calibri" panose="020F0502020204030204" pitchFamily="34" charset="0"/>
              </a:rPr>
              <a:t>intTy</a:t>
            </a:r>
            <a:r>
              <a:rPr lang="en-US" sz="1800" dirty="0">
                <a:latin typeface="Calibri" panose="020F0502020204030204" pitchFamily="34" charset="0"/>
              </a:rPr>
              <a:t>: return Builder.getInt32(0);</a:t>
            </a:r>
          </a:p>
          <a:p>
            <a:r>
              <a:rPr lang="en-US" sz="1800" dirty="0">
                <a:latin typeface="Calibri" panose="020F0502020204030204" pitchFamily="34" charset="0"/>
              </a:rPr>
              <a:t>        case </a:t>
            </a:r>
            <a:r>
              <a:rPr lang="en-US" sz="1800" dirty="0" err="1">
                <a:latin typeface="Calibri" panose="020F0502020204030204" pitchFamily="34" charset="0"/>
              </a:rPr>
              <a:t>boolTy</a:t>
            </a:r>
            <a:r>
              <a:rPr lang="en-US" sz="1800" dirty="0">
                <a:latin typeface="Calibri" panose="020F0502020204030204" pitchFamily="34" charset="0"/>
              </a:rPr>
              <a:t>: return Builder.getInt1(0);</a:t>
            </a:r>
          </a:p>
          <a:p>
            <a:r>
              <a:rPr lang="en-US" sz="1800" dirty="0">
                <a:latin typeface="Calibri" panose="020F0502020204030204" pitchFamily="34" charset="0"/>
              </a:rPr>
              <a:t>        default: throw </a:t>
            </a:r>
            <a:r>
              <a:rPr lang="en-US" sz="1800" dirty="0" err="1">
                <a:latin typeface="Calibri" panose="020F0502020204030204" pitchFamily="34" charset="0"/>
              </a:rPr>
              <a:t>runtime_error</a:t>
            </a:r>
            <a:r>
              <a:rPr lang="en-US" sz="1800" dirty="0">
                <a:latin typeface="Calibri" panose="020F0502020204030204" pitchFamily="34" charset="0"/>
              </a:rPr>
              <a:t>("unknown type");</a:t>
            </a:r>
          </a:p>
          <a:p>
            <a:r>
              <a:rPr lang="en-US" sz="1800" dirty="0">
                <a:latin typeface="Calibri" panose="020F0502020204030204" pitchFamily="34" charset="0"/>
              </a:rPr>
              <a:t>    }   </a:t>
            </a:r>
          </a:p>
          <a:p>
            <a:r>
              <a:rPr lang="en-US" sz="1800" dirty="0">
                <a:latin typeface="Calibri" panose="020F0502020204030204" pitchFamily="34" charset="0"/>
              </a:rP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6800" y="3273561"/>
            <a:ext cx="6306726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err="1">
                <a:latin typeface="Calibri" panose="020F0502020204030204" pitchFamily="34" charset="0"/>
              </a:rPr>
              <a:t>llvm</a:t>
            </a:r>
            <a:r>
              <a:rPr lang="en-US" sz="1800" dirty="0">
                <a:latin typeface="Calibri" panose="020F0502020204030204" pitchFamily="34" charset="0"/>
              </a:rPr>
              <a:t>::Value *</a:t>
            </a:r>
            <a:r>
              <a:rPr lang="en-US" sz="1800" dirty="0" err="1">
                <a:latin typeface="Calibri" panose="020F0502020204030204" pitchFamily="34" charset="0"/>
              </a:rPr>
              <a:t>StringConstAST</a:t>
            </a:r>
            <a:r>
              <a:rPr lang="en-US" sz="1800" dirty="0">
                <a:latin typeface="Calibri" panose="020F0502020204030204" pitchFamily="34" charset="0"/>
              </a:rPr>
              <a:t>::</a:t>
            </a:r>
            <a:r>
              <a:rPr lang="en-US" sz="1800" dirty="0" err="1">
                <a:latin typeface="Calibri" panose="020F0502020204030204" pitchFamily="34" charset="0"/>
              </a:rPr>
              <a:t>Codegen</a:t>
            </a:r>
            <a:r>
              <a:rPr lang="en-US" sz="1800" dirty="0">
                <a:latin typeface="Calibri" panose="020F0502020204030204" pitchFamily="34" charset="0"/>
              </a:rPr>
              <a:t>() {</a:t>
            </a:r>
          </a:p>
          <a:p>
            <a:r>
              <a:rPr lang="en-US" sz="1800" dirty="0">
                <a:latin typeface="Calibri" panose="020F0502020204030204" pitchFamily="34" charset="0"/>
              </a:rPr>
              <a:t>    </a:t>
            </a:r>
            <a:r>
              <a:rPr lang="en-US" sz="1800" dirty="0" err="1">
                <a:latin typeface="Calibri" panose="020F0502020204030204" pitchFamily="34" charset="0"/>
              </a:rPr>
              <a:t>const</a:t>
            </a:r>
            <a:r>
              <a:rPr lang="en-US" sz="1800" dirty="0">
                <a:latin typeface="Calibri" panose="020F0502020204030204" pitchFamily="34" charset="0"/>
              </a:rPr>
              <a:t> char *s = </a:t>
            </a:r>
            <a:r>
              <a:rPr lang="en-US" sz="1800" dirty="0" err="1">
                <a:latin typeface="Calibri" panose="020F0502020204030204" pitchFamily="34" charset="0"/>
              </a:rPr>
              <a:t>StringConst.c_str</a:t>
            </a:r>
            <a:r>
              <a:rPr lang="en-US" sz="1800" dirty="0">
                <a:latin typeface="Calibri" panose="020F0502020204030204" pitchFamily="34" charset="0"/>
              </a:rPr>
              <a:t>();</a:t>
            </a:r>
          </a:p>
          <a:p>
            <a:r>
              <a:rPr lang="en-US" sz="1800" dirty="0">
                <a:latin typeface="Calibri" panose="020F0502020204030204" pitchFamily="34" charset="0"/>
              </a:rPr>
              <a:t>    </a:t>
            </a:r>
            <a:r>
              <a:rPr lang="en-US" sz="1800" dirty="0" err="1">
                <a:latin typeface="Calibri" panose="020F0502020204030204" pitchFamily="34" charset="0"/>
              </a:rPr>
              <a:t>llvm</a:t>
            </a:r>
            <a:r>
              <a:rPr lang="en-US" sz="1800" dirty="0">
                <a:latin typeface="Calibri" panose="020F0502020204030204" pitchFamily="34" charset="0"/>
              </a:rPr>
              <a:t>::Value *GS = </a:t>
            </a:r>
            <a:r>
              <a:rPr lang="en-US" sz="1800" dirty="0" err="1">
                <a:latin typeface="Calibri" panose="020F0502020204030204" pitchFamily="34" charset="0"/>
              </a:rPr>
              <a:t>Builder.CreateGlobalString</a:t>
            </a:r>
            <a:r>
              <a:rPr lang="en-US" sz="1800" dirty="0">
                <a:latin typeface="Calibri" panose="020F0502020204030204" pitchFamily="34" charset="0"/>
              </a:rPr>
              <a:t>(s, "</a:t>
            </a:r>
            <a:r>
              <a:rPr lang="en-US" sz="1800" dirty="0" err="1">
                <a:latin typeface="Calibri" panose="020F0502020204030204" pitchFamily="34" charset="0"/>
              </a:rPr>
              <a:t>globalstring</a:t>
            </a:r>
            <a:r>
              <a:rPr lang="en-US" sz="1800" dirty="0">
                <a:latin typeface="Calibri" panose="020F0502020204030204" pitchFamily="34" charset="0"/>
              </a:rPr>
              <a:t>");</a:t>
            </a:r>
          </a:p>
          <a:p>
            <a:r>
              <a:rPr lang="en-US" sz="1800" dirty="0">
                <a:latin typeface="Calibri" panose="020F0502020204030204" pitchFamily="34" charset="0"/>
              </a:rPr>
              <a:t>    return GS;</a:t>
            </a:r>
          </a:p>
          <a:p>
            <a:r>
              <a:rPr lang="en-US" sz="1800" dirty="0">
                <a:latin typeface="Calibri" panose="020F0502020204030204" pitchFamily="34" charset="0"/>
              </a:rPr>
              <a:t>    // e.g. can be used in </a:t>
            </a:r>
            <a:r>
              <a:rPr lang="en-US" sz="1800" dirty="0" err="1">
                <a:latin typeface="Calibri" panose="020F0502020204030204" pitchFamily="34" charset="0"/>
              </a:rPr>
              <a:t>Builder.CreateCall</a:t>
            </a:r>
            <a:r>
              <a:rPr lang="en-US" sz="1800" dirty="0">
                <a:latin typeface="Calibri" panose="020F0502020204030204" pitchFamily="34" charset="0"/>
              </a:rPr>
              <a:t>(</a:t>
            </a:r>
            <a:r>
              <a:rPr lang="en-US" sz="1800" dirty="0" err="1">
                <a:latin typeface="Calibri" panose="020F0502020204030204" pitchFamily="34" charset="0"/>
              </a:rPr>
              <a:t>print_string</a:t>
            </a:r>
            <a:r>
              <a:rPr lang="en-US" sz="1800" dirty="0">
                <a:latin typeface="Calibri" panose="020F0502020204030204" pitchFamily="34" charset="0"/>
              </a:rPr>
              <a:t>, </a:t>
            </a:r>
            <a:r>
              <a:rPr lang="en-US" sz="1800" dirty="0" err="1">
                <a:latin typeface="Calibri" panose="020F0502020204030204" pitchFamily="34" charset="0"/>
              </a:rPr>
              <a:t>GlobalStr</a:t>
            </a:r>
            <a:r>
              <a:rPr lang="en-US" sz="1800" dirty="0">
                <a:latin typeface="Calibri" panose="020F0502020204030204" pitchFamily="34" charset="0"/>
              </a:rPr>
              <a:t>);</a:t>
            </a:r>
          </a:p>
          <a:p>
            <a:r>
              <a:rPr lang="en-US" sz="1800" dirty="0">
                <a:latin typeface="Calibri" panose="020F0502020204030204" pitchFamily="34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8198132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Local Variables in LLVM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2C104B-E445-B247-BB91-C10CB560B869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626105" y="1007137"/>
            <a:ext cx="6322115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err="1">
                <a:latin typeface="Calibri" panose="020F0502020204030204" pitchFamily="34" charset="0"/>
              </a:rPr>
              <a:t>llvm</a:t>
            </a:r>
            <a:r>
              <a:rPr lang="en-US" sz="1800" dirty="0">
                <a:latin typeface="Calibri" panose="020F0502020204030204" pitchFamily="34" charset="0"/>
              </a:rPr>
              <a:t>::</a:t>
            </a:r>
            <a:r>
              <a:rPr lang="en-US" sz="1800" dirty="0" err="1">
                <a:latin typeface="Calibri" panose="020F0502020204030204" pitchFamily="34" charset="0"/>
              </a:rPr>
              <a:t>AllocaInst</a:t>
            </a:r>
            <a:r>
              <a:rPr lang="en-US" sz="1800" dirty="0">
                <a:latin typeface="Calibri" panose="020F0502020204030204" pitchFamily="34" charset="0"/>
              </a:rPr>
              <a:t> *</a:t>
            </a:r>
            <a:r>
              <a:rPr lang="en-US" sz="1800" dirty="0" err="1">
                <a:latin typeface="Calibri" panose="020F0502020204030204" pitchFamily="34" charset="0"/>
              </a:rPr>
              <a:t>defineVariable</a:t>
            </a:r>
            <a:r>
              <a:rPr lang="en-US" sz="1800" dirty="0">
                <a:latin typeface="Calibri" panose="020F0502020204030204" pitchFamily="34" charset="0"/>
              </a:rPr>
              <a:t>(</a:t>
            </a:r>
          </a:p>
          <a:p>
            <a:r>
              <a:rPr lang="en-US" sz="1800" dirty="0">
                <a:latin typeface="Calibri" panose="020F0502020204030204" pitchFamily="34" charset="0"/>
              </a:rPr>
              <a:t>	</a:t>
            </a:r>
            <a:r>
              <a:rPr lang="en-US" sz="1800" dirty="0" err="1">
                <a:latin typeface="Calibri" panose="020F0502020204030204" pitchFamily="34" charset="0"/>
              </a:rPr>
              <a:t>llvm</a:t>
            </a:r>
            <a:r>
              <a:rPr lang="en-US" sz="1800" dirty="0">
                <a:latin typeface="Calibri" panose="020F0502020204030204" pitchFamily="34" charset="0"/>
              </a:rPr>
              <a:t>::Type *</a:t>
            </a:r>
            <a:r>
              <a:rPr lang="en-US" sz="1800" dirty="0" err="1">
                <a:latin typeface="Calibri" panose="020F0502020204030204" pitchFamily="34" charset="0"/>
              </a:rPr>
              <a:t>llvmTy</a:t>
            </a:r>
            <a:r>
              <a:rPr lang="en-US" sz="1800" dirty="0">
                <a:latin typeface="Calibri" panose="020F0502020204030204" pitchFamily="34" charset="0"/>
              </a:rPr>
              <a:t>, </a:t>
            </a:r>
          </a:p>
          <a:p>
            <a:r>
              <a:rPr lang="en-US" sz="1800" dirty="0">
                <a:latin typeface="Calibri" panose="020F0502020204030204" pitchFamily="34" charset="0"/>
              </a:rPr>
              <a:t>	string </a:t>
            </a:r>
            <a:r>
              <a:rPr lang="en-US" sz="1800" dirty="0" err="1">
                <a:latin typeface="Calibri" panose="020F0502020204030204" pitchFamily="34" charset="0"/>
              </a:rPr>
              <a:t>ident</a:t>
            </a:r>
            <a:r>
              <a:rPr lang="en-US" sz="1800" dirty="0">
                <a:latin typeface="Calibri" panose="020F0502020204030204" pitchFamily="34" charset="0"/>
              </a:rPr>
              <a:t>) </a:t>
            </a:r>
          </a:p>
          <a:p>
            <a:r>
              <a:rPr lang="en-US" sz="1800" dirty="0">
                <a:latin typeface="Calibri" panose="020F0502020204030204" pitchFamily="34" charset="0"/>
              </a:rPr>
              <a:t>{</a:t>
            </a:r>
          </a:p>
          <a:p>
            <a:r>
              <a:rPr lang="en-US" sz="1800" dirty="0">
                <a:latin typeface="Calibri" panose="020F0502020204030204" pitchFamily="34" charset="0"/>
              </a:rPr>
              <a:t>    </a:t>
            </a:r>
            <a:r>
              <a:rPr lang="en-US" sz="1800" dirty="0" err="1">
                <a:latin typeface="Calibri" panose="020F0502020204030204" pitchFamily="34" charset="0"/>
              </a:rPr>
              <a:t>llvm</a:t>
            </a:r>
            <a:r>
              <a:rPr lang="en-US" sz="1800" dirty="0">
                <a:latin typeface="Calibri" panose="020F0502020204030204" pitchFamily="34" charset="0"/>
              </a:rPr>
              <a:t>::</a:t>
            </a:r>
            <a:r>
              <a:rPr lang="en-US" sz="1800" dirty="0" err="1">
                <a:latin typeface="Calibri" panose="020F0502020204030204" pitchFamily="34" charset="0"/>
              </a:rPr>
              <a:t>AllocaInst</a:t>
            </a:r>
            <a:r>
              <a:rPr lang="en-US" sz="1800" dirty="0">
                <a:latin typeface="Calibri" panose="020F0502020204030204" pitchFamily="34" charset="0"/>
              </a:rPr>
              <a:t>* </a:t>
            </a:r>
            <a:r>
              <a:rPr lang="en-US" sz="1800" dirty="0" err="1">
                <a:latin typeface="Calibri" panose="020F0502020204030204" pitchFamily="34" charset="0"/>
              </a:rPr>
              <a:t>Alloca</a:t>
            </a:r>
            <a:r>
              <a:rPr lang="en-US" sz="1800" dirty="0">
                <a:latin typeface="Calibri" panose="020F0502020204030204" pitchFamily="34" charset="0"/>
              </a:rPr>
              <a:t> = </a:t>
            </a:r>
          </a:p>
          <a:p>
            <a:r>
              <a:rPr lang="en-US" sz="1800" dirty="0">
                <a:latin typeface="Calibri" panose="020F0502020204030204" pitchFamily="34" charset="0"/>
              </a:rPr>
              <a:t>		</a:t>
            </a:r>
            <a:r>
              <a:rPr lang="en-US" sz="1800" dirty="0" err="1">
                <a:latin typeface="Calibri" panose="020F0502020204030204" pitchFamily="34" charset="0"/>
              </a:rPr>
              <a:t>Builder.CreateAlloca</a:t>
            </a:r>
            <a:r>
              <a:rPr lang="en-US" sz="1800" dirty="0">
                <a:latin typeface="Calibri" panose="020F0502020204030204" pitchFamily="34" charset="0"/>
              </a:rPr>
              <a:t>(</a:t>
            </a:r>
            <a:r>
              <a:rPr lang="en-US" sz="1800" dirty="0" err="1">
                <a:latin typeface="Calibri" panose="020F0502020204030204" pitchFamily="34" charset="0"/>
              </a:rPr>
              <a:t>llvmTy</a:t>
            </a:r>
            <a:r>
              <a:rPr lang="en-US" sz="1800" dirty="0">
                <a:latin typeface="Calibri" panose="020F0502020204030204" pitchFamily="34" charset="0"/>
              </a:rPr>
              <a:t>, 0, </a:t>
            </a:r>
            <a:r>
              <a:rPr lang="en-US" sz="1800" dirty="0" err="1">
                <a:latin typeface="Calibri" panose="020F0502020204030204" pitchFamily="34" charset="0"/>
              </a:rPr>
              <a:t>ident.c_str</a:t>
            </a:r>
            <a:r>
              <a:rPr lang="en-US" sz="1800" dirty="0">
                <a:latin typeface="Calibri" panose="020F0502020204030204" pitchFamily="34" charset="0"/>
              </a:rPr>
              <a:t>());</a:t>
            </a:r>
          </a:p>
          <a:p>
            <a:r>
              <a:rPr lang="en-US" sz="1800" dirty="0">
                <a:latin typeface="Calibri" panose="020F0502020204030204" pitchFamily="34" charset="0"/>
              </a:rPr>
              <a:t>    </a:t>
            </a:r>
            <a:r>
              <a:rPr lang="en-US" sz="1800" dirty="0" err="1">
                <a:latin typeface="Calibri" panose="020F0502020204030204" pitchFamily="34" charset="0"/>
              </a:rPr>
              <a:t>syms.enter_symtbl</a:t>
            </a:r>
            <a:r>
              <a:rPr lang="en-US" sz="1800" dirty="0">
                <a:latin typeface="Calibri" panose="020F0502020204030204" pitchFamily="34" charset="0"/>
              </a:rPr>
              <a:t>(</a:t>
            </a:r>
            <a:r>
              <a:rPr lang="en-US" sz="1800" dirty="0" err="1">
                <a:latin typeface="Calibri" panose="020F0502020204030204" pitchFamily="34" charset="0"/>
              </a:rPr>
              <a:t>ident</a:t>
            </a:r>
            <a:r>
              <a:rPr lang="en-US" sz="1800" dirty="0">
                <a:latin typeface="Calibri" panose="020F0502020204030204" pitchFamily="34" charset="0"/>
              </a:rPr>
              <a:t>, </a:t>
            </a:r>
            <a:r>
              <a:rPr lang="en-US" sz="1800" dirty="0" err="1">
                <a:latin typeface="Calibri" panose="020F0502020204030204" pitchFamily="34" charset="0"/>
              </a:rPr>
              <a:t>Alloca</a:t>
            </a:r>
            <a:r>
              <a:rPr lang="en-US" sz="1800" dirty="0">
                <a:latin typeface="Calibri" panose="020F0502020204030204" pitchFamily="34" charset="0"/>
              </a:rPr>
              <a:t>);</a:t>
            </a:r>
          </a:p>
          <a:p>
            <a:r>
              <a:rPr lang="en-US" sz="1800" dirty="0">
                <a:latin typeface="Calibri" panose="020F0502020204030204" pitchFamily="34" charset="0"/>
              </a:rPr>
              <a:t>    return </a:t>
            </a:r>
            <a:r>
              <a:rPr lang="en-US" sz="1800" dirty="0" err="1">
                <a:latin typeface="Calibri" panose="020F0502020204030204" pitchFamily="34" charset="0"/>
              </a:rPr>
              <a:t>Alloca</a:t>
            </a:r>
            <a:r>
              <a:rPr lang="en-US" sz="1800" dirty="0">
                <a:latin typeface="Calibri" panose="020F0502020204030204" pitchFamily="34" charset="0"/>
              </a:rPr>
              <a:t>;</a:t>
            </a:r>
          </a:p>
          <a:p>
            <a:r>
              <a:rPr lang="en-US" sz="1800" dirty="0">
                <a:latin typeface="Calibri" panose="020F0502020204030204" pitchFamily="34" charset="0"/>
              </a:rP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105" y="3702505"/>
            <a:ext cx="7073027" cy="12464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 b="1" dirty="0">
                <a:latin typeface="Calibri" panose="020F0502020204030204" pitchFamily="34" charset="0"/>
              </a:rPr>
              <a:t>Using the Variable:</a:t>
            </a:r>
          </a:p>
          <a:p>
            <a:r>
              <a:rPr lang="en-US" sz="1800" dirty="0">
                <a:latin typeface="Calibri" panose="020F0502020204030204" pitchFamily="34" charset="0"/>
              </a:rPr>
              <a:t>    </a:t>
            </a:r>
            <a:r>
              <a:rPr lang="en-US" sz="1800" dirty="0" err="1">
                <a:latin typeface="Calibri" panose="020F0502020204030204" pitchFamily="34" charset="0"/>
              </a:rPr>
              <a:t>llvm</a:t>
            </a:r>
            <a:r>
              <a:rPr lang="en-US" sz="1800" dirty="0">
                <a:latin typeface="Calibri" panose="020F0502020204030204" pitchFamily="34" charset="0"/>
              </a:rPr>
              <a:t>::</a:t>
            </a:r>
            <a:r>
              <a:rPr lang="en-US" sz="1800" dirty="0" err="1">
                <a:latin typeface="Calibri" panose="020F0502020204030204" pitchFamily="34" charset="0"/>
              </a:rPr>
              <a:t>AllocaInst</a:t>
            </a:r>
            <a:r>
              <a:rPr lang="en-US" sz="1800" dirty="0">
                <a:latin typeface="Calibri" panose="020F0502020204030204" pitchFamily="34" charset="0"/>
              </a:rPr>
              <a:t> *V = (</a:t>
            </a:r>
            <a:r>
              <a:rPr lang="en-US" sz="1800" dirty="0" err="1">
                <a:latin typeface="Calibri" panose="020F0502020204030204" pitchFamily="34" charset="0"/>
              </a:rPr>
              <a:t>AllocaInst</a:t>
            </a:r>
            <a:r>
              <a:rPr lang="en-US" sz="1800" dirty="0">
                <a:latin typeface="Calibri" panose="020F0502020204030204" pitchFamily="34" charset="0"/>
              </a:rPr>
              <a:t> *)</a:t>
            </a:r>
            <a:r>
              <a:rPr lang="en-US" sz="1800" dirty="0" err="1">
                <a:latin typeface="Calibri" panose="020F0502020204030204" pitchFamily="34" charset="0"/>
              </a:rPr>
              <a:t>syms.access_symtbl</a:t>
            </a:r>
            <a:r>
              <a:rPr lang="en-US" sz="1800" dirty="0">
                <a:latin typeface="Calibri" panose="020F0502020204030204" pitchFamily="34" charset="0"/>
              </a:rPr>
              <a:t>(Name);</a:t>
            </a:r>
          </a:p>
          <a:p>
            <a:r>
              <a:rPr lang="en-US" sz="1800" dirty="0">
                <a:latin typeface="Calibri" panose="020F0502020204030204" pitchFamily="34" charset="0"/>
              </a:rPr>
              <a:t>    if (V == NULL) throw </a:t>
            </a:r>
            <a:r>
              <a:rPr lang="en-US" sz="1800" dirty="0" err="1">
                <a:latin typeface="Calibri" panose="020F0502020204030204" pitchFamily="34" charset="0"/>
              </a:rPr>
              <a:t>runtime_error</a:t>
            </a:r>
            <a:r>
              <a:rPr lang="en-US" sz="1800" dirty="0">
                <a:latin typeface="Calibri" panose="020F0502020204030204" pitchFamily="34" charset="0"/>
              </a:rPr>
              <a:t>("could not find variable: " + Name);</a:t>
            </a:r>
          </a:p>
          <a:p>
            <a:r>
              <a:rPr lang="en-US" sz="1800" dirty="0">
                <a:latin typeface="Calibri" panose="020F0502020204030204" pitchFamily="34" charset="0"/>
              </a:rPr>
              <a:t>    return </a:t>
            </a:r>
            <a:r>
              <a:rPr lang="en-US" sz="1800" dirty="0" err="1">
                <a:latin typeface="Calibri" panose="020F0502020204030204" pitchFamily="34" charset="0"/>
              </a:rPr>
              <a:t>Builder.CreateLoad</a:t>
            </a:r>
            <a:r>
              <a:rPr lang="en-US" sz="1800" dirty="0">
                <a:latin typeface="Calibri" panose="020F0502020204030204" pitchFamily="34" charset="0"/>
              </a:rPr>
              <a:t>(V-&gt;</a:t>
            </a:r>
            <a:r>
              <a:rPr lang="en-US" sz="1800" dirty="0" err="1">
                <a:latin typeface="Calibri" panose="020F0502020204030204" pitchFamily="34" charset="0"/>
              </a:rPr>
              <a:t>getAllocatedType</a:t>
            </a:r>
            <a:r>
              <a:rPr lang="en-US" sz="1800" dirty="0">
                <a:latin typeface="Calibri" panose="020F0502020204030204" pitchFamily="34" charset="0"/>
              </a:rPr>
              <a:t>(), V, </a:t>
            </a:r>
            <a:r>
              <a:rPr lang="en-US" sz="1800" dirty="0" err="1">
                <a:latin typeface="Calibri" panose="020F0502020204030204" pitchFamily="34" charset="0"/>
              </a:rPr>
              <a:t>Name.c_str</a:t>
            </a:r>
            <a:r>
              <a:rPr lang="en-US" sz="1800" dirty="0">
                <a:latin typeface="Calibri" panose="020F0502020204030204" pitchFamily="34" charset="0"/>
              </a:rPr>
              <a:t>());</a:t>
            </a:r>
          </a:p>
        </p:txBody>
      </p:sp>
      <p:sp>
        <p:nvSpPr>
          <p:cNvPr id="8" name="Rectangular Callout 7">
            <a:extLst>
              <a:ext uri="{FF2B5EF4-FFF2-40B4-BE49-F238E27FC236}">
                <a16:creationId xmlns:a16="http://schemas.microsoft.com/office/drawing/2014/main" id="{687536C4-53C2-834B-8B6B-0D466E2F520D}"/>
              </a:ext>
            </a:extLst>
          </p:cNvPr>
          <p:cNvSpPr/>
          <p:nvPr/>
        </p:nvSpPr>
        <p:spPr>
          <a:xfrm>
            <a:off x="4754631" y="2859782"/>
            <a:ext cx="3406638" cy="1126932"/>
          </a:xfrm>
          <a:prstGeom prst="wedgeRectCallout">
            <a:avLst>
              <a:gd name="adj1" fmla="val -68731"/>
              <a:gd name="adj2" fmla="val -5215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dirty="0"/>
              <a:t>This is the symbol table you need to keep information about each identifier. We store an </a:t>
            </a:r>
            <a:r>
              <a:rPr lang="en-US" sz="1800" dirty="0" err="1"/>
              <a:t>AllocaInst</a:t>
            </a:r>
            <a:r>
              <a:rPr lang="en-US" sz="1800" dirty="0"/>
              <a:t>* for each variable.</a:t>
            </a:r>
          </a:p>
        </p:txBody>
      </p:sp>
    </p:spTree>
    <p:extLst>
      <p:ext uri="{BB962C8B-B14F-4D97-AF65-F5344CB8AC3E}">
        <p14:creationId xmlns:p14="http://schemas.microsoft.com/office/powerpoint/2010/main" val="39268024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74BB9-19F2-B242-8BFB-37C7D81C82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 and checking types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FECCC25-87B6-E34F-B722-C1742A2CAE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52BF6-6A9C-D04A-BBE8-37A07D64A1C3}" type="slidenum">
              <a:rPr lang="en-US" smtClean="0"/>
              <a:t>6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CF9795-1EC4-474B-98E3-362D283FD300}"/>
              </a:ext>
            </a:extLst>
          </p:cNvPr>
          <p:cNvSpPr txBox="1"/>
          <p:nvPr/>
        </p:nvSpPr>
        <p:spPr>
          <a:xfrm>
            <a:off x="755576" y="1143554"/>
            <a:ext cx="10310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a = b</a:t>
            </a:r>
          </a:p>
        </p:txBody>
      </p:sp>
      <p:sp>
        <p:nvSpPr>
          <p:cNvPr id="5" name="Rectangular Callout 4">
            <a:extLst>
              <a:ext uri="{FF2B5EF4-FFF2-40B4-BE49-F238E27FC236}">
                <a16:creationId xmlns:a16="http://schemas.microsoft.com/office/drawing/2014/main" id="{B2CDE18F-FA97-B34A-BCEB-C7D60E9EB41A}"/>
              </a:ext>
            </a:extLst>
          </p:cNvPr>
          <p:cNvSpPr/>
          <p:nvPr/>
        </p:nvSpPr>
        <p:spPr>
          <a:xfrm>
            <a:off x="2483768" y="1431586"/>
            <a:ext cx="3406638" cy="576064"/>
          </a:xfrm>
          <a:prstGeom prst="wedgeRectCallout">
            <a:avLst>
              <a:gd name="adj1" fmla="val -68731"/>
              <a:gd name="adj2" fmla="val -5215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dirty="0"/>
              <a:t>We need to check if type of </a:t>
            </a:r>
            <a:r>
              <a:rPr lang="en-US" sz="1800" dirty="0" err="1"/>
              <a:t>lvalue</a:t>
            </a:r>
            <a:r>
              <a:rPr lang="en-US" sz="1800" dirty="0"/>
              <a:t> 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  <a:r>
              <a:rPr lang="en-US" sz="1800" dirty="0"/>
              <a:t> is the same as type of </a:t>
            </a:r>
            <a:r>
              <a:rPr lang="en-US" sz="1800" dirty="0" err="1"/>
              <a:t>rvalue</a:t>
            </a:r>
            <a:r>
              <a:rPr lang="en-US" sz="1800" dirty="0"/>
              <a:t> 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b</a:t>
            </a:r>
            <a:r>
              <a:rPr lang="en-US" sz="1800" dirty="0"/>
              <a:t>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606A67D-C78E-784A-8890-865740C44D0D}"/>
              </a:ext>
            </a:extLst>
          </p:cNvPr>
          <p:cNvSpPr txBox="1"/>
          <p:nvPr/>
        </p:nvSpPr>
        <p:spPr>
          <a:xfrm>
            <a:off x="827584" y="2247233"/>
            <a:ext cx="385233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assign: T_ID T_ASSIGN expr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9429BD68-0AEC-7D41-9F18-BA14CA5D1AC8}"/>
              </a:ext>
            </a:extLst>
          </p:cNvPr>
          <p:cNvSpPr/>
          <p:nvPr/>
        </p:nvSpPr>
        <p:spPr>
          <a:xfrm>
            <a:off x="1907704" y="2634338"/>
            <a:ext cx="792088" cy="21602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/>
              <a:t>Name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1C179676-1C5A-2540-B78D-6845F7A26570}"/>
              </a:ext>
            </a:extLst>
          </p:cNvPr>
          <p:cNvSpPr/>
          <p:nvPr/>
        </p:nvSpPr>
        <p:spPr>
          <a:xfrm>
            <a:off x="3887833" y="2640841"/>
            <a:ext cx="792088" cy="21602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 err="1"/>
              <a:t>rvalue</a:t>
            </a:r>
            <a:endParaRPr lang="en-US" sz="1800" dirty="0"/>
          </a:p>
        </p:txBody>
      </p:sp>
      <p:sp>
        <p:nvSpPr>
          <p:cNvPr id="9" name="Rectangular Callout 8">
            <a:extLst>
              <a:ext uri="{FF2B5EF4-FFF2-40B4-BE49-F238E27FC236}">
                <a16:creationId xmlns:a16="http://schemas.microsoft.com/office/drawing/2014/main" id="{F50ED283-ADB8-5542-82E3-FD6DBB80733E}"/>
              </a:ext>
            </a:extLst>
          </p:cNvPr>
          <p:cNvSpPr/>
          <p:nvPr/>
        </p:nvSpPr>
        <p:spPr>
          <a:xfrm>
            <a:off x="179512" y="3002217"/>
            <a:ext cx="3384376" cy="913334"/>
          </a:xfrm>
          <a:prstGeom prst="wedgeRectCallout">
            <a:avLst>
              <a:gd name="adj1" fmla="val 7198"/>
              <a:gd name="adj2" fmla="val -6257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llvm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::</a:t>
            </a:r>
            <a:r>
              <a:rPr lang="en-US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AllocaInst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 *</a:t>
            </a:r>
            <a:r>
              <a:rPr lang="en-US" sz="1800" dirty="0" err="1">
                <a:solidFill>
                  <a:schemeClr val="accent4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Alloca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 = (</a:t>
            </a:r>
            <a:r>
              <a:rPr lang="en-US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llvm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::</a:t>
            </a:r>
            <a:r>
              <a:rPr lang="en-US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AllocaInst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 *) </a:t>
            </a:r>
            <a:r>
              <a:rPr lang="en-US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syms.access_symtbl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(Name);</a:t>
            </a:r>
          </a:p>
        </p:txBody>
      </p:sp>
      <p:sp>
        <p:nvSpPr>
          <p:cNvPr id="10" name="Rectangular Callout 9">
            <a:extLst>
              <a:ext uri="{FF2B5EF4-FFF2-40B4-BE49-F238E27FC236}">
                <a16:creationId xmlns:a16="http://schemas.microsoft.com/office/drawing/2014/main" id="{CADFB7CA-AB49-DF40-9888-A918863DDD06}"/>
              </a:ext>
            </a:extLst>
          </p:cNvPr>
          <p:cNvSpPr/>
          <p:nvPr/>
        </p:nvSpPr>
        <p:spPr>
          <a:xfrm>
            <a:off x="4187086" y="3017156"/>
            <a:ext cx="4705394" cy="576064"/>
          </a:xfrm>
          <a:prstGeom prst="wedgeRectCallout">
            <a:avLst>
              <a:gd name="adj1" fmla="val -37256"/>
              <a:gd name="adj2" fmla="val -74789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const </a:t>
            </a:r>
            <a:r>
              <a:rPr lang="en-US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llvm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::</a:t>
            </a:r>
            <a:r>
              <a:rPr lang="en-US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PointerType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 *</a:t>
            </a:r>
            <a:r>
              <a:rPr lang="en-US" sz="1800" dirty="0" err="1">
                <a:solidFill>
                  <a:schemeClr val="accent4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ptrTy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llvm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::</a:t>
            </a:r>
            <a:r>
              <a:rPr lang="en-US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PointerType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::</a:t>
            </a:r>
            <a:r>
              <a:rPr lang="en-US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getUnqual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getTy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A8FA35C-79C7-0C4A-BCCB-4CEB07D020FB}"/>
              </a:ext>
            </a:extLst>
          </p:cNvPr>
          <p:cNvSpPr txBox="1"/>
          <p:nvPr/>
        </p:nvSpPr>
        <p:spPr>
          <a:xfrm>
            <a:off x="4099766" y="3758912"/>
            <a:ext cx="499688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if (</a:t>
            </a:r>
            <a:r>
              <a:rPr lang="en-US" sz="1800" dirty="0" err="1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ptrTy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 == </a:t>
            </a:r>
            <a:r>
              <a:rPr lang="en-US" sz="1800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Alloca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-&gt;</a:t>
            </a:r>
            <a:r>
              <a:rPr lang="en-US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getType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()) {</a:t>
            </a:r>
          </a:p>
          <a:p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Builder.CreateStore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rvalue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800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Alloca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713931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7" grpId="0" animBg="1"/>
      <p:bldP spid="8" grpId="0" animBg="1"/>
      <p:bldP spid="9" grpId="0" animBg="1"/>
      <p:bldP spid="10" grpId="0" animBg="1"/>
      <p:bldP spid="1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Declaring a Function in LLVM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2C104B-E445-B247-BB91-C10CB560B869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628650" y="1249882"/>
            <a:ext cx="5381025" cy="34778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C00000"/>
                </a:solidFill>
                <a:latin typeface="Calibri" panose="020F0502020204030204" pitchFamily="34" charset="0"/>
              </a:rPr>
              <a:t>// </a:t>
            </a:r>
            <a:r>
              <a:rPr lang="en-US" sz="2000" dirty="0" err="1">
                <a:solidFill>
                  <a:srgbClr val="C00000"/>
                </a:solidFill>
                <a:latin typeface="Calibri" panose="020F0502020204030204" pitchFamily="34" charset="0"/>
              </a:rPr>
              <a:t>initalize</a:t>
            </a:r>
            <a:r>
              <a:rPr lang="en-US" sz="2000" dirty="0">
                <a:solidFill>
                  <a:srgbClr val="C00000"/>
                </a:solidFill>
                <a:latin typeface="Calibri" panose="020F0502020204030204" pitchFamily="34" charset="0"/>
              </a:rPr>
              <a:t> return type </a:t>
            </a:r>
          </a:p>
          <a:p>
            <a:r>
              <a:rPr lang="en-US" sz="2000" dirty="0" err="1">
                <a:latin typeface="Calibri" panose="020F0502020204030204" pitchFamily="34" charset="0"/>
              </a:rPr>
              <a:t>llvm</a:t>
            </a:r>
            <a:r>
              <a:rPr lang="en-US" sz="2000" dirty="0">
                <a:latin typeface="Calibri" panose="020F0502020204030204" pitchFamily="34" charset="0"/>
              </a:rPr>
              <a:t>::Type *</a:t>
            </a:r>
            <a:r>
              <a:rPr lang="en-US" sz="2000" dirty="0" err="1">
                <a:latin typeface="Calibri" panose="020F0502020204030204" pitchFamily="34" charset="0"/>
              </a:rPr>
              <a:t>returnTy</a:t>
            </a:r>
            <a:r>
              <a:rPr lang="en-US" sz="2000" dirty="0">
                <a:latin typeface="Calibri" panose="020F0502020204030204" pitchFamily="34" charset="0"/>
              </a:rPr>
              <a:t> = </a:t>
            </a:r>
            <a:r>
              <a:rPr lang="en-US" sz="2000" dirty="0" err="1">
                <a:latin typeface="Calibri" panose="020F0502020204030204" pitchFamily="34" charset="0"/>
              </a:rPr>
              <a:t>getLLVMType</a:t>
            </a:r>
            <a:r>
              <a:rPr lang="en-US" sz="2000" dirty="0">
                <a:latin typeface="Calibri" panose="020F0502020204030204" pitchFamily="34" charset="0"/>
              </a:rPr>
              <a:t>(</a:t>
            </a:r>
            <a:r>
              <a:rPr lang="en-US" sz="2000" dirty="0" err="1">
                <a:latin typeface="Calibri" panose="020F0502020204030204" pitchFamily="34" charset="0"/>
              </a:rPr>
              <a:t>ReturnType</a:t>
            </a:r>
            <a:r>
              <a:rPr lang="en-US" sz="2000">
                <a:latin typeface="Calibri" panose="020F0502020204030204" pitchFamily="34" charset="0"/>
              </a:rPr>
              <a:t>);</a:t>
            </a:r>
          </a:p>
          <a:p>
            <a:r>
              <a:rPr lang="en-US" sz="2000">
                <a:latin typeface="Calibri" panose="020F0502020204030204" pitchFamily="34" charset="0"/>
              </a:rPr>
              <a:t>std</a:t>
            </a:r>
            <a:r>
              <a:rPr lang="en-US" sz="2000" dirty="0">
                <a:latin typeface="Calibri" panose="020F0502020204030204" pitchFamily="34" charset="0"/>
              </a:rPr>
              <a:t>::vector&lt;</a:t>
            </a:r>
            <a:r>
              <a:rPr lang="en-US" sz="2000" dirty="0" err="1">
                <a:latin typeface="Calibri" panose="020F0502020204030204" pitchFamily="34" charset="0"/>
              </a:rPr>
              <a:t>llvm</a:t>
            </a:r>
            <a:r>
              <a:rPr lang="en-US" sz="2000" dirty="0">
                <a:latin typeface="Calibri" panose="020F0502020204030204" pitchFamily="34" charset="0"/>
              </a:rPr>
              <a:t>::Type *&gt; </a:t>
            </a:r>
            <a:r>
              <a:rPr lang="en-US" sz="2000" dirty="0" err="1">
                <a:latin typeface="Calibri" panose="020F0502020204030204" pitchFamily="34" charset="0"/>
              </a:rPr>
              <a:t>args</a:t>
            </a:r>
            <a:r>
              <a:rPr lang="en-US" sz="2000" dirty="0">
                <a:latin typeface="Calibri" panose="020F0502020204030204" pitchFamily="34" charset="0"/>
              </a:rPr>
              <a:t>; </a:t>
            </a:r>
          </a:p>
          <a:p>
            <a:r>
              <a:rPr lang="en-US" sz="2000" dirty="0">
                <a:solidFill>
                  <a:srgbClr val="C00000"/>
                </a:solidFill>
                <a:latin typeface="Calibri" panose="020F0502020204030204" pitchFamily="34" charset="0"/>
              </a:rPr>
              <a:t>// </a:t>
            </a:r>
            <a:r>
              <a:rPr lang="en-US" sz="2000" dirty="0" err="1">
                <a:solidFill>
                  <a:srgbClr val="C00000"/>
                </a:solidFill>
                <a:latin typeface="Calibri" panose="020F0502020204030204" pitchFamily="34" charset="0"/>
              </a:rPr>
              <a:t>args</a:t>
            </a:r>
            <a:r>
              <a:rPr lang="en-US" sz="2000" dirty="0">
                <a:solidFill>
                  <a:srgbClr val="C00000"/>
                </a:solidFill>
                <a:latin typeface="Calibri" panose="020F0502020204030204" pitchFamily="34" charset="0"/>
              </a:rPr>
              <a:t> := initialize the vector of argument types</a:t>
            </a:r>
          </a:p>
          <a:p>
            <a:r>
              <a:rPr lang="en-US" sz="2000" dirty="0">
                <a:latin typeface="Calibri" panose="020F0502020204030204" pitchFamily="34" charset="0"/>
              </a:rPr>
              <a:t> </a:t>
            </a:r>
            <a:r>
              <a:rPr lang="en-US" sz="2000" dirty="0" err="1">
                <a:latin typeface="Calibri" panose="020F0502020204030204" pitchFamily="34" charset="0"/>
              </a:rPr>
              <a:t>llvm</a:t>
            </a:r>
            <a:r>
              <a:rPr lang="en-US" sz="2000" dirty="0">
                <a:latin typeface="Calibri" panose="020F0502020204030204" pitchFamily="34" charset="0"/>
              </a:rPr>
              <a:t>::Function *</a:t>
            </a:r>
            <a:r>
              <a:rPr lang="en-US" sz="2000" dirty="0" err="1">
                <a:latin typeface="Calibri" panose="020F0502020204030204" pitchFamily="34" charset="0"/>
              </a:rPr>
              <a:t>func</a:t>
            </a:r>
            <a:r>
              <a:rPr lang="en-US" sz="2000" dirty="0">
                <a:latin typeface="Calibri" panose="020F0502020204030204" pitchFamily="34" charset="0"/>
              </a:rPr>
              <a:t> = </a:t>
            </a:r>
            <a:r>
              <a:rPr lang="en-US" sz="2000" dirty="0" err="1">
                <a:latin typeface="Calibri" panose="020F0502020204030204" pitchFamily="34" charset="0"/>
              </a:rPr>
              <a:t>llvm</a:t>
            </a:r>
            <a:r>
              <a:rPr lang="en-US" sz="2000" dirty="0">
                <a:latin typeface="Calibri" panose="020F0502020204030204" pitchFamily="34" charset="0"/>
              </a:rPr>
              <a:t>::Function::Create(</a:t>
            </a:r>
          </a:p>
          <a:p>
            <a:r>
              <a:rPr lang="en-US" sz="2000" dirty="0">
                <a:latin typeface="Calibri" panose="020F0502020204030204" pitchFamily="34" charset="0"/>
              </a:rPr>
              <a:t>        </a:t>
            </a:r>
            <a:r>
              <a:rPr lang="en-US" sz="2000" dirty="0" err="1">
                <a:latin typeface="Calibri" panose="020F0502020204030204" pitchFamily="34" charset="0"/>
              </a:rPr>
              <a:t>llvm</a:t>
            </a:r>
            <a:r>
              <a:rPr lang="en-US" sz="2000" dirty="0">
                <a:latin typeface="Calibri" panose="020F0502020204030204" pitchFamily="34" charset="0"/>
              </a:rPr>
              <a:t>::</a:t>
            </a:r>
            <a:r>
              <a:rPr lang="en-US" sz="2000" dirty="0" err="1">
                <a:latin typeface="Calibri" panose="020F0502020204030204" pitchFamily="34" charset="0"/>
              </a:rPr>
              <a:t>FunctionType</a:t>
            </a:r>
            <a:r>
              <a:rPr lang="en-US" sz="2000" dirty="0">
                <a:latin typeface="Calibri" panose="020F0502020204030204" pitchFamily="34" charset="0"/>
              </a:rPr>
              <a:t>::get(</a:t>
            </a:r>
            <a:r>
              <a:rPr lang="en-US" sz="2000" dirty="0" err="1">
                <a:latin typeface="Calibri" panose="020F0502020204030204" pitchFamily="34" charset="0"/>
              </a:rPr>
              <a:t>returnTy</a:t>
            </a:r>
            <a:r>
              <a:rPr lang="en-US" sz="2000" dirty="0">
                <a:latin typeface="Calibri" panose="020F0502020204030204" pitchFamily="34" charset="0"/>
              </a:rPr>
              <a:t>, </a:t>
            </a:r>
            <a:r>
              <a:rPr lang="en-US" sz="2000" dirty="0" err="1">
                <a:latin typeface="Calibri" panose="020F0502020204030204" pitchFamily="34" charset="0"/>
              </a:rPr>
              <a:t>args</a:t>
            </a:r>
            <a:r>
              <a:rPr lang="en-US" sz="2000" dirty="0">
                <a:latin typeface="Calibri" panose="020F0502020204030204" pitchFamily="34" charset="0"/>
              </a:rPr>
              <a:t>, false),</a:t>
            </a:r>
          </a:p>
          <a:p>
            <a:r>
              <a:rPr lang="en-US" sz="2000" dirty="0">
                <a:latin typeface="Calibri" panose="020F0502020204030204" pitchFamily="34" charset="0"/>
              </a:rPr>
              <a:t>        </a:t>
            </a:r>
            <a:r>
              <a:rPr lang="en-US" sz="2000" dirty="0" err="1">
                <a:latin typeface="Calibri" panose="020F0502020204030204" pitchFamily="34" charset="0"/>
              </a:rPr>
              <a:t>llvm</a:t>
            </a:r>
            <a:r>
              <a:rPr lang="en-US" sz="2000" dirty="0">
                <a:latin typeface="Calibri" panose="020F0502020204030204" pitchFamily="34" charset="0"/>
              </a:rPr>
              <a:t>::Function::</a:t>
            </a:r>
            <a:r>
              <a:rPr lang="en-US" sz="2000" dirty="0" err="1">
                <a:latin typeface="Calibri" panose="020F0502020204030204" pitchFamily="34" charset="0"/>
              </a:rPr>
              <a:t>ExternalLinkage</a:t>
            </a:r>
            <a:r>
              <a:rPr lang="en-US" sz="2000" dirty="0">
                <a:latin typeface="Calibri" panose="020F0502020204030204" pitchFamily="34" charset="0"/>
              </a:rPr>
              <a:t>,</a:t>
            </a:r>
          </a:p>
          <a:p>
            <a:r>
              <a:rPr lang="en-US" sz="2000" dirty="0">
                <a:latin typeface="Calibri" panose="020F0502020204030204" pitchFamily="34" charset="0"/>
              </a:rPr>
              <a:t>        Name,</a:t>
            </a:r>
          </a:p>
          <a:p>
            <a:r>
              <a:rPr lang="en-US" sz="2000" dirty="0">
                <a:latin typeface="Calibri" panose="020F0502020204030204" pitchFamily="34" charset="0"/>
              </a:rPr>
              <a:t>        </a:t>
            </a:r>
            <a:r>
              <a:rPr lang="en-US" sz="2000" dirty="0" err="1">
                <a:latin typeface="Calibri" panose="020F0502020204030204" pitchFamily="34" charset="0"/>
              </a:rPr>
              <a:t>TheModule</a:t>
            </a:r>
            <a:endParaRPr lang="en-US" sz="2000" dirty="0">
              <a:latin typeface="Calibri" panose="020F0502020204030204" pitchFamily="34" charset="0"/>
            </a:endParaRPr>
          </a:p>
          <a:p>
            <a:r>
              <a:rPr lang="en-US" sz="2000" dirty="0">
                <a:latin typeface="Calibri" panose="020F0502020204030204" pitchFamily="34" charset="0"/>
              </a:rPr>
              <a:t>    );</a:t>
            </a:r>
          </a:p>
          <a:p>
            <a:r>
              <a:rPr lang="en-US" sz="2000" dirty="0">
                <a:latin typeface="Calibri" panose="020F0502020204030204" pitchFamily="34" charset="0"/>
              </a:rPr>
              <a:t> </a:t>
            </a:r>
            <a:r>
              <a:rPr lang="en-US" sz="2000" dirty="0" err="1">
                <a:latin typeface="Calibri" panose="020F0502020204030204" pitchFamily="34" charset="0"/>
              </a:rPr>
              <a:t>syms.enter_symtbl</a:t>
            </a:r>
            <a:r>
              <a:rPr lang="en-US" sz="2000" dirty="0">
                <a:latin typeface="Calibri" panose="020F0502020204030204" pitchFamily="34" charset="0"/>
              </a:rPr>
              <a:t>(Name, </a:t>
            </a:r>
            <a:r>
              <a:rPr lang="en-US" sz="2000" dirty="0" err="1">
                <a:latin typeface="Calibri" panose="020F0502020204030204" pitchFamily="34" charset="0"/>
              </a:rPr>
              <a:t>func</a:t>
            </a:r>
            <a:r>
              <a:rPr lang="en-US" sz="2000" dirty="0">
                <a:latin typeface="Calibri" panose="020F0502020204030204" pitchFamily="34" charset="0"/>
              </a:rPr>
              <a:t>);</a:t>
            </a:r>
          </a:p>
        </p:txBody>
      </p:sp>
      <p:sp>
        <p:nvSpPr>
          <p:cNvPr id="7" name="Rectangular Callout 6">
            <a:extLst>
              <a:ext uri="{FF2B5EF4-FFF2-40B4-BE49-F238E27FC236}">
                <a16:creationId xmlns:a16="http://schemas.microsoft.com/office/drawing/2014/main" id="{95E53A29-7A1A-F640-BEC2-7C81FB7A0208}"/>
              </a:ext>
            </a:extLst>
          </p:cNvPr>
          <p:cNvSpPr/>
          <p:nvPr/>
        </p:nvSpPr>
        <p:spPr>
          <a:xfrm>
            <a:off x="4765762" y="3485077"/>
            <a:ext cx="3384376" cy="817082"/>
          </a:xfrm>
          <a:prstGeom prst="wedgeRectCallout">
            <a:avLst>
              <a:gd name="adj1" fmla="val -66041"/>
              <a:gd name="adj2" fmla="val 3401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dirty="0"/>
              <a:t>This is the symbol table you need to keep information about each identifier</a:t>
            </a:r>
          </a:p>
        </p:txBody>
      </p:sp>
    </p:spTree>
    <p:extLst>
      <p:ext uri="{BB962C8B-B14F-4D97-AF65-F5344CB8AC3E}">
        <p14:creationId xmlns:p14="http://schemas.microsoft.com/office/powerpoint/2010/main" val="18627928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Promoting Types in LLVM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2C104B-E445-B247-BB91-C10CB560B869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628650" y="3435846"/>
            <a:ext cx="7263335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 dirty="0">
                <a:latin typeface="Calibri" panose="020F0502020204030204" pitchFamily="34" charset="0"/>
              </a:rPr>
              <a:t> </a:t>
            </a:r>
            <a:r>
              <a:rPr lang="en-US" sz="2100" dirty="0" err="1">
                <a:latin typeface="Calibri" panose="020F0502020204030204" pitchFamily="34" charset="0"/>
              </a:rPr>
              <a:t>llvm</a:t>
            </a:r>
            <a:r>
              <a:rPr lang="en-US" sz="2100" dirty="0">
                <a:latin typeface="Calibri" panose="020F0502020204030204" pitchFamily="34" charset="0"/>
              </a:rPr>
              <a:t>::Value *promo = </a:t>
            </a:r>
          </a:p>
          <a:p>
            <a:r>
              <a:rPr lang="en-US" sz="2100" dirty="0">
                <a:latin typeface="Calibri" panose="020F0502020204030204" pitchFamily="34" charset="0"/>
              </a:rPr>
              <a:t>	</a:t>
            </a:r>
            <a:r>
              <a:rPr lang="en-US" sz="2100" dirty="0" err="1">
                <a:latin typeface="Calibri" panose="020F0502020204030204" pitchFamily="34" charset="0"/>
              </a:rPr>
              <a:t>Builder.CreateZExt</a:t>
            </a:r>
            <a:r>
              <a:rPr lang="en-US" sz="2100" dirty="0">
                <a:latin typeface="Calibri" panose="020F0502020204030204" pitchFamily="34" charset="0"/>
              </a:rPr>
              <a:t>(*</a:t>
            </a:r>
            <a:r>
              <a:rPr lang="en-US" sz="2100" dirty="0" err="1">
                <a:latin typeface="Calibri" panose="020F0502020204030204" pitchFamily="34" charset="0"/>
              </a:rPr>
              <a:t>i</a:t>
            </a:r>
            <a:r>
              <a:rPr lang="en-US" sz="2100" dirty="0">
                <a:latin typeface="Calibri" panose="020F0502020204030204" pitchFamily="34" charset="0"/>
              </a:rPr>
              <a:t>, Builder.getInt32Ty(), "</a:t>
            </a:r>
            <a:r>
              <a:rPr lang="en-US" sz="2100" dirty="0" err="1">
                <a:latin typeface="Calibri" panose="020F0502020204030204" pitchFamily="34" charset="0"/>
              </a:rPr>
              <a:t>zexttmp</a:t>
            </a:r>
            <a:r>
              <a:rPr lang="en-US" sz="2100" dirty="0">
                <a:latin typeface="Calibri" panose="020F0502020204030204" pitchFamily="34" charset="0"/>
              </a:rPr>
              <a:t>");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8650" y="1419622"/>
            <a:ext cx="703969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7175" indent="-257175">
              <a:buFont typeface="Arial"/>
              <a:buChar char="•"/>
            </a:pPr>
            <a:r>
              <a:rPr lang="en-US" dirty="0">
                <a:latin typeface="Calibri" panose="020F0502020204030204" pitchFamily="34" charset="0"/>
              </a:rPr>
              <a:t>What if the variable is of type i1 (</a:t>
            </a:r>
            <a:r>
              <a:rPr lang="en-US" dirty="0" err="1">
                <a:latin typeface="Calibri" panose="020F0502020204030204" pitchFamily="34" charset="0"/>
              </a:rPr>
              <a:t>boolean</a:t>
            </a:r>
            <a:r>
              <a:rPr lang="en-US" dirty="0">
                <a:latin typeface="Calibri" panose="020F0502020204030204" pitchFamily="34" charset="0"/>
              </a:rPr>
              <a:t>)</a:t>
            </a:r>
          </a:p>
          <a:p>
            <a:pPr marL="257175" indent="-257175">
              <a:buFont typeface="Arial"/>
              <a:buChar char="•"/>
            </a:pPr>
            <a:r>
              <a:rPr lang="en-US" dirty="0">
                <a:latin typeface="Calibri" panose="020F0502020204030204" pitchFamily="34" charset="0"/>
              </a:rPr>
              <a:t>But the function only takes i32 (</a:t>
            </a:r>
            <a:r>
              <a:rPr lang="en-US" dirty="0" err="1">
                <a:latin typeface="Calibri" panose="020F0502020204030204" pitchFamily="34" charset="0"/>
              </a:rPr>
              <a:t>int</a:t>
            </a:r>
            <a:r>
              <a:rPr lang="en-US" dirty="0">
                <a:latin typeface="Calibri" panose="020F0502020204030204" pitchFamily="34" charset="0"/>
              </a:rPr>
              <a:t>)</a:t>
            </a:r>
          </a:p>
          <a:p>
            <a:pPr marL="257175" indent="-257175">
              <a:buFont typeface="Arial"/>
              <a:buChar char="•"/>
            </a:pPr>
            <a:r>
              <a:rPr lang="en-US" dirty="0">
                <a:latin typeface="Calibri" panose="020F0502020204030204" pitchFamily="34" charset="0"/>
              </a:rPr>
              <a:t>We must promote the type i1 to i32</a:t>
            </a:r>
          </a:p>
          <a:p>
            <a:pPr marL="257175" indent="-257175">
              <a:buFont typeface="Arial"/>
              <a:buChar char="•"/>
            </a:pPr>
            <a:r>
              <a:rPr lang="en-US" dirty="0">
                <a:latin typeface="Calibri" panose="020F0502020204030204" pitchFamily="34" charset="0"/>
              </a:rPr>
              <a:t>LLVM can do that for you using the </a:t>
            </a:r>
            <a:r>
              <a:rPr lang="en-US" dirty="0" err="1">
                <a:latin typeface="Calibri" panose="020F0502020204030204" pitchFamily="34" charset="0"/>
              </a:rPr>
              <a:t>ZExt</a:t>
            </a:r>
            <a:r>
              <a:rPr lang="en-US" dirty="0">
                <a:latin typeface="Calibri" panose="020F0502020204030204" pitchFamily="34" charset="0"/>
              </a:rPr>
              <a:t> instruction</a:t>
            </a:r>
          </a:p>
        </p:txBody>
      </p:sp>
    </p:spTree>
    <p:extLst>
      <p:ext uri="{BB962C8B-B14F-4D97-AF65-F5344CB8AC3E}">
        <p14:creationId xmlns:p14="http://schemas.microsoft.com/office/powerpoint/2010/main" val="42346873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Blocks in LLVM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2C104B-E445-B247-BB91-C10CB560B869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143508" y="1233736"/>
            <a:ext cx="8856984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dirty="0">
                <a:solidFill>
                  <a:srgbClr val="C00000"/>
                </a:solidFill>
                <a:latin typeface="Calibri" panose="020F0502020204030204" pitchFamily="34" charset="0"/>
              </a:rPr>
              <a:t>// Create a new basic block which contains a sequence of LLVM instructions</a:t>
            </a:r>
          </a:p>
          <a:p>
            <a:r>
              <a:rPr lang="en-US" sz="2100" dirty="0" err="1">
                <a:latin typeface="Calibri" panose="020F0502020204030204" pitchFamily="34" charset="0"/>
              </a:rPr>
              <a:t>llvm</a:t>
            </a:r>
            <a:r>
              <a:rPr lang="en-US" sz="2100" dirty="0">
                <a:latin typeface="Calibri" panose="020F0502020204030204" pitchFamily="34" charset="0"/>
              </a:rPr>
              <a:t>::</a:t>
            </a:r>
            <a:r>
              <a:rPr lang="en-US" sz="2100" dirty="0" err="1">
                <a:latin typeface="Calibri" panose="020F0502020204030204" pitchFamily="34" charset="0"/>
              </a:rPr>
              <a:t>BasicBlock</a:t>
            </a:r>
            <a:r>
              <a:rPr lang="en-US" sz="2100" dirty="0">
                <a:latin typeface="Calibri" panose="020F0502020204030204" pitchFamily="34" charset="0"/>
              </a:rPr>
              <a:t> *BB = </a:t>
            </a:r>
          </a:p>
          <a:p>
            <a:r>
              <a:rPr lang="en-US" sz="2100" dirty="0">
                <a:latin typeface="Calibri" panose="020F0502020204030204" pitchFamily="34" charset="0"/>
              </a:rPr>
              <a:t>	</a:t>
            </a:r>
            <a:r>
              <a:rPr lang="en-US" sz="2100" dirty="0" err="1">
                <a:latin typeface="Calibri" panose="020F0502020204030204" pitchFamily="34" charset="0"/>
              </a:rPr>
              <a:t>llvm</a:t>
            </a:r>
            <a:r>
              <a:rPr lang="en-US" sz="2100" dirty="0">
                <a:latin typeface="Calibri" panose="020F0502020204030204" pitchFamily="34" charset="0"/>
              </a:rPr>
              <a:t>::</a:t>
            </a:r>
            <a:r>
              <a:rPr lang="en-US" sz="2100" dirty="0" err="1">
                <a:latin typeface="Calibri" panose="020F0502020204030204" pitchFamily="34" charset="0"/>
              </a:rPr>
              <a:t>BasicBlock</a:t>
            </a:r>
            <a:r>
              <a:rPr lang="en-US" sz="2100" dirty="0">
                <a:latin typeface="Calibri" panose="020F0502020204030204" pitchFamily="34" charset="0"/>
              </a:rPr>
              <a:t>::Create(</a:t>
            </a:r>
          </a:p>
          <a:p>
            <a:r>
              <a:rPr lang="en-US" sz="2100" dirty="0">
                <a:latin typeface="Calibri" panose="020F0502020204030204" pitchFamily="34" charset="0"/>
              </a:rPr>
              <a:t>		</a:t>
            </a:r>
            <a:r>
              <a:rPr lang="en-US" sz="2100" dirty="0" err="1">
                <a:latin typeface="Calibri" panose="020F0502020204030204" pitchFamily="34" charset="0"/>
              </a:rPr>
              <a:t>TheContext</a:t>
            </a:r>
            <a:r>
              <a:rPr lang="en-US" sz="2100" dirty="0">
                <a:latin typeface="Calibri" panose="020F0502020204030204" pitchFamily="34" charset="0"/>
              </a:rPr>
              <a:t>, </a:t>
            </a:r>
          </a:p>
          <a:p>
            <a:r>
              <a:rPr lang="en-US" sz="2100" dirty="0">
                <a:latin typeface="Calibri" panose="020F0502020204030204" pitchFamily="34" charset="0"/>
              </a:rPr>
              <a:t>		"entry", </a:t>
            </a:r>
          </a:p>
          <a:p>
            <a:r>
              <a:rPr lang="en-US" sz="2100" dirty="0">
                <a:latin typeface="Calibri" panose="020F0502020204030204" pitchFamily="34" charset="0"/>
              </a:rPr>
              <a:t>		</a:t>
            </a:r>
            <a:r>
              <a:rPr lang="en-US" sz="2100" dirty="0" err="1">
                <a:latin typeface="Calibri" panose="020F0502020204030204" pitchFamily="34" charset="0"/>
              </a:rPr>
              <a:t>func</a:t>
            </a:r>
            <a:r>
              <a:rPr lang="en-US" sz="2100" dirty="0">
                <a:latin typeface="Calibri" panose="020F0502020204030204" pitchFamily="34" charset="0"/>
              </a:rPr>
              <a:t>);</a:t>
            </a:r>
          </a:p>
          <a:p>
            <a:r>
              <a:rPr lang="en-US" sz="2100" dirty="0">
                <a:solidFill>
                  <a:srgbClr val="C00000"/>
                </a:solidFill>
                <a:latin typeface="Calibri" panose="020F0502020204030204" pitchFamily="34" charset="0"/>
              </a:rPr>
              <a:t>// insert into symbol table</a:t>
            </a:r>
          </a:p>
          <a:p>
            <a:r>
              <a:rPr lang="en-US" sz="2100" dirty="0" err="1">
                <a:latin typeface="Calibri" panose="020F0502020204030204" pitchFamily="34" charset="0"/>
              </a:rPr>
              <a:t>syms.enter_symtbl</a:t>
            </a:r>
            <a:r>
              <a:rPr lang="en-US" sz="2100" dirty="0">
                <a:latin typeface="Calibri" panose="020F0502020204030204" pitchFamily="34" charset="0"/>
              </a:rPr>
              <a:t>(string("entry"), BB);</a:t>
            </a:r>
          </a:p>
          <a:p>
            <a:r>
              <a:rPr lang="en-US" sz="2100" dirty="0">
                <a:solidFill>
                  <a:srgbClr val="C00000"/>
                </a:solidFill>
                <a:latin typeface="Calibri" panose="020F0502020204030204" pitchFamily="34" charset="0"/>
              </a:rPr>
              <a:t>// All subsequent calls to </a:t>
            </a:r>
            <a:r>
              <a:rPr lang="en-US" sz="2100" dirty="0" err="1">
                <a:solidFill>
                  <a:srgbClr val="C00000"/>
                </a:solidFill>
                <a:latin typeface="Calibri" panose="020F0502020204030204" pitchFamily="34" charset="0"/>
              </a:rPr>
              <a:t>IRBuilder</a:t>
            </a:r>
            <a:r>
              <a:rPr lang="en-US" sz="2100" dirty="0">
                <a:solidFill>
                  <a:srgbClr val="C00000"/>
                </a:solidFill>
                <a:latin typeface="Calibri" panose="020F0502020204030204" pitchFamily="34" charset="0"/>
              </a:rPr>
              <a:t> will place instructions in this location</a:t>
            </a:r>
          </a:p>
          <a:p>
            <a:r>
              <a:rPr lang="en-US" sz="2100" dirty="0" err="1">
                <a:latin typeface="Calibri" panose="020F0502020204030204" pitchFamily="34" charset="0"/>
              </a:rPr>
              <a:t>Builder.SetInsertPoint</a:t>
            </a:r>
            <a:r>
              <a:rPr lang="en-US" sz="2100" dirty="0">
                <a:latin typeface="Calibri" panose="020F0502020204030204" pitchFamily="34" charset="0"/>
              </a:rPr>
              <a:t>(BB);</a:t>
            </a:r>
          </a:p>
        </p:txBody>
      </p:sp>
    </p:spTree>
    <p:extLst>
      <p:ext uri="{BB962C8B-B14F-4D97-AF65-F5344CB8AC3E}">
        <p14:creationId xmlns:p14="http://schemas.microsoft.com/office/powerpoint/2010/main" val="27877506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parameters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2C104B-E445-B247-BB91-C10CB560B869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404081" y="1262709"/>
            <a:ext cx="833583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dirty="0">
                <a:latin typeface="+mn-lt"/>
              </a:rPr>
              <a:t>When you generate code for a method declaration do the following:</a:t>
            </a:r>
          </a:p>
          <a:p>
            <a:endParaRPr lang="en-US" sz="2100" dirty="0">
              <a:latin typeface="+mn-lt"/>
            </a:endParaRPr>
          </a:p>
          <a:p>
            <a:pPr marL="385763" indent="-385763">
              <a:buFont typeface="+mj-lt"/>
              <a:buAutoNum type="arabicPeriod"/>
            </a:pPr>
            <a:r>
              <a:rPr lang="en-US" sz="2100" dirty="0">
                <a:latin typeface="+mn-lt"/>
              </a:rPr>
              <a:t>Create a new symbol table for local variables</a:t>
            </a:r>
          </a:p>
          <a:p>
            <a:pPr marL="385763" indent="-385763">
              <a:buFont typeface="+mj-lt"/>
              <a:buAutoNum type="arabicPeriod"/>
            </a:pPr>
            <a:r>
              <a:rPr lang="en-US" sz="2100" dirty="0">
                <a:latin typeface="+mn-lt"/>
              </a:rPr>
              <a:t>Create a</a:t>
            </a:r>
            <a:r>
              <a:rPr lang="en-US" sz="2100" dirty="0">
                <a:latin typeface="Calibri" panose="020F0502020204030204" pitchFamily="34" charset="0"/>
              </a:rPr>
              <a:t> </a:t>
            </a:r>
            <a:r>
              <a:rPr lang="en-US" sz="2100" dirty="0" err="1">
                <a:latin typeface="Consolas" panose="020B0609020204030204" pitchFamily="49" charset="0"/>
                <a:cs typeface="Consolas" panose="020B0609020204030204" pitchFamily="49" charset="0"/>
              </a:rPr>
              <a:t>BasicBlock</a:t>
            </a:r>
            <a:r>
              <a:rPr lang="en-US" sz="2100" dirty="0">
                <a:latin typeface="+mn-lt"/>
              </a:rPr>
              <a:t>, let's say </a:t>
            </a:r>
            <a:r>
              <a:rPr lang="en-US" sz="2100" dirty="0">
                <a:latin typeface="Consolas" panose="020B0609020204030204" pitchFamily="49" charset="0"/>
                <a:cs typeface="Consolas" panose="020B0609020204030204" pitchFamily="49" charset="0"/>
              </a:rPr>
              <a:t>BB</a:t>
            </a:r>
          </a:p>
          <a:p>
            <a:pPr marL="385763" indent="-385763">
              <a:buFont typeface="+mj-lt"/>
              <a:buAutoNum type="arabicPeriod"/>
            </a:pPr>
            <a:r>
              <a:rPr lang="en-US" sz="2100" dirty="0">
                <a:latin typeface="+mn-lt"/>
              </a:rPr>
              <a:t>Set insertion point for instructions </a:t>
            </a:r>
            <a:r>
              <a:rPr lang="en-US" sz="2100" dirty="0" err="1">
                <a:latin typeface="Consolas" panose="020B0609020204030204" pitchFamily="49" charset="0"/>
                <a:cs typeface="Consolas" panose="020B0609020204030204" pitchFamily="49" charset="0"/>
              </a:rPr>
              <a:t>Builder.SetInsertPoint</a:t>
            </a:r>
            <a:r>
              <a:rPr lang="en-US" sz="2100" dirty="0">
                <a:latin typeface="Consolas" panose="020B0609020204030204" pitchFamily="49" charset="0"/>
                <a:cs typeface="Consolas" panose="020B0609020204030204" pitchFamily="49" charset="0"/>
              </a:rPr>
              <a:t>(BB)</a:t>
            </a:r>
            <a:endParaRPr lang="en-US" sz="2100" dirty="0">
              <a:latin typeface="+mn-lt"/>
              <a:cs typeface="Consolas" panose="020B0609020204030204" pitchFamily="49" charset="0"/>
            </a:endParaRPr>
          </a:p>
          <a:p>
            <a:pPr marL="385763" indent="-385763">
              <a:buFont typeface="+mj-lt"/>
              <a:buAutoNum type="arabicPeriod"/>
            </a:pPr>
            <a:r>
              <a:rPr lang="en-US" sz="2100" dirty="0">
                <a:latin typeface="+mn-lt"/>
              </a:rPr>
              <a:t>Add the arguments to the function as allocated on the stack (next slide)</a:t>
            </a:r>
          </a:p>
          <a:p>
            <a:pPr marL="385763" indent="-385763">
              <a:buFont typeface="+mj-lt"/>
              <a:buAutoNum type="arabicPeriod"/>
            </a:pPr>
            <a:r>
              <a:rPr lang="en-US" sz="2100" dirty="0">
                <a:latin typeface="+mn-lt"/>
              </a:rPr>
              <a:t>You can check if a function has a </a:t>
            </a:r>
            <a:r>
              <a:rPr lang="en-US" sz="2100" dirty="0"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en-US" sz="2100" dirty="0">
                <a:latin typeface="+mn-lt"/>
              </a:rPr>
              <a:t> statement by checking if the value of </a:t>
            </a:r>
            <a:r>
              <a:rPr lang="en-US" sz="2100" dirty="0">
                <a:latin typeface="Consolas" panose="020B0609020204030204" pitchFamily="49" charset="0"/>
                <a:cs typeface="Consolas" panose="020B0609020204030204" pitchFamily="49" charset="0"/>
              </a:rPr>
              <a:t>BB-&gt;</a:t>
            </a:r>
            <a:r>
              <a:rPr lang="en-US" sz="2100" dirty="0" err="1">
                <a:latin typeface="Consolas" panose="020B0609020204030204" pitchFamily="49" charset="0"/>
                <a:cs typeface="Consolas" panose="020B0609020204030204" pitchFamily="49" charset="0"/>
              </a:rPr>
              <a:t>getTerminator</a:t>
            </a:r>
            <a:r>
              <a:rPr lang="en-US" sz="2100" dirty="0">
                <a:latin typeface="Consolas" panose="020B0609020204030204" pitchFamily="49" charset="0"/>
                <a:cs typeface="Consolas" panose="020B0609020204030204" pitchFamily="49" charset="0"/>
              </a:rPr>
              <a:t>() </a:t>
            </a:r>
            <a:r>
              <a:rPr lang="en-US" sz="2100" dirty="0">
                <a:latin typeface="+mn-lt"/>
                <a:cs typeface="Consolas" panose="020B0609020204030204" pitchFamily="49" charset="0"/>
              </a:rPr>
              <a:t>is </a:t>
            </a:r>
            <a:r>
              <a:rPr lang="en-US" sz="2100" dirty="0">
                <a:latin typeface="Consolas" panose="020B0609020204030204" pitchFamily="49" charset="0"/>
                <a:cs typeface="Consolas" panose="020B0609020204030204" pitchFamily="49" charset="0"/>
              </a:rPr>
              <a:t>NULL</a:t>
            </a:r>
            <a:r>
              <a:rPr lang="en-US" sz="2100" dirty="0">
                <a:latin typeface="+mn-lt"/>
                <a:cs typeface="Consolas" panose="020B0609020204030204" pitchFamily="49" charset="0"/>
              </a:rPr>
              <a:t>.</a:t>
            </a:r>
            <a:endParaRPr lang="en-US" sz="21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91816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AF4C77-F4B9-DC4D-BA3E-000E19B926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parameters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87AC7A-2823-CB48-81E5-41E68DC177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201BD-6681-B946-ACD9-A8F6D28AC38D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A60BF5-77A1-9F48-B60C-059E6880B4B7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468612" y="1289507"/>
            <a:ext cx="8213172" cy="788697"/>
          </a:xfrm>
          <a:solidFill>
            <a:schemeClr val="accent5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/>
              <a:t>For 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Function* </a:t>
            </a:r>
            <a:r>
              <a:rPr 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func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400" dirty="0"/>
              <a:t>iterate through the function arguments and allocate them into the stack.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BB2C2D-BA7F-4D46-9F9A-C4AB370BF454}"/>
              </a:ext>
            </a:extLst>
          </p:cNvPr>
          <p:cNvSpPr txBox="1"/>
          <p:nvPr/>
        </p:nvSpPr>
        <p:spPr>
          <a:xfrm>
            <a:off x="467057" y="2315111"/>
            <a:ext cx="7346946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for (auto &amp;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Arg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: 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func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-&gt;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args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()) {</a:t>
            </a: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llvm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::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AllocaInst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*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Alloca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CreateEntryBlockAlloca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func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Arg.getName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());</a:t>
            </a: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20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Store the initial value into the </a:t>
            </a:r>
            <a:r>
              <a:rPr lang="en-US" sz="2000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alloca</a:t>
            </a:r>
            <a:endParaRPr lang="en-US" sz="2000" dirty="0">
              <a:solidFill>
                <a:srgbClr val="C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Builder.CreateStore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(&amp;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Arg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Alloca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20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Add to symbol table</a:t>
            </a: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syms.enter_symtbl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Arg.getName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(), 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Alloca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86788E3-AC78-3D41-AFF6-7303371CE405}"/>
              </a:ext>
            </a:extLst>
          </p:cNvPr>
          <p:cNvSpPr txBox="1"/>
          <p:nvPr/>
        </p:nvSpPr>
        <p:spPr>
          <a:xfrm>
            <a:off x="4869501" y="147216"/>
            <a:ext cx="317689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func</a:t>
            </a:r>
            <a:r>
              <a:rPr lang="en-CA" sz="2000" dirty="0">
                <a:latin typeface="Consolas" panose="020B0609020204030204" pitchFamily="49" charset="0"/>
                <a:cs typeface="Consolas" panose="020B0609020204030204" pitchFamily="49" charset="0"/>
              </a:rPr>
              <a:t> foo(x int) int { </a:t>
            </a:r>
          </a:p>
          <a:p>
            <a:r>
              <a:rPr lang="en-CA" sz="2000" dirty="0">
                <a:latin typeface="Consolas" panose="020B0609020204030204" pitchFamily="49" charset="0"/>
                <a:cs typeface="Consolas" panose="020B0609020204030204" pitchFamily="49" charset="0"/>
              </a:rPr>
              <a:t>	x = 1; </a:t>
            </a:r>
          </a:p>
          <a:p>
            <a:r>
              <a:rPr lang="en-CA" sz="20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en-US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96716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Useful Tricks in LLVM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2C104B-E445-B247-BB91-C10CB560B869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628650" y="1238495"/>
            <a:ext cx="7975798" cy="28161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7175" indent="-257175">
              <a:buFont typeface="Arial"/>
              <a:buChar char="•"/>
            </a:pPr>
            <a:r>
              <a:rPr lang="en-US" dirty="0">
                <a:latin typeface="Calibri" panose="020F0502020204030204" pitchFamily="34" charset="0"/>
              </a:rPr>
              <a:t>Finding the current function you are in: </a:t>
            </a:r>
            <a:r>
              <a:rPr lang="en-US" sz="2100" dirty="0" err="1">
                <a:latin typeface="Calibri" panose="020F0502020204030204" pitchFamily="34" charset="0"/>
              </a:rPr>
              <a:t>llvm</a:t>
            </a:r>
            <a:r>
              <a:rPr lang="en-US" sz="2100" dirty="0">
                <a:latin typeface="Calibri" panose="020F0502020204030204" pitchFamily="34" charset="0"/>
              </a:rPr>
              <a:t>::Function *</a:t>
            </a:r>
            <a:r>
              <a:rPr lang="en-US" sz="2100" dirty="0" err="1">
                <a:latin typeface="Calibri" panose="020F0502020204030204" pitchFamily="34" charset="0"/>
              </a:rPr>
              <a:t>func</a:t>
            </a:r>
            <a:r>
              <a:rPr lang="en-US" sz="2100" dirty="0">
                <a:latin typeface="Calibri" panose="020F0502020204030204" pitchFamily="34" charset="0"/>
              </a:rPr>
              <a:t> = </a:t>
            </a:r>
          </a:p>
          <a:p>
            <a:pPr lvl="1"/>
            <a:r>
              <a:rPr lang="en-US" sz="2100" dirty="0">
                <a:latin typeface="Calibri" panose="020F0502020204030204" pitchFamily="34" charset="0"/>
              </a:rPr>
              <a:t>	</a:t>
            </a:r>
            <a:r>
              <a:rPr lang="en-US" sz="2100" dirty="0" err="1">
                <a:latin typeface="Calibri" panose="020F0502020204030204" pitchFamily="34" charset="0"/>
              </a:rPr>
              <a:t>Builder.GetInsertBlock</a:t>
            </a:r>
            <a:r>
              <a:rPr lang="en-US" sz="2100" dirty="0">
                <a:latin typeface="Calibri" panose="020F0502020204030204" pitchFamily="34" charset="0"/>
              </a:rPr>
              <a:t>()-&gt;</a:t>
            </a:r>
            <a:r>
              <a:rPr lang="en-US" sz="2100" dirty="0" err="1">
                <a:latin typeface="Calibri" panose="020F0502020204030204" pitchFamily="34" charset="0"/>
              </a:rPr>
              <a:t>getParent</a:t>
            </a:r>
            <a:r>
              <a:rPr lang="en-US" sz="2100" dirty="0">
                <a:latin typeface="Calibri" panose="020F0502020204030204" pitchFamily="34" charset="0"/>
              </a:rPr>
              <a:t>();</a:t>
            </a:r>
          </a:p>
          <a:p>
            <a:pPr marL="257175" indent="-257175">
              <a:buFont typeface="Arial"/>
              <a:buChar char="•"/>
            </a:pPr>
            <a:r>
              <a:rPr lang="en-US" dirty="0">
                <a:latin typeface="Calibri" panose="020F0502020204030204" pitchFamily="34" charset="0"/>
              </a:rPr>
              <a:t>External function</a:t>
            </a:r>
          </a:p>
          <a:p>
            <a:r>
              <a:rPr lang="en-US" dirty="0">
                <a:latin typeface="Calibri" panose="020F0502020204030204" pitchFamily="34" charset="0"/>
              </a:rPr>
              <a:t>    </a:t>
            </a:r>
            <a:r>
              <a:rPr lang="en-US" sz="2100" dirty="0" err="1">
                <a:latin typeface="Calibri" panose="020F0502020204030204" pitchFamily="34" charset="0"/>
              </a:rPr>
              <a:t>llvm</a:t>
            </a:r>
            <a:r>
              <a:rPr lang="en-US" sz="2100" dirty="0">
                <a:latin typeface="Calibri" panose="020F0502020204030204" pitchFamily="34" charset="0"/>
              </a:rPr>
              <a:t>::Function::Create(</a:t>
            </a:r>
          </a:p>
          <a:p>
            <a:r>
              <a:rPr lang="en-US" sz="2100" dirty="0">
                <a:latin typeface="Calibri" panose="020F0502020204030204" pitchFamily="34" charset="0"/>
              </a:rPr>
              <a:t>	</a:t>
            </a:r>
            <a:r>
              <a:rPr lang="en-US" sz="2100" dirty="0" err="1">
                <a:latin typeface="Calibri" panose="020F0502020204030204" pitchFamily="34" charset="0"/>
              </a:rPr>
              <a:t>llvm</a:t>
            </a:r>
            <a:r>
              <a:rPr lang="en-US" sz="2100" dirty="0">
                <a:latin typeface="Calibri" panose="020F0502020204030204" pitchFamily="34" charset="0"/>
              </a:rPr>
              <a:t>::</a:t>
            </a:r>
            <a:r>
              <a:rPr lang="en-US" sz="2100" dirty="0" err="1">
                <a:latin typeface="Calibri" panose="020F0502020204030204" pitchFamily="34" charset="0"/>
              </a:rPr>
              <a:t>FunctionType</a:t>
            </a:r>
            <a:r>
              <a:rPr lang="en-US" sz="2100" dirty="0">
                <a:latin typeface="Calibri" panose="020F0502020204030204" pitchFamily="34" charset="0"/>
              </a:rPr>
              <a:t>::get(</a:t>
            </a:r>
            <a:r>
              <a:rPr lang="en-US" sz="2100" dirty="0" err="1">
                <a:latin typeface="Calibri" panose="020F0502020204030204" pitchFamily="34" charset="0"/>
              </a:rPr>
              <a:t>returnTy</a:t>
            </a:r>
            <a:r>
              <a:rPr lang="en-US" sz="2100" dirty="0">
                <a:latin typeface="Calibri" panose="020F0502020204030204" pitchFamily="34" charset="0"/>
              </a:rPr>
              <a:t>, </a:t>
            </a:r>
            <a:r>
              <a:rPr lang="en-US" sz="2100" dirty="0" err="1">
                <a:latin typeface="Calibri" panose="020F0502020204030204" pitchFamily="34" charset="0"/>
              </a:rPr>
              <a:t>args</a:t>
            </a:r>
            <a:r>
              <a:rPr lang="en-US" sz="2100" dirty="0">
                <a:latin typeface="Calibri" panose="020F0502020204030204" pitchFamily="34" charset="0"/>
              </a:rPr>
              <a:t>, false), </a:t>
            </a:r>
          </a:p>
          <a:p>
            <a:r>
              <a:rPr lang="en-US" sz="2100" dirty="0">
                <a:latin typeface="Calibri" panose="020F0502020204030204" pitchFamily="34" charset="0"/>
              </a:rPr>
              <a:t>	</a:t>
            </a:r>
            <a:r>
              <a:rPr lang="en-US" sz="2100" dirty="0" err="1">
                <a:latin typeface="Calibri" panose="020F0502020204030204" pitchFamily="34" charset="0"/>
              </a:rPr>
              <a:t>llvm</a:t>
            </a:r>
            <a:r>
              <a:rPr lang="en-US" sz="2100" dirty="0">
                <a:latin typeface="Calibri" panose="020F0502020204030204" pitchFamily="34" charset="0"/>
              </a:rPr>
              <a:t>::Function::</a:t>
            </a:r>
            <a:r>
              <a:rPr lang="en-US" sz="2100" dirty="0" err="1">
                <a:latin typeface="Calibri" panose="020F0502020204030204" pitchFamily="34" charset="0"/>
              </a:rPr>
              <a:t>ExternalLinkage</a:t>
            </a:r>
            <a:r>
              <a:rPr lang="en-US" sz="2100" dirty="0">
                <a:latin typeface="Calibri" panose="020F0502020204030204" pitchFamily="34" charset="0"/>
              </a:rPr>
              <a:t>, </a:t>
            </a:r>
          </a:p>
          <a:p>
            <a:r>
              <a:rPr lang="en-US" sz="2100" dirty="0">
                <a:latin typeface="Calibri" panose="020F0502020204030204" pitchFamily="34" charset="0"/>
              </a:rPr>
              <a:t>	Name, </a:t>
            </a:r>
          </a:p>
          <a:p>
            <a:r>
              <a:rPr lang="en-US" sz="2100" dirty="0">
                <a:latin typeface="Calibri" panose="020F0502020204030204" pitchFamily="34" charset="0"/>
              </a:rPr>
              <a:t>	</a:t>
            </a:r>
            <a:r>
              <a:rPr lang="en-US" sz="2100" dirty="0" err="1">
                <a:latin typeface="Calibri" panose="020F0502020204030204" pitchFamily="34" charset="0"/>
              </a:rPr>
              <a:t>TheModule</a:t>
            </a:r>
            <a:r>
              <a:rPr lang="en-US" sz="2100" dirty="0">
                <a:latin typeface="Calibri" panose="020F0502020204030204" pitchFamily="34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38553036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58098C-DC77-7241-A43A-3B61A7E6C7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Modulus in LLVM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38EB81-7D45-4F40-A800-2F049113BD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CreateSRem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() </a:t>
            </a:r>
            <a:r>
              <a:rPr lang="en-CA" dirty="0"/>
              <a:t>for signed operators in Decaf</a:t>
            </a:r>
          </a:p>
          <a:p>
            <a:r>
              <a:rPr lang="en-CA" dirty="0"/>
              <a:t>LLVM uses the C/C++ style modulus </a:t>
            </a:r>
          </a:p>
          <a:p>
            <a:r>
              <a:rPr lang="en-CA" dirty="0"/>
              <a:t>So 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-4%3 == -1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4820F9-123D-5D4A-BA0B-486061B64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52BF6-6A9C-D04A-BBE8-37A07D64A1C3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95074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7C3578-CF40-6944-89C9-DE6B9C4AD1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Backward Function Declarations</a:t>
            </a:r>
          </a:p>
        </p:txBody>
      </p:sp>
    </p:spTree>
    <p:extLst>
      <p:ext uri="{BB962C8B-B14F-4D97-AF65-F5344CB8AC3E}">
        <p14:creationId xmlns:p14="http://schemas.microsoft.com/office/powerpoint/2010/main" val="21300710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B1B92-6B89-AA43-B98D-CE82955219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Backwards Declarations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59FD94A-158D-7E43-9F88-741A8A91A1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52BF6-6A9C-D04A-BBE8-37A07D64A1C3}" type="slidenum">
              <a:rPr lang="en-US" smtClean="0"/>
              <a:t>15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2C07872-49EF-9A41-AF65-3F6A6AB77C87}"/>
              </a:ext>
            </a:extLst>
          </p:cNvPr>
          <p:cNvSpPr txBox="1"/>
          <p:nvPr/>
        </p:nvSpPr>
        <p:spPr>
          <a:xfrm>
            <a:off x="660496" y="1432590"/>
            <a:ext cx="4839786" cy="31700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000" dirty="0">
                <a:latin typeface="Consolas" panose="020B0609020204030204" pitchFamily="49" charset="0"/>
                <a:cs typeface="Consolas" panose="020B0609020204030204" pitchFamily="49" charset="0"/>
              </a:rPr>
              <a:t>extern </a:t>
            </a:r>
            <a:r>
              <a:rPr lang="en-CA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func</a:t>
            </a:r>
            <a:r>
              <a:rPr lang="en-CA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CA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print_int</a:t>
            </a:r>
            <a:r>
              <a:rPr lang="en-CA" sz="2000" dirty="0">
                <a:latin typeface="Consolas" panose="020B0609020204030204" pitchFamily="49" charset="0"/>
                <a:cs typeface="Consolas" panose="020B0609020204030204" pitchFamily="49" charset="0"/>
              </a:rPr>
              <a:t>(int) void; </a:t>
            </a:r>
          </a:p>
          <a:p>
            <a:r>
              <a:rPr lang="en-CA" sz="2000" dirty="0">
                <a:latin typeface="Consolas" panose="020B0609020204030204" pitchFamily="49" charset="0"/>
                <a:cs typeface="Consolas" panose="020B0609020204030204" pitchFamily="49" charset="0"/>
              </a:rPr>
              <a:t>package Test { </a:t>
            </a:r>
          </a:p>
          <a:p>
            <a:r>
              <a:rPr lang="en-CA" sz="2000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CA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func</a:t>
            </a:r>
            <a:r>
              <a:rPr lang="en-CA" sz="2000" dirty="0">
                <a:latin typeface="Consolas" panose="020B0609020204030204" pitchFamily="49" charset="0"/>
                <a:cs typeface="Consolas" panose="020B0609020204030204" pitchFamily="49" charset="0"/>
              </a:rPr>
              <a:t> main() int { </a:t>
            </a:r>
          </a:p>
          <a:p>
            <a:r>
              <a:rPr lang="en-CA" sz="2000" dirty="0">
                <a:latin typeface="Consolas" panose="020B0609020204030204" pitchFamily="49" charset="0"/>
                <a:cs typeface="Consolas" panose="020B0609020204030204" pitchFamily="49" charset="0"/>
              </a:rPr>
              <a:t>    test(10, 13); </a:t>
            </a:r>
          </a:p>
          <a:p>
            <a:r>
              <a:rPr lang="en-CA" sz="2000" dirty="0">
                <a:latin typeface="Consolas" panose="020B0609020204030204" pitchFamily="49" charset="0"/>
                <a:cs typeface="Consolas" panose="020B0609020204030204" pitchFamily="49" charset="0"/>
              </a:rPr>
              <a:t>  } </a:t>
            </a:r>
          </a:p>
          <a:p>
            <a:r>
              <a:rPr lang="en-CA" sz="2000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CA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func</a:t>
            </a:r>
            <a:r>
              <a:rPr lang="en-CA" sz="2000" dirty="0">
                <a:latin typeface="Consolas" panose="020B0609020204030204" pitchFamily="49" charset="0"/>
                <a:cs typeface="Consolas" panose="020B0609020204030204" pitchFamily="49" charset="0"/>
              </a:rPr>
              <a:t> test(a int, b int) void { </a:t>
            </a:r>
          </a:p>
          <a:p>
            <a:r>
              <a:rPr lang="en-CA" sz="20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CA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print_int</a:t>
            </a:r>
            <a:r>
              <a:rPr lang="en-CA" sz="2000" dirty="0">
                <a:latin typeface="Consolas" panose="020B0609020204030204" pitchFamily="49" charset="0"/>
                <a:cs typeface="Consolas" panose="020B0609020204030204" pitchFamily="49" charset="0"/>
              </a:rPr>
              <a:t>(a); </a:t>
            </a:r>
          </a:p>
          <a:p>
            <a:r>
              <a:rPr lang="en-CA" sz="20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CA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print_int</a:t>
            </a:r>
            <a:r>
              <a:rPr lang="en-CA" sz="2000" dirty="0">
                <a:latin typeface="Consolas" panose="020B0609020204030204" pitchFamily="49" charset="0"/>
                <a:cs typeface="Consolas" panose="020B0609020204030204" pitchFamily="49" charset="0"/>
              </a:rPr>
              <a:t>(b); </a:t>
            </a:r>
          </a:p>
          <a:p>
            <a:r>
              <a:rPr lang="en-CA" sz="2000" dirty="0">
                <a:latin typeface="Consolas" panose="020B0609020204030204" pitchFamily="49" charset="0"/>
                <a:cs typeface="Consolas" panose="020B0609020204030204" pitchFamily="49" charset="0"/>
              </a:rPr>
              <a:t>  } </a:t>
            </a:r>
          </a:p>
          <a:p>
            <a:r>
              <a:rPr lang="en-CA" sz="20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en-US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" name="Rectangular Callout 4">
            <a:extLst>
              <a:ext uri="{FF2B5EF4-FFF2-40B4-BE49-F238E27FC236}">
                <a16:creationId xmlns:a16="http://schemas.microsoft.com/office/drawing/2014/main" id="{029B9EEC-024E-FE4E-BDD9-DBAE0B4EB184}"/>
              </a:ext>
            </a:extLst>
          </p:cNvPr>
          <p:cNvSpPr/>
          <p:nvPr/>
        </p:nvSpPr>
        <p:spPr>
          <a:xfrm>
            <a:off x="3995936" y="1851670"/>
            <a:ext cx="3406638" cy="864096"/>
          </a:xfrm>
          <a:prstGeom prst="wedgeRectCallout">
            <a:avLst>
              <a:gd name="adj1" fmla="val -73844"/>
              <a:gd name="adj2" fmla="val 3298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dirty="0"/>
              <a:t>Iterate through the list of function signatures and insert them into the symbol table. </a:t>
            </a:r>
          </a:p>
        </p:txBody>
      </p:sp>
    </p:spTree>
    <p:extLst>
      <p:ext uri="{BB962C8B-B14F-4D97-AF65-F5344CB8AC3E}">
        <p14:creationId xmlns:p14="http://schemas.microsoft.com/office/powerpoint/2010/main" val="9875689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89A0B8-6D70-0C49-AB4A-2C7E09B393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sz="2800" dirty="0">
                <a:solidFill>
                  <a:srgbClr val="000000"/>
                </a:solidFill>
              </a:rPr>
              <a:t>Control Flow in LLVM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07290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“</a:t>
            </a:r>
            <a:r>
              <a:rPr lang="en-US" dirty="0" err="1"/>
              <a:t>Backpatching</a:t>
            </a:r>
            <a:r>
              <a:rPr lang="en-US" dirty="0"/>
              <a:t>” in LLVM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Inside </a:t>
            </a:r>
            <a:r>
              <a:rPr lang="en-US" dirty="0" err="1"/>
              <a:t>IfStmt</a:t>
            </a:r>
            <a:r>
              <a:rPr lang="en-US" dirty="0"/>
              <a:t>-&gt;</a:t>
            </a:r>
            <a:r>
              <a:rPr lang="en-US" dirty="0" err="1"/>
              <a:t>Codegen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Set up a new symbol table for code locations</a:t>
            </a:r>
          </a:p>
          <a:p>
            <a:pPr lvl="1"/>
            <a:r>
              <a:rPr lang="en-US" dirty="0"/>
              <a:t>Create a new </a:t>
            </a:r>
            <a:r>
              <a:rPr lang="en-US" dirty="0" err="1"/>
              <a:t>BasicBlock</a:t>
            </a:r>
            <a:r>
              <a:rPr lang="en-US" dirty="0"/>
              <a:t> called </a:t>
            </a:r>
            <a:r>
              <a:rPr lang="en-US" dirty="0" err="1"/>
              <a:t>iftrue</a:t>
            </a:r>
            <a:r>
              <a:rPr lang="en-US" dirty="0"/>
              <a:t> (see slide 9)</a:t>
            </a:r>
          </a:p>
          <a:p>
            <a:pPr lvl="1"/>
            <a:r>
              <a:rPr lang="en-US" dirty="0"/>
              <a:t>Create a new </a:t>
            </a:r>
            <a:r>
              <a:rPr lang="en-US" dirty="0" err="1"/>
              <a:t>BasicBlock</a:t>
            </a:r>
            <a:r>
              <a:rPr lang="en-US" dirty="0"/>
              <a:t> called </a:t>
            </a:r>
            <a:r>
              <a:rPr lang="en-US" dirty="0" err="1"/>
              <a:t>iffalse</a:t>
            </a:r>
            <a:endParaRPr lang="en-US" dirty="0"/>
          </a:p>
          <a:p>
            <a:pPr lvl="1"/>
            <a:r>
              <a:rPr lang="en-US" dirty="0"/>
              <a:t>Create a new </a:t>
            </a:r>
            <a:r>
              <a:rPr lang="en-US" dirty="0" err="1"/>
              <a:t>BasicBlock</a:t>
            </a:r>
            <a:r>
              <a:rPr lang="en-US" dirty="0"/>
              <a:t> called end</a:t>
            </a:r>
          </a:p>
          <a:p>
            <a:pPr lvl="1"/>
            <a:r>
              <a:rPr lang="en-US" dirty="0"/>
              <a:t>Subsequent code generation anywhere else can insert code into these code locations</a:t>
            </a:r>
          </a:p>
          <a:p>
            <a:pPr lvl="1"/>
            <a:r>
              <a:rPr lang="en-US" dirty="0"/>
              <a:t>Can be used for break, continue, short-circuits, etc.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2C104B-E445-B247-BB91-C10CB560B869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26160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“</a:t>
            </a:r>
            <a:r>
              <a:rPr lang="en-US"/>
              <a:t>Backpatching</a:t>
            </a:r>
            <a:r>
              <a:rPr lang="en-US" dirty="0"/>
              <a:t>” in LLVM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2C104B-E445-B247-BB91-C10CB560B869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954028" y="1665412"/>
            <a:ext cx="5735866" cy="120032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1800" dirty="0">
                <a:solidFill>
                  <a:srgbClr val="C00000"/>
                </a:solidFill>
              </a:rPr>
              <a:t>  // </a:t>
            </a:r>
            <a:r>
              <a:rPr lang="en-US" sz="1800" b="1" dirty="0" err="1">
                <a:solidFill>
                  <a:srgbClr val="C00000"/>
                </a:solidFill>
              </a:rPr>
              <a:t>val</a:t>
            </a:r>
            <a:r>
              <a:rPr lang="en-US" sz="1800" dirty="0">
                <a:solidFill>
                  <a:srgbClr val="C00000"/>
                </a:solidFill>
              </a:rPr>
              <a:t> contains the Expr value for the conditional</a:t>
            </a:r>
          </a:p>
          <a:p>
            <a:r>
              <a:rPr lang="en-US" sz="1800" dirty="0">
                <a:solidFill>
                  <a:srgbClr val="000000"/>
                </a:solidFill>
              </a:rPr>
              <a:t> 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Builder.CreateCondBr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800" b="1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val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IfTrueBB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EndBB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Builder.SetInsertPoint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IfTrueBB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IfTrueBlock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-&gt;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Codegen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8325" y="3760883"/>
            <a:ext cx="6896440" cy="92333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Builder.CreateBr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EndBB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r>
              <a:rPr lang="en-US" sz="18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pop the symbol table after </a:t>
            </a:r>
            <a:r>
              <a:rPr lang="en-US" sz="1800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IfStmt</a:t>
            </a:r>
            <a:r>
              <a:rPr lang="en-US" sz="18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Codegen</a:t>
            </a:r>
            <a:r>
              <a:rPr lang="en-US" sz="18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is done</a:t>
            </a:r>
          </a:p>
          <a:p>
            <a:r>
              <a:rPr lang="en-US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Builder.SetInsertPoint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EndBB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7584" y="1161836"/>
            <a:ext cx="5354351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 dirty="0">
                <a:latin typeface="Calibri" panose="020F0502020204030204" pitchFamily="34" charset="0"/>
              </a:rPr>
              <a:t>Setting up the branching between Basic Blocks: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84" y="3121497"/>
            <a:ext cx="6141425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 dirty="0">
                <a:latin typeface="Calibri" panose="020F0502020204030204" pitchFamily="34" charset="0"/>
              </a:rPr>
              <a:t>After the </a:t>
            </a:r>
            <a:r>
              <a:rPr lang="en-US" sz="2100" dirty="0" err="1">
                <a:latin typeface="Calibri" panose="020F0502020204030204" pitchFamily="34" charset="0"/>
              </a:rPr>
              <a:t>IfStmt</a:t>
            </a:r>
            <a:r>
              <a:rPr lang="en-US" sz="2100" dirty="0">
                <a:latin typeface="Calibri" panose="020F0502020204030204" pitchFamily="34" charset="0"/>
              </a:rPr>
              <a:t> we continue with the end Basic Block:</a:t>
            </a:r>
          </a:p>
        </p:txBody>
      </p:sp>
    </p:spTree>
    <p:extLst>
      <p:ext uri="{BB962C8B-B14F-4D97-AF65-F5344CB8AC3E}">
        <p14:creationId xmlns:p14="http://schemas.microsoft.com/office/powerpoint/2010/main" val="35524487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Static Single Assignment in LLVM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69219"/>
            <a:ext cx="7886700" cy="1562571"/>
          </a:xfrm>
        </p:spPr>
        <p:txBody>
          <a:bodyPr/>
          <a:lstStyle/>
          <a:p>
            <a:r>
              <a:rPr lang="en-US" dirty="0"/>
              <a:t>For normal control flow using </a:t>
            </a:r>
            <a:r>
              <a:rPr lang="en-US" dirty="0" err="1"/>
              <a:t>CreateBr</a:t>
            </a:r>
            <a:r>
              <a:rPr lang="en-US" dirty="0"/>
              <a:t> and </a:t>
            </a:r>
            <a:r>
              <a:rPr lang="en-US" dirty="0" err="1"/>
              <a:t>CreateCondBr</a:t>
            </a:r>
            <a:r>
              <a:rPr lang="en-US" dirty="0"/>
              <a:t> no need for Phi functions</a:t>
            </a:r>
          </a:p>
          <a:p>
            <a:r>
              <a:rPr lang="en-US" dirty="0"/>
              <a:t>LLVM produces the Phi functions automatically using algorithms we will study in class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2C104B-E445-B247-BB91-C10CB560B869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032F20A-E870-5440-911B-0A0C10F65979}"/>
              </a:ext>
            </a:extLst>
          </p:cNvPr>
          <p:cNvSpPr/>
          <p:nvPr/>
        </p:nvSpPr>
        <p:spPr>
          <a:xfrm>
            <a:off x="2195736" y="3147814"/>
            <a:ext cx="1224136" cy="360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/>
              <a:t>BB1: x1 = 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8869C11-1354-9648-A1DE-7B9429020F44}"/>
              </a:ext>
            </a:extLst>
          </p:cNvPr>
          <p:cNvSpPr/>
          <p:nvPr/>
        </p:nvSpPr>
        <p:spPr>
          <a:xfrm>
            <a:off x="4577977" y="3147814"/>
            <a:ext cx="1224136" cy="360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/>
              <a:t>BB2: x2 = 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3CCB3DD-9935-054F-87FE-47D57AC63CD1}"/>
              </a:ext>
            </a:extLst>
          </p:cNvPr>
          <p:cNvSpPr/>
          <p:nvPr/>
        </p:nvSpPr>
        <p:spPr>
          <a:xfrm>
            <a:off x="2915816" y="4155926"/>
            <a:ext cx="2088232" cy="360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/>
              <a:t>BB3: x3 = Phi(x1, x2)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868A5D8-94C5-134E-A7DC-D56E1385DAD1}"/>
              </a:ext>
            </a:extLst>
          </p:cNvPr>
          <p:cNvCxnSpPr>
            <a:stCxn id="4" idx="2"/>
            <a:endCxn id="8" idx="0"/>
          </p:cNvCxnSpPr>
          <p:nvPr/>
        </p:nvCxnSpPr>
        <p:spPr>
          <a:xfrm>
            <a:off x="2807804" y="3507854"/>
            <a:ext cx="1152128" cy="6480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CB84FE6-2BF9-C04D-8DE1-69B1209284C9}"/>
              </a:ext>
            </a:extLst>
          </p:cNvPr>
          <p:cNvCxnSpPr>
            <a:stCxn id="7" idx="2"/>
            <a:endCxn id="8" idx="0"/>
          </p:cNvCxnSpPr>
          <p:nvPr/>
        </p:nvCxnSpPr>
        <p:spPr>
          <a:xfrm flipH="1">
            <a:off x="3959932" y="3507854"/>
            <a:ext cx="1230113" cy="6480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34933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  <p:bldP spid="7" grpId="0" animBg="1"/>
      <p:bldP spid="8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000" dirty="0"/>
              <a:t>Short-circuit of </a:t>
            </a:r>
            <a:r>
              <a:rPr lang="en-US" sz="3000" dirty="0" err="1"/>
              <a:t>boolean</a:t>
            </a:r>
            <a:r>
              <a:rPr lang="en-US" sz="3000" dirty="0"/>
              <a:t> expressions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2C104B-E445-B247-BB91-C10CB560B869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628650" y="1216025"/>
            <a:ext cx="7543750" cy="707653"/>
          </a:xfrm>
        </p:spPr>
        <p:txBody>
          <a:bodyPr/>
          <a:lstStyle/>
          <a:p>
            <a:r>
              <a:rPr lang="en-US" dirty="0"/>
              <a:t>For short circuit of </a:t>
            </a:r>
            <a:r>
              <a:rPr lang="en-US" dirty="0" err="1"/>
              <a:t>boolean</a:t>
            </a:r>
            <a:r>
              <a:rPr lang="en-US" dirty="0"/>
              <a:t> expressions you have to write the PHI function yourself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9532" y="2140937"/>
            <a:ext cx="8424936" cy="235449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100" dirty="0" err="1">
                <a:latin typeface="Consolas" panose="020B0609020204030204" pitchFamily="49" charset="0"/>
                <a:cs typeface="Consolas" panose="020B0609020204030204" pitchFamily="49" charset="0"/>
              </a:rPr>
              <a:t>llvm</a:t>
            </a:r>
            <a:r>
              <a:rPr lang="en-US" sz="2100" dirty="0">
                <a:latin typeface="Consolas" panose="020B0609020204030204" pitchFamily="49" charset="0"/>
                <a:cs typeface="Consolas" panose="020B0609020204030204" pitchFamily="49" charset="0"/>
              </a:rPr>
              <a:t>::</a:t>
            </a:r>
            <a:r>
              <a:rPr lang="en-US" sz="2100" dirty="0" err="1">
                <a:latin typeface="Consolas" panose="020B0609020204030204" pitchFamily="49" charset="0"/>
                <a:cs typeface="Consolas" panose="020B0609020204030204" pitchFamily="49" charset="0"/>
              </a:rPr>
              <a:t>PHINode</a:t>
            </a:r>
            <a:r>
              <a:rPr lang="en-US" sz="2100" dirty="0">
                <a:latin typeface="Consolas" panose="020B0609020204030204" pitchFamily="49" charset="0"/>
                <a:cs typeface="Consolas" panose="020B0609020204030204" pitchFamily="49" charset="0"/>
              </a:rPr>
              <a:t> *</a:t>
            </a:r>
            <a:r>
              <a:rPr lang="en-US" sz="2100" dirty="0" err="1">
                <a:latin typeface="Consolas" panose="020B0609020204030204" pitchFamily="49" charset="0"/>
                <a:cs typeface="Consolas" panose="020B0609020204030204" pitchFamily="49" charset="0"/>
              </a:rPr>
              <a:t>val</a:t>
            </a:r>
            <a:r>
              <a:rPr lang="en-US" sz="2100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</a:p>
          <a:p>
            <a:r>
              <a:rPr lang="en-US" sz="210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sz="2100" dirty="0" err="1">
                <a:latin typeface="Consolas" panose="020B0609020204030204" pitchFamily="49" charset="0"/>
                <a:cs typeface="Consolas" panose="020B0609020204030204" pitchFamily="49" charset="0"/>
              </a:rPr>
              <a:t>Builder.CreatePHI</a:t>
            </a:r>
            <a:r>
              <a:rPr lang="en-US" sz="2100" dirty="0">
                <a:latin typeface="Consolas" panose="020B0609020204030204" pitchFamily="49" charset="0"/>
                <a:cs typeface="Consolas" panose="020B0609020204030204" pitchFamily="49" charset="0"/>
              </a:rPr>
              <a:t>(type, 2, "</a:t>
            </a:r>
            <a:r>
              <a:rPr lang="en-US" sz="2100" dirty="0" err="1">
                <a:latin typeface="Consolas" panose="020B0609020204030204" pitchFamily="49" charset="0"/>
                <a:cs typeface="Consolas" panose="020B0609020204030204" pitchFamily="49" charset="0"/>
              </a:rPr>
              <a:t>phival</a:t>
            </a:r>
            <a:r>
              <a:rPr lang="en-US" sz="2100" dirty="0">
                <a:latin typeface="Consolas" panose="020B0609020204030204" pitchFamily="49" charset="0"/>
                <a:cs typeface="Consolas" panose="020B0609020204030204" pitchFamily="49" charset="0"/>
              </a:rPr>
              <a:t>");</a:t>
            </a:r>
          </a:p>
          <a:p>
            <a:r>
              <a:rPr lang="en-US" sz="21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</a:t>
            </a:r>
            <a:r>
              <a:rPr lang="en-US" sz="21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type is an LLVM::Type</a:t>
            </a:r>
            <a:endParaRPr lang="en-US" sz="2100" dirty="0">
              <a:solidFill>
                <a:srgbClr val="C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2100" dirty="0" err="1">
                <a:latin typeface="Consolas" panose="020B0609020204030204" pitchFamily="49" charset="0"/>
                <a:cs typeface="Consolas" panose="020B0609020204030204" pitchFamily="49" charset="0"/>
              </a:rPr>
              <a:t>val</a:t>
            </a:r>
            <a:r>
              <a:rPr lang="en-US" sz="2100" dirty="0">
                <a:latin typeface="Consolas" panose="020B0609020204030204" pitchFamily="49" charset="0"/>
                <a:cs typeface="Consolas" panose="020B0609020204030204" pitchFamily="49" charset="0"/>
              </a:rPr>
              <a:t>-&gt;</a:t>
            </a:r>
            <a:r>
              <a:rPr lang="en-US" sz="2100" dirty="0" err="1">
                <a:latin typeface="Consolas" panose="020B0609020204030204" pitchFamily="49" charset="0"/>
                <a:cs typeface="Consolas" panose="020B0609020204030204" pitchFamily="49" charset="0"/>
              </a:rPr>
              <a:t>addIncoming</a:t>
            </a:r>
            <a:r>
              <a:rPr lang="en-US" sz="2100" dirty="0">
                <a:latin typeface="Consolas" panose="020B0609020204030204" pitchFamily="49" charset="0"/>
                <a:cs typeface="Consolas" panose="020B0609020204030204" pitchFamily="49" charset="0"/>
              </a:rPr>
              <a:t>(L, </a:t>
            </a:r>
            <a:r>
              <a:rPr lang="en-US" sz="2100" dirty="0" err="1">
                <a:latin typeface="Consolas" panose="020B0609020204030204" pitchFamily="49" charset="0"/>
                <a:cs typeface="Consolas" panose="020B0609020204030204" pitchFamily="49" charset="0"/>
              </a:rPr>
              <a:t>CurBB</a:t>
            </a:r>
            <a:r>
              <a:rPr lang="en-US" sz="2100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r>
              <a:rPr lang="en-US" sz="2100" dirty="0" err="1">
                <a:latin typeface="Consolas" panose="020B0609020204030204" pitchFamily="49" charset="0"/>
                <a:cs typeface="Consolas" panose="020B0609020204030204" pitchFamily="49" charset="0"/>
              </a:rPr>
              <a:t>val</a:t>
            </a:r>
            <a:r>
              <a:rPr lang="en-US" sz="2100" dirty="0">
                <a:latin typeface="Consolas" panose="020B0609020204030204" pitchFamily="49" charset="0"/>
                <a:cs typeface="Consolas" panose="020B0609020204030204" pitchFamily="49" charset="0"/>
              </a:rPr>
              <a:t>-&gt;</a:t>
            </a:r>
            <a:r>
              <a:rPr lang="en-US" sz="2100" dirty="0" err="1">
                <a:latin typeface="Consolas" panose="020B0609020204030204" pitchFamily="49" charset="0"/>
                <a:cs typeface="Consolas" panose="020B0609020204030204" pitchFamily="49" charset="0"/>
              </a:rPr>
              <a:t>addIncoming</a:t>
            </a:r>
            <a:r>
              <a:rPr lang="en-US" sz="21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100" dirty="0" err="1">
                <a:latin typeface="Consolas" panose="020B0609020204030204" pitchFamily="49" charset="0"/>
                <a:cs typeface="Consolas" panose="020B0609020204030204" pitchFamily="49" charset="0"/>
              </a:rPr>
              <a:t>opval</a:t>
            </a:r>
            <a:r>
              <a:rPr lang="en-US" sz="2100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2100" dirty="0" err="1">
                <a:latin typeface="Consolas" panose="020B0609020204030204" pitchFamily="49" charset="0"/>
                <a:cs typeface="Consolas" panose="020B0609020204030204" pitchFamily="49" charset="0"/>
              </a:rPr>
              <a:t>OpValBB</a:t>
            </a:r>
            <a:r>
              <a:rPr lang="en-US" sz="2100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r>
              <a:rPr lang="en-US" sz="21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</a:t>
            </a:r>
            <a:r>
              <a:rPr lang="en-US" sz="2100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CurBB</a:t>
            </a:r>
            <a:r>
              <a:rPr lang="en-US" sz="21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and </a:t>
            </a:r>
            <a:r>
              <a:rPr lang="en-US" sz="2100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OpValBB</a:t>
            </a:r>
            <a:r>
              <a:rPr lang="en-US" sz="21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are the two basic blocks that are incoming blocks for the PHI function</a:t>
            </a:r>
            <a:endParaRPr lang="en-US" sz="2100" dirty="0">
              <a:solidFill>
                <a:srgbClr val="C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84664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260D1-69D6-534C-BD2B-54FFE929CF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Short-circuit of </a:t>
            </a:r>
            <a:r>
              <a:rPr lang="en-US" sz="3600" dirty="0" err="1"/>
              <a:t>boolean</a:t>
            </a:r>
            <a:r>
              <a:rPr lang="en-US" sz="3600" dirty="0"/>
              <a:t> expressions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1A4D194-1A47-054C-944C-ABE804389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52BF6-6A9C-D04A-BBE8-37A07D64A1C3}" type="slidenum">
              <a:rPr lang="en-US" smtClean="0"/>
              <a:t>21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48109E3-493D-7F45-BFC2-F87F7260087B}"/>
              </a:ext>
            </a:extLst>
          </p:cNvPr>
          <p:cNvSpPr txBox="1"/>
          <p:nvPr/>
        </p:nvSpPr>
        <p:spPr>
          <a:xfrm>
            <a:off x="827584" y="1419622"/>
            <a:ext cx="4993675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000" dirty="0">
                <a:latin typeface="Consolas" panose="020B0609020204030204" pitchFamily="49" charset="0"/>
                <a:cs typeface="Consolas" panose="020B0609020204030204" pitchFamily="49" charset="0"/>
              </a:rPr>
              <a:t>package </a:t>
            </a:r>
            <a:r>
              <a:rPr lang="en-CA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sckt</a:t>
            </a:r>
            <a:r>
              <a:rPr lang="en-CA" sz="2000" dirty="0">
                <a:latin typeface="Consolas" panose="020B0609020204030204" pitchFamily="49" charset="0"/>
                <a:cs typeface="Consolas" panose="020B0609020204030204" pitchFamily="49" charset="0"/>
              </a:rPr>
              <a:t> { </a:t>
            </a:r>
          </a:p>
          <a:p>
            <a:r>
              <a:rPr lang="en-CA" sz="200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CA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func</a:t>
            </a:r>
            <a:r>
              <a:rPr lang="en-CA" sz="2000" dirty="0">
                <a:latin typeface="Consolas" panose="020B0609020204030204" pitchFamily="49" charset="0"/>
                <a:cs typeface="Consolas" panose="020B0609020204030204" pitchFamily="49" charset="0"/>
              </a:rPr>
              <a:t> main() int { </a:t>
            </a:r>
          </a:p>
          <a:p>
            <a:r>
              <a:rPr lang="en-CA" sz="2000" dirty="0">
                <a:latin typeface="Consolas" panose="020B0609020204030204" pitchFamily="49" charset="0"/>
                <a:cs typeface="Consolas" panose="020B0609020204030204" pitchFamily="49" charset="0"/>
              </a:rPr>
              <a:t>		var a, b, c bool; </a:t>
            </a:r>
          </a:p>
          <a:p>
            <a:r>
              <a:rPr lang="en-CA" sz="2000" dirty="0">
                <a:latin typeface="Consolas" panose="020B0609020204030204" pitchFamily="49" charset="0"/>
                <a:cs typeface="Consolas" panose="020B0609020204030204" pitchFamily="49" charset="0"/>
              </a:rPr>
              <a:t>		a = true; b = false; </a:t>
            </a:r>
          </a:p>
          <a:p>
            <a:r>
              <a:rPr lang="en-CA" sz="2000" dirty="0">
                <a:latin typeface="Consolas" panose="020B0609020204030204" pitchFamily="49" charset="0"/>
                <a:cs typeface="Consolas" panose="020B0609020204030204" pitchFamily="49" charset="0"/>
              </a:rPr>
              <a:t>		c = a || b; </a:t>
            </a:r>
          </a:p>
          <a:p>
            <a:r>
              <a:rPr lang="en-CA" sz="2000" dirty="0">
                <a:latin typeface="Consolas" panose="020B0609020204030204" pitchFamily="49" charset="0"/>
                <a:cs typeface="Consolas" panose="020B0609020204030204" pitchFamily="49" charset="0"/>
              </a:rPr>
              <a:t>	} </a:t>
            </a:r>
          </a:p>
          <a:p>
            <a:r>
              <a:rPr lang="en-CA" sz="20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en-US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78500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260D1-69D6-534C-BD2B-54FFE929CF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Short-circuit of </a:t>
            </a:r>
            <a:r>
              <a:rPr lang="en-US" sz="3600" dirty="0" err="1"/>
              <a:t>boolean</a:t>
            </a:r>
            <a:r>
              <a:rPr lang="en-US" sz="3600" dirty="0"/>
              <a:t> expressions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1A4D194-1A47-054C-944C-ABE804389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52BF6-6A9C-D04A-BBE8-37A07D64A1C3}" type="slidenum">
              <a:rPr lang="en-US" smtClean="0"/>
              <a:t>22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48109E3-493D-7F45-BFC2-F87F7260087B}"/>
              </a:ext>
            </a:extLst>
          </p:cNvPr>
          <p:cNvSpPr txBox="1"/>
          <p:nvPr/>
        </p:nvSpPr>
        <p:spPr>
          <a:xfrm>
            <a:off x="720640" y="1222240"/>
            <a:ext cx="4458272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1400" dirty="0"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  <a:r>
              <a:rPr lang="en-CA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ModuleID</a:t>
            </a:r>
            <a:r>
              <a:rPr lang="en-CA" sz="1400" dirty="0">
                <a:latin typeface="Consolas" panose="020B0609020204030204" pitchFamily="49" charset="0"/>
                <a:cs typeface="Consolas" panose="020B0609020204030204" pitchFamily="49" charset="0"/>
              </a:rPr>
              <a:t> = '</a:t>
            </a:r>
            <a:r>
              <a:rPr lang="en-CA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sckt</a:t>
            </a:r>
            <a:r>
              <a:rPr lang="en-CA" sz="1400" dirty="0">
                <a:latin typeface="Consolas" panose="020B0609020204030204" pitchFamily="49" charset="0"/>
                <a:cs typeface="Consolas" panose="020B0609020204030204" pitchFamily="49" charset="0"/>
              </a:rPr>
              <a:t>’ </a:t>
            </a:r>
          </a:p>
          <a:p>
            <a:r>
              <a:rPr lang="en-CA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source_filename</a:t>
            </a:r>
            <a:r>
              <a:rPr lang="en-CA" sz="1400" dirty="0">
                <a:latin typeface="Consolas" panose="020B0609020204030204" pitchFamily="49" charset="0"/>
                <a:cs typeface="Consolas" panose="020B0609020204030204" pitchFamily="49" charset="0"/>
              </a:rPr>
              <a:t> = "</a:t>
            </a:r>
            <a:r>
              <a:rPr lang="en-CA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DecafComp</a:t>
            </a:r>
            <a:r>
              <a:rPr lang="en-CA" sz="1400" dirty="0">
                <a:latin typeface="Consolas" panose="020B0609020204030204" pitchFamily="49" charset="0"/>
                <a:cs typeface="Consolas" panose="020B0609020204030204" pitchFamily="49" charset="0"/>
              </a:rPr>
              <a:t>" </a:t>
            </a:r>
          </a:p>
          <a:p>
            <a:r>
              <a:rPr lang="en-CA" sz="1400" dirty="0">
                <a:latin typeface="Consolas" panose="020B0609020204030204" pitchFamily="49" charset="0"/>
                <a:cs typeface="Consolas" panose="020B0609020204030204" pitchFamily="49" charset="0"/>
              </a:rPr>
              <a:t>define i32 @main() { </a:t>
            </a:r>
          </a:p>
          <a:p>
            <a:r>
              <a:rPr lang="en-CA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func</a:t>
            </a:r>
            <a:r>
              <a:rPr lang="en-CA" sz="1400" dirty="0"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</a:p>
          <a:p>
            <a:r>
              <a:rPr lang="en-CA" sz="1400" dirty="0">
                <a:latin typeface="Consolas" panose="020B0609020204030204" pitchFamily="49" charset="0"/>
                <a:cs typeface="Consolas" panose="020B0609020204030204" pitchFamily="49" charset="0"/>
              </a:rPr>
              <a:t>  ; removed all variable </a:t>
            </a:r>
            <a:r>
              <a:rPr lang="en-CA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init</a:t>
            </a:r>
            <a:r>
              <a:rPr lang="en-CA" sz="1400" dirty="0">
                <a:latin typeface="Consolas" panose="020B0609020204030204" pitchFamily="49" charset="0"/>
                <a:cs typeface="Consolas" panose="020B0609020204030204" pitchFamily="49" charset="0"/>
              </a:rPr>
              <a:t> code</a:t>
            </a:r>
          </a:p>
          <a:p>
            <a:r>
              <a:rPr lang="en-CA" sz="1400" dirty="0">
                <a:latin typeface="Consolas" panose="020B0609020204030204" pitchFamily="49" charset="0"/>
                <a:cs typeface="Consolas" panose="020B0609020204030204" pitchFamily="49" charset="0"/>
              </a:rPr>
              <a:t>  store i1 true, i1* %a </a:t>
            </a:r>
          </a:p>
          <a:p>
            <a:r>
              <a:rPr lang="en-CA" sz="1400" dirty="0">
                <a:latin typeface="Consolas" panose="020B0609020204030204" pitchFamily="49" charset="0"/>
                <a:cs typeface="Consolas" panose="020B0609020204030204" pitchFamily="49" charset="0"/>
              </a:rPr>
              <a:t>  store i1 false, i1* %b </a:t>
            </a:r>
          </a:p>
          <a:p>
            <a:r>
              <a:rPr lang="en-CA" sz="1400" dirty="0">
                <a:latin typeface="Consolas" panose="020B0609020204030204" pitchFamily="49" charset="0"/>
                <a:cs typeface="Consolas" panose="020B0609020204030204" pitchFamily="49" charset="0"/>
              </a:rPr>
              <a:t>  %a1 = load i1, i1* %a </a:t>
            </a:r>
          </a:p>
          <a:p>
            <a:r>
              <a:rPr lang="en-CA" sz="1400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CA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br</a:t>
            </a:r>
            <a:r>
              <a:rPr lang="en-CA" sz="1400" dirty="0">
                <a:latin typeface="Consolas" panose="020B0609020204030204" pitchFamily="49" charset="0"/>
                <a:cs typeface="Consolas" panose="020B0609020204030204" pitchFamily="49" charset="0"/>
              </a:rPr>
              <a:t> i1 %a1, label %</a:t>
            </a:r>
            <a:r>
              <a:rPr lang="en-CA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skctend</a:t>
            </a:r>
            <a:r>
              <a:rPr lang="en-CA" sz="1400" dirty="0">
                <a:latin typeface="Consolas" panose="020B0609020204030204" pitchFamily="49" charset="0"/>
                <a:cs typeface="Consolas" panose="020B0609020204030204" pitchFamily="49" charset="0"/>
              </a:rPr>
              <a:t>, label %</a:t>
            </a:r>
            <a:r>
              <a:rPr lang="en-CA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noskct</a:t>
            </a:r>
            <a:r>
              <a:rPr lang="en-CA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B70E52F-DAC7-C24B-8506-4D8E7EABF150}"/>
              </a:ext>
            </a:extLst>
          </p:cNvPr>
          <p:cNvSpPr txBox="1"/>
          <p:nvPr/>
        </p:nvSpPr>
        <p:spPr>
          <a:xfrm>
            <a:off x="665722" y="3502083"/>
            <a:ext cx="2768707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noskct</a:t>
            </a:r>
            <a:r>
              <a:rPr lang="en-CA" sz="1400" dirty="0">
                <a:latin typeface="Consolas" panose="020B0609020204030204" pitchFamily="49" charset="0"/>
                <a:cs typeface="Consolas" panose="020B0609020204030204" pitchFamily="49" charset="0"/>
              </a:rPr>
              <a:t>: ; </a:t>
            </a:r>
            <a:r>
              <a:rPr lang="en-CA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preds</a:t>
            </a:r>
            <a:r>
              <a:rPr lang="en-CA" sz="1400" dirty="0">
                <a:latin typeface="Consolas" panose="020B0609020204030204" pitchFamily="49" charset="0"/>
                <a:cs typeface="Consolas" panose="020B0609020204030204" pitchFamily="49" charset="0"/>
              </a:rPr>
              <a:t> = %</a:t>
            </a:r>
            <a:r>
              <a:rPr lang="en-CA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func</a:t>
            </a:r>
            <a:r>
              <a:rPr lang="en-CA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CA" sz="1400" dirty="0">
                <a:latin typeface="Consolas" panose="020B0609020204030204" pitchFamily="49" charset="0"/>
                <a:cs typeface="Consolas" panose="020B0609020204030204" pitchFamily="49" charset="0"/>
              </a:rPr>
              <a:t>  %b2 = load i1, i1* %b </a:t>
            </a:r>
          </a:p>
          <a:p>
            <a:r>
              <a:rPr lang="en-CA" sz="1400" dirty="0">
                <a:latin typeface="Consolas" panose="020B0609020204030204" pitchFamily="49" charset="0"/>
                <a:cs typeface="Consolas" panose="020B0609020204030204" pitchFamily="49" charset="0"/>
              </a:rPr>
              <a:t>  %</a:t>
            </a:r>
            <a:r>
              <a:rPr lang="en-CA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ortmp</a:t>
            </a:r>
            <a:r>
              <a:rPr lang="en-CA" sz="1400" dirty="0">
                <a:latin typeface="Consolas" panose="020B0609020204030204" pitchFamily="49" charset="0"/>
                <a:cs typeface="Consolas" panose="020B0609020204030204" pitchFamily="49" charset="0"/>
              </a:rPr>
              <a:t> = or i1 %a1, %b2 </a:t>
            </a:r>
          </a:p>
          <a:p>
            <a:r>
              <a:rPr lang="en-CA" sz="1400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CA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br</a:t>
            </a:r>
            <a:r>
              <a:rPr lang="en-CA" sz="1400" dirty="0">
                <a:latin typeface="Consolas" panose="020B0609020204030204" pitchFamily="49" charset="0"/>
                <a:cs typeface="Consolas" panose="020B0609020204030204" pitchFamily="49" charset="0"/>
              </a:rPr>
              <a:t> label %</a:t>
            </a:r>
            <a:r>
              <a:rPr lang="en-CA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skctend</a:t>
            </a:r>
            <a:r>
              <a:rPr lang="en-CA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CA303C-B688-4843-B5BA-109A2B1CD57F}"/>
              </a:ext>
            </a:extLst>
          </p:cNvPr>
          <p:cNvSpPr txBox="1"/>
          <p:nvPr/>
        </p:nvSpPr>
        <p:spPr>
          <a:xfrm>
            <a:off x="3888992" y="3649733"/>
            <a:ext cx="4855816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skctend</a:t>
            </a:r>
            <a:r>
              <a:rPr lang="en-CA" sz="1400" dirty="0">
                <a:latin typeface="Consolas" panose="020B0609020204030204" pitchFamily="49" charset="0"/>
                <a:cs typeface="Consolas" panose="020B0609020204030204" pitchFamily="49" charset="0"/>
              </a:rPr>
              <a:t>: ; </a:t>
            </a:r>
            <a:r>
              <a:rPr lang="en-CA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preds</a:t>
            </a:r>
            <a:r>
              <a:rPr lang="en-CA" sz="1400" dirty="0">
                <a:latin typeface="Consolas" panose="020B0609020204030204" pitchFamily="49" charset="0"/>
                <a:cs typeface="Consolas" panose="020B0609020204030204" pitchFamily="49" charset="0"/>
              </a:rPr>
              <a:t> = %</a:t>
            </a:r>
            <a:r>
              <a:rPr lang="en-CA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noskct</a:t>
            </a:r>
            <a:r>
              <a:rPr lang="en-CA" sz="1400" dirty="0">
                <a:latin typeface="Consolas" panose="020B0609020204030204" pitchFamily="49" charset="0"/>
                <a:cs typeface="Consolas" panose="020B0609020204030204" pitchFamily="49" charset="0"/>
              </a:rPr>
              <a:t>, %</a:t>
            </a:r>
            <a:r>
              <a:rPr lang="en-CA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func</a:t>
            </a:r>
            <a:r>
              <a:rPr lang="en-CA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CA" sz="1400" dirty="0">
                <a:latin typeface="Consolas" panose="020B0609020204030204" pitchFamily="49" charset="0"/>
                <a:cs typeface="Consolas" panose="020B0609020204030204" pitchFamily="49" charset="0"/>
              </a:rPr>
              <a:t>  %</a:t>
            </a:r>
            <a:r>
              <a:rPr lang="en-CA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phival</a:t>
            </a:r>
            <a:r>
              <a:rPr lang="en-CA" sz="1400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</a:p>
          <a:p>
            <a:r>
              <a:rPr lang="en-CA" sz="1400" dirty="0">
                <a:latin typeface="Consolas" panose="020B0609020204030204" pitchFamily="49" charset="0"/>
                <a:cs typeface="Consolas" panose="020B0609020204030204" pitchFamily="49" charset="0"/>
              </a:rPr>
              <a:t>    phi i1 [ %a1, %</a:t>
            </a:r>
            <a:r>
              <a:rPr lang="en-CA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func</a:t>
            </a:r>
            <a:r>
              <a:rPr lang="en-CA" sz="1400" dirty="0">
                <a:latin typeface="Consolas" panose="020B0609020204030204" pitchFamily="49" charset="0"/>
                <a:cs typeface="Consolas" panose="020B0609020204030204" pitchFamily="49" charset="0"/>
              </a:rPr>
              <a:t> ], [ %</a:t>
            </a:r>
            <a:r>
              <a:rPr lang="en-CA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ortmp</a:t>
            </a:r>
            <a:r>
              <a:rPr lang="en-CA" sz="1400" dirty="0">
                <a:latin typeface="Consolas" panose="020B0609020204030204" pitchFamily="49" charset="0"/>
                <a:cs typeface="Consolas" panose="020B0609020204030204" pitchFamily="49" charset="0"/>
              </a:rPr>
              <a:t>, %</a:t>
            </a:r>
            <a:r>
              <a:rPr lang="en-CA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noskct</a:t>
            </a:r>
            <a:r>
              <a:rPr lang="en-CA" sz="1400" dirty="0">
                <a:latin typeface="Consolas" panose="020B0609020204030204" pitchFamily="49" charset="0"/>
                <a:cs typeface="Consolas" panose="020B0609020204030204" pitchFamily="49" charset="0"/>
              </a:rPr>
              <a:t> ] </a:t>
            </a:r>
          </a:p>
          <a:p>
            <a:r>
              <a:rPr lang="en-CA" sz="1400" dirty="0">
                <a:latin typeface="Consolas" panose="020B0609020204030204" pitchFamily="49" charset="0"/>
                <a:cs typeface="Consolas" panose="020B0609020204030204" pitchFamily="49" charset="0"/>
              </a:rPr>
              <a:t>  store i1 %</a:t>
            </a:r>
            <a:r>
              <a:rPr lang="en-CA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phival</a:t>
            </a:r>
            <a:r>
              <a:rPr lang="en-CA" sz="1400" dirty="0">
                <a:latin typeface="Consolas" panose="020B0609020204030204" pitchFamily="49" charset="0"/>
                <a:cs typeface="Consolas" panose="020B0609020204030204" pitchFamily="49" charset="0"/>
              </a:rPr>
              <a:t>, i1* %c </a:t>
            </a:r>
          </a:p>
          <a:p>
            <a:r>
              <a:rPr lang="en-CA" sz="1400" dirty="0">
                <a:latin typeface="Consolas" panose="020B0609020204030204" pitchFamily="49" charset="0"/>
                <a:cs typeface="Consolas" panose="020B0609020204030204" pitchFamily="49" charset="0"/>
              </a:rPr>
              <a:t>  ret i32 0 </a:t>
            </a:r>
          </a:p>
          <a:p>
            <a:r>
              <a:rPr lang="en-CA" sz="14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en-US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E9967B2-1694-2440-A6CB-D01496DC8415}"/>
              </a:ext>
            </a:extLst>
          </p:cNvPr>
          <p:cNvCxnSpPr>
            <a:stCxn id="4" idx="2"/>
          </p:cNvCxnSpPr>
          <p:nvPr/>
        </p:nvCxnSpPr>
        <p:spPr>
          <a:xfrm flipH="1">
            <a:off x="2160800" y="3253565"/>
            <a:ext cx="788976" cy="2485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906257D-4C4F-4542-97EE-79B18E879E57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3434429" y="3979137"/>
            <a:ext cx="454563" cy="3630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71856F19-E7A0-6B4B-81C4-323FE403CBCD}"/>
              </a:ext>
            </a:extLst>
          </p:cNvPr>
          <p:cNvSpPr txBox="1"/>
          <p:nvPr/>
        </p:nvSpPr>
        <p:spPr>
          <a:xfrm>
            <a:off x="5453803" y="1530399"/>
            <a:ext cx="20537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c = a || b;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7165190-925B-DC4A-A171-212AE6D8B3F6}"/>
              </a:ext>
            </a:extLst>
          </p:cNvPr>
          <p:cNvSpPr/>
          <p:nvPr/>
        </p:nvSpPr>
        <p:spPr>
          <a:xfrm>
            <a:off x="5456266" y="2156661"/>
            <a:ext cx="1924046" cy="56326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/>
              <a:t>if 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  <a:r>
              <a:rPr lang="en-US" sz="1800" dirty="0"/>
              <a:t> is 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True</a:t>
            </a:r>
            <a:r>
              <a:rPr lang="en-US" sz="1800" dirty="0"/>
              <a:t> then do not evaluate 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b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5E6DD7F-84B3-464E-97F2-45A27969D387}"/>
              </a:ext>
            </a:extLst>
          </p:cNvPr>
          <p:cNvSpPr/>
          <p:nvPr/>
        </p:nvSpPr>
        <p:spPr>
          <a:xfrm>
            <a:off x="1538741" y="2945776"/>
            <a:ext cx="440971" cy="24851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E21BABD-3E36-BE40-9F04-F11F1ADF92AC}"/>
              </a:ext>
            </a:extLst>
          </p:cNvPr>
          <p:cNvSpPr/>
          <p:nvPr/>
        </p:nvSpPr>
        <p:spPr>
          <a:xfrm>
            <a:off x="2589184" y="2945776"/>
            <a:ext cx="902696" cy="24851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684ABAF-4BD1-5B46-B8D3-769AC9B24473}"/>
              </a:ext>
            </a:extLst>
          </p:cNvPr>
          <p:cNvSpPr/>
          <p:nvPr/>
        </p:nvSpPr>
        <p:spPr>
          <a:xfrm>
            <a:off x="3888992" y="3684053"/>
            <a:ext cx="902696" cy="24851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E9D424F-8E9A-FA49-81BC-81191E4B6618}"/>
              </a:ext>
            </a:extLst>
          </p:cNvPr>
          <p:cNvSpPr/>
          <p:nvPr/>
        </p:nvSpPr>
        <p:spPr>
          <a:xfrm>
            <a:off x="4155577" y="2945776"/>
            <a:ext cx="902696" cy="24851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7D6064D-D646-5C4D-A1B4-E7BC689D2424}"/>
              </a:ext>
            </a:extLst>
          </p:cNvPr>
          <p:cNvSpPr/>
          <p:nvPr/>
        </p:nvSpPr>
        <p:spPr>
          <a:xfrm>
            <a:off x="665722" y="3525474"/>
            <a:ext cx="776526" cy="24851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3158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260D1-69D6-534C-BD2B-54FFE929CF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Short-circuit of </a:t>
            </a:r>
            <a:r>
              <a:rPr lang="en-US" sz="3600" dirty="0" err="1"/>
              <a:t>boolean</a:t>
            </a:r>
            <a:r>
              <a:rPr lang="en-US" sz="3600" dirty="0"/>
              <a:t> expressions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1A4D194-1A47-054C-944C-ABE804389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52BF6-6A9C-D04A-BBE8-37A07D64A1C3}" type="slidenum">
              <a:rPr lang="en-US" smtClean="0"/>
              <a:t>23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48109E3-493D-7F45-BFC2-F87F7260087B}"/>
              </a:ext>
            </a:extLst>
          </p:cNvPr>
          <p:cNvSpPr txBox="1"/>
          <p:nvPr/>
        </p:nvSpPr>
        <p:spPr>
          <a:xfrm>
            <a:off x="720640" y="1222240"/>
            <a:ext cx="4458272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1400" dirty="0"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  <a:r>
              <a:rPr lang="en-CA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ModuleID</a:t>
            </a:r>
            <a:r>
              <a:rPr lang="en-CA" sz="1400" dirty="0">
                <a:latin typeface="Consolas" panose="020B0609020204030204" pitchFamily="49" charset="0"/>
                <a:cs typeface="Consolas" panose="020B0609020204030204" pitchFamily="49" charset="0"/>
              </a:rPr>
              <a:t> = '</a:t>
            </a:r>
            <a:r>
              <a:rPr lang="en-CA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sckt</a:t>
            </a:r>
            <a:r>
              <a:rPr lang="en-CA" sz="1400" dirty="0">
                <a:latin typeface="Consolas" panose="020B0609020204030204" pitchFamily="49" charset="0"/>
                <a:cs typeface="Consolas" panose="020B0609020204030204" pitchFamily="49" charset="0"/>
              </a:rPr>
              <a:t>’ </a:t>
            </a:r>
          </a:p>
          <a:p>
            <a:r>
              <a:rPr lang="en-CA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source_filename</a:t>
            </a:r>
            <a:r>
              <a:rPr lang="en-CA" sz="1400" dirty="0">
                <a:latin typeface="Consolas" panose="020B0609020204030204" pitchFamily="49" charset="0"/>
                <a:cs typeface="Consolas" panose="020B0609020204030204" pitchFamily="49" charset="0"/>
              </a:rPr>
              <a:t> = "</a:t>
            </a:r>
            <a:r>
              <a:rPr lang="en-CA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DecafComp</a:t>
            </a:r>
            <a:r>
              <a:rPr lang="en-CA" sz="1400" dirty="0">
                <a:latin typeface="Consolas" panose="020B0609020204030204" pitchFamily="49" charset="0"/>
                <a:cs typeface="Consolas" panose="020B0609020204030204" pitchFamily="49" charset="0"/>
              </a:rPr>
              <a:t>" </a:t>
            </a:r>
          </a:p>
          <a:p>
            <a:r>
              <a:rPr lang="en-CA" sz="1400" dirty="0">
                <a:latin typeface="Consolas" panose="020B0609020204030204" pitchFamily="49" charset="0"/>
                <a:cs typeface="Consolas" panose="020B0609020204030204" pitchFamily="49" charset="0"/>
              </a:rPr>
              <a:t>define i32 @main() { </a:t>
            </a:r>
          </a:p>
          <a:p>
            <a:r>
              <a:rPr lang="en-CA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func</a:t>
            </a:r>
            <a:r>
              <a:rPr lang="en-CA" sz="1400" dirty="0"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</a:p>
          <a:p>
            <a:r>
              <a:rPr lang="en-CA" sz="1400" dirty="0">
                <a:latin typeface="Consolas" panose="020B0609020204030204" pitchFamily="49" charset="0"/>
                <a:cs typeface="Consolas" panose="020B0609020204030204" pitchFamily="49" charset="0"/>
              </a:rPr>
              <a:t>  ; removed all variable </a:t>
            </a:r>
            <a:r>
              <a:rPr lang="en-CA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init</a:t>
            </a:r>
            <a:r>
              <a:rPr lang="en-CA" sz="1400" dirty="0">
                <a:latin typeface="Consolas" panose="020B0609020204030204" pitchFamily="49" charset="0"/>
                <a:cs typeface="Consolas" panose="020B0609020204030204" pitchFamily="49" charset="0"/>
              </a:rPr>
              <a:t> code</a:t>
            </a:r>
          </a:p>
          <a:p>
            <a:r>
              <a:rPr lang="en-CA" sz="1400" dirty="0">
                <a:latin typeface="Consolas" panose="020B0609020204030204" pitchFamily="49" charset="0"/>
                <a:cs typeface="Consolas" panose="020B0609020204030204" pitchFamily="49" charset="0"/>
              </a:rPr>
              <a:t>  store i1 true, i1* %a </a:t>
            </a:r>
          </a:p>
          <a:p>
            <a:r>
              <a:rPr lang="en-CA" sz="1400" dirty="0">
                <a:latin typeface="Consolas" panose="020B0609020204030204" pitchFamily="49" charset="0"/>
                <a:cs typeface="Consolas" panose="020B0609020204030204" pitchFamily="49" charset="0"/>
              </a:rPr>
              <a:t>  store i1 false, i1* %b </a:t>
            </a:r>
          </a:p>
          <a:p>
            <a:r>
              <a:rPr lang="en-CA" sz="1400" dirty="0">
                <a:latin typeface="Consolas" panose="020B0609020204030204" pitchFamily="49" charset="0"/>
                <a:cs typeface="Consolas" panose="020B0609020204030204" pitchFamily="49" charset="0"/>
              </a:rPr>
              <a:t>  %a1 = load i1, i1* %a </a:t>
            </a:r>
          </a:p>
          <a:p>
            <a:r>
              <a:rPr lang="en-CA" sz="1400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CA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br</a:t>
            </a:r>
            <a:r>
              <a:rPr lang="en-CA" sz="1400" dirty="0">
                <a:latin typeface="Consolas" panose="020B0609020204030204" pitchFamily="49" charset="0"/>
                <a:cs typeface="Consolas" panose="020B0609020204030204" pitchFamily="49" charset="0"/>
              </a:rPr>
              <a:t> i1 %a1, label %</a:t>
            </a:r>
            <a:r>
              <a:rPr lang="en-CA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skctend</a:t>
            </a:r>
            <a:r>
              <a:rPr lang="en-CA" sz="1400" dirty="0">
                <a:latin typeface="Consolas" panose="020B0609020204030204" pitchFamily="49" charset="0"/>
                <a:cs typeface="Consolas" panose="020B0609020204030204" pitchFamily="49" charset="0"/>
              </a:rPr>
              <a:t>, label %</a:t>
            </a:r>
            <a:r>
              <a:rPr lang="en-CA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noskct</a:t>
            </a:r>
            <a:r>
              <a:rPr lang="en-CA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B70E52F-DAC7-C24B-8506-4D8E7EABF150}"/>
              </a:ext>
            </a:extLst>
          </p:cNvPr>
          <p:cNvSpPr txBox="1"/>
          <p:nvPr/>
        </p:nvSpPr>
        <p:spPr>
          <a:xfrm>
            <a:off x="665722" y="3502083"/>
            <a:ext cx="2768707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noskct</a:t>
            </a:r>
            <a:r>
              <a:rPr lang="en-CA" sz="1400" dirty="0">
                <a:latin typeface="Consolas" panose="020B0609020204030204" pitchFamily="49" charset="0"/>
                <a:cs typeface="Consolas" panose="020B0609020204030204" pitchFamily="49" charset="0"/>
              </a:rPr>
              <a:t>: ; </a:t>
            </a:r>
            <a:r>
              <a:rPr lang="en-CA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preds</a:t>
            </a:r>
            <a:r>
              <a:rPr lang="en-CA" sz="1400" dirty="0">
                <a:latin typeface="Consolas" panose="020B0609020204030204" pitchFamily="49" charset="0"/>
                <a:cs typeface="Consolas" panose="020B0609020204030204" pitchFamily="49" charset="0"/>
              </a:rPr>
              <a:t> = %</a:t>
            </a:r>
            <a:r>
              <a:rPr lang="en-CA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func</a:t>
            </a:r>
            <a:r>
              <a:rPr lang="en-CA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CA" sz="1400" dirty="0">
                <a:latin typeface="Consolas" panose="020B0609020204030204" pitchFamily="49" charset="0"/>
                <a:cs typeface="Consolas" panose="020B0609020204030204" pitchFamily="49" charset="0"/>
              </a:rPr>
              <a:t>  %b2 = load i1, i1* %b </a:t>
            </a:r>
          </a:p>
          <a:p>
            <a:r>
              <a:rPr lang="en-CA" sz="1400" dirty="0">
                <a:latin typeface="Consolas" panose="020B0609020204030204" pitchFamily="49" charset="0"/>
                <a:cs typeface="Consolas" panose="020B0609020204030204" pitchFamily="49" charset="0"/>
              </a:rPr>
              <a:t>  %</a:t>
            </a:r>
            <a:r>
              <a:rPr lang="en-CA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ortmp</a:t>
            </a:r>
            <a:r>
              <a:rPr lang="en-CA" sz="1400" dirty="0">
                <a:latin typeface="Consolas" panose="020B0609020204030204" pitchFamily="49" charset="0"/>
                <a:cs typeface="Consolas" panose="020B0609020204030204" pitchFamily="49" charset="0"/>
              </a:rPr>
              <a:t> = or i1 %a1, %b2 </a:t>
            </a:r>
          </a:p>
          <a:p>
            <a:r>
              <a:rPr lang="en-CA" sz="1400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CA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br</a:t>
            </a:r>
            <a:r>
              <a:rPr lang="en-CA" sz="1400" dirty="0">
                <a:latin typeface="Consolas" panose="020B0609020204030204" pitchFamily="49" charset="0"/>
                <a:cs typeface="Consolas" panose="020B0609020204030204" pitchFamily="49" charset="0"/>
              </a:rPr>
              <a:t> label %</a:t>
            </a:r>
            <a:r>
              <a:rPr lang="en-CA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skctend</a:t>
            </a:r>
            <a:r>
              <a:rPr lang="en-CA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CA303C-B688-4843-B5BA-109A2B1CD57F}"/>
              </a:ext>
            </a:extLst>
          </p:cNvPr>
          <p:cNvSpPr txBox="1"/>
          <p:nvPr/>
        </p:nvSpPr>
        <p:spPr>
          <a:xfrm>
            <a:off x="3888992" y="3649733"/>
            <a:ext cx="4855816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skctend</a:t>
            </a:r>
            <a:r>
              <a:rPr lang="en-CA" sz="1400" dirty="0">
                <a:latin typeface="Consolas" panose="020B0609020204030204" pitchFamily="49" charset="0"/>
                <a:cs typeface="Consolas" panose="020B0609020204030204" pitchFamily="49" charset="0"/>
              </a:rPr>
              <a:t>: ; </a:t>
            </a:r>
            <a:r>
              <a:rPr lang="en-CA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preds</a:t>
            </a:r>
            <a:r>
              <a:rPr lang="en-CA" sz="1400" dirty="0">
                <a:latin typeface="Consolas" panose="020B0609020204030204" pitchFamily="49" charset="0"/>
                <a:cs typeface="Consolas" panose="020B0609020204030204" pitchFamily="49" charset="0"/>
              </a:rPr>
              <a:t> = %</a:t>
            </a:r>
            <a:r>
              <a:rPr lang="en-CA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noskct</a:t>
            </a:r>
            <a:r>
              <a:rPr lang="en-CA" sz="1400" dirty="0">
                <a:latin typeface="Consolas" panose="020B0609020204030204" pitchFamily="49" charset="0"/>
                <a:cs typeface="Consolas" panose="020B0609020204030204" pitchFamily="49" charset="0"/>
              </a:rPr>
              <a:t>, %</a:t>
            </a:r>
            <a:r>
              <a:rPr lang="en-CA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func</a:t>
            </a:r>
            <a:r>
              <a:rPr lang="en-CA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CA" sz="1400" dirty="0">
                <a:latin typeface="Consolas" panose="020B0609020204030204" pitchFamily="49" charset="0"/>
                <a:cs typeface="Consolas" panose="020B0609020204030204" pitchFamily="49" charset="0"/>
              </a:rPr>
              <a:t>  %</a:t>
            </a:r>
            <a:r>
              <a:rPr lang="en-CA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phival</a:t>
            </a:r>
            <a:r>
              <a:rPr lang="en-CA" sz="1400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</a:p>
          <a:p>
            <a:r>
              <a:rPr lang="en-CA" sz="1400" dirty="0">
                <a:latin typeface="Consolas" panose="020B0609020204030204" pitchFamily="49" charset="0"/>
                <a:cs typeface="Consolas" panose="020B0609020204030204" pitchFamily="49" charset="0"/>
              </a:rPr>
              <a:t>    phi i1 [ %a1, %</a:t>
            </a:r>
            <a:r>
              <a:rPr lang="en-CA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func</a:t>
            </a:r>
            <a:r>
              <a:rPr lang="en-CA" sz="1400" dirty="0">
                <a:latin typeface="Consolas" panose="020B0609020204030204" pitchFamily="49" charset="0"/>
                <a:cs typeface="Consolas" panose="020B0609020204030204" pitchFamily="49" charset="0"/>
              </a:rPr>
              <a:t> ], [ %</a:t>
            </a:r>
            <a:r>
              <a:rPr lang="en-CA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ortmp</a:t>
            </a:r>
            <a:r>
              <a:rPr lang="en-CA" sz="1400" dirty="0">
                <a:latin typeface="Consolas" panose="020B0609020204030204" pitchFamily="49" charset="0"/>
                <a:cs typeface="Consolas" panose="020B0609020204030204" pitchFamily="49" charset="0"/>
              </a:rPr>
              <a:t>, %</a:t>
            </a:r>
            <a:r>
              <a:rPr lang="en-CA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noskct</a:t>
            </a:r>
            <a:r>
              <a:rPr lang="en-CA" sz="1400" dirty="0">
                <a:latin typeface="Consolas" panose="020B0609020204030204" pitchFamily="49" charset="0"/>
                <a:cs typeface="Consolas" panose="020B0609020204030204" pitchFamily="49" charset="0"/>
              </a:rPr>
              <a:t> ] </a:t>
            </a:r>
          </a:p>
          <a:p>
            <a:r>
              <a:rPr lang="en-CA" sz="1400" dirty="0">
                <a:latin typeface="Consolas" panose="020B0609020204030204" pitchFamily="49" charset="0"/>
                <a:cs typeface="Consolas" panose="020B0609020204030204" pitchFamily="49" charset="0"/>
              </a:rPr>
              <a:t>  store i1 %</a:t>
            </a:r>
            <a:r>
              <a:rPr lang="en-CA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phival</a:t>
            </a:r>
            <a:r>
              <a:rPr lang="en-CA" sz="1400" dirty="0">
                <a:latin typeface="Consolas" panose="020B0609020204030204" pitchFamily="49" charset="0"/>
                <a:cs typeface="Consolas" panose="020B0609020204030204" pitchFamily="49" charset="0"/>
              </a:rPr>
              <a:t>, i1* %c </a:t>
            </a:r>
          </a:p>
          <a:p>
            <a:r>
              <a:rPr lang="en-CA" sz="1400" dirty="0">
                <a:latin typeface="Consolas" panose="020B0609020204030204" pitchFamily="49" charset="0"/>
                <a:cs typeface="Consolas" panose="020B0609020204030204" pitchFamily="49" charset="0"/>
              </a:rPr>
              <a:t>  ret i32 0 </a:t>
            </a:r>
          </a:p>
          <a:p>
            <a:r>
              <a:rPr lang="en-CA" sz="14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en-US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E9967B2-1694-2440-A6CB-D01496DC8415}"/>
              </a:ext>
            </a:extLst>
          </p:cNvPr>
          <p:cNvCxnSpPr>
            <a:stCxn id="4" idx="2"/>
          </p:cNvCxnSpPr>
          <p:nvPr/>
        </p:nvCxnSpPr>
        <p:spPr>
          <a:xfrm flipH="1">
            <a:off x="2160800" y="3253565"/>
            <a:ext cx="788976" cy="2485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906257D-4C4F-4542-97EE-79B18E879E57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3434429" y="3979137"/>
            <a:ext cx="454563" cy="3630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71856F19-E7A0-6B4B-81C4-323FE403CBCD}"/>
              </a:ext>
            </a:extLst>
          </p:cNvPr>
          <p:cNvSpPr txBox="1"/>
          <p:nvPr/>
        </p:nvSpPr>
        <p:spPr>
          <a:xfrm>
            <a:off x="5453803" y="1530399"/>
            <a:ext cx="20537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c = a || b;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7165190-925B-DC4A-A171-212AE6D8B3F6}"/>
              </a:ext>
            </a:extLst>
          </p:cNvPr>
          <p:cNvSpPr/>
          <p:nvPr/>
        </p:nvSpPr>
        <p:spPr>
          <a:xfrm>
            <a:off x="5456266" y="2156661"/>
            <a:ext cx="1924046" cy="56326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/>
              <a:t>if 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  <a:r>
              <a:rPr lang="en-US" sz="1800" dirty="0"/>
              <a:t> is 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True</a:t>
            </a:r>
            <a:r>
              <a:rPr lang="en-US" sz="1800" dirty="0"/>
              <a:t> then do not evaluate 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b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5E6DD7F-84B3-464E-97F2-45A27969D387}"/>
              </a:ext>
            </a:extLst>
          </p:cNvPr>
          <p:cNvSpPr/>
          <p:nvPr/>
        </p:nvSpPr>
        <p:spPr>
          <a:xfrm>
            <a:off x="1538741" y="2945776"/>
            <a:ext cx="440971" cy="24851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E21BABD-3E36-BE40-9F04-F11F1ADF92AC}"/>
              </a:ext>
            </a:extLst>
          </p:cNvPr>
          <p:cNvSpPr/>
          <p:nvPr/>
        </p:nvSpPr>
        <p:spPr>
          <a:xfrm>
            <a:off x="2589184" y="2945776"/>
            <a:ext cx="902696" cy="24851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684ABAF-4BD1-5B46-B8D3-769AC9B24473}"/>
              </a:ext>
            </a:extLst>
          </p:cNvPr>
          <p:cNvSpPr/>
          <p:nvPr/>
        </p:nvSpPr>
        <p:spPr>
          <a:xfrm>
            <a:off x="3888992" y="3684053"/>
            <a:ext cx="902696" cy="24851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E9D424F-8E9A-FA49-81BC-81191E4B6618}"/>
              </a:ext>
            </a:extLst>
          </p:cNvPr>
          <p:cNvSpPr/>
          <p:nvPr/>
        </p:nvSpPr>
        <p:spPr>
          <a:xfrm>
            <a:off x="4155577" y="2945776"/>
            <a:ext cx="902696" cy="24851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7D6064D-D646-5C4D-A1B4-E7BC689D2424}"/>
              </a:ext>
            </a:extLst>
          </p:cNvPr>
          <p:cNvSpPr/>
          <p:nvPr/>
        </p:nvSpPr>
        <p:spPr>
          <a:xfrm>
            <a:off x="665722" y="3525474"/>
            <a:ext cx="776526" cy="24851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ular Callout 6">
            <a:extLst>
              <a:ext uri="{FF2B5EF4-FFF2-40B4-BE49-F238E27FC236}">
                <a16:creationId xmlns:a16="http://schemas.microsoft.com/office/drawing/2014/main" id="{C252FFA0-DB60-744B-8EA8-DAF917B3E148}"/>
              </a:ext>
            </a:extLst>
          </p:cNvPr>
          <p:cNvSpPr/>
          <p:nvPr/>
        </p:nvSpPr>
        <p:spPr>
          <a:xfrm>
            <a:off x="5946546" y="1049291"/>
            <a:ext cx="2660794" cy="301024"/>
          </a:xfrm>
          <a:prstGeom prst="wedgeRoundRectCallout">
            <a:avLst>
              <a:gd name="adj1" fmla="val -35501"/>
              <a:gd name="adj2" fmla="val 150266"/>
              <a:gd name="adj3" fmla="val 16667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 err="1"/>
              <a:t>llvm</a:t>
            </a:r>
            <a:r>
              <a:rPr lang="en-US" sz="1400" dirty="0"/>
              <a:t>::Value *L = LHS-&gt;</a:t>
            </a:r>
            <a:r>
              <a:rPr lang="en-US" sz="1400" dirty="0" err="1"/>
              <a:t>Codegen</a:t>
            </a:r>
            <a:r>
              <a:rPr lang="en-US" sz="1400" dirty="0"/>
              <a:t>();</a:t>
            </a:r>
          </a:p>
        </p:txBody>
      </p:sp>
      <p:sp>
        <p:nvSpPr>
          <p:cNvPr id="18" name="Rounded Rectangular Callout 17">
            <a:extLst>
              <a:ext uri="{FF2B5EF4-FFF2-40B4-BE49-F238E27FC236}">
                <a16:creationId xmlns:a16="http://schemas.microsoft.com/office/drawing/2014/main" id="{27B96BA9-6A9A-564B-9D81-94E63BBC9093}"/>
              </a:ext>
            </a:extLst>
          </p:cNvPr>
          <p:cNvSpPr/>
          <p:nvPr/>
        </p:nvSpPr>
        <p:spPr>
          <a:xfrm>
            <a:off x="15315" y="4475776"/>
            <a:ext cx="4140262" cy="455549"/>
          </a:xfrm>
          <a:prstGeom prst="wedgeRoundRectCallout">
            <a:avLst>
              <a:gd name="adj1" fmla="val 23173"/>
              <a:gd name="adj2" fmla="val -112778"/>
              <a:gd name="adj3" fmla="val 16667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 err="1"/>
              <a:t>llvm</a:t>
            </a:r>
            <a:r>
              <a:rPr lang="en-US" sz="1400" dirty="0"/>
              <a:t>::Value *</a:t>
            </a:r>
            <a:r>
              <a:rPr lang="en-US" sz="1400" dirty="0" err="1"/>
              <a:t>opval</a:t>
            </a:r>
            <a:r>
              <a:rPr lang="en-US" sz="1400" dirty="0"/>
              <a:t> = </a:t>
            </a:r>
            <a:r>
              <a:rPr lang="en-US" sz="1400" dirty="0" err="1"/>
              <a:t>Builder.CreateOr</a:t>
            </a:r>
            <a:r>
              <a:rPr lang="en-US" sz="1400" dirty="0"/>
              <a:t>(L, R, "</a:t>
            </a:r>
            <a:r>
              <a:rPr lang="en-US" sz="1400" dirty="0" err="1"/>
              <a:t>ortmp</a:t>
            </a:r>
            <a:r>
              <a:rPr lang="en-US" sz="1400" dirty="0"/>
              <a:t>");</a:t>
            </a:r>
          </a:p>
          <a:p>
            <a:r>
              <a:rPr lang="en-US" sz="1400" dirty="0" err="1"/>
              <a:t>llvm</a:t>
            </a:r>
            <a:r>
              <a:rPr lang="en-US" sz="1400" dirty="0"/>
              <a:t>::</a:t>
            </a:r>
            <a:r>
              <a:rPr lang="en-US" sz="1400" dirty="0" err="1"/>
              <a:t>BasicBlock</a:t>
            </a:r>
            <a:r>
              <a:rPr lang="en-US" sz="1400" dirty="0"/>
              <a:t> *</a:t>
            </a:r>
            <a:r>
              <a:rPr lang="en-US" sz="1400" dirty="0" err="1"/>
              <a:t>OpValBB</a:t>
            </a:r>
            <a:r>
              <a:rPr lang="en-US" sz="1400" dirty="0"/>
              <a:t> = </a:t>
            </a:r>
            <a:r>
              <a:rPr lang="en-US" sz="1400" dirty="0" err="1"/>
              <a:t>Builder.GetInsertBlock</a:t>
            </a:r>
            <a:r>
              <a:rPr lang="en-US" sz="1400" dirty="0"/>
              <a:t>();</a:t>
            </a:r>
          </a:p>
        </p:txBody>
      </p:sp>
      <p:sp>
        <p:nvSpPr>
          <p:cNvPr id="19" name="Rounded Rectangular Callout 18">
            <a:extLst>
              <a:ext uri="{FF2B5EF4-FFF2-40B4-BE49-F238E27FC236}">
                <a16:creationId xmlns:a16="http://schemas.microsoft.com/office/drawing/2014/main" id="{0C06B635-F1DD-934D-AB1D-B85002A65D51}"/>
              </a:ext>
            </a:extLst>
          </p:cNvPr>
          <p:cNvSpPr/>
          <p:nvPr/>
        </p:nvSpPr>
        <p:spPr>
          <a:xfrm>
            <a:off x="5453804" y="2839202"/>
            <a:ext cx="3510684" cy="810531"/>
          </a:xfrm>
          <a:prstGeom prst="wedgeRoundRectCallout">
            <a:avLst>
              <a:gd name="adj1" fmla="val 20102"/>
              <a:gd name="adj2" fmla="val 106665"/>
              <a:gd name="adj3" fmla="val 16667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 err="1"/>
              <a:t>llvm</a:t>
            </a:r>
            <a:r>
              <a:rPr lang="en-US" sz="1200" dirty="0"/>
              <a:t>::</a:t>
            </a:r>
            <a:r>
              <a:rPr lang="en-US" sz="1200" dirty="0" err="1"/>
              <a:t>PHINode</a:t>
            </a:r>
            <a:r>
              <a:rPr lang="en-US" sz="1200" dirty="0"/>
              <a:t> *</a:t>
            </a:r>
            <a:r>
              <a:rPr lang="en-US" sz="1200" dirty="0" err="1"/>
              <a:t>val</a:t>
            </a:r>
            <a:r>
              <a:rPr lang="en-US" sz="1200" dirty="0"/>
              <a:t> = </a:t>
            </a:r>
          </a:p>
          <a:p>
            <a:r>
              <a:rPr lang="en-US" sz="1200" dirty="0"/>
              <a:t>    </a:t>
            </a:r>
            <a:r>
              <a:rPr lang="en-US" sz="1200" dirty="0" err="1"/>
              <a:t>Builder.CreatePHI</a:t>
            </a:r>
            <a:r>
              <a:rPr lang="en-US" sz="1200" dirty="0"/>
              <a:t>(L-&gt;</a:t>
            </a:r>
            <a:r>
              <a:rPr lang="en-US" sz="1200" dirty="0" err="1"/>
              <a:t>getType</a:t>
            </a:r>
            <a:r>
              <a:rPr lang="en-US" sz="1200" dirty="0"/>
              <a:t>(), 2, "</a:t>
            </a:r>
            <a:r>
              <a:rPr lang="en-US" sz="1200" dirty="0" err="1"/>
              <a:t>phival</a:t>
            </a:r>
            <a:r>
              <a:rPr lang="en-US" sz="1200" dirty="0"/>
              <a:t>");</a:t>
            </a:r>
          </a:p>
          <a:p>
            <a:r>
              <a:rPr lang="en-US" sz="1200" dirty="0" err="1"/>
              <a:t>val</a:t>
            </a:r>
            <a:r>
              <a:rPr lang="en-US" sz="1200" dirty="0"/>
              <a:t>-&gt;</a:t>
            </a:r>
            <a:r>
              <a:rPr lang="en-US" sz="1200" dirty="0" err="1"/>
              <a:t>addIncoming</a:t>
            </a:r>
            <a:r>
              <a:rPr lang="en-US" sz="1200" dirty="0"/>
              <a:t>(L, </a:t>
            </a:r>
            <a:r>
              <a:rPr lang="en-US" sz="1200" dirty="0" err="1"/>
              <a:t>CurBB</a:t>
            </a:r>
            <a:r>
              <a:rPr lang="en-US" sz="1200" dirty="0"/>
              <a:t>); / * </a:t>
            </a:r>
            <a:r>
              <a:rPr lang="en-US" sz="1200" dirty="0" err="1"/>
              <a:t>func</a:t>
            </a:r>
            <a:r>
              <a:rPr lang="en-US" sz="1200" dirty="0"/>
              <a:t> */</a:t>
            </a:r>
          </a:p>
          <a:p>
            <a:r>
              <a:rPr lang="en-US" sz="1200" dirty="0" err="1"/>
              <a:t>val</a:t>
            </a:r>
            <a:r>
              <a:rPr lang="en-US" sz="1200" dirty="0"/>
              <a:t>-&gt;</a:t>
            </a:r>
            <a:r>
              <a:rPr lang="en-US" sz="1200" dirty="0" err="1"/>
              <a:t>addIncoming</a:t>
            </a:r>
            <a:r>
              <a:rPr lang="en-US" sz="1200" dirty="0"/>
              <a:t>(</a:t>
            </a:r>
            <a:r>
              <a:rPr lang="en-US" sz="1200" dirty="0" err="1"/>
              <a:t>opval</a:t>
            </a:r>
            <a:r>
              <a:rPr lang="en-US" sz="1200" dirty="0"/>
              <a:t>, </a:t>
            </a:r>
            <a:r>
              <a:rPr lang="en-US" sz="1200" dirty="0" err="1"/>
              <a:t>OpValBB</a:t>
            </a:r>
            <a:r>
              <a:rPr lang="en-US" sz="1200" dirty="0"/>
              <a:t>); / * </a:t>
            </a:r>
            <a:r>
              <a:rPr lang="en-US" sz="1200" dirty="0" err="1"/>
              <a:t>noskct</a:t>
            </a:r>
            <a:r>
              <a:rPr lang="en-US" sz="1200" dirty="0"/>
              <a:t> */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E4223DD-B07D-F747-9223-A94711B9E453}"/>
              </a:ext>
            </a:extLst>
          </p:cNvPr>
          <p:cNvSpPr/>
          <p:nvPr/>
        </p:nvSpPr>
        <p:spPr>
          <a:xfrm>
            <a:off x="2788891" y="125911"/>
            <a:ext cx="6175597" cy="40681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/>
              <a:t>Q: Why is </a:t>
            </a:r>
            <a:r>
              <a:rPr lang="en-US" sz="1800" dirty="0" err="1"/>
              <a:t>CreatePHI</a:t>
            </a:r>
            <a:r>
              <a:rPr lang="en-US" sz="1800" dirty="0"/>
              <a:t> using </a:t>
            </a:r>
            <a:r>
              <a:rPr lang="en-US" sz="1800" dirty="0" err="1"/>
              <a:t>OpValBB</a:t>
            </a:r>
            <a:r>
              <a:rPr lang="en-US" sz="1800" dirty="0"/>
              <a:t> not </a:t>
            </a:r>
            <a:r>
              <a:rPr lang="en-US" sz="1800" dirty="0" err="1"/>
              <a:t>NoSkctBB</a:t>
            </a:r>
            <a:r>
              <a:rPr lang="en-US" sz="1800" dirty="0"/>
              <a:t> aka </a:t>
            </a:r>
            <a:r>
              <a:rPr lang="en-US" sz="1800" dirty="0" err="1"/>
              <a:t>nosckt</a:t>
            </a:r>
            <a:r>
              <a:rPr lang="en-US" sz="1800" dirty="0"/>
              <a:t>: ?</a:t>
            </a:r>
            <a:endParaRPr lang="en-US" sz="18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83295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8" grpId="0" animBg="1"/>
      <p:bldP spid="19" grpId="0" animBg="1"/>
      <p:bldP spid="20" grpId="0" animBg="1"/>
    </p:bld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5333</TotalTime>
  <Words>1904</Words>
  <Application>Microsoft Macintosh PowerPoint</Application>
  <PresentationFormat>On-screen Show (16:9)</PresentationFormat>
  <Paragraphs>260</Paragraphs>
  <Slides>23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0" baseType="lpstr">
      <vt:lpstr>Times</vt:lpstr>
      <vt:lpstr>Arial</vt:lpstr>
      <vt:lpstr>Calibri</vt:lpstr>
      <vt:lpstr>Calibri Light</vt:lpstr>
      <vt:lpstr>Consolas</vt:lpstr>
      <vt:lpstr>Times New Roman</vt:lpstr>
      <vt:lpstr>1_Office Theme</vt:lpstr>
      <vt:lpstr>Introduction to LLVM</vt:lpstr>
      <vt:lpstr>Setting up</vt:lpstr>
      <vt:lpstr>Types in LLVM</vt:lpstr>
      <vt:lpstr>Constants in LLVM</vt:lpstr>
      <vt:lpstr>Local Variables in LLVM</vt:lpstr>
      <vt:lpstr>Assignment and checking types</vt:lpstr>
      <vt:lpstr>Declaring a Function in LLVM</vt:lpstr>
      <vt:lpstr>Promoting Types in LLVM</vt:lpstr>
      <vt:lpstr>Basic Blocks in LLVM</vt:lpstr>
      <vt:lpstr>Function parameters</vt:lpstr>
      <vt:lpstr>Function parameters</vt:lpstr>
      <vt:lpstr>Useful Tricks in LLVM</vt:lpstr>
      <vt:lpstr>Modulus in LLVM</vt:lpstr>
      <vt:lpstr>Backward Function Declarations</vt:lpstr>
      <vt:lpstr>Backwards Declarations</vt:lpstr>
      <vt:lpstr>Control Flow in LLVM</vt:lpstr>
      <vt:lpstr>“Backpatching” in LLVM</vt:lpstr>
      <vt:lpstr>“Backpatching” in LLVM</vt:lpstr>
      <vt:lpstr>Static Single Assignment in LLVM</vt:lpstr>
      <vt:lpstr>Short-circuit of boolean expressions</vt:lpstr>
      <vt:lpstr>Short-circuit of boolean expressions</vt:lpstr>
      <vt:lpstr>Short-circuit of boolean expressions</vt:lpstr>
      <vt:lpstr>Short-circuit of boolean expressions</vt:lpstr>
    </vt:vector>
  </TitlesOfParts>
  <Company>SFU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CMPT 379  Compilers</dc:title>
  <dc:creator>Anoop Sarkar</dc:creator>
  <cp:lastModifiedBy>Anoop Sarkar</cp:lastModifiedBy>
  <cp:revision>649</cp:revision>
  <cp:lastPrinted>2019-07-04T15:47:24Z</cp:lastPrinted>
  <dcterms:created xsi:type="dcterms:W3CDTF">2011-11-10T22:26:16Z</dcterms:created>
  <dcterms:modified xsi:type="dcterms:W3CDTF">2025-07-07T19:30:50Z</dcterms:modified>
</cp:coreProperties>
</file>