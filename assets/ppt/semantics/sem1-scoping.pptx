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2" r:id="rId1"/>
  </p:sldMasterIdLst>
  <p:notesMasterIdLst>
    <p:notesMasterId r:id="rId81"/>
  </p:notesMasterIdLst>
  <p:handoutMasterIdLst>
    <p:handoutMasterId r:id="rId82"/>
  </p:handoutMasterIdLst>
  <p:sldIdLst>
    <p:sldId id="491" r:id="rId2"/>
    <p:sldId id="365" r:id="rId3"/>
    <p:sldId id="366" r:id="rId4"/>
    <p:sldId id="368" r:id="rId5"/>
    <p:sldId id="477" r:id="rId6"/>
    <p:sldId id="478" r:id="rId7"/>
    <p:sldId id="479" r:id="rId8"/>
    <p:sldId id="480" r:id="rId9"/>
    <p:sldId id="482" r:id="rId10"/>
    <p:sldId id="483" r:id="rId11"/>
    <p:sldId id="492" r:id="rId12"/>
    <p:sldId id="370" r:id="rId13"/>
    <p:sldId id="371" r:id="rId14"/>
    <p:sldId id="373" r:id="rId15"/>
    <p:sldId id="314" r:id="rId16"/>
    <p:sldId id="374" r:id="rId17"/>
    <p:sldId id="414" r:id="rId18"/>
    <p:sldId id="423" r:id="rId19"/>
    <p:sldId id="494" r:id="rId20"/>
    <p:sldId id="416" r:id="rId21"/>
    <p:sldId id="484" r:id="rId22"/>
    <p:sldId id="485" r:id="rId23"/>
    <p:sldId id="486" r:id="rId24"/>
    <p:sldId id="487" r:id="rId25"/>
    <p:sldId id="488" r:id="rId26"/>
    <p:sldId id="417" r:id="rId27"/>
    <p:sldId id="422" r:id="rId28"/>
    <p:sldId id="424" r:id="rId29"/>
    <p:sldId id="426" r:id="rId30"/>
    <p:sldId id="427" r:id="rId31"/>
    <p:sldId id="428" r:id="rId32"/>
    <p:sldId id="429" r:id="rId33"/>
    <p:sldId id="430" r:id="rId34"/>
    <p:sldId id="431" r:id="rId35"/>
    <p:sldId id="432" r:id="rId36"/>
    <p:sldId id="433" r:id="rId37"/>
    <p:sldId id="434" r:id="rId38"/>
    <p:sldId id="496" r:id="rId39"/>
    <p:sldId id="497" r:id="rId40"/>
    <p:sldId id="495" r:id="rId41"/>
    <p:sldId id="498" r:id="rId42"/>
    <p:sldId id="499" r:id="rId43"/>
    <p:sldId id="500" r:id="rId44"/>
    <p:sldId id="501" r:id="rId45"/>
    <p:sldId id="443" r:id="rId46"/>
    <p:sldId id="445" r:id="rId47"/>
    <p:sldId id="446" r:id="rId48"/>
    <p:sldId id="447" r:id="rId49"/>
    <p:sldId id="476" r:id="rId50"/>
    <p:sldId id="493" r:id="rId51"/>
    <p:sldId id="502" r:id="rId52"/>
    <p:sldId id="448" r:id="rId53"/>
    <p:sldId id="449" r:id="rId54"/>
    <p:sldId id="450" r:id="rId55"/>
    <p:sldId id="451" r:id="rId56"/>
    <p:sldId id="453" r:id="rId57"/>
    <p:sldId id="454" r:id="rId58"/>
    <p:sldId id="452" r:id="rId59"/>
    <p:sldId id="456" r:id="rId60"/>
    <p:sldId id="457" r:id="rId61"/>
    <p:sldId id="458" r:id="rId62"/>
    <p:sldId id="459" r:id="rId63"/>
    <p:sldId id="460" r:id="rId64"/>
    <p:sldId id="461" r:id="rId65"/>
    <p:sldId id="462" r:id="rId66"/>
    <p:sldId id="463" r:id="rId67"/>
    <p:sldId id="464" r:id="rId68"/>
    <p:sldId id="465" r:id="rId69"/>
    <p:sldId id="466" r:id="rId70"/>
    <p:sldId id="467" r:id="rId71"/>
    <p:sldId id="468" r:id="rId72"/>
    <p:sldId id="469" r:id="rId73"/>
    <p:sldId id="470" r:id="rId74"/>
    <p:sldId id="471" r:id="rId75"/>
    <p:sldId id="472" r:id="rId76"/>
    <p:sldId id="473" r:id="rId77"/>
    <p:sldId id="474" r:id="rId78"/>
    <p:sldId id="490" r:id="rId79"/>
    <p:sldId id="475" r:id="rId80"/>
  </p:sldIdLst>
  <p:sldSz cx="9144000" cy="5143500" type="screen16x9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/>
  <p:clrMru>
    <a:srgbClr val="CCCC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5"/>
    <p:restoredTop sz="90952"/>
  </p:normalViewPr>
  <p:slideViewPr>
    <p:cSldViewPr snapToGrid="0">
      <p:cViewPr varScale="1">
        <p:scale>
          <a:sx n="149" d="100"/>
          <a:sy n="149" d="100"/>
        </p:scale>
        <p:origin x="512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80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80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CA0A2F-E726-574C-964A-DC3C2839BC57}" type="slidenum">
              <a:rPr lang="en-US">
                <a:latin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0547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54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54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54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A2B22E4E-6464-CD42-B08D-9DCAF3EA11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224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Ensure that program obeys certain kinds of sanity checks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22E4E-6464-CD42-B08D-9DCAF3EA119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74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A51B2-102E-2947-8144-11AA8F0DDFC1}" type="slidenum">
              <a:rPr lang="en-US"/>
              <a:pPr/>
              <a:t>15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A51B2-102E-2947-8144-11AA8F0DDFC1}" type="slidenum">
              <a:rPr lang="en-US"/>
              <a:pPr/>
              <a:t>17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Examples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Given a class name, find class descriptor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Given variable name, find descriptor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Although they</a:t>
            </a:r>
            <a:r>
              <a:rPr lang="en-CA" baseline="0" dirty="0"/>
              <a:t> are logically distinct, you can combine some of them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B22E4E-6464-CD42-B08D-9DCAF3EA119E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8BEE-B66E-5E46-B50F-23B30D56323F}" type="datetime1">
              <a:rPr lang="en-CA" smtClean="0"/>
              <a:t>2025-07-06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6BE7-D4FF-0747-A46D-9D28D6793F9A}" type="datetime1">
              <a:rPr lang="en-CA" smtClean="0"/>
              <a:t>2025-07-06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5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2D8A-ADE8-E648-9A51-673455F77FA4}" type="datetime1">
              <a:rPr lang="en-CA" smtClean="0"/>
              <a:t>2025-07-06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6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D21D-FE66-404B-9D48-8813A41FDE83}" type="datetime1">
              <a:rPr lang="en-CA" smtClean="0"/>
              <a:t>2025-07-06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7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3913A-9187-9E4F-99AD-E5F9D3D715A1}" type="datetime1">
              <a:rPr lang="en-CA" smtClean="0"/>
              <a:t>2025-07-06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5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FCF0-750B-2849-A907-F64332DB8FEE}" type="datetime1">
              <a:rPr lang="en-CA" smtClean="0"/>
              <a:t>2025-07-06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84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F663-3970-9B45-8274-AA8FABDA274B}" type="datetime1">
              <a:rPr lang="en-CA" smtClean="0"/>
              <a:t>2025-07-06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8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809A3-0E53-524E-A233-B12C5DA91D99}" type="datetime1">
              <a:rPr lang="en-CA" smtClean="0"/>
              <a:t>2025-07-06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4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DF68-DD51-514E-B179-E22080947065}" type="datetime1">
              <a:rPr lang="en-CA" smtClean="0"/>
              <a:t>2025-07-06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0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D5F46-E862-7041-B839-1084A839C514}" type="datetime1">
              <a:rPr lang="en-CA" smtClean="0"/>
              <a:t>2025-07-06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9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5934-2EEA-454B-B47B-39481B16D93C}" type="datetime1">
              <a:rPr lang="en-CA" smtClean="0"/>
              <a:t>2025-07-06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20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4341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6858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6482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858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33CDF6D5-475A-F046-87CA-412EB71D7141}" type="datetime1">
              <a:rPr lang="en-CA" smtClean="0"/>
              <a:t>2025-07-06</a:t>
            </a:fld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65532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‹#›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524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CFB5B512-1C0B-5F4A-B1D8-07EED328189A}" type="datetime1">
              <a:rPr lang="en-CA" smtClean="0"/>
              <a:t>2025-07-06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B252BF6-6A9C-D04A-BBE8-37A07D64A1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13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Scoping and Symbol Tables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anoopsarkar.github.io/compilers-class</a:t>
            </a:r>
          </a:p>
        </p:txBody>
      </p:sp>
      <p:sp>
        <p:nvSpPr>
          <p:cNvPr id="205" name="Shape 205"/>
          <p:cNvSpPr/>
          <p:nvPr/>
        </p:nvSpPr>
        <p:spPr>
          <a:xfrm>
            <a:off x="6588224" y="367004"/>
            <a:ext cx="2146955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SEM1: Scoping</a:t>
            </a:r>
          </a:p>
        </p:txBody>
      </p:sp>
    </p:spTree>
    <p:extLst>
      <p:ext uri="{BB962C8B-B14F-4D97-AF65-F5344CB8AC3E}">
        <p14:creationId xmlns:p14="http://schemas.microsoft.com/office/powerpoint/2010/main" val="2528104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Program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Program is lexically well-formed</a:t>
            </a:r>
          </a:p>
          <a:p>
            <a:pPr lvl="1"/>
            <a:r>
              <a:rPr lang="en-CA" dirty="0"/>
              <a:t>Identifiers have valid names</a:t>
            </a:r>
          </a:p>
          <a:p>
            <a:pPr lvl="1"/>
            <a:r>
              <a:rPr lang="en-CA" dirty="0"/>
              <a:t>Strings are properly terminated</a:t>
            </a:r>
          </a:p>
          <a:p>
            <a:pPr lvl="1"/>
            <a:r>
              <a:rPr lang="en-CA" dirty="0"/>
              <a:t>No unknown characters</a:t>
            </a:r>
          </a:p>
          <a:p>
            <a:r>
              <a:rPr lang="en-CA" dirty="0"/>
              <a:t>Program is syntactically well-formed:</a:t>
            </a:r>
          </a:p>
          <a:p>
            <a:pPr lvl="1"/>
            <a:r>
              <a:rPr lang="en-CA" dirty="0"/>
              <a:t>Package declaration have the correct structure</a:t>
            </a:r>
          </a:p>
          <a:p>
            <a:pPr lvl="1"/>
            <a:r>
              <a:rPr lang="en-CA" dirty="0"/>
              <a:t>Expressions are syntactically valid</a:t>
            </a:r>
          </a:p>
          <a:p>
            <a:r>
              <a:rPr lang="en-CA" dirty="0"/>
              <a:t>Does this mean that the program is legal?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BFE1B-8CB0-E64D-8D13-AF8B1F68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(Decaf program)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03598"/>
            <a:ext cx="7886700" cy="352839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package test {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myBin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foo() void {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x[0]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k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myBin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* y;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foo() void {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fibonacci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(n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	return foo() +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fibonacci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(n-1);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F88BC-1BE2-F447-994D-D18306BE1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E360D0-7E5F-F341-BE76-9000809625F4}"/>
              </a:ext>
            </a:extLst>
          </p:cNvPr>
          <p:cNvSpPr/>
          <p:nvPr/>
        </p:nvSpPr>
        <p:spPr>
          <a:xfrm>
            <a:off x="2051720" y="2139702"/>
            <a:ext cx="1152128" cy="21602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E5BA9-F2CE-3242-A012-62818495B652}"/>
              </a:ext>
            </a:extLst>
          </p:cNvPr>
          <p:cNvSpPr/>
          <p:nvPr/>
        </p:nvSpPr>
        <p:spPr>
          <a:xfrm>
            <a:off x="3707904" y="2463738"/>
            <a:ext cx="216024" cy="21602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EBB807-AFD4-5341-BC9F-E26D727094D9}"/>
              </a:ext>
            </a:extLst>
          </p:cNvPr>
          <p:cNvSpPr/>
          <p:nvPr/>
        </p:nvSpPr>
        <p:spPr>
          <a:xfrm>
            <a:off x="3059832" y="2463738"/>
            <a:ext cx="504056" cy="21602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D1C610-9DF7-BC4A-A4F1-C76FDC7B8F97}"/>
              </a:ext>
            </a:extLst>
          </p:cNvPr>
          <p:cNvSpPr/>
          <p:nvPr/>
        </p:nvSpPr>
        <p:spPr>
          <a:xfrm>
            <a:off x="1763688" y="3011388"/>
            <a:ext cx="504056" cy="21602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15F6A6-A09B-5F47-A9A4-848C0A900933}"/>
              </a:ext>
            </a:extLst>
          </p:cNvPr>
          <p:cNvSpPr/>
          <p:nvPr/>
        </p:nvSpPr>
        <p:spPr>
          <a:xfrm>
            <a:off x="2627784" y="3918197"/>
            <a:ext cx="504056" cy="21602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8A058F-F7DE-C74F-B36B-7A67E2777F02}"/>
              </a:ext>
            </a:extLst>
          </p:cNvPr>
          <p:cNvSpPr/>
          <p:nvPr/>
        </p:nvSpPr>
        <p:spPr>
          <a:xfrm>
            <a:off x="681333" y="4515966"/>
            <a:ext cx="216024" cy="21602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AC86AAB2-9772-7A4A-A350-C0B98F4847B9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 bwMode="auto">
          <a:xfrm flipV="1">
            <a:off x="3203848" y="1831537"/>
            <a:ext cx="864096" cy="416177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D26A00C-817D-0D4B-A23E-4169363A59F0}"/>
              </a:ext>
            </a:extLst>
          </p:cNvPr>
          <p:cNvSpPr txBox="1"/>
          <p:nvPr/>
        </p:nvSpPr>
        <p:spPr>
          <a:xfrm>
            <a:off x="4067944" y="1554538"/>
            <a:ext cx="36184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Cannot define Array type as local variable</a:t>
            </a:r>
          </a:p>
          <a:p>
            <a:pPr algn="l"/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Cannot define Array of size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710E1E-9986-7F46-BCB3-C6E2F443D49A}"/>
              </a:ext>
            </a:extLst>
          </p:cNvPr>
          <p:cNvSpPr txBox="1"/>
          <p:nvPr/>
        </p:nvSpPr>
        <p:spPr>
          <a:xfrm>
            <a:off x="4609206" y="2347359"/>
            <a:ext cx="18362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Variable not declared </a:t>
            </a: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176196E-D733-8848-B1C5-D60BCD5DB732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 bwMode="auto">
          <a:xfrm flipV="1">
            <a:off x="3923928" y="2508942"/>
            <a:ext cx="685278" cy="62808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4AB0B8-92A1-1E43-9433-3CB2DB09995A}"/>
              </a:ext>
            </a:extLst>
          </p:cNvPr>
          <p:cNvSpPr txBox="1"/>
          <p:nvPr/>
        </p:nvSpPr>
        <p:spPr>
          <a:xfrm>
            <a:off x="4247964" y="2753511"/>
            <a:ext cx="25586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Cannot multiply </a:t>
            </a:r>
            <a:r>
              <a:rPr lang="en-CA" sz="1500" dirty="0" err="1">
                <a:solidFill>
                  <a:srgbClr val="FF0000"/>
                </a:solidFill>
                <a:latin typeface="Calibri" panose="020F0502020204030204" pitchFamily="34" charset="0"/>
              </a:rPr>
              <a:t>boolean</a:t>
            </a:r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 value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3C43E01F-1578-454C-8C99-353BA6FD4951}"/>
              </a:ext>
            </a:extLst>
          </p:cNvPr>
          <p:cNvCxnSpPr>
            <a:cxnSpLocks/>
            <a:stCxn id="7" idx="2"/>
            <a:endCxn id="16" idx="1"/>
          </p:cNvCxnSpPr>
          <p:nvPr/>
        </p:nvCxnSpPr>
        <p:spPr bwMode="auto">
          <a:xfrm rot="16200000" flipH="1">
            <a:off x="3662246" y="2329376"/>
            <a:ext cx="235332" cy="936104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A5000C4-5840-B245-B1CC-D70F9D567150}"/>
              </a:ext>
            </a:extLst>
          </p:cNvPr>
          <p:cNvSpPr txBox="1"/>
          <p:nvPr/>
        </p:nvSpPr>
        <p:spPr>
          <a:xfrm>
            <a:off x="3491880" y="4192801"/>
            <a:ext cx="15121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Cannot add void</a:t>
            </a: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84194E23-37B0-8C49-A58A-EE52DEFBC27C}"/>
              </a:ext>
            </a:extLst>
          </p:cNvPr>
          <p:cNvCxnSpPr>
            <a:cxnSpLocks/>
            <a:stCxn id="9" idx="2"/>
            <a:endCxn id="18" idx="1"/>
          </p:cNvCxnSpPr>
          <p:nvPr/>
        </p:nvCxnSpPr>
        <p:spPr bwMode="auto">
          <a:xfrm rot="16200000" flipH="1">
            <a:off x="3075765" y="3938268"/>
            <a:ext cx="220163" cy="612068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351F3E9-0E82-8C49-A0EB-2B761FF82062}"/>
              </a:ext>
            </a:extLst>
          </p:cNvPr>
          <p:cNvSpPr txBox="1"/>
          <p:nvPr/>
        </p:nvSpPr>
        <p:spPr>
          <a:xfrm>
            <a:off x="1380450" y="4562171"/>
            <a:ext cx="15841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No main function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C07FD4-1052-5645-A290-3E338A5ED167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 bwMode="auto">
          <a:xfrm>
            <a:off x="897357" y="4623978"/>
            <a:ext cx="483093" cy="997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CB559EEE-7785-7143-8C9C-CF0E3879E2FA}"/>
              </a:ext>
            </a:extLst>
          </p:cNvPr>
          <p:cNvCxnSpPr>
            <a:cxnSpLocks/>
            <a:stCxn id="8" idx="2"/>
            <a:endCxn id="28" idx="1"/>
          </p:cNvCxnSpPr>
          <p:nvPr/>
        </p:nvCxnSpPr>
        <p:spPr bwMode="auto">
          <a:xfrm rot="16200000" flipH="1">
            <a:off x="2379551" y="2863577"/>
            <a:ext cx="136427" cy="864096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46F579-0308-3745-805C-815553F2CA55}"/>
              </a:ext>
            </a:extLst>
          </p:cNvPr>
          <p:cNvSpPr txBox="1"/>
          <p:nvPr/>
        </p:nvSpPr>
        <p:spPr>
          <a:xfrm>
            <a:off x="2879812" y="3202256"/>
            <a:ext cx="22151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Cannot redefine functions</a:t>
            </a:r>
          </a:p>
        </p:txBody>
      </p:sp>
    </p:spTree>
    <p:extLst>
      <p:ext uri="{BB962C8B-B14F-4D97-AF65-F5344CB8AC3E}">
        <p14:creationId xmlns:p14="http://schemas.microsoft.com/office/powerpoint/2010/main" val="736087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3" grpId="0"/>
      <p:bldP spid="14" grpId="0"/>
      <p:bldP spid="16" grpId="0"/>
      <p:bldP spid="18" grpId="0"/>
      <p:bldP spid="20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Goal of 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Ensure that the program has a well-defined meaning</a:t>
            </a:r>
          </a:p>
          <a:p>
            <a:r>
              <a:rPr lang="en-CA" dirty="0"/>
              <a:t>Verifies properties of the program that are not caught during the earlier phases</a:t>
            </a:r>
          </a:p>
          <a:p>
            <a:pPr lvl="1"/>
            <a:r>
              <a:rPr lang="en-CA" dirty="0"/>
              <a:t>All variables are declared before use</a:t>
            </a:r>
          </a:p>
          <a:p>
            <a:pPr lvl="1"/>
            <a:r>
              <a:rPr lang="en-CA" dirty="0"/>
              <a:t>Types are used correctly in expressions </a:t>
            </a:r>
          </a:p>
          <a:p>
            <a:pPr lvl="1"/>
            <a:r>
              <a:rPr lang="en-CA" dirty="0"/>
              <a:t>Method calls have correct number and types of parameters and return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55DBC-771B-9E43-9CDF-1F08815E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2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Challenges in 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Reject all/most of the incorrect programs</a:t>
            </a:r>
          </a:p>
          <a:p>
            <a:r>
              <a:rPr lang="en-CA" dirty="0"/>
              <a:t>Accept all correct programs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516B6-215A-5A40-9115-92015B84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8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main ()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x string;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	if (false) 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		x = 137;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Rectangle 5"/>
          <p:cNvSpPr/>
          <p:nvPr/>
        </p:nvSpPr>
        <p:spPr bwMode="auto">
          <a:xfrm>
            <a:off x="1979712" y="2795304"/>
            <a:ext cx="1296144" cy="360623"/>
          </a:xfrm>
          <a:prstGeom prst="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Validity versus Correctness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5958" y="3155927"/>
            <a:ext cx="38164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Not an error in an interpreted language. </a:t>
            </a:r>
          </a:p>
          <a:p>
            <a:pPr algn="l"/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Still a type error in a compiled language.</a:t>
            </a:r>
          </a:p>
          <a:p>
            <a:pPr algn="l"/>
            <a:r>
              <a:rPr lang="en-CA" sz="1500" dirty="0">
                <a:solidFill>
                  <a:srgbClr val="FF0000"/>
                </a:solidFill>
                <a:latin typeface="Calibri" panose="020F0502020204030204" pitchFamily="34" charset="0"/>
              </a:rPr>
              <a:t>(unless the optimizer removes the statement)</a:t>
            </a:r>
          </a:p>
        </p:txBody>
      </p:sp>
      <p:cxnSp>
        <p:nvCxnSpPr>
          <p:cNvPr id="8" name="Curved Connector 7"/>
          <p:cNvCxnSpPr>
            <a:cxnSpLocks/>
            <a:stCxn id="6" idx="3"/>
            <a:endCxn id="7" idx="1"/>
          </p:cNvCxnSpPr>
          <p:nvPr/>
        </p:nvCxnSpPr>
        <p:spPr bwMode="auto">
          <a:xfrm>
            <a:off x="3275856" y="2975616"/>
            <a:ext cx="900102" cy="572726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A91FA-D9DC-7748-A155-AEE850C6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fibonacci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(n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	if (n&lt;=1) return(0);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	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fibonacci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(n-1)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fibonacci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(n-2);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main()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print_int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fibonacci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(40));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843807" y="1891740"/>
            <a:ext cx="1479421" cy="270030"/>
          </a:xfrm>
          <a:prstGeom prst="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Validity versus Correctness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0053" y="1491630"/>
            <a:ext cx="3906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rgbClr val="FF0000"/>
                </a:solidFill>
                <a:latin typeface="Calibri" panose="020F0502020204030204" pitchFamily="34" charset="0"/>
              </a:rPr>
              <a:t>Incorrect! Should be </a:t>
            </a:r>
            <a:r>
              <a:rPr lang="en-CA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return(n);</a:t>
            </a:r>
          </a:p>
        </p:txBody>
      </p:sp>
      <p:cxnSp>
        <p:nvCxnSpPr>
          <p:cNvPr id="8" name="Curved Connector 7"/>
          <p:cNvCxnSpPr>
            <a:cxnSpLocks/>
            <a:stCxn id="6" idx="3"/>
            <a:endCxn id="7" idx="1"/>
          </p:cNvCxnSpPr>
          <p:nvPr/>
        </p:nvCxnSpPr>
        <p:spPr bwMode="auto">
          <a:xfrm flipV="1">
            <a:off x="4323228" y="1691685"/>
            <a:ext cx="806825" cy="33507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69482-CD19-9C4C-A78D-26495C66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4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Challenges in 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Reject the largest number of incorrect programs</a:t>
            </a:r>
          </a:p>
          <a:p>
            <a:r>
              <a:rPr lang="en-CA" sz="2400" dirty="0"/>
              <a:t>Accept all correct programs</a:t>
            </a:r>
          </a:p>
          <a:p>
            <a:r>
              <a:rPr lang="en-CA" sz="2400" dirty="0"/>
              <a:t>Work fast!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4E55C-1693-8040-A87F-BCCC06CC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8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Goals of 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Gather useful information about the program for code generation:</a:t>
            </a:r>
          </a:p>
          <a:p>
            <a:pPr lvl="1"/>
            <a:r>
              <a:rPr lang="en-CA" sz="2400" dirty="0"/>
              <a:t>Determine what variables are meant by each identifier</a:t>
            </a:r>
          </a:p>
          <a:p>
            <a:pPr lvl="1"/>
            <a:r>
              <a:rPr lang="en-CA" sz="2400" dirty="0"/>
              <a:t>Build an internal representation of inheritance hierarchies </a:t>
            </a:r>
          </a:p>
          <a:p>
            <a:pPr lvl="1"/>
            <a:r>
              <a:rPr lang="en-CA" sz="2400" dirty="0"/>
              <a:t>Keep track of variables which are in scope at each program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08DE9-5777-7540-84C9-BE21722A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05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Implementing 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Attribute Grammars</a:t>
            </a:r>
          </a:p>
          <a:p>
            <a:pPr lvl="1"/>
            <a:r>
              <a:rPr lang="en-CA" sz="2400" dirty="0"/>
              <a:t>Augment parsing rules to do checking during parsing</a:t>
            </a:r>
          </a:p>
          <a:p>
            <a:pPr lvl="1"/>
            <a:r>
              <a:rPr lang="en-CA" sz="2400" dirty="0"/>
              <a:t>Single pass semantic analysis</a:t>
            </a:r>
          </a:p>
          <a:p>
            <a:r>
              <a:rPr lang="en-CA" sz="2400" dirty="0"/>
              <a:t>Recursive AST Walk</a:t>
            </a:r>
          </a:p>
          <a:p>
            <a:pPr lvl="1"/>
            <a:r>
              <a:rPr lang="en-CA" sz="2400" dirty="0"/>
              <a:t>Construct the AST, then use recursion to explore the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620E4-3770-E240-B474-3D07B9C7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7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9D6B-EBBD-7C42-BBBE-EDA402608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Scoping</a:t>
            </a:r>
          </a:p>
        </p:txBody>
      </p:sp>
    </p:spTree>
    <p:extLst>
      <p:ext uri="{BB962C8B-B14F-4D97-AF65-F5344CB8AC3E}">
        <p14:creationId xmlns:p14="http://schemas.microsoft.com/office/powerpoint/2010/main" val="237547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What’s in a Name?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CA" sz="2400" dirty="0"/>
              <a:t>The same name (identifier) in a program may refer to fundamentally different things: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CA" sz="2400" dirty="0"/>
              <a:t>This is perfectly legal Java code: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CA" sz="15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	char </a:t>
            </a:r>
            <a:r>
              <a:rPr lang="en-CA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CA" sz="15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5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5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CA" sz="15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CA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 = ‘A’;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		return </a:t>
            </a:r>
            <a:r>
              <a:rPr lang="en-CA" sz="1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 ((</a:t>
            </a:r>
            <a:r>
              <a:rPr lang="en-CA" sz="15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CA" sz="15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}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74E61-7B9E-B24E-84B8-2FB6D42F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52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What’s in a Name?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CA" dirty="0"/>
              <a:t>The same name (identifier) in a program may refer to completely different objects: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CA" dirty="0"/>
              <a:t>This is perfectly legal C++ code: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int Awful ()  {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 x = 137;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	string x = “Scope!”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	if (float x = 0)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	    double x = x;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	if (x == 137) </a:t>
            </a:r>
            <a:r>
              <a:rPr lang="en-CA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 &lt;&lt; “Y”;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500" dirty="0">
                <a:latin typeface="Consolas" panose="020B0609020204030204" pitchFamily="49" charset="0"/>
                <a:cs typeface="Consolas" panose="020B0609020204030204" pitchFamily="49" charset="0"/>
              </a:rPr>
              <a:t>     }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D31A1-A92C-F746-A9EF-2389443A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21252-3535-6D47-8C93-9134624ED488}"/>
              </a:ext>
            </a:extLst>
          </p:cNvPr>
          <p:cNvSpPr/>
          <p:nvPr/>
        </p:nvSpPr>
        <p:spPr>
          <a:xfrm>
            <a:off x="3292996" y="3357114"/>
            <a:ext cx="216024" cy="29085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7271A-2616-4D41-90C5-FE182D8E9DF8}"/>
              </a:ext>
            </a:extLst>
          </p:cNvPr>
          <p:cNvSpPr/>
          <p:nvPr/>
        </p:nvSpPr>
        <p:spPr>
          <a:xfrm>
            <a:off x="2959850" y="3361428"/>
            <a:ext cx="216024" cy="290859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57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dirty="0">
                <a:solidFill>
                  <a:schemeClr val="accent2"/>
                </a:solidFill>
              </a:rPr>
              <a:t>scope</a:t>
            </a:r>
            <a:r>
              <a:rPr lang="en-CA" dirty="0"/>
              <a:t> of an entity is the set of locations in a program where that entity’s name refers to that entity.</a:t>
            </a:r>
          </a:p>
          <a:p>
            <a:r>
              <a:rPr lang="en-CA" dirty="0"/>
              <a:t>The introduction of new variables into scope may hide older variables</a:t>
            </a:r>
          </a:p>
          <a:p>
            <a:r>
              <a:rPr lang="en-CA" dirty="0"/>
              <a:t>How do we keep track of what’s visible?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0E2FB-B92C-4849-834B-A50F8086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26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Symbol Tables</a:t>
            </a:r>
          </a:p>
        </p:txBody>
      </p:sp>
      <p:sp>
        <p:nvSpPr>
          <p:cNvPr id="6246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100" dirty="0"/>
              <a:t>Symbol tables map </a:t>
            </a:r>
            <a:r>
              <a:rPr lang="en-US" sz="2100" b="1" dirty="0">
                <a:solidFill>
                  <a:schemeClr val="accent2"/>
                </a:solidFill>
              </a:rPr>
              <a:t>names </a:t>
            </a:r>
            <a:r>
              <a:rPr lang="en-US" sz="2100" dirty="0"/>
              <a:t>(string format) to </a:t>
            </a:r>
            <a:r>
              <a:rPr lang="en-US" sz="2100" b="1" dirty="0"/>
              <a:t>descriptors</a:t>
            </a:r>
            <a:r>
              <a:rPr lang="en-US" sz="2100" dirty="0"/>
              <a:t> (information about identifiers)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As we run our semantic analysis, continuously update the symbol table with information about what is in scope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DE0086-BF96-B443-9ABE-23C2688D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9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Symbol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028700"/>
            <a:ext cx="4597393" cy="391931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0: int x = 137;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1: int z = 42;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2: int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testFunc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(int x, int y){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3:  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(“%d, %d, %d\n”, x  , y  , z  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4: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5:     int x, z;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6:     z   = y  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7:     x   = z  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8: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 9:       int y = x  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10:       {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(“%d, %d, %d\n”, x  , y  , z  );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11:      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(“%d, %d, %d\n”, x  , y  , z  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12: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13:     </a:t>
            </a:r>
            <a:r>
              <a:rPr lang="en-CA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(“%d, %d, %d\n”, x  , y  , z  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14: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200" dirty="0">
                <a:latin typeface="Consolas" panose="020B0609020204030204" pitchFamily="49" charset="0"/>
                <a:cs typeface="Consolas" panose="020B0609020204030204" pitchFamily="49" charset="0"/>
              </a:rPr>
              <a:t>15: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BB17A-6708-F246-9001-BC2A912E5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F77FE105-EABB-884B-A15A-D6E1216DB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377731"/>
              </p:ext>
            </p:extLst>
          </p:nvPr>
        </p:nvGraphicFramePr>
        <p:xfrm>
          <a:off x="5506640" y="772498"/>
          <a:ext cx="30087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494">
                  <a:extLst>
                    <a:ext uri="{9D8B030D-6E8A-4147-A177-3AD203B41FA5}">
                      <a16:colId xmlns:a16="http://schemas.microsoft.com/office/drawing/2014/main" val="2262255997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85650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Definition Line#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65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030544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EB55DED-2589-0241-9EDF-C2D192E9D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312148"/>
              </p:ext>
            </p:extLst>
          </p:nvPr>
        </p:nvGraphicFramePr>
        <p:xfrm>
          <a:off x="5506640" y="1569417"/>
          <a:ext cx="300871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64494">
                  <a:extLst>
                    <a:ext uri="{9D8B030D-6E8A-4147-A177-3AD203B41FA5}">
                      <a16:colId xmlns:a16="http://schemas.microsoft.com/office/drawing/2014/main" val="2262255997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85650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030544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64960DC6-6781-A34F-A4BB-E7C62AEDC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34507"/>
              </p:ext>
            </p:extLst>
          </p:nvPr>
        </p:nvGraphicFramePr>
        <p:xfrm>
          <a:off x="5506640" y="1995496"/>
          <a:ext cx="300871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64494">
                  <a:extLst>
                    <a:ext uri="{9D8B030D-6E8A-4147-A177-3AD203B41FA5}">
                      <a16:colId xmlns:a16="http://schemas.microsoft.com/office/drawing/2014/main" val="2262255997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85650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030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41240644"/>
                  </a:ext>
                </a:extLst>
              </a:tr>
            </a:tbl>
          </a:graphicData>
        </a:graphic>
      </p:graphicFrame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9C4BD7EF-A9A8-FB49-B835-A4C6A8125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367421"/>
              </p:ext>
            </p:extLst>
          </p:nvPr>
        </p:nvGraphicFramePr>
        <p:xfrm>
          <a:off x="5506640" y="2792415"/>
          <a:ext cx="300871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64494">
                  <a:extLst>
                    <a:ext uri="{9D8B030D-6E8A-4147-A177-3AD203B41FA5}">
                      <a16:colId xmlns:a16="http://schemas.microsoft.com/office/drawing/2014/main" val="2262255997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85650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030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z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9594929"/>
                  </a:ext>
                </a:extLst>
              </a:tr>
            </a:tbl>
          </a:graphicData>
        </a:graphic>
      </p:graphicFrame>
      <p:graphicFrame>
        <p:nvGraphicFramePr>
          <p:cNvPr id="20" name="Table 6">
            <a:extLst>
              <a:ext uri="{FF2B5EF4-FFF2-40B4-BE49-F238E27FC236}">
                <a16:creationId xmlns:a16="http://schemas.microsoft.com/office/drawing/2014/main" id="{DA403CA3-A8D4-0140-A86F-51278AA30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42805"/>
              </p:ext>
            </p:extLst>
          </p:nvPr>
        </p:nvGraphicFramePr>
        <p:xfrm>
          <a:off x="5506640" y="3589332"/>
          <a:ext cx="300871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64494">
                  <a:extLst>
                    <a:ext uri="{9D8B030D-6E8A-4147-A177-3AD203B41FA5}">
                      <a16:colId xmlns:a16="http://schemas.microsoft.com/office/drawing/2014/main" val="2262255997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85650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9503054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354475E-2C7C-DC45-8EE0-4F6B80D5C3D4}"/>
              </a:ext>
            </a:extLst>
          </p:cNvPr>
          <p:cNvSpPr txBox="1"/>
          <p:nvPr/>
        </p:nvSpPr>
        <p:spPr>
          <a:xfrm>
            <a:off x="3151206" y="1727712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B40BA3-5591-CA44-B74B-B056F7C2D418}"/>
              </a:ext>
            </a:extLst>
          </p:cNvPr>
          <p:cNvSpPr txBox="1"/>
          <p:nvPr/>
        </p:nvSpPr>
        <p:spPr>
          <a:xfrm>
            <a:off x="3569883" y="1727712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75BAD2-83C0-5F4F-8ABE-1F4710DFA2D5}"/>
              </a:ext>
            </a:extLst>
          </p:cNvPr>
          <p:cNvSpPr txBox="1"/>
          <p:nvPr/>
        </p:nvSpPr>
        <p:spPr>
          <a:xfrm>
            <a:off x="3979285" y="1727712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E4DD70-2189-AB42-94E4-6D014F3FF07F}"/>
              </a:ext>
            </a:extLst>
          </p:cNvPr>
          <p:cNvSpPr txBox="1"/>
          <p:nvPr/>
        </p:nvSpPr>
        <p:spPr>
          <a:xfrm>
            <a:off x="3649344" y="3422489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9D2A1C-870C-494B-A7AE-0B234A046AE9}"/>
              </a:ext>
            </a:extLst>
          </p:cNvPr>
          <p:cNvSpPr txBox="1"/>
          <p:nvPr/>
        </p:nvSpPr>
        <p:spPr>
          <a:xfrm>
            <a:off x="4068021" y="3422489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A276F3-0B6A-AE4E-A9C6-03D46023EDCF}"/>
              </a:ext>
            </a:extLst>
          </p:cNvPr>
          <p:cNvSpPr txBox="1"/>
          <p:nvPr/>
        </p:nvSpPr>
        <p:spPr>
          <a:xfrm>
            <a:off x="4477423" y="3422489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90DD32-B523-B944-AA16-1F2EF45E1E8F}"/>
              </a:ext>
            </a:extLst>
          </p:cNvPr>
          <p:cNvSpPr txBox="1"/>
          <p:nvPr/>
        </p:nvSpPr>
        <p:spPr>
          <a:xfrm>
            <a:off x="3485738" y="3662295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FE095B-9EAC-A042-AD83-7E1C19C0646E}"/>
              </a:ext>
            </a:extLst>
          </p:cNvPr>
          <p:cNvSpPr txBox="1"/>
          <p:nvPr/>
        </p:nvSpPr>
        <p:spPr>
          <a:xfrm>
            <a:off x="3904415" y="3662295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33FF69-8788-B244-92F2-85FA42FB16FE}"/>
              </a:ext>
            </a:extLst>
          </p:cNvPr>
          <p:cNvSpPr txBox="1"/>
          <p:nvPr/>
        </p:nvSpPr>
        <p:spPr>
          <a:xfrm>
            <a:off x="4313817" y="3662295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DA690C-2B6B-F445-AF38-248C549B932B}"/>
              </a:ext>
            </a:extLst>
          </p:cNvPr>
          <p:cNvSpPr txBox="1"/>
          <p:nvPr/>
        </p:nvSpPr>
        <p:spPr>
          <a:xfrm>
            <a:off x="3328856" y="4144148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B775C4-1C63-B84D-AAED-F616FE2E196E}"/>
              </a:ext>
            </a:extLst>
          </p:cNvPr>
          <p:cNvSpPr txBox="1"/>
          <p:nvPr/>
        </p:nvSpPr>
        <p:spPr>
          <a:xfrm>
            <a:off x="3747533" y="4144148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39016D-F3D7-7A4F-AC2A-EDFBDC025430}"/>
              </a:ext>
            </a:extLst>
          </p:cNvPr>
          <p:cNvSpPr txBox="1"/>
          <p:nvPr/>
        </p:nvSpPr>
        <p:spPr>
          <a:xfrm>
            <a:off x="4156935" y="4144148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447C32-FB5D-AB4C-B553-1D01E989E763}"/>
              </a:ext>
            </a:extLst>
          </p:cNvPr>
          <p:cNvSpPr txBox="1"/>
          <p:nvPr/>
        </p:nvSpPr>
        <p:spPr>
          <a:xfrm>
            <a:off x="1387400" y="2468421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C5121E-5DAD-0E40-866D-30F727473E8C}"/>
              </a:ext>
            </a:extLst>
          </p:cNvPr>
          <p:cNvSpPr txBox="1"/>
          <p:nvPr/>
        </p:nvSpPr>
        <p:spPr>
          <a:xfrm>
            <a:off x="1866589" y="2468421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F3A9F4-A569-D740-8C81-A400CC56F189}"/>
              </a:ext>
            </a:extLst>
          </p:cNvPr>
          <p:cNvSpPr txBox="1"/>
          <p:nvPr/>
        </p:nvSpPr>
        <p:spPr>
          <a:xfrm>
            <a:off x="1391882" y="2701503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7FEC51-76A2-9A4E-879D-E53E1A237FE1}"/>
              </a:ext>
            </a:extLst>
          </p:cNvPr>
          <p:cNvSpPr txBox="1"/>
          <p:nvPr/>
        </p:nvSpPr>
        <p:spPr>
          <a:xfrm>
            <a:off x="1871071" y="2701503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0DAAEA-221B-6F46-B263-50B5BD0B2C64}"/>
              </a:ext>
            </a:extLst>
          </p:cNvPr>
          <p:cNvSpPr txBox="1"/>
          <p:nvPr/>
        </p:nvSpPr>
        <p:spPr>
          <a:xfrm>
            <a:off x="2211730" y="3183356"/>
            <a:ext cx="393316" cy="27699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@5</a:t>
            </a:r>
          </a:p>
        </p:txBody>
      </p:sp>
    </p:spTree>
    <p:extLst>
      <p:ext uri="{BB962C8B-B14F-4D97-AF65-F5344CB8AC3E}">
        <p14:creationId xmlns:p14="http://schemas.microsoft.com/office/powerpoint/2010/main" val="46186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Symbol Tables</a:t>
            </a:r>
          </a:p>
        </p:txBody>
      </p:sp>
      <p:sp>
        <p:nvSpPr>
          <p:cNvPr id="62469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Symbol tables map </a:t>
            </a:r>
            <a:r>
              <a:rPr lang="en-US" sz="2100" b="1" dirty="0">
                <a:solidFill>
                  <a:schemeClr val="accent2"/>
                </a:solidFill>
              </a:rPr>
              <a:t>names </a:t>
            </a:r>
            <a:r>
              <a:rPr lang="en-US" sz="2100" dirty="0"/>
              <a:t>(string format) to </a:t>
            </a:r>
            <a:r>
              <a:rPr lang="en-US" sz="2100" b="1" dirty="0"/>
              <a:t>descriptors</a:t>
            </a:r>
            <a:r>
              <a:rPr lang="en-US" sz="2100" dirty="0"/>
              <a:t> (information about identifiers)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As we run our semantic analysis, continuously update the symbol table with information about what  is in scope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Typical implementation: stack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Basic Operations: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Push scope: Enter a new scope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Pop scope: Leave a scope, discarding all declarations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Insert symbol: add a new identifier to the current scope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Lookup symbol: Given an identifier, find a descriptor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25C6F4-6496-6C4F-8A11-E3FE83C8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a Symbol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100" dirty="0"/>
              <a:t>To process a portion of the program that creates a scope (block statements, function calls, classes, etc.)</a:t>
            </a:r>
          </a:p>
          <a:p>
            <a:pPr lvl="1"/>
            <a:r>
              <a:rPr lang="en-CA" sz="1800" dirty="0"/>
              <a:t>Enter a new scope</a:t>
            </a:r>
          </a:p>
          <a:p>
            <a:pPr lvl="1"/>
            <a:r>
              <a:rPr lang="en-CA" sz="1800" dirty="0"/>
              <a:t>Add all variable declarations to the symbol table</a:t>
            </a:r>
          </a:p>
          <a:p>
            <a:pPr lvl="1"/>
            <a:r>
              <a:rPr lang="en-CA" sz="1800" dirty="0"/>
              <a:t>Process the body of the block/function/class</a:t>
            </a:r>
          </a:p>
          <a:p>
            <a:pPr lvl="1"/>
            <a:r>
              <a:rPr lang="en-CA" sz="1800" dirty="0"/>
              <a:t>Exit the scope</a:t>
            </a:r>
          </a:p>
          <a:p>
            <a:r>
              <a:rPr lang="en-CA" sz="2100" dirty="0"/>
              <a:t>Much of semantic analysis is defined over the parse tree using symbol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42733-633F-0D40-AB4D-E7E878CF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78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5C21-B3AB-764D-908B-B2E306DE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Spaghetti Stack</a:t>
            </a:r>
          </a:p>
        </p:txBody>
      </p:sp>
    </p:spTree>
    <p:extLst>
      <p:ext uri="{BB962C8B-B14F-4D97-AF65-F5344CB8AC3E}">
        <p14:creationId xmlns:p14="http://schemas.microsoft.com/office/powerpoint/2010/main" val="3648141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648DE-A04A-CE43-98C9-1723D631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821042" y="1429866"/>
            <a:ext cx="2696952" cy="2879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testFunc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x,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w, z;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0384" y="1429866"/>
            <a:ext cx="458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2: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3: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4: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5: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6: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7: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8: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9: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11: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680013" y="897564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680013" y="1383618"/>
            <a:ext cx="1350150" cy="486054"/>
            <a:chOff x="6084168" y="2852936"/>
            <a:chExt cx="1800200" cy="648072"/>
          </a:xfrm>
        </p:grpSpPr>
        <p:grpSp>
          <p:nvGrpSpPr>
            <p:cNvPr id="9" name="Group 8"/>
            <p:cNvGrpSpPr/>
            <p:nvPr/>
          </p:nvGrpSpPr>
          <p:grpSpPr>
            <a:xfrm>
              <a:off x="6084168" y="3068960"/>
              <a:ext cx="1800200" cy="432048"/>
              <a:chOff x="6732240" y="1988840"/>
              <a:chExt cx="1800200" cy="432048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X       0</a:t>
                </a:r>
              </a:p>
            </p:txBody>
          </p:sp>
          <p:cxnSp>
            <p:nvCxnSpPr>
              <p:cNvPr id="11" name="Straight Connector 10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2852936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26" name="Curved Connector 25"/>
          <p:cNvCxnSpPr>
            <a:stCxn id="15" idx="1"/>
            <a:endCxn id="8" idx="1"/>
          </p:cNvCxnSpPr>
          <p:nvPr/>
        </p:nvCxnSpPr>
        <p:spPr bwMode="auto">
          <a:xfrm rot="10800000">
            <a:off x="4680013" y="1059582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Right Arrow 2"/>
          <p:cNvSpPr/>
          <p:nvPr/>
        </p:nvSpPr>
        <p:spPr bwMode="auto">
          <a:xfrm>
            <a:off x="1331640" y="1545636"/>
            <a:ext cx="216024" cy="162018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2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96D26-1FE7-594D-BCF3-EDCDED327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821042" y="1429866"/>
            <a:ext cx="2696952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testFunc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x,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w, z;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7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0384" y="1429866"/>
            <a:ext cx="458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2: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3: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4: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5: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6: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7: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8: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9: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11: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680013" y="897564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680013" y="1383618"/>
            <a:ext cx="1350150" cy="486054"/>
            <a:chOff x="6084168" y="2852936"/>
            <a:chExt cx="1800200" cy="648072"/>
          </a:xfrm>
        </p:grpSpPr>
        <p:grpSp>
          <p:nvGrpSpPr>
            <p:cNvPr id="9" name="Group 8"/>
            <p:cNvGrpSpPr/>
            <p:nvPr/>
          </p:nvGrpSpPr>
          <p:grpSpPr>
            <a:xfrm>
              <a:off x="6084168" y="3068960"/>
              <a:ext cx="1800200" cy="432048"/>
              <a:chOff x="6732240" y="1988840"/>
              <a:chExt cx="1800200" cy="432048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X       0</a:t>
                </a:r>
              </a:p>
            </p:txBody>
          </p:sp>
          <p:cxnSp>
            <p:nvCxnSpPr>
              <p:cNvPr id="11" name="Straight Connector 10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2852936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680013" y="2031690"/>
            <a:ext cx="1350150" cy="486054"/>
            <a:chOff x="6084168" y="3717032"/>
            <a:chExt cx="1800200" cy="648072"/>
          </a:xfrm>
        </p:grpSpPr>
        <p:grpSp>
          <p:nvGrpSpPr>
            <p:cNvPr id="12" name="Group 11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3" name="Rectangle 12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1</a:t>
                </a:r>
              </a:p>
            </p:txBody>
          </p:sp>
          <p:cxnSp>
            <p:nvCxnSpPr>
              <p:cNvPr id="14" name="Straight Connector 13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7" name="Rectangle 16"/>
            <p:cNvSpPr/>
            <p:nvPr/>
          </p:nvSpPr>
          <p:spPr bwMode="auto">
            <a:xfrm>
              <a:off x="6084168" y="3717032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26" name="Curved Connector 25"/>
          <p:cNvCxnSpPr>
            <a:stCxn id="15" idx="1"/>
            <a:endCxn id="8" idx="1"/>
          </p:cNvCxnSpPr>
          <p:nvPr/>
        </p:nvCxnSpPr>
        <p:spPr bwMode="auto">
          <a:xfrm rot="10800000">
            <a:off x="4680013" y="1059582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Curved Connector 28"/>
          <p:cNvCxnSpPr/>
          <p:nvPr/>
        </p:nvCxnSpPr>
        <p:spPr bwMode="auto">
          <a:xfrm rot="10800000">
            <a:off x="4680013" y="1491630"/>
            <a:ext cx="9525" cy="64807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Right Arrow 2"/>
          <p:cNvSpPr/>
          <p:nvPr/>
        </p:nvSpPr>
        <p:spPr bwMode="auto">
          <a:xfrm>
            <a:off x="1331640" y="1750518"/>
            <a:ext cx="216024" cy="162018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42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1F688-E8A1-F540-9296-D46F47D9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22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821042" y="1429866"/>
            <a:ext cx="2696952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testFunc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x,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w, z;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7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0384" y="1429866"/>
            <a:ext cx="458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2: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3: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4: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5: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6: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7: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8: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9: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11: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680013" y="897564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680013" y="1383618"/>
            <a:ext cx="1350150" cy="486054"/>
            <a:chOff x="6084168" y="2852936"/>
            <a:chExt cx="1800200" cy="648072"/>
          </a:xfrm>
        </p:grpSpPr>
        <p:grpSp>
          <p:nvGrpSpPr>
            <p:cNvPr id="9" name="Group 8"/>
            <p:cNvGrpSpPr/>
            <p:nvPr/>
          </p:nvGrpSpPr>
          <p:grpSpPr>
            <a:xfrm>
              <a:off x="6084168" y="3068960"/>
              <a:ext cx="1800200" cy="432048"/>
              <a:chOff x="6732240" y="1988840"/>
              <a:chExt cx="1800200" cy="432048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X       0</a:t>
                </a:r>
              </a:p>
            </p:txBody>
          </p:sp>
          <p:cxnSp>
            <p:nvCxnSpPr>
              <p:cNvPr id="11" name="Straight Connector 10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2852936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680013" y="2031690"/>
            <a:ext cx="1350150" cy="486054"/>
            <a:chOff x="6084168" y="3717032"/>
            <a:chExt cx="1800200" cy="648072"/>
          </a:xfrm>
        </p:grpSpPr>
        <p:grpSp>
          <p:nvGrpSpPr>
            <p:cNvPr id="12" name="Group 11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3" name="Rectangle 12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1</a:t>
                </a:r>
              </a:p>
            </p:txBody>
          </p:sp>
          <p:cxnSp>
            <p:nvCxnSpPr>
              <p:cNvPr id="14" name="Straight Connector 13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7" name="Rectangle 16"/>
            <p:cNvSpPr/>
            <p:nvPr/>
          </p:nvSpPr>
          <p:spPr bwMode="auto">
            <a:xfrm>
              <a:off x="6084168" y="3717032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26" name="Curved Connector 25"/>
          <p:cNvCxnSpPr>
            <a:stCxn id="15" idx="1"/>
            <a:endCxn id="8" idx="1"/>
          </p:cNvCxnSpPr>
          <p:nvPr/>
        </p:nvCxnSpPr>
        <p:spPr bwMode="auto">
          <a:xfrm rot="10800000">
            <a:off x="4680013" y="1059582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Curved Connector 28"/>
          <p:cNvCxnSpPr/>
          <p:nvPr/>
        </p:nvCxnSpPr>
        <p:spPr bwMode="auto">
          <a:xfrm rot="10800000">
            <a:off x="4680013" y="1491630"/>
            <a:ext cx="9525" cy="64807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5" name="Group 34"/>
          <p:cNvGrpSpPr/>
          <p:nvPr/>
        </p:nvGrpSpPr>
        <p:grpSpPr>
          <a:xfrm>
            <a:off x="4680013" y="2679762"/>
            <a:ext cx="1350150" cy="810090"/>
            <a:chOff x="6084168" y="3717032"/>
            <a:chExt cx="1800200" cy="1080120"/>
          </a:xfrm>
        </p:grpSpPr>
        <p:grpSp>
          <p:nvGrpSpPr>
            <p:cNvPr id="33" name="Group 32"/>
            <p:cNvGrpSpPr/>
            <p:nvPr/>
          </p:nvGrpSpPr>
          <p:grpSpPr>
            <a:xfrm>
              <a:off x="6084168" y="3717032"/>
              <a:ext cx="1800200" cy="1080120"/>
              <a:chOff x="6084168" y="3861048"/>
              <a:chExt cx="1800200" cy="1080120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6084168" y="3861048"/>
                <a:ext cx="1800200" cy="648072"/>
                <a:chOff x="6084168" y="3717032"/>
                <a:chExt cx="1800200" cy="648072"/>
              </a:xfrm>
            </p:grpSpPr>
            <p:grpSp>
              <p:nvGrpSpPr>
                <p:cNvPr id="21" name="Group 20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3" name="Rectangle 22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/>
                    <a:r>
                      <a:rPr lang="en-CA" sz="1800" dirty="0">
                        <a:latin typeface="Calibri" panose="020F0502020204030204" pitchFamily="34" charset="0"/>
                      </a:rPr>
                      <a:t>       X       2</a:t>
                    </a:r>
                  </a:p>
                </p:txBody>
              </p:sp>
              <p:cxnSp>
                <p:nvCxnSpPr>
                  <p:cNvPr id="24" name="Straight Connector 23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2" name="Rectangle 21"/>
                <p:cNvSpPr/>
                <p:nvPr/>
              </p:nvSpPr>
              <p:spPr bwMode="auto">
                <a:xfrm>
                  <a:off x="6084168" y="3717032"/>
                  <a:ext cx="1800200" cy="216024"/>
                </a:xfrm>
                <a:prstGeom prst="rect">
                  <a:avLst/>
                </a:prstGeom>
                <a:solidFill>
                  <a:schemeClr val="bg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en-CA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1" name="Rectangle 30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2</a:t>
                </a:r>
              </a:p>
            </p:txBody>
          </p:sp>
        </p:grpSp>
        <p:cxnSp>
          <p:nvCxnSpPr>
            <p:cNvPr id="32" name="Straight Connector 31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4" name="Curved Connector 33"/>
          <p:cNvCxnSpPr/>
          <p:nvPr/>
        </p:nvCxnSpPr>
        <p:spPr bwMode="auto">
          <a:xfrm rot="10800000">
            <a:off x="4680013" y="2139702"/>
            <a:ext cx="9525" cy="64807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Right Arrow 2"/>
          <p:cNvSpPr/>
          <p:nvPr/>
        </p:nvSpPr>
        <p:spPr bwMode="auto">
          <a:xfrm>
            <a:off x="1331640" y="1955826"/>
            <a:ext cx="216024" cy="162018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42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53414-3DFA-DD40-B963-A558BF0A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821042" y="1429866"/>
            <a:ext cx="2696952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testFunc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x,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w, z;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7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0384" y="1429866"/>
            <a:ext cx="458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2: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3: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4: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5: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6: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7: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8: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9: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11: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680013" y="897564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680013" y="1383618"/>
            <a:ext cx="1350150" cy="486054"/>
            <a:chOff x="6084168" y="2852936"/>
            <a:chExt cx="1800200" cy="648072"/>
          </a:xfrm>
        </p:grpSpPr>
        <p:grpSp>
          <p:nvGrpSpPr>
            <p:cNvPr id="9" name="Group 8"/>
            <p:cNvGrpSpPr/>
            <p:nvPr/>
          </p:nvGrpSpPr>
          <p:grpSpPr>
            <a:xfrm>
              <a:off x="6084168" y="3068960"/>
              <a:ext cx="1800200" cy="432048"/>
              <a:chOff x="6732240" y="1988840"/>
              <a:chExt cx="1800200" cy="432048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X       0</a:t>
                </a:r>
              </a:p>
            </p:txBody>
          </p:sp>
          <p:cxnSp>
            <p:nvCxnSpPr>
              <p:cNvPr id="11" name="Straight Connector 10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2852936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680013" y="2031690"/>
            <a:ext cx="1350150" cy="486054"/>
            <a:chOff x="6084168" y="3717032"/>
            <a:chExt cx="1800200" cy="648072"/>
          </a:xfrm>
        </p:grpSpPr>
        <p:grpSp>
          <p:nvGrpSpPr>
            <p:cNvPr id="12" name="Group 11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3" name="Rectangle 12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1</a:t>
                </a:r>
              </a:p>
            </p:txBody>
          </p:sp>
          <p:cxnSp>
            <p:nvCxnSpPr>
              <p:cNvPr id="14" name="Straight Connector 13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7" name="Rectangle 16"/>
            <p:cNvSpPr/>
            <p:nvPr/>
          </p:nvSpPr>
          <p:spPr bwMode="auto">
            <a:xfrm>
              <a:off x="6084168" y="3717032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26" name="Curved Connector 25"/>
          <p:cNvCxnSpPr>
            <a:stCxn id="15" idx="1"/>
            <a:endCxn id="8" idx="1"/>
          </p:cNvCxnSpPr>
          <p:nvPr/>
        </p:nvCxnSpPr>
        <p:spPr bwMode="auto">
          <a:xfrm rot="10800000">
            <a:off x="4680013" y="1059582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Curved Connector 28"/>
          <p:cNvCxnSpPr/>
          <p:nvPr/>
        </p:nvCxnSpPr>
        <p:spPr bwMode="auto">
          <a:xfrm rot="10800000">
            <a:off x="4680013" y="1491630"/>
            <a:ext cx="9525" cy="64807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5" name="Group 34"/>
          <p:cNvGrpSpPr/>
          <p:nvPr/>
        </p:nvGrpSpPr>
        <p:grpSpPr>
          <a:xfrm>
            <a:off x="4680013" y="2679762"/>
            <a:ext cx="1350150" cy="810090"/>
            <a:chOff x="6084168" y="3717032"/>
            <a:chExt cx="1800200" cy="1080120"/>
          </a:xfrm>
        </p:grpSpPr>
        <p:grpSp>
          <p:nvGrpSpPr>
            <p:cNvPr id="33" name="Group 32"/>
            <p:cNvGrpSpPr/>
            <p:nvPr/>
          </p:nvGrpSpPr>
          <p:grpSpPr>
            <a:xfrm>
              <a:off x="6084168" y="3717032"/>
              <a:ext cx="1800200" cy="1080120"/>
              <a:chOff x="6084168" y="3861048"/>
              <a:chExt cx="1800200" cy="1080120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6084168" y="3861048"/>
                <a:ext cx="1800200" cy="648072"/>
                <a:chOff x="6084168" y="3717032"/>
                <a:chExt cx="1800200" cy="648072"/>
              </a:xfrm>
            </p:grpSpPr>
            <p:grpSp>
              <p:nvGrpSpPr>
                <p:cNvPr id="21" name="Group 20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3" name="Rectangle 22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/>
                    <a:r>
                      <a:rPr lang="en-CA" sz="1800" dirty="0">
                        <a:latin typeface="Calibri" panose="020F0502020204030204" pitchFamily="34" charset="0"/>
                      </a:rPr>
                      <a:t>       X       2</a:t>
                    </a:r>
                  </a:p>
                </p:txBody>
              </p:sp>
              <p:cxnSp>
                <p:nvCxnSpPr>
                  <p:cNvPr id="24" name="Straight Connector 23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2" name="Rectangle 21"/>
                <p:cNvSpPr/>
                <p:nvPr/>
              </p:nvSpPr>
              <p:spPr bwMode="auto">
                <a:xfrm>
                  <a:off x="6084168" y="3717032"/>
                  <a:ext cx="1800200" cy="216024"/>
                </a:xfrm>
                <a:prstGeom prst="rect">
                  <a:avLst/>
                </a:prstGeom>
                <a:solidFill>
                  <a:schemeClr val="bg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en-CA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1" name="Rectangle 30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2</a:t>
                </a:r>
              </a:p>
            </p:txBody>
          </p:sp>
        </p:grpSp>
        <p:cxnSp>
          <p:nvCxnSpPr>
            <p:cNvPr id="32" name="Straight Connector 31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4" name="Curved Connector 33"/>
          <p:cNvCxnSpPr/>
          <p:nvPr/>
        </p:nvCxnSpPr>
        <p:spPr bwMode="auto">
          <a:xfrm rot="10800000">
            <a:off x="4680013" y="2139702"/>
            <a:ext cx="9525" cy="64807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6" name="Group 35"/>
          <p:cNvGrpSpPr/>
          <p:nvPr/>
        </p:nvGrpSpPr>
        <p:grpSpPr>
          <a:xfrm>
            <a:off x="4680013" y="3597864"/>
            <a:ext cx="1350150" cy="810090"/>
            <a:chOff x="6084168" y="3717032"/>
            <a:chExt cx="1800200" cy="1080120"/>
          </a:xfrm>
        </p:grpSpPr>
        <p:grpSp>
          <p:nvGrpSpPr>
            <p:cNvPr id="37" name="Group 36"/>
            <p:cNvGrpSpPr/>
            <p:nvPr/>
          </p:nvGrpSpPr>
          <p:grpSpPr>
            <a:xfrm>
              <a:off x="6084168" y="3717032"/>
              <a:ext cx="1800200" cy="1080120"/>
              <a:chOff x="6084168" y="3861048"/>
              <a:chExt cx="1800200" cy="1080120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6084168" y="3861048"/>
                <a:ext cx="1800200" cy="648072"/>
                <a:chOff x="6084168" y="3717032"/>
                <a:chExt cx="1800200" cy="648072"/>
              </a:xfrm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43" name="Rectangle 42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/>
                    <a:r>
                      <a:rPr lang="en-CA" sz="1800" dirty="0">
                        <a:latin typeface="Calibri" panose="020F0502020204030204" pitchFamily="34" charset="0"/>
                      </a:rPr>
                      <a:t>       W       4</a:t>
                    </a:r>
                  </a:p>
                </p:txBody>
              </p:sp>
              <p:cxnSp>
                <p:nvCxnSpPr>
                  <p:cNvPr id="44" name="Straight Connector 43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42" name="Rectangle 41"/>
                <p:cNvSpPr/>
                <p:nvPr/>
              </p:nvSpPr>
              <p:spPr bwMode="auto">
                <a:xfrm>
                  <a:off x="6084168" y="3717032"/>
                  <a:ext cx="1800200" cy="216024"/>
                </a:xfrm>
                <a:prstGeom prst="rect">
                  <a:avLst/>
                </a:prstGeom>
                <a:solidFill>
                  <a:schemeClr val="bg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en-CA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Rectangle 39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Z      4</a:t>
                </a:r>
              </a:p>
            </p:txBody>
          </p:sp>
        </p:grpSp>
        <p:cxnSp>
          <p:nvCxnSpPr>
            <p:cNvPr id="38" name="Straight Connector 37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5" name="Curved Connector 54"/>
          <p:cNvCxnSpPr>
            <a:stCxn id="42" idx="1"/>
            <a:endCxn id="22" idx="1"/>
          </p:cNvCxnSpPr>
          <p:nvPr/>
        </p:nvCxnSpPr>
        <p:spPr bwMode="auto">
          <a:xfrm rot="10800000">
            <a:off x="4680013" y="2760771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Right Arrow 2"/>
          <p:cNvSpPr/>
          <p:nvPr/>
        </p:nvSpPr>
        <p:spPr bwMode="auto">
          <a:xfrm>
            <a:off x="1331640" y="2409732"/>
            <a:ext cx="216024" cy="162018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42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8C2B0-8DC0-8A43-9DA2-648F26F7D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24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821042" y="1429866"/>
            <a:ext cx="2696952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testFunc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x,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w, z;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7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0384" y="1429866"/>
            <a:ext cx="458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2: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3: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4: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5: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6: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7: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8: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9: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11: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680013" y="897564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680013" y="1383618"/>
            <a:ext cx="1350150" cy="486054"/>
            <a:chOff x="6084168" y="2852936"/>
            <a:chExt cx="1800200" cy="648072"/>
          </a:xfrm>
        </p:grpSpPr>
        <p:grpSp>
          <p:nvGrpSpPr>
            <p:cNvPr id="9" name="Group 8"/>
            <p:cNvGrpSpPr/>
            <p:nvPr/>
          </p:nvGrpSpPr>
          <p:grpSpPr>
            <a:xfrm>
              <a:off x="6084168" y="3068960"/>
              <a:ext cx="1800200" cy="432048"/>
              <a:chOff x="6732240" y="1988840"/>
              <a:chExt cx="1800200" cy="432048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X       0</a:t>
                </a:r>
              </a:p>
            </p:txBody>
          </p:sp>
          <p:cxnSp>
            <p:nvCxnSpPr>
              <p:cNvPr id="11" name="Straight Connector 10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2852936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680013" y="2031690"/>
            <a:ext cx="1350150" cy="486054"/>
            <a:chOff x="6084168" y="3717032"/>
            <a:chExt cx="1800200" cy="648072"/>
          </a:xfrm>
        </p:grpSpPr>
        <p:grpSp>
          <p:nvGrpSpPr>
            <p:cNvPr id="12" name="Group 11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3" name="Rectangle 12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1</a:t>
                </a:r>
              </a:p>
            </p:txBody>
          </p:sp>
          <p:cxnSp>
            <p:nvCxnSpPr>
              <p:cNvPr id="14" name="Straight Connector 13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7" name="Rectangle 16"/>
            <p:cNvSpPr/>
            <p:nvPr/>
          </p:nvSpPr>
          <p:spPr bwMode="auto">
            <a:xfrm>
              <a:off x="6084168" y="3717032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26" name="Curved Connector 25"/>
          <p:cNvCxnSpPr>
            <a:stCxn id="15" idx="1"/>
            <a:endCxn id="8" idx="1"/>
          </p:cNvCxnSpPr>
          <p:nvPr/>
        </p:nvCxnSpPr>
        <p:spPr bwMode="auto">
          <a:xfrm rot="10800000">
            <a:off x="4680013" y="1059582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Curved Connector 28"/>
          <p:cNvCxnSpPr/>
          <p:nvPr/>
        </p:nvCxnSpPr>
        <p:spPr bwMode="auto">
          <a:xfrm rot="10800000">
            <a:off x="4680013" y="1491630"/>
            <a:ext cx="9525" cy="64807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5" name="Group 34"/>
          <p:cNvGrpSpPr/>
          <p:nvPr/>
        </p:nvGrpSpPr>
        <p:grpSpPr>
          <a:xfrm>
            <a:off x="4680013" y="2679762"/>
            <a:ext cx="1350150" cy="810090"/>
            <a:chOff x="6084168" y="3717032"/>
            <a:chExt cx="1800200" cy="1080120"/>
          </a:xfrm>
        </p:grpSpPr>
        <p:grpSp>
          <p:nvGrpSpPr>
            <p:cNvPr id="33" name="Group 32"/>
            <p:cNvGrpSpPr/>
            <p:nvPr/>
          </p:nvGrpSpPr>
          <p:grpSpPr>
            <a:xfrm>
              <a:off x="6084168" y="3717032"/>
              <a:ext cx="1800200" cy="1080120"/>
              <a:chOff x="6084168" y="3861048"/>
              <a:chExt cx="1800200" cy="1080120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6084168" y="3861048"/>
                <a:ext cx="1800200" cy="648072"/>
                <a:chOff x="6084168" y="3717032"/>
                <a:chExt cx="1800200" cy="648072"/>
              </a:xfrm>
            </p:grpSpPr>
            <p:grpSp>
              <p:nvGrpSpPr>
                <p:cNvPr id="21" name="Group 20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3" name="Rectangle 22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/>
                    <a:r>
                      <a:rPr lang="en-CA" sz="1800" dirty="0">
                        <a:latin typeface="Calibri" panose="020F0502020204030204" pitchFamily="34" charset="0"/>
                      </a:rPr>
                      <a:t>       X       2</a:t>
                    </a:r>
                  </a:p>
                </p:txBody>
              </p:sp>
              <p:cxnSp>
                <p:nvCxnSpPr>
                  <p:cNvPr id="24" name="Straight Connector 23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2" name="Rectangle 21"/>
                <p:cNvSpPr/>
                <p:nvPr/>
              </p:nvSpPr>
              <p:spPr bwMode="auto">
                <a:xfrm>
                  <a:off x="6084168" y="3717032"/>
                  <a:ext cx="1800200" cy="216024"/>
                </a:xfrm>
                <a:prstGeom prst="rect">
                  <a:avLst/>
                </a:prstGeom>
                <a:solidFill>
                  <a:schemeClr val="bg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en-CA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1" name="Rectangle 30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2</a:t>
                </a:r>
              </a:p>
            </p:txBody>
          </p:sp>
        </p:grpSp>
        <p:cxnSp>
          <p:nvCxnSpPr>
            <p:cNvPr id="32" name="Straight Connector 31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4" name="Curved Connector 33"/>
          <p:cNvCxnSpPr/>
          <p:nvPr/>
        </p:nvCxnSpPr>
        <p:spPr bwMode="auto">
          <a:xfrm rot="10800000">
            <a:off x="4680013" y="2139702"/>
            <a:ext cx="9525" cy="64807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6" name="Group 35"/>
          <p:cNvGrpSpPr/>
          <p:nvPr/>
        </p:nvGrpSpPr>
        <p:grpSpPr>
          <a:xfrm>
            <a:off x="4680013" y="3597864"/>
            <a:ext cx="1350150" cy="810090"/>
            <a:chOff x="6084168" y="3717032"/>
            <a:chExt cx="1800200" cy="1080120"/>
          </a:xfrm>
        </p:grpSpPr>
        <p:grpSp>
          <p:nvGrpSpPr>
            <p:cNvPr id="37" name="Group 36"/>
            <p:cNvGrpSpPr/>
            <p:nvPr/>
          </p:nvGrpSpPr>
          <p:grpSpPr>
            <a:xfrm>
              <a:off x="6084168" y="3717032"/>
              <a:ext cx="1800200" cy="1080120"/>
              <a:chOff x="6084168" y="3861048"/>
              <a:chExt cx="1800200" cy="1080120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6084168" y="3861048"/>
                <a:ext cx="1800200" cy="648072"/>
                <a:chOff x="6084168" y="3717032"/>
                <a:chExt cx="1800200" cy="648072"/>
              </a:xfrm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43" name="Rectangle 42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/>
                    <a:r>
                      <a:rPr lang="en-CA" sz="1800" dirty="0">
                        <a:latin typeface="Calibri" panose="020F0502020204030204" pitchFamily="34" charset="0"/>
                      </a:rPr>
                      <a:t>       W       4</a:t>
                    </a:r>
                  </a:p>
                </p:txBody>
              </p:sp>
              <p:cxnSp>
                <p:nvCxnSpPr>
                  <p:cNvPr id="44" name="Straight Connector 43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42" name="Rectangle 41"/>
                <p:cNvSpPr/>
                <p:nvPr/>
              </p:nvSpPr>
              <p:spPr bwMode="auto">
                <a:xfrm>
                  <a:off x="6084168" y="3717032"/>
                  <a:ext cx="1800200" cy="216024"/>
                </a:xfrm>
                <a:prstGeom prst="rect">
                  <a:avLst/>
                </a:prstGeom>
                <a:solidFill>
                  <a:schemeClr val="bg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en-CA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Rectangle 39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Z      4</a:t>
                </a:r>
              </a:p>
            </p:txBody>
          </p:sp>
        </p:grpSp>
        <p:cxnSp>
          <p:nvCxnSpPr>
            <p:cNvPr id="38" name="Straight Connector 37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5" name="Group 44"/>
          <p:cNvGrpSpPr/>
          <p:nvPr/>
        </p:nvGrpSpPr>
        <p:grpSpPr>
          <a:xfrm>
            <a:off x="3221850" y="4353948"/>
            <a:ext cx="1350150" cy="486054"/>
            <a:chOff x="6084168" y="3717032"/>
            <a:chExt cx="1800200" cy="648072"/>
          </a:xfrm>
        </p:grpSpPr>
        <p:grpSp>
          <p:nvGrpSpPr>
            <p:cNvPr id="46" name="Group 45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48" name="Rectangle 47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6</a:t>
                </a:r>
              </a:p>
            </p:txBody>
          </p:sp>
          <p:cxnSp>
            <p:nvCxnSpPr>
              <p:cNvPr id="49" name="Straight Connector 48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7" name="Rectangle 46"/>
            <p:cNvSpPr/>
            <p:nvPr/>
          </p:nvSpPr>
          <p:spPr bwMode="auto">
            <a:xfrm>
              <a:off x="6084168" y="3717032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55" name="Curved Connector 54"/>
          <p:cNvCxnSpPr>
            <a:stCxn id="42" idx="1"/>
            <a:endCxn id="22" idx="1"/>
          </p:cNvCxnSpPr>
          <p:nvPr/>
        </p:nvCxnSpPr>
        <p:spPr bwMode="auto">
          <a:xfrm rot="10800000">
            <a:off x="4680013" y="2760771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urved Connector 60"/>
          <p:cNvCxnSpPr>
            <a:stCxn id="47" idx="0"/>
            <a:endCxn id="42" idx="1"/>
          </p:cNvCxnSpPr>
          <p:nvPr/>
        </p:nvCxnSpPr>
        <p:spPr bwMode="auto">
          <a:xfrm rot="5400000" flipH="1" flipV="1">
            <a:off x="3950931" y="3624867"/>
            <a:ext cx="675075" cy="783088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Right Arrow 2"/>
          <p:cNvSpPr/>
          <p:nvPr/>
        </p:nvSpPr>
        <p:spPr bwMode="auto">
          <a:xfrm>
            <a:off x="1331640" y="2885070"/>
            <a:ext cx="216024" cy="162018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42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CCC9E-877F-C649-83CB-ACE0BE10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25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821042" y="1429866"/>
            <a:ext cx="2696952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testFunc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x,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w, z;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y;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CA" sz="15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w;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50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7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0384" y="1429866"/>
            <a:ext cx="458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2: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3: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4: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5: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6: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7: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8: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9: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10:</a:t>
            </a:r>
          </a:p>
          <a:p>
            <a:pPr>
              <a:spcBef>
                <a:spcPts val="0"/>
              </a:spcBef>
            </a:pPr>
            <a:r>
              <a:rPr lang="en-CA" sz="1500" dirty="0">
                <a:latin typeface="Calibri" panose="020F0502020204030204" pitchFamily="34" charset="0"/>
              </a:rPr>
              <a:t>11: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680013" y="897564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680013" y="1383618"/>
            <a:ext cx="1350150" cy="486054"/>
            <a:chOff x="6084168" y="2852936"/>
            <a:chExt cx="1800200" cy="648072"/>
          </a:xfrm>
        </p:grpSpPr>
        <p:grpSp>
          <p:nvGrpSpPr>
            <p:cNvPr id="9" name="Group 8"/>
            <p:cNvGrpSpPr/>
            <p:nvPr/>
          </p:nvGrpSpPr>
          <p:grpSpPr>
            <a:xfrm>
              <a:off x="6084168" y="3068960"/>
              <a:ext cx="1800200" cy="432048"/>
              <a:chOff x="6732240" y="1988840"/>
              <a:chExt cx="1800200" cy="432048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X       0</a:t>
                </a:r>
              </a:p>
            </p:txBody>
          </p:sp>
          <p:cxnSp>
            <p:nvCxnSpPr>
              <p:cNvPr id="11" name="Straight Connector 10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2852936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680013" y="2031690"/>
            <a:ext cx="1350150" cy="486054"/>
            <a:chOff x="6084168" y="3717032"/>
            <a:chExt cx="1800200" cy="648072"/>
          </a:xfrm>
        </p:grpSpPr>
        <p:grpSp>
          <p:nvGrpSpPr>
            <p:cNvPr id="12" name="Group 11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3" name="Rectangle 12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1</a:t>
                </a:r>
              </a:p>
            </p:txBody>
          </p:sp>
          <p:cxnSp>
            <p:nvCxnSpPr>
              <p:cNvPr id="14" name="Straight Connector 13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7" name="Rectangle 16"/>
            <p:cNvSpPr/>
            <p:nvPr/>
          </p:nvSpPr>
          <p:spPr bwMode="auto">
            <a:xfrm>
              <a:off x="6084168" y="3717032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26" name="Curved Connector 25"/>
          <p:cNvCxnSpPr>
            <a:stCxn id="15" idx="1"/>
            <a:endCxn id="8" idx="1"/>
          </p:cNvCxnSpPr>
          <p:nvPr/>
        </p:nvCxnSpPr>
        <p:spPr bwMode="auto">
          <a:xfrm rot="10800000">
            <a:off x="4680013" y="1059582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Curved Connector 28"/>
          <p:cNvCxnSpPr/>
          <p:nvPr/>
        </p:nvCxnSpPr>
        <p:spPr bwMode="auto">
          <a:xfrm rot="10800000">
            <a:off x="4680013" y="1491630"/>
            <a:ext cx="9525" cy="64807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5" name="Group 34"/>
          <p:cNvGrpSpPr/>
          <p:nvPr/>
        </p:nvGrpSpPr>
        <p:grpSpPr>
          <a:xfrm>
            <a:off x="4680013" y="2679762"/>
            <a:ext cx="1350150" cy="810090"/>
            <a:chOff x="6084168" y="3717032"/>
            <a:chExt cx="1800200" cy="1080120"/>
          </a:xfrm>
        </p:grpSpPr>
        <p:grpSp>
          <p:nvGrpSpPr>
            <p:cNvPr id="33" name="Group 32"/>
            <p:cNvGrpSpPr/>
            <p:nvPr/>
          </p:nvGrpSpPr>
          <p:grpSpPr>
            <a:xfrm>
              <a:off x="6084168" y="3717032"/>
              <a:ext cx="1800200" cy="1080120"/>
              <a:chOff x="6084168" y="3861048"/>
              <a:chExt cx="1800200" cy="1080120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6084168" y="3861048"/>
                <a:ext cx="1800200" cy="648072"/>
                <a:chOff x="6084168" y="3717032"/>
                <a:chExt cx="1800200" cy="648072"/>
              </a:xfrm>
            </p:grpSpPr>
            <p:grpSp>
              <p:nvGrpSpPr>
                <p:cNvPr id="21" name="Group 20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3" name="Rectangle 22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/>
                    <a:r>
                      <a:rPr lang="en-CA" sz="1800" dirty="0">
                        <a:latin typeface="Calibri" panose="020F0502020204030204" pitchFamily="34" charset="0"/>
                      </a:rPr>
                      <a:t>       X       2</a:t>
                    </a:r>
                  </a:p>
                </p:txBody>
              </p:sp>
              <p:cxnSp>
                <p:nvCxnSpPr>
                  <p:cNvPr id="24" name="Straight Connector 23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2" name="Rectangle 21"/>
                <p:cNvSpPr/>
                <p:nvPr/>
              </p:nvSpPr>
              <p:spPr bwMode="auto">
                <a:xfrm>
                  <a:off x="6084168" y="3717032"/>
                  <a:ext cx="1800200" cy="216024"/>
                </a:xfrm>
                <a:prstGeom prst="rect">
                  <a:avLst/>
                </a:prstGeom>
                <a:solidFill>
                  <a:schemeClr val="bg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en-CA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1" name="Rectangle 30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2</a:t>
                </a:r>
              </a:p>
            </p:txBody>
          </p:sp>
        </p:grpSp>
        <p:cxnSp>
          <p:nvCxnSpPr>
            <p:cNvPr id="32" name="Straight Connector 31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4" name="Curved Connector 33"/>
          <p:cNvCxnSpPr/>
          <p:nvPr/>
        </p:nvCxnSpPr>
        <p:spPr bwMode="auto">
          <a:xfrm rot="10800000">
            <a:off x="4680013" y="2139702"/>
            <a:ext cx="9525" cy="64807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6" name="Group 35"/>
          <p:cNvGrpSpPr/>
          <p:nvPr/>
        </p:nvGrpSpPr>
        <p:grpSpPr>
          <a:xfrm>
            <a:off x="4680013" y="3597864"/>
            <a:ext cx="1350150" cy="810090"/>
            <a:chOff x="6084168" y="3717032"/>
            <a:chExt cx="1800200" cy="1080120"/>
          </a:xfrm>
        </p:grpSpPr>
        <p:grpSp>
          <p:nvGrpSpPr>
            <p:cNvPr id="37" name="Group 36"/>
            <p:cNvGrpSpPr/>
            <p:nvPr/>
          </p:nvGrpSpPr>
          <p:grpSpPr>
            <a:xfrm>
              <a:off x="6084168" y="3717032"/>
              <a:ext cx="1800200" cy="1080120"/>
              <a:chOff x="6084168" y="3861048"/>
              <a:chExt cx="1800200" cy="1080120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6084168" y="3861048"/>
                <a:ext cx="1800200" cy="648072"/>
                <a:chOff x="6084168" y="3717032"/>
                <a:chExt cx="1800200" cy="648072"/>
              </a:xfrm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43" name="Rectangle 42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/>
                    <a:r>
                      <a:rPr lang="en-CA" sz="1800" dirty="0">
                        <a:latin typeface="Calibri" panose="020F0502020204030204" pitchFamily="34" charset="0"/>
                      </a:rPr>
                      <a:t>       W       4</a:t>
                    </a:r>
                  </a:p>
                </p:txBody>
              </p:sp>
              <p:cxnSp>
                <p:nvCxnSpPr>
                  <p:cNvPr id="44" name="Straight Connector 43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42" name="Rectangle 41"/>
                <p:cNvSpPr/>
                <p:nvPr/>
              </p:nvSpPr>
              <p:spPr bwMode="auto">
                <a:xfrm>
                  <a:off x="6084168" y="3717032"/>
                  <a:ext cx="1800200" cy="216024"/>
                </a:xfrm>
                <a:prstGeom prst="rect">
                  <a:avLst/>
                </a:prstGeom>
                <a:solidFill>
                  <a:schemeClr val="bg2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en-CA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0" name="Rectangle 39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Z      4</a:t>
                </a:r>
              </a:p>
            </p:txBody>
          </p:sp>
        </p:grpSp>
        <p:cxnSp>
          <p:nvCxnSpPr>
            <p:cNvPr id="38" name="Straight Connector 37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5" name="Group 44"/>
          <p:cNvGrpSpPr/>
          <p:nvPr/>
        </p:nvGrpSpPr>
        <p:grpSpPr>
          <a:xfrm>
            <a:off x="3221850" y="4353948"/>
            <a:ext cx="1350150" cy="486054"/>
            <a:chOff x="6084168" y="3717032"/>
            <a:chExt cx="1800200" cy="648072"/>
          </a:xfrm>
        </p:grpSpPr>
        <p:grpSp>
          <p:nvGrpSpPr>
            <p:cNvPr id="46" name="Group 45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48" name="Rectangle 47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Y       6</a:t>
                </a:r>
              </a:p>
            </p:txBody>
          </p:sp>
          <p:cxnSp>
            <p:nvCxnSpPr>
              <p:cNvPr id="49" name="Straight Connector 48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7" name="Rectangle 46"/>
            <p:cNvSpPr/>
            <p:nvPr/>
          </p:nvSpPr>
          <p:spPr bwMode="auto">
            <a:xfrm>
              <a:off x="6084168" y="3717032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138174" y="4353948"/>
            <a:ext cx="1350150" cy="486054"/>
            <a:chOff x="6084168" y="3717032"/>
            <a:chExt cx="1800200" cy="648072"/>
          </a:xfrm>
        </p:grpSpPr>
        <p:grpSp>
          <p:nvGrpSpPr>
            <p:cNvPr id="51" name="Group 50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53" name="Rectangle 52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   W       9</a:t>
                </a:r>
              </a:p>
            </p:txBody>
          </p:sp>
          <p:cxnSp>
            <p:nvCxnSpPr>
              <p:cNvPr id="54" name="Straight Connector 53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2" name="Rectangle 51"/>
            <p:cNvSpPr/>
            <p:nvPr/>
          </p:nvSpPr>
          <p:spPr bwMode="auto">
            <a:xfrm>
              <a:off x="6084168" y="3717032"/>
              <a:ext cx="1800200" cy="21602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55" name="Curved Connector 54"/>
          <p:cNvCxnSpPr>
            <a:stCxn id="42" idx="1"/>
            <a:endCxn id="22" idx="1"/>
          </p:cNvCxnSpPr>
          <p:nvPr/>
        </p:nvCxnSpPr>
        <p:spPr bwMode="auto">
          <a:xfrm rot="10800000">
            <a:off x="4680013" y="2760771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urved Connector 60"/>
          <p:cNvCxnSpPr>
            <a:stCxn id="47" idx="0"/>
            <a:endCxn id="42" idx="1"/>
          </p:cNvCxnSpPr>
          <p:nvPr/>
        </p:nvCxnSpPr>
        <p:spPr bwMode="auto">
          <a:xfrm rot="5400000" flipH="1" flipV="1">
            <a:off x="3950931" y="3624867"/>
            <a:ext cx="675075" cy="783088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4" name="Curved Connector 63"/>
          <p:cNvCxnSpPr>
            <a:stCxn id="52" idx="0"/>
            <a:endCxn id="42" idx="3"/>
          </p:cNvCxnSpPr>
          <p:nvPr/>
        </p:nvCxnSpPr>
        <p:spPr bwMode="auto">
          <a:xfrm rot="16200000" flipV="1">
            <a:off x="6084169" y="3624868"/>
            <a:ext cx="675075" cy="783086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Right Arrow 2"/>
          <p:cNvSpPr/>
          <p:nvPr/>
        </p:nvSpPr>
        <p:spPr bwMode="auto">
          <a:xfrm>
            <a:off x="1331640" y="3576006"/>
            <a:ext cx="216024" cy="162018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42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Spaghetti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Treat the symbol table as a linked structure of scopes</a:t>
            </a:r>
          </a:p>
          <a:p>
            <a:r>
              <a:rPr lang="en-CA" dirty="0"/>
              <a:t>Each scope stores a pointer to its parent, but not vice-versa</a:t>
            </a:r>
          </a:p>
          <a:p>
            <a:r>
              <a:rPr lang="en-CA" dirty="0"/>
              <a:t>From any point in the program, symbol table appears to be a stack</a:t>
            </a:r>
          </a:p>
          <a:p>
            <a:r>
              <a:rPr lang="en-CA" dirty="0"/>
              <a:t>This is called a </a:t>
            </a:r>
            <a:r>
              <a:rPr lang="en-CA" dirty="0">
                <a:solidFill>
                  <a:schemeClr val="accent2"/>
                </a:solidFill>
              </a:rPr>
              <a:t>spaghetti stack</a:t>
            </a:r>
          </a:p>
          <a:p>
            <a:r>
              <a:rPr lang="en-CA" dirty="0"/>
              <a:t>The data is stored in heap memory</a:t>
            </a:r>
          </a:p>
          <a:p>
            <a:r>
              <a:rPr lang="en-CA" dirty="0"/>
              <a:t>Useful for programming languages that support continuations (Scheme, Standard ML)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CD70C-C229-7C45-8D5D-2044E30D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7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Scoping with Inheritance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8A1A6-A002-264F-AC29-8C1DD67A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27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1927" y="1109098"/>
            <a:ext cx="3762871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protected int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16606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19" name="Curved Connector 18"/>
          <p:cNvCxnSpPr>
            <a:stCxn id="11" idx="1"/>
            <a:endCxn id="8" idx="1"/>
          </p:cNvCxnSpPr>
          <p:nvPr/>
        </p:nvCxnSpPr>
        <p:spPr bwMode="auto">
          <a:xfrm rot="10800000">
            <a:off x="516606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166066" y="1841814"/>
            <a:ext cx="1836204" cy="979076"/>
            <a:chOff x="6084168" y="3491718"/>
            <a:chExt cx="1800200" cy="1305434"/>
          </a:xfrm>
        </p:grpSpPr>
        <p:grpSp>
          <p:nvGrpSpPr>
            <p:cNvPr id="22" name="Group 21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r>
                      <a:rPr lang="en-CA" sz="1800" dirty="0" err="1">
                        <a:latin typeface="Calibri" panose="020F0502020204030204" pitchFamily="34" charset="0"/>
                      </a:rPr>
                      <a:t>publicBaseInt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1</a:t>
                    </a:r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7" name="Rectangle 26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Base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</a:t>
                </a:r>
                <a:r>
                  <a:rPr lang="en-CA" sz="1800" dirty="0" err="1">
                    <a:latin typeface="Calibri" panose="020F0502020204030204" pitchFamily="34" charset="0"/>
                  </a:rPr>
                  <a:t>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   2</a:t>
                </a:r>
              </a:p>
            </p:txBody>
          </p:sp>
        </p:grpSp>
        <p:cxnSp>
          <p:nvCxnSpPr>
            <p:cNvPr id="23" name="Straight Connector 22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4109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Scoping with Inheritance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4DE8A5-719B-A841-AE75-837EECCD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1926" y="1108881"/>
            <a:ext cx="4328902" cy="3606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protected int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4;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6;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516606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19" name="Curved Connector 18"/>
          <p:cNvCxnSpPr>
            <a:endCxn id="8" idx="1"/>
          </p:cNvCxnSpPr>
          <p:nvPr/>
        </p:nvCxnSpPr>
        <p:spPr bwMode="auto">
          <a:xfrm rot="10800000">
            <a:off x="516606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166066" y="1841814"/>
            <a:ext cx="1836204" cy="979076"/>
            <a:chOff x="6084168" y="3491718"/>
            <a:chExt cx="1800200" cy="1305434"/>
          </a:xfrm>
        </p:grpSpPr>
        <p:grpSp>
          <p:nvGrpSpPr>
            <p:cNvPr id="22" name="Group 21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r>
                      <a:rPr lang="en-CA" sz="1800" dirty="0" err="1">
                        <a:latin typeface="Calibri" panose="020F0502020204030204" pitchFamily="34" charset="0"/>
                      </a:rPr>
                      <a:t>publicBaseInt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1</a:t>
                    </a:r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7" name="Rectangle 26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Base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</a:t>
                </a:r>
                <a:r>
                  <a:rPr lang="en-CA" sz="1800" dirty="0" err="1">
                    <a:latin typeface="Calibri" panose="020F0502020204030204" pitchFamily="34" charset="0"/>
                  </a:rPr>
                  <a:t>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   2</a:t>
                </a:r>
              </a:p>
            </p:txBody>
          </p:sp>
        </p:grpSp>
        <p:cxnSp>
          <p:nvCxnSpPr>
            <p:cNvPr id="23" name="Straight Connector 22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" name="Curved Connector 49"/>
          <p:cNvCxnSpPr>
            <a:stCxn id="60" idx="1"/>
            <a:endCxn id="27" idx="1"/>
          </p:cNvCxnSpPr>
          <p:nvPr/>
        </p:nvCxnSpPr>
        <p:spPr bwMode="auto">
          <a:xfrm rot="10800000">
            <a:off x="5166066" y="2007316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4" name="Group 53"/>
          <p:cNvGrpSpPr/>
          <p:nvPr/>
        </p:nvGrpSpPr>
        <p:grpSpPr>
          <a:xfrm>
            <a:off x="5166066" y="3104842"/>
            <a:ext cx="1836204" cy="979076"/>
            <a:chOff x="6084168" y="3491718"/>
            <a:chExt cx="1800200" cy="1305434"/>
          </a:xfrm>
        </p:grpSpPr>
        <p:grpSp>
          <p:nvGrpSpPr>
            <p:cNvPr id="55" name="Group 54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 defTabSz="685800"/>
                    <a:r>
                      <a:rPr lang="en-CA" sz="1800" dirty="0" err="1">
                        <a:latin typeface="Calibri" panose="020F0502020204030204" pitchFamily="34" charset="0"/>
                      </a:rPr>
                      <a:t>derivedInt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      3</a:t>
                    </a:r>
                  </a:p>
                </p:txBody>
              </p: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>
                    <a:off x="8140799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60" name="Rectangle 59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Derived</a:t>
                  </a:r>
                </a:p>
              </p:txBody>
            </p:sp>
          </p:grpSp>
          <p:sp>
            <p:nvSpPr>
              <p:cNvPr id="58" name="Rectangle 57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 err="1">
                    <a:latin typeface="Calibri" panose="020F0502020204030204" pitchFamily="34" charset="0"/>
                  </a:rPr>
                  <a:t>publicBaseInt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4</a:t>
                </a:r>
              </a:p>
            </p:txBody>
          </p:sp>
        </p:grpSp>
        <p:cxnSp>
          <p:nvCxnSpPr>
            <p:cNvPr id="56" name="Straight Connector 55"/>
            <p:cNvCxnSpPr/>
            <p:nvPr/>
          </p:nvCxnSpPr>
          <p:spPr bwMode="auto">
            <a:xfrm>
              <a:off x="7492727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03261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Scoping with Inheritance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E6AF75-4A5B-4144-B959-FBDAEEB3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29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9228"/>
            <a:ext cx="4403313" cy="3671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protected int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4;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6;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516606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19" name="Curved Connector 18"/>
          <p:cNvCxnSpPr>
            <a:endCxn id="8" idx="1"/>
          </p:cNvCxnSpPr>
          <p:nvPr/>
        </p:nvCxnSpPr>
        <p:spPr bwMode="auto">
          <a:xfrm rot="10800000">
            <a:off x="516606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166066" y="1841814"/>
            <a:ext cx="1836204" cy="979076"/>
            <a:chOff x="6084168" y="3491718"/>
            <a:chExt cx="1800200" cy="1305434"/>
          </a:xfrm>
        </p:grpSpPr>
        <p:grpSp>
          <p:nvGrpSpPr>
            <p:cNvPr id="22" name="Group 21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r>
                      <a:rPr lang="en-CA" sz="1800" dirty="0" err="1">
                        <a:latin typeface="Calibri" panose="020F0502020204030204" pitchFamily="34" charset="0"/>
                      </a:rPr>
                      <a:t>publicBaseInt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1</a:t>
                    </a:r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7" name="Rectangle 26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Base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</a:t>
                </a:r>
                <a:r>
                  <a:rPr lang="en-CA" sz="1800" dirty="0" err="1">
                    <a:latin typeface="Calibri" panose="020F0502020204030204" pitchFamily="34" charset="0"/>
                  </a:rPr>
                  <a:t>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   2</a:t>
                </a:r>
              </a:p>
            </p:txBody>
          </p:sp>
        </p:grpSp>
        <p:cxnSp>
          <p:nvCxnSpPr>
            <p:cNvPr id="23" name="Straight Connector 22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" name="Curved Connector 49"/>
          <p:cNvCxnSpPr>
            <a:stCxn id="60" idx="1"/>
            <a:endCxn id="27" idx="1"/>
          </p:cNvCxnSpPr>
          <p:nvPr/>
        </p:nvCxnSpPr>
        <p:spPr bwMode="auto">
          <a:xfrm rot="10800000">
            <a:off x="5166066" y="2007316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4" name="Group 53"/>
          <p:cNvGrpSpPr/>
          <p:nvPr/>
        </p:nvGrpSpPr>
        <p:grpSpPr>
          <a:xfrm>
            <a:off x="5166066" y="3104842"/>
            <a:ext cx="1836204" cy="979076"/>
            <a:chOff x="6084168" y="3491718"/>
            <a:chExt cx="1800200" cy="1305434"/>
          </a:xfrm>
        </p:grpSpPr>
        <p:grpSp>
          <p:nvGrpSpPr>
            <p:cNvPr id="55" name="Group 54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 defTabSz="685800"/>
                    <a:r>
                      <a:rPr lang="en-CA" sz="1800" dirty="0" err="1">
                        <a:latin typeface="Calibri" panose="020F0502020204030204" pitchFamily="34" charset="0"/>
                      </a:rPr>
                      <a:t>derivedInt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       3</a:t>
                    </a:r>
                  </a:p>
                </p:txBody>
              </p: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>
                    <a:off x="8140799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60" name="Rectangle 59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Derived</a:t>
                  </a:r>
                </a:p>
              </p:txBody>
            </p:sp>
          </p:grpSp>
          <p:sp>
            <p:nvSpPr>
              <p:cNvPr id="58" name="Rectangle 57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 err="1">
                    <a:latin typeface="Calibri" panose="020F0502020204030204" pitchFamily="34" charset="0"/>
                  </a:rPr>
                  <a:t>publicBaseInt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4</a:t>
                </a:r>
              </a:p>
            </p:txBody>
          </p:sp>
        </p:grpSp>
        <p:cxnSp>
          <p:nvCxnSpPr>
            <p:cNvPr id="56" name="Straight Connector 55"/>
            <p:cNvCxnSpPr/>
            <p:nvPr/>
          </p:nvCxnSpPr>
          <p:spPr bwMode="auto">
            <a:xfrm>
              <a:off x="7492727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60C1C9C-A2C1-BF46-9056-305C7A4ECA22}"/>
              </a:ext>
            </a:extLst>
          </p:cNvPr>
          <p:cNvSpPr/>
          <p:nvPr/>
        </p:nvSpPr>
        <p:spPr bwMode="auto">
          <a:xfrm>
            <a:off x="6455705" y="188444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053431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Scoping with Inheritance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C45695-D8A5-E74B-95FA-7AB08A3E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30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11753"/>
            <a:ext cx="4379677" cy="3663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protocted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4;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void 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6;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516606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19" name="Curved Connector 18"/>
          <p:cNvCxnSpPr>
            <a:endCxn id="8" idx="1"/>
          </p:cNvCxnSpPr>
          <p:nvPr/>
        </p:nvCxnSpPr>
        <p:spPr bwMode="auto">
          <a:xfrm rot="10800000">
            <a:off x="516606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166066" y="1841814"/>
            <a:ext cx="1836204" cy="979076"/>
            <a:chOff x="6084168" y="3491718"/>
            <a:chExt cx="1800200" cy="1305434"/>
          </a:xfrm>
        </p:grpSpPr>
        <p:grpSp>
          <p:nvGrpSpPr>
            <p:cNvPr id="22" name="Group 21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r>
                      <a:rPr lang="en-CA" sz="1800" dirty="0" err="1">
                        <a:latin typeface="Calibri" panose="020F0502020204030204" pitchFamily="34" charset="0"/>
                      </a:rPr>
                      <a:t>publicBaseInt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1</a:t>
                    </a:r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7" name="Rectangle 26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Base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</a:t>
                </a:r>
                <a:r>
                  <a:rPr lang="en-CA" sz="1800" dirty="0" err="1">
                    <a:latin typeface="Calibri" panose="020F0502020204030204" pitchFamily="34" charset="0"/>
                  </a:rPr>
                  <a:t>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   2</a:t>
                </a:r>
              </a:p>
            </p:txBody>
          </p:sp>
        </p:grpSp>
        <p:cxnSp>
          <p:nvCxnSpPr>
            <p:cNvPr id="23" name="Straight Connector 22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" name="Curved Connector 49"/>
          <p:cNvCxnSpPr>
            <a:stCxn id="60" idx="1"/>
            <a:endCxn id="27" idx="1"/>
          </p:cNvCxnSpPr>
          <p:nvPr/>
        </p:nvCxnSpPr>
        <p:spPr bwMode="auto">
          <a:xfrm rot="10800000">
            <a:off x="5166066" y="2007316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4" name="Group 53"/>
          <p:cNvGrpSpPr/>
          <p:nvPr/>
        </p:nvGrpSpPr>
        <p:grpSpPr>
          <a:xfrm>
            <a:off x="5166066" y="3104842"/>
            <a:ext cx="1836204" cy="979076"/>
            <a:chOff x="6084168" y="3491718"/>
            <a:chExt cx="1800200" cy="1305434"/>
          </a:xfrm>
        </p:grpSpPr>
        <p:grpSp>
          <p:nvGrpSpPr>
            <p:cNvPr id="55" name="Group 54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 defTabSz="685800"/>
                    <a:r>
                      <a:rPr lang="en-CA" sz="1800" dirty="0" err="1">
                        <a:latin typeface="Calibri" panose="020F0502020204030204" pitchFamily="34" charset="0"/>
                      </a:rPr>
                      <a:t>derivedInt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       3</a:t>
                    </a:r>
                  </a:p>
                </p:txBody>
              </p: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>
                    <a:off x="8140799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60" name="Rectangle 59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Derived</a:t>
                  </a:r>
                </a:p>
              </p:txBody>
            </p:sp>
          </p:grpSp>
          <p:sp>
            <p:nvSpPr>
              <p:cNvPr id="58" name="Rectangle 57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 err="1">
                    <a:latin typeface="Calibri" panose="020F0502020204030204" pitchFamily="34" charset="0"/>
                  </a:rPr>
                  <a:t>publicBaseInt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4</a:t>
                </a:r>
              </a:p>
            </p:txBody>
          </p:sp>
        </p:grpSp>
        <p:cxnSp>
          <p:nvCxnSpPr>
            <p:cNvPr id="56" name="Straight Connector 55"/>
            <p:cNvCxnSpPr/>
            <p:nvPr/>
          </p:nvCxnSpPr>
          <p:spPr bwMode="auto">
            <a:xfrm>
              <a:off x="7492727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/>
          <p:cNvSpPr/>
          <p:nvPr/>
        </p:nvSpPr>
        <p:spPr bwMode="auto">
          <a:xfrm>
            <a:off x="5166066" y="4400986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31" name="Curved Connector 30"/>
          <p:cNvCxnSpPr/>
          <p:nvPr/>
        </p:nvCxnSpPr>
        <p:spPr bwMode="auto">
          <a:xfrm rot="10800000">
            <a:off x="5166067" y="3328375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3EC6905-E1A0-B94D-A023-8935B5C57AFC}"/>
              </a:ext>
            </a:extLst>
          </p:cNvPr>
          <p:cNvSpPr/>
          <p:nvPr/>
        </p:nvSpPr>
        <p:spPr bwMode="auto">
          <a:xfrm>
            <a:off x="6455705" y="188444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7981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Scoping with Inheritance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99F825-95BF-5840-B0A7-C965A71C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31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079316"/>
            <a:ext cx="4321128" cy="364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protected int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4;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6;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516606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19" name="Curved Connector 18"/>
          <p:cNvCxnSpPr>
            <a:endCxn id="8" idx="1"/>
          </p:cNvCxnSpPr>
          <p:nvPr/>
        </p:nvCxnSpPr>
        <p:spPr bwMode="auto">
          <a:xfrm rot="10800000">
            <a:off x="516606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166066" y="1841814"/>
            <a:ext cx="1836204" cy="979076"/>
            <a:chOff x="6084168" y="3491718"/>
            <a:chExt cx="1800200" cy="1305434"/>
          </a:xfrm>
        </p:grpSpPr>
        <p:grpSp>
          <p:nvGrpSpPr>
            <p:cNvPr id="22" name="Group 21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r>
                      <a:rPr lang="en-CA" sz="1800" dirty="0" err="1">
                        <a:latin typeface="Calibri" panose="020F0502020204030204" pitchFamily="34" charset="0"/>
                      </a:rPr>
                      <a:t>publicBaseInt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1</a:t>
                    </a:r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7" name="Rectangle 26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Base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</a:t>
                </a:r>
                <a:r>
                  <a:rPr lang="en-CA" sz="1800" dirty="0" err="1">
                    <a:latin typeface="Calibri" panose="020F0502020204030204" pitchFamily="34" charset="0"/>
                  </a:rPr>
                  <a:t>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   2</a:t>
                </a:r>
              </a:p>
            </p:txBody>
          </p:sp>
        </p:grpSp>
        <p:cxnSp>
          <p:nvCxnSpPr>
            <p:cNvPr id="23" name="Straight Connector 22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" name="Curved Connector 49"/>
          <p:cNvCxnSpPr>
            <a:stCxn id="60" idx="1"/>
            <a:endCxn id="27" idx="1"/>
          </p:cNvCxnSpPr>
          <p:nvPr/>
        </p:nvCxnSpPr>
        <p:spPr bwMode="auto">
          <a:xfrm rot="10800000">
            <a:off x="5166066" y="2007316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4" name="Group 53"/>
          <p:cNvGrpSpPr/>
          <p:nvPr/>
        </p:nvGrpSpPr>
        <p:grpSpPr>
          <a:xfrm>
            <a:off x="5166066" y="3104842"/>
            <a:ext cx="1836204" cy="979076"/>
            <a:chOff x="6084168" y="3491718"/>
            <a:chExt cx="1800200" cy="1305434"/>
          </a:xfrm>
        </p:grpSpPr>
        <p:grpSp>
          <p:nvGrpSpPr>
            <p:cNvPr id="55" name="Group 54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 defTabSz="685800"/>
                    <a:r>
                      <a:rPr lang="en-CA" sz="1800" dirty="0" err="1">
                        <a:latin typeface="Calibri" panose="020F0502020204030204" pitchFamily="34" charset="0"/>
                      </a:rPr>
                      <a:t>derivedInt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       3</a:t>
                    </a:r>
                  </a:p>
                </p:txBody>
              </p: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>
                    <a:off x="8140799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60" name="Rectangle 59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Derived</a:t>
                  </a:r>
                </a:p>
              </p:txBody>
            </p:sp>
          </p:grpSp>
          <p:sp>
            <p:nvSpPr>
              <p:cNvPr id="58" name="Rectangle 57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 err="1">
                    <a:latin typeface="Calibri" panose="020F0502020204030204" pitchFamily="34" charset="0"/>
                  </a:rPr>
                  <a:t>publicBaseInt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4</a:t>
                </a:r>
              </a:p>
            </p:txBody>
          </p:sp>
        </p:grpSp>
        <p:cxnSp>
          <p:nvCxnSpPr>
            <p:cNvPr id="56" name="Straight Connector 55"/>
            <p:cNvCxnSpPr/>
            <p:nvPr/>
          </p:nvCxnSpPr>
          <p:spPr bwMode="auto">
            <a:xfrm>
              <a:off x="7492727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/>
          <p:cNvSpPr/>
          <p:nvPr/>
        </p:nvSpPr>
        <p:spPr bwMode="auto">
          <a:xfrm>
            <a:off x="5166066" y="4400986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31" name="Curved Connector 30"/>
          <p:cNvCxnSpPr/>
          <p:nvPr/>
        </p:nvCxnSpPr>
        <p:spPr bwMode="auto">
          <a:xfrm rot="10800000">
            <a:off x="5166067" y="3328375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77F46E6-FF25-E349-8A5C-8989D8474333}"/>
              </a:ext>
            </a:extLst>
          </p:cNvPr>
          <p:cNvSpPr/>
          <p:nvPr/>
        </p:nvSpPr>
        <p:spPr bwMode="auto">
          <a:xfrm>
            <a:off x="6455705" y="188444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4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806366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926" y="273844"/>
            <a:ext cx="7886700" cy="994172"/>
          </a:xfrm>
        </p:spPr>
        <p:txBody>
          <a:bodyPr/>
          <a:lstStyle/>
          <a:p>
            <a:r>
              <a:rPr lang="en-CA" dirty="0"/>
              <a:t>Scoping with Inheritance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2E256E-D5FC-AF45-8C02-6EDC1443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32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1926" y="1106211"/>
            <a:ext cx="4434168" cy="3627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protected int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4;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6;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16606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19" name="Curved Connector 18"/>
          <p:cNvCxnSpPr>
            <a:endCxn id="8" idx="1"/>
          </p:cNvCxnSpPr>
          <p:nvPr/>
        </p:nvCxnSpPr>
        <p:spPr bwMode="auto">
          <a:xfrm rot="10800000">
            <a:off x="516606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166066" y="1841814"/>
            <a:ext cx="1836204" cy="979076"/>
            <a:chOff x="6084168" y="3491718"/>
            <a:chExt cx="1800200" cy="1305434"/>
          </a:xfrm>
        </p:grpSpPr>
        <p:grpSp>
          <p:nvGrpSpPr>
            <p:cNvPr id="22" name="Group 21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r>
                      <a:rPr lang="en-CA" sz="1800" dirty="0" err="1">
                        <a:latin typeface="Calibri" panose="020F0502020204030204" pitchFamily="34" charset="0"/>
                      </a:rPr>
                      <a:t>publicBaseInt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1</a:t>
                    </a:r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7" name="Rectangle 26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Base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</a:t>
                </a:r>
                <a:r>
                  <a:rPr lang="en-CA" sz="1800" dirty="0" err="1">
                    <a:latin typeface="Calibri" panose="020F0502020204030204" pitchFamily="34" charset="0"/>
                  </a:rPr>
                  <a:t>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   2</a:t>
                </a:r>
              </a:p>
            </p:txBody>
          </p:sp>
        </p:grpSp>
        <p:cxnSp>
          <p:nvCxnSpPr>
            <p:cNvPr id="23" name="Straight Connector 22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" name="Curved Connector 49"/>
          <p:cNvCxnSpPr>
            <a:stCxn id="60" idx="1"/>
            <a:endCxn id="27" idx="1"/>
          </p:cNvCxnSpPr>
          <p:nvPr/>
        </p:nvCxnSpPr>
        <p:spPr bwMode="auto">
          <a:xfrm rot="10800000">
            <a:off x="5166066" y="2007316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4" name="Group 53"/>
          <p:cNvGrpSpPr/>
          <p:nvPr/>
        </p:nvGrpSpPr>
        <p:grpSpPr>
          <a:xfrm>
            <a:off x="5166066" y="3104842"/>
            <a:ext cx="1836204" cy="979076"/>
            <a:chOff x="6084168" y="3491718"/>
            <a:chExt cx="1800200" cy="1305434"/>
          </a:xfrm>
        </p:grpSpPr>
        <p:grpSp>
          <p:nvGrpSpPr>
            <p:cNvPr id="55" name="Group 54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 defTabSz="685800"/>
                    <a:r>
                      <a:rPr lang="en-CA" sz="1800" dirty="0" err="1">
                        <a:latin typeface="Calibri" panose="020F0502020204030204" pitchFamily="34" charset="0"/>
                      </a:rPr>
                      <a:t>derivedInt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       3</a:t>
                    </a:r>
                  </a:p>
                </p:txBody>
              </p: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>
                    <a:off x="8140799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60" name="Rectangle 59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Derived</a:t>
                  </a:r>
                </a:p>
              </p:txBody>
            </p:sp>
          </p:grpSp>
          <p:sp>
            <p:nvSpPr>
              <p:cNvPr id="58" name="Rectangle 57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 err="1">
                    <a:latin typeface="Calibri" panose="020F0502020204030204" pitchFamily="34" charset="0"/>
                  </a:rPr>
                  <a:t>publicBaseInt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4</a:t>
                </a:r>
              </a:p>
            </p:txBody>
          </p:sp>
        </p:grpSp>
        <p:cxnSp>
          <p:nvCxnSpPr>
            <p:cNvPr id="56" name="Straight Connector 55"/>
            <p:cNvCxnSpPr/>
            <p:nvPr/>
          </p:nvCxnSpPr>
          <p:spPr bwMode="auto">
            <a:xfrm>
              <a:off x="7492727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/>
          <p:cNvSpPr/>
          <p:nvPr/>
        </p:nvSpPr>
        <p:spPr bwMode="auto">
          <a:xfrm>
            <a:off x="5166066" y="4400986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31" name="Curved Connector 30"/>
          <p:cNvCxnSpPr/>
          <p:nvPr/>
        </p:nvCxnSpPr>
        <p:spPr bwMode="auto">
          <a:xfrm rot="10800000">
            <a:off x="5166067" y="3328375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59EE212-CB41-F941-9D50-3383130C37A8}"/>
              </a:ext>
            </a:extLst>
          </p:cNvPr>
          <p:cNvSpPr/>
          <p:nvPr/>
        </p:nvSpPr>
        <p:spPr bwMode="auto">
          <a:xfrm>
            <a:off x="6455705" y="188444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4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2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421433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Scoping with Inheritance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FECFDC-9641-A64F-A4FB-22926F58D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33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19658"/>
            <a:ext cx="4454338" cy="359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protected int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4;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6;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16606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19" name="Curved Connector 18"/>
          <p:cNvCxnSpPr>
            <a:endCxn id="8" idx="1"/>
          </p:cNvCxnSpPr>
          <p:nvPr/>
        </p:nvCxnSpPr>
        <p:spPr bwMode="auto">
          <a:xfrm rot="10800000">
            <a:off x="516606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166066" y="1841814"/>
            <a:ext cx="1836204" cy="979076"/>
            <a:chOff x="6084168" y="3491718"/>
            <a:chExt cx="1800200" cy="1305434"/>
          </a:xfrm>
        </p:grpSpPr>
        <p:grpSp>
          <p:nvGrpSpPr>
            <p:cNvPr id="22" name="Group 21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r>
                      <a:rPr lang="en-CA" sz="1800" dirty="0" err="1">
                        <a:latin typeface="Calibri" panose="020F0502020204030204" pitchFamily="34" charset="0"/>
                      </a:rPr>
                      <a:t>publicBaseInt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1</a:t>
                    </a:r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7" name="Rectangle 26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Base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</a:t>
                </a:r>
                <a:r>
                  <a:rPr lang="en-CA" sz="1800" dirty="0" err="1">
                    <a:latin typeface="Calibri" panose="020F0502020204030204" pitchFamily="34" charset="0"/>
                  </a:rPr>
                  <a:t>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   2</a:t>
                </a:r>
              </a:p>
            </p:txBody>
          </p:sp>
        </p:grpSp>
        <p:cxnSp>
          <p:nvCxnSpPr>
            <p:cNvPr id="23" name="Straight Connector 22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" name="Curved Connector 49"/>
          <p:cNvCxnSpPr>
            <a:stCxn id="60" idx="1"/>
            <a:endCxn id="27" idx="1"/>
          </p:cNvCxnSpPr>
          <p:nvPr/>
        </p:nvCxnSpPr>
        <p:spPr bwMode="auto">
          <a:xfrm rot="10800000">
            <a:off x="5166066" y="2007316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4" name="Group 53"/>
          <p:cNvGrpSpPr/>
          <p:nvPr/>
        </p:nvGrpSpPr>
        <p:grpSpPr>
          <a:xfrm>
            <a:off x="5166066" y="3104842"/>
            <a:ext cx="1836204" cy="979076"/>
            <a:chOff x="6084168" y="3491718"/>
            <a:chExt cx="1800200" cy="1305434"/>
          </a:xfrm>
        </p:grpSpPr>
        <p:grpSp>
          <p:nvGrpSpPr>
            <p:cNvPr id="55" name="Group 54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 defTabSz="685800"/>
                    <a:r>
                      <a:rPr lang="en-CA" sz="1800" dirty="0" err="1">
                        <a:latin typeface="Calibri" panose="020F0502020204030204" pitchFamily="34" charset="0"/>
                      </a:rPr>
                      <a:t>derivedInt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       3</a:t>
                    </a:r>
                  </a:p>
                </p:txBody>
              </p: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>
                    <a:off x="8140799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60" name="Rectangle 59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Derived</a:t>
                  </a:r>
                </a:p>
              </p:txBody>
            </p:sp>
          </p:grpSp>
          <p:sp>
            <p:nvSpPr>
              <p:cNvPr id="58" name="Rectangle 57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 err="1">
                    <a:latin typeface="Calibri" panose="020F0502020204030204" pitchFamily="34" charset="0"/>
                  </a:rPr>
                  <a:t>publicBaseInt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4</a:t>
                </a:r>
              </a:p>
            </p:txBody>
          </p:sp>
        </p:grpSp>
        <p:cxnSp>
          <p:nvCxnSpPr>
            <p:cNvPr id="56" name="Straight Connector 55"/>
            <p:cNvCxnSpPr/>
            <p:nvPr/>
          </p:nvCxnSpPr>
          <p:spPr bwMode="auto">
            <a:xfrm>
              <a:off x="7492727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/>
          <p:cNvSpPr/>
          <p:nvPr/>
        </p:nvSpPr>
        <p:spPr bwMode="auto">
          <a:xfrm>
            <a:off x="5166066" y="4400986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31" name="Curved Connector 30"/>
          <p:cNvCxnSpPr/>
          <p:nvPr/>
        </p:nvCxnSpPr>
        <p:spPr bwMode="auto">
          <a:xfrm rot="10800000">
            <a:off x="5166067" y="3328375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3F529AF-856E-7A47-B426-DE1CFF5B0BC3}"/>
              </a:ext>
            </a:extLst>
          </p:cNvPr>
          <p:cNvSpPr/>
          <p:nvPr/>
        </p:nvSpPr>
        <p:spPr bwMode="auto">
          <a:xfrm>
            <a:off x="6455705" y="188444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4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2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3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292741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Scoping with Inheritance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856348-1C41-4E42-B042-17D4A839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34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6210"/>
            <a:ext cx="4514850" cy="3573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protected int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4;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6;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16606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19" name="Curved Connector 18"/>
          <p:cNvCxnSpPr>
            <a:endCxn id="8" idx="1"/>
          </p:cNvCxnSpPr>
          <p:nvPr/>
        </p:nvCxnSpPr>
        <p:spPr bwMode="auto">
          <a:xfrm rot="10800000">
            <a:off x="516606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166066" y="1841814"/>
            <a:ext cx="1836204" cy="979076"/>
            <a:chOff x="6084168" y="3491718"/>
            <a:chExt cx="1800200" cy="1305434"/>
          </a:xfrm>
        </p:grpSpPr>
        <p:grpSp>
          <p:nvGrpSpPr>
            <p:cNvPr id="22" name="Group 21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r>
                      <a:rPr lang="en-CA" sz="1800" dirty="0" err="1">
                        <a:latin typeface="Calibri" panose="020F0502020204030204" pitchFamily="34" charset="0"/>
                      </a:rPr>
                      <a:t>publicBaseInt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1</a:t>
                    </a:r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7" name="Rectangle 26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Base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</a:t>
                </a:r>
                <a:r>
                  <a:rPr lang="en-CA" sz="1800" dirty="0" err="1">
                    <a:latin typeface="Calibri" panose="020F0502020204030204" pitchFamily="34" charset="0"/>
                  </a:rPr>
                  <a:t>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   2</a:t>
                </a:r>
              </a:p>
            </p:txBody>
          </p:sp>
        </p:grpSp>
        <p:cxnSp>
          <p:nvCxnSpPr>
            <p:cNvPr id="23" name="Straight Connector 22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" name="Curved Connector 49"/>
          <p:cNvCxnSpPr>
            <a:stCxn id="60" idx="1"/>
            <a:endCxn id="27" idx="1"/>
          </p:cNvCxnSpPr>
          <p:nvPr/>
        </p:nvCxnSpPr>
        <p:spPr bwMode="auto">
          <a:xfrm rot="10800000">
            <a:off x="5166066" y="2007316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4" name="Group 53"/>
          <p:cNvGrpSpPr/>
          <p:nvPr/>
        </p:nvGrpSpPr>
        <p:grpSpPr>
          <a:xfrm>
            <a:off x="5166066" y="3104842"/>
            <a:ext cx="1836204" cy="979076"/>
            <a:chOff x="6084168" y="3491718"/>
            <a:chExt cx="1800200" cy="1305434"/>
          </a:xfrm>
        </p:grpSpPr>
        <p:grpSp>
          <p:nvGrpSpPr>
            <p:cNvPr id="55" name="Group 54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 defTabSz="685800"/>
                    <a:r>
                      <a:rPr lang="en-CA" sz="1800" dirty="0" err="1">
                        <a:latin typeface="Calibri" panose="020F0502020204030204" pitchFamily="34" charset="0"/>
                      </a:rPr>
                      <a:t>derivedInt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       3</a:t>
                    </a:r>
                  </a:p>
                </p:txBody>
              </p: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>
                    <a:off x="8140799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60" name="Rectangle 59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Derived</a:t>
                  </a:r>
                </a:p>
              </p:txBody>
            </p:sp>
          </p:grpSp>
          <p:sp>
            <p:nvSpPr>
              <p:cNvPr id="58" name="Rectangle 57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 err="1">
                    <a:latin typeface="Calibri" panose="020F0502020204030204" pitchFamily="34" charset="0"/>
                  </a:rPr>
                  <a:t>publicBaseInt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4</a:t>
                </a:r>
              </a:p>
            </p:txBody>
          </p:sp>
        </p:grpSp>
        <p:cxnSp>
          <p:nvCxnSpPr>
            <p:cNvPr id="56" name="Straight Connector 55"/>
            <p:cNvCxnSpPr/>
            <p:nvPr/>
          </p:nvCxnSpPr>
          <p:spPr bwMode="auto">
            <a:xfrm>
              <a:off x="7492727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/>
          <p:cNvSpPr/>
          <p:nvPr/>
        </p:nvSpPr>
        <p:spPr bwMode="auto">
          <a:xfrm>
            <a:off x="5166066" y="4400986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31" name="Curved Connector 30"/>
          <p:cNvCxnSpPr/>
          <p:nvPr/>
        </p:nvCxnSpPr>
        <p:spPr bwMode="auto">
          <a:xfrm rot="10800000">
            <a:off x="5166067" y="3328375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5166066" y="4731990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800" dirty="0" err="1">
                <a:latin typeface="Calibri" panose="020F0502020204030204" pitchFamily="34" charset="0"/>
              </a:rPr>
              <a:t>publicBaseInt</a:t>
            </a:r>
            <a:r>
              <a:rPr lang="en-CA" sz="1800" dirty="0">
                <a:latin typeface="Calibri" panose="020F0502020204030204" pitchFamily="34" charset="0"/>
              </a:rPr>
              <a:t>    6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6602796" y="4731990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1C5C63C-2496-2C45-9C9E-505EEAC81E00}"/>
              </a:ext>
            </a:extLst>
          </p:cNvPr>
          <p:cNvSpPr/>
          <p:nvPr/>
        </p:nvSpPr>
        <p:spPr bwMode="auto">
          <a:xfrm>
            <a:off x="6455705" y="188444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4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2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3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92020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Scoping with Inheritance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882291-F7E0-704B-962F-129F7D50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19657"/>
            <a:ext cx="4373656" cy="358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protected int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4;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derivedInt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= 6;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publicBaseInt</a:t>
            </a: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16606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19" name="Curved Connector 18"/>
          <p:cNvCxnSpPr>
            <a:endCxn id="8" idx="1"/>
          </p:cNvCxnSpPr>
          <p:nvPr/>
        </p:nvCxnSpPr>
        <p:spPr bwMode="auto">
          <a:xfrm rot="10800000">
            <a:off x="516606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166066" y="1841814"/>
            <a:ext cx="1836204" cy="979076"/>
            <a:chOff x="6084168" y="3491718"/>
            <a:chExt cx="1800200" cy="1305434"/>
          </a:xfrm>
        </p:grpSpPr>
        <p:grpSp>
          <p:nvGrpSpPr>
            <p:cNvPr id="22" name="Group 21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28" name="Rectangle 27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r>
                      <a:rPr lang="en-CA" sz="1800" dirty="0" err="1">
                        <a:latin typeface="Calibri" panose="020F0502020204030204" pitchFamily="34" charset="0"/>
                      </a:rPr>
                      <a:t>publicBaseInt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1</a:t>
                    </a:r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028384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7" name="Rectangle 26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Base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r>
                  <a:rPr lang="en-CA" sz="1800" dirty="0">
                    <a:latin typeface="Calibri" panose="020F0502020204030204" pitchFamily="34" charset="0"/>
                  </a:rPr>
                  <a:t>    </a:t>
                </a:r>
                <a:r>
                  <a:rPr lang="en-CA" sz="1800" dirty="0" err="1">
                    <a:latin typeface="Calibri" panose="020F0502020204030204" pitchFamily="34" charset="0"/>
                  </a:rPr>
                  <a:t>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   2</a:t>
                </a:r>
              </a:p>
            </p:txBody>
          </p:sp>
        </p:grpSp>
        <p:cxnSp>
          <p:nvCxnSpPr>
            <p:cNvPr id="23" name="Straight Connector 22"/>
            <p:cNvCxnSpPr/>
            <p:nvPr/>
          </p:nvCxnSpPr>
          <p:spPr bwMode="auto">
            <a:xfrm>
              <a:off x="7380312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" name="Curved Connector 49"/>
          <p:cNvCxnSpPr>
            <a:stCxn id="60" idx="1"/>
            <a:endCxn id="27" idx="1"/>
          </p:cNvCxnSpPr>
          <p:nvPr/>
        </p:nvCxnSpPr>
        <p:spPr bwMode="auto">
          <a:xfrm rot="10800000">
            <a:off x="5166066" y="2007316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4" name="Group 53"/>
          <p:cNvGrpSpPr/>
          <p:nvPr/>
        </p:nvGrpSpPr>
        <p:grpSpPr>
          <a:xfrm>
            <a:off x="5166066" y="3104842"/>
            <a:ext cx="1836204" cy="979076"/>
            <a:chOff x="6084168" y="3491718"/>
            <a:chExt cx="1800200" cy="1305434"/>
          </a:xfrm>
        </p:grpSpPr>
        <p:grpSp>
          <p:nvGrpSpPr>
            <p:cNvPr id="55" name="Group 54"/>
            <p:cNvGrpSpPr/>
            <p:nvPr/>
          </p:nvGrpSpPr>
          <p:grpSpPr>
            <a:xfrm>
              <a:off x="6084168" y="3491718"/>
              <a:ext cx="1800200" cy="1305434"/>
              <a:chOff x="6084168" y="3635734"/>
              <a:chExt cx="1800200" cy="1305434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6084168" y="3635734"/>
                <a:ext cx="1800200" cy="873386"/>
                <a:chOff x="6084168" y="3491718"/>
                <a:chExt cx="1800200" cy="873386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6084168" y="3933056"/>
                  <a:ext cx="1800200" cy="432048"/>
                  <a:chOff x="6732240" y="1988840"/>
                  <a:chExt cx="1800200" cy="432048"/>
                </a:xfrm>
              </p:grpSpPr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6732240" y="1988840"/>
                    <a:ext cx="1800200" cy="43204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</p:spPr>
                <p:txBody>
                  <a:bodyPr vert="horz" wrap="none" lIns="68580" tIns="34290" rIns="68580" bIns="3429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l" defTabSz="685800"/>
                    <a:r>
                      <a:rPr lang="en-CA" sz="1800" dirty="0" err="1">
                        <a:latin typeface="Calibri" panose="020F0502020204030204" pitchFamily="34" charset="0"/>
                      </a:rPr>
                      <a:t>derivedInt</a:t>
                    </a:r>
                    <a:r>
                      <a:rPr lang="en-CA" sz="1800" dirty="0">
                        <a:latin typeface="Calibri" panose="020F0502020204030204" pitchFamily="34" charset="0"/>
                      </a:rPr>
                      <a:t>           3</a:t>
                    </a:r>
                  </a:p>
                </p:txBody>
              </p: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>
                    <a:off x="8140799" y="1988840"/>
                    <a:ext cx="0" cy="4320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60" name="Rectangle 59"/>
                <p:cNvSpPr/>
                <p:nvPr/>
              </p:nvSpPr>
              <p:spPr bwMode="auto">
                <a:xfrm>
                  <a:off x="6084168" y="3491718"/>
                  <a:ext cx="1800200" cy="44133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68580" tIns="34290" rIns="68580" bIns="3429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r>
                    <a:rPr lang="en-CA" sz="1800" dirty="0">
                      <a:latin typeface="Calibri" panose="020F0502020204030204" pitchFamily="34" charset="0"/>
                    </a:rPr>
                    <a:t>Derived</a:t>
                  </a:r>
                </a:p>
              </p:txBody>
            </p:sp>
          </p:grpSp>
          <p:sp>
            <p:nvSpPr>
              <p:cNvPr id="58" name="Rectangle 57"/>
              <p:cNvSpPr/>
              <p:nvPr/>
            </p:nvSpPr>
            <p:spPr bwMode="auto">
              <a:xfrm>
                <a:off x="6084168" y="450912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 err="1">
                    <a:latin typeface="Calibri" panose="020F0502020204030204" pitchFamily="34" charset="0"/>
                  </a:rPr>
                  <a:t>publicBaseInt</a:t>
                </a:r>
                <a:r>
                  <a:rPr lang="en-CA" sz="1800" dirty="0">
                    <a:latin typeface="Calibri" panose="020F0502020204030204" pitchFamily="34" charset="0"/>
                  </a:rPr>
                  <a:t>    4</a:t>
                </a:r>
              </a:p>
            </p:txBody>
          </p:sp>
        </p:grpSp>
        <p:cxnSp>
          <p:nvCxnSpPr>
            <p:cNvPr id="56" name="Straight Connector 55"/>
            <p:cNvCxnSpPr/>
            <p:nvPr/>
          </p:nvCxnSpPr>
          <p:spPr bwMode="auto">
            <a:xfrm>
              <a:off x="7492727" y="4365104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" name="Rectangle 6"/>
          <p:cNvSpPr/>
          <p:nvPr/>
        </p:nvSpPr>
        <p:spPr bwMode="auto">
          <a:xfrm>
            <a:off x="6455705" y="188444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4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2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3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6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5166066" y="4400986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31" name="Curved Connector 30"/>
          <p:cNvCxnSpPr/>
          <p:nvPr/>
        </p:nvCxnSpPr>
        <p:spPr bwMode="auto">
          <a:xfrm rot="10800000">
            <a:off x="5166067" y="3328375"/>
            <a:ext cx="9525" cy="126302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5166066" y="4731990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800" dirty="0" err="1">
                <a:latin typeface="Calibri" panose="020F0502020204030204" pitchFamily="34" charset="0"/>
              </a:rPr>
              <a:t>publicBaseInt</a:t>
            </a:r>
            <a:r>
              <a:rPr lang="en-CA" sz="1800" dirty="0">
                <a:latin typeface="Calibri" panose="020F0502020204030204" pitchFamily="34" charset="0"/>
              </a:rPr>
              <a:t>    6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6602796" y="4731990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34443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Inheritance and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Typically, the scope for a derived class will store a link to the scope of its base class</a:t>
            </a:r>
          </a:p>
          <a:p>
            <a:r>
              <a:rPr lang="en-CA" dirty="0"/>
              <a:t>Looking up a field of a class traverses the scope chain until that field is found or a semantic error is found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885C9-592A-7347-B0FB-0F338B95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31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Explicit Disambiguation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A2530-6266-7D42-A04B-D4E64FEC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37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4558"/>
            <a:ext cx="442223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  int value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this.value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super.value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7615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8" name="Curved Connector 7"/>
          <p:cNvCxnSpPr>
            <a:endCxn id="7" idx="1"/>
          </p:cNvCxnSpPr>
          <p:nvPr/>
        </p:nvCxnSpPr>
        <p:spPr bwMode="auto">
          <a:xfrm rot="10800000">
            <a:off x="597615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5976156" y="1841814"/>
            <a:ext cx="1836204" cy="655040"/>
            <a:chOff x="6084168" y="3491718"/>
            <a:chExt cx="1800200" cy="873386"/>
          </a:xfrm>
        </p:grpSpPr>
        <p:grpSp>
          <p:nvGrpSpPr>
            <p:cNvPr id="14" name="Group 1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6" name="Rectangle 1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/>
                <a:r>
                  <a:rPr lang="en-CA" sz="1800" dirty="0">
                    <a:latin typeface="Calibri" panose="020F0502020204030204" pitchFamily="34" charset="0"/>
                  </a:rPr>
                  <a:t> value                 1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Base</a:t>
              </a:r>
            </a:p>
          </p:txBody>
        </p:sp>
      </p:grpSp>
      <p:cxnSp>
        <p:nvCxnSpPr>
          <p:cNvPr id="18" name="Curved Connector 17"/>
          <p:cNvCxnSpPr>
            <a:stCxn id="25" idx="1"/>
            <a:endCxn id="15" idx="1"/>
          </p:cNvCxnSpPr>
          <p:nvPr/>
        </p:nvCxnSpPr>
        <p:spPr bwMode="auto">
          <a:xfrm rot="10800000">
            <a:off x="5976156" y="2007316"/>
            <a:ext cx="9525" cy="89195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5976156" y="2733768"/>
            <a:ext cx="1836204" cy="655040"/>
            <a:chOff x="6084168" y="3491718"/>
            <a:chExt cx="1800200" cy="873386"/>
          </a:xfrm>
        </p:grpSpPr>
        <p:grpSp>
          <p:nvGrpSpPr>
            <p:cNvPr id="24" name="Group 2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26" name="Rectangle 2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>
                    <a:latin typeface="Calibri" panose="020F0502020204030204" pitchFamily="34" charset="0"/>
                  </a:rPr>
                  <a:t> value                 2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 bwMode="auto">
              <a:xfrm>
                <a:off x="8140799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" name="Rectangle 2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Derived</a:t>
              </a: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5976156" y="3651870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29" name="Curved Connector 28"/>
          <p:cNvCxnSpPr>
            <a:stCxn id="28" idx="1"/>
            <a:endCxn id="25" idx="1"/>
          </p:cNvCxnSpPr>
          <p:nvPr/>
        </p:nvCxnSpPr>
        <p:spPr bwMode="auto">
          <a:xfrm rot="10800000">
            <a:off x="5976156" y="2899270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ctangle 29"/>
          <p:cNvSpPr/>
          <p:nvPr/>
        </p:nvSpPr>
        <p:spPr bwMode="auto">
          <a:xfrm>
            <a:off x="5976156" y="3982874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CA" sz="1800" dirty="0">
                <a:latin typeface="Calibri" panose="020F0502020204030204" pitchFamily="34" charset="0"/>
              </a:rPr>
              <a:t> value                 3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7412886" y="3982874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568511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Explicit Disambiguation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A2530-6266-7D42-A04B-D4E64FEC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38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4558"/>
            <a:ext cx="442223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  int value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7615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8" name="Curved Connector 7"/>
          <p:cNvCxnSpPr>
            <a:endCxn id="7" idx="1"/>
          </p:cNvCxnSpPr>
          <p:nvPr/>
        </p:nvCxnSpPr>
        <p:spPr bwMode="auto">
          <a:xfrm rot="10800000">
            <a:off x="597615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5976156" y="1841814"/>
            <a:ext cx="1836204" cy="655040"/>
            <a:chOff x="6084168" y="3491718"/>
            <a:chExt cx="1800200" cy="873386"/>
          </a:xfrm>
        </p:grpSpPr>
        <p:grpSp>
          <p:nvGrpSpPr>
            <p:cNvPr id="14" name="Group 1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6" name="Rectangle 1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/>
                <a:r>
                  <a:rPr lang="en-CA" sz="1800" dirty="0">
                    <a:latin typeface="Calibri" panose="020F0502020204030204" pitchFamily="34" charset="0"/>
                  </a:rPr>
                  <a:t> value                 1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Base</a:t>
              </a:r>
            </a:p>
          </p:txBody>
        </p:sp>
      </p:grpSp>
      <p:cxnSp>
        <p:nvCxnSpPr>
          <p:cNvPr id="18" name="Curved Connector 17"/>
          <p:cNvCxnSpPr>
            <a:stCxn id="25" idx="1"/>
            <a:endCxn id="15" idx="1"/>
          </p:cNvCxnSpPr>
          <p:nvPr/>
        </p:nvCxnSpPr>
        <p:spPr bwMode="auto">
          <a:xfrm rot="10800000">
            <a:off x="5976156" y="2007316"/>
            <a:ext cx="9525" cy="89195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5976156" y="2733768"/>
            <a:ext cx="1836204" cy="655040"/>
            <a:chOff x="6084168" y="3491718"/>
            <a:chExt cx="1800200" cy="873386"/>
          </a:xfrm>
        </p:grpSpPr>
        <p:grpSp>
          <p:nvGrpSpPr>
            <p:cNvPr id="24" name="Group 2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26" name="Rectangle 2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>
                    <a:latin typeface="Calibri" panose="020F0502020204030204" pitchFamily="34" charset="0"/>
                  </a:rPr>
                  <a:t> value                 2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 bwMode="auto">
              <a:xfrm>
                <a:off x="8140799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" name="Rectangle 2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Derived</a:t>
              </a: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5976156" y="3651870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29" name="Curved Connector 28"/>
          <p:cNvCxnSpPr>
            <a:stCxn id="28" idx="1"/>
            <a:endCxn id="25" idx="1"/>
          </p:cNvCxnSpPr>
          <p:nvPr/>
        </p:nvCxnSpPr>
        <p:spPr bwMode="auto">
          <a:xfrm rot="10800000">
            <a:off x="5976156" y="2899270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ctangle 29"/>
          <p:cNvSpPr/>
          <p:nvPr/>
        </p:nvSpPr>
        <p:spPr bwMode="auto">
          <a:xfrm>
            <a:off x="5976156" y="3982874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CA" sz="1800" dirty="0">
                <a:latin typeface="Calibri" panose="020F0502020204030204" pitchFamily="34" charset="0"/>
              </a:rPr>
              <a:t> value                 3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7412886" y="3982874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EB8760E-F233-AC40-8E82-F820568EB781}"/>
              </a:ext>
            </a:extLst>
          </p:cNvPr>
          <p:cNvSpPr/>
          <p:nvPr/>
        </p:nvSpPr>
        <p:spPr bwMode="auto">
          <a:xfrm>
            <a:off x="2411760" y="3921900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3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703424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Explicit Disambiguation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A2530-6266-7D42-A04B-D4E64FEC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39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4558"/>
            <a:ext cx="442223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  int value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7615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8" name="Curved Connector 7"/>
          <p:cNvCxnSpPr>
            <a:endCxn id="7" idx="1"/>
          </p:cNvCxnSpPr>
          <p:nvPr/>
        </p:nvCxnSpPr>
        <p:spPr bwMode="auto">
          <a:xfrm rot="10800000">
            <a:off x="597615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5976156" y="1841814"/>
            <a:ext cx="1836204" cy="655040"/>
            <a:chOff x="6084168" y="3491718"/>
            <a:chExt cx="1800200" cy="873386"/>
          </a:xfrm>
        </p:grpSpPr>
        <p:grpSp>
          <p:nvGrpSpPr>
            <p:cNvPr id="14" name="Group 1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6" name="Rectangle 1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/>
                <a:r>
                  <a:rPr lang="en-CA" sz="1800" dirty="0">
                    <a:latin typeface="Calibri" panose="020F0502020204030204" pitchFamily="34" charset="0"/>
                  </a:rPr>
                  <a:t> value                 1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Base</a:t>
              </a:r>
            </a:p>
          </p:txBody>
        </p:sp>
      </p:grpSp>
      <p:cxnSp>
        <p:nvCxnSpPr>
          <p:cNvPr id="18" name="Curved Connector 17"/>
          <p:cNvCxnSpPr>
            <a:stCxn id="25" idx="1"/>
            <a:endCxn id="15" idx="1"/>
          </p:cNvCxnSpPr>
          <p:nvPr/>
        </p:nvCxnSpPr>
        <p:spPr bwMode="auto">
          <a:xfrm rot="10800000">
            <a:off x="5976156" y="2007316"/>
            <a:ext cx="9525" cy="89195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5976156" y="2733768"/>
            <a:ext cx="1836204" cy="655040"/>
            <a:chOff x="6084168" y="3491718"/>
            <a:chExt cx="1800200" cy="873386"/>
          </a:xfrm>
        </p:grpSpPr>
        <p:grpSp>
          <p:nvGrpSpPr>
            <p:cNvPr id="24" name="Group 2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26" name="Rectangle 2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>
                    <a:latin typeface="Calibri" panose="020F0502020204030204" pitchFamily="34" charset="0"/>
                  </a:rPr>
                  <a:t> value                 2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 bwMode="auto">
              <a:xfrm>
                <a:off x="8140799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" name="Rectangle 2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Derived</a:t>
              </a: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5976156" y="3651870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29" name="Curved Connector 28"/>
          <p:cNvCxnSpPr>
            <a:stCxn id="28" idx="1"/>
            <a:endCxn id="25" idx="1"/>
          </p:cNvCxnSpPr>
          <p:nvPr/>
        </p:nvCxnSpPr>
        <p:spPr bwMode="auto">
          <a:xfrm rot="10800000">
            <a:off x="5976156" y="2899270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ctangle 29"/>
          <p:cNvSpPr/>
          <p:nvPr/>
        </p:nvSpPr>
        <p:spPr bwMode="auto">
          <a:xfrm>
            <a:off x="5976156" y="3982874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CA" sz="1800" dirty="0">
                <a:latin typeface="Calibri" panose="020F0502020204030204" pitchFamily="34" charset="0"/>
              </a:rPr>
              <a:t> value                 3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7412886" y="3982874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EB8760E-F233-AC40-8E82-F820568EB781}"/>
              </a:ext>
            </a:extLst>
          </p:cNvPr>
          <p:cNvSpPr/>
          <p:nvPr/>
        </p:nvSpPr>
        <p:spPr bwMode="auto">
          <a:xfrm>
            <a:off x="2411760" y="3921900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3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2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38024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Explicit Disambiguation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A2530-6266-7D42-A04B-D4E64FEC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40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4558"/>
            <a:ext cx="442223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2;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  int value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7615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8" name="Curved Connector 7"/>
          <p:cNvCxnSpPr>
            <a:endCxn id="7" idx="1"/>
          </p:cNvCxnSpPr>
          <p:nvPr/>
        </p:nvCxnSpPr>
        <p:spPr bwMode="auto">
          <a:xfrm rot="10800000">
            <a:off x="597615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5976156" y="1841814"/>
            <a:ext cx="1836204" cy="655040"/>
            <a:chOff x="6084168" y="3491718"/>
            <a:chExt cx="1800200" cy="873386"/>
          </a:xfrm>
        </p:grpSpPr>
        <p:grpSp>
          <p:nvGrpSpPr>
            <p:cNvPr id="14" name="Group 1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6" name="Rectangle 1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/>
                <a:r>
                  <a:rPr lang="en-CA" sz="1800" dirty="0">
                    <a:latin typeface="Calibri" panose="020F0502020204030204" pitchFamily="34" charset="0"/>
                  </a:rPr>
                  <a:t> value                 1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Base</a:t>
              </a:r>
            </a:p>
          </p:txBody>
        </p:sp>
      </p:grpSp>
      <p:cxnSp>
        <p:nvCxnSpPr>
          <p:cNvPr id="18" name="Curved Connector 17"/>
          <p:cNvCxnSpPr>
            <a:stCxn id="25" idx="1"/>
            <a:endCxn id="15" idx="1"/>
          </p:cNvCxnSpPr>
          <p:nvPr/>
        </p:nvCxnSpPr>
        <p:spPr bwMode="auto">
          <a:xfrm rot="10800000">
            <a:off x="5976156" y="2007316"/>
            <a:ext cx="9525" cy="89195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5976156" y="2733768"/>
            <a:ext cx="1836204" cy="655040"/>
            <a:chOff x="6084168" y="3491718"/>
            <a:chExt cx="1800200" cy="873386"/>
          </a:xfrm>
        </p:grpSpPr>
        <p:grpSp>
          <p:nvGrpSpPr>
            <p:cNvPr id="24" name="Group 2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26" name="Rectangle 2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>
                    <a:latin typeface="Calibri" panose="020F0502020204030204" pitchFamily="34" charset="0"/>
                  </a:rPr>
                  <a:t> value                 2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 bwMode="auto">
              <a:xfrm>
                <a:off x="8140799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" name="Rectangle 2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Derived</a:t>
              </a: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5976156" y="3651870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29" name="Curved Connector 28"/>
          <p:cNvCxnSpPr>
            <a:stCxn id="28" idx="1"/>
            <a:endCxn id="25" idx="1"/>
          </p:cNvCxnSpPr>
          <p:nvPr/>
        </p:nvCxnSpPr>
        <p:spPr bwMode="auto">
          <a:xfrm rot="10800000">
            <a:off x="5976156" y="2899270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ctangle 29"/>
          <p:cNvSpPr/>
          <p:nvPr/>
        </p:nvSpPr>
        <p:spPr bwMode="auto">
          <a:xfrm>
            <a:off x="5976156" y="3982874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CA" sz="1800" dirty="0">
                <a:latin typeface="Calibri" panose="020F0502020204030204" pitchFamily="34" charset="0"/>
              </a:rPr>
              <a:t> value                 3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7412886" y="3982874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EB8760E-F233-AC40-8E82-F820568EB781}"/>
              </a:ext>
            </a:extLst>
          </p:cNvPr>
          <p:cNvSpPr/>
          <p:nvPr/>
        </p:nvSpPr>
        <p:spPr bwMode="auto">
          <a:xfrm>
            <a:off x="2411760" y="3921900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3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2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1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200444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Explicit Disambiguation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A2530-6266-7D42-A04B-D4E64FEC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41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4558"/>
            <a:ext cx="442223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  int value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7615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8" name="Curved Connector 7"/>
          <p:cNvCxnSpPr>
            <a:endCxn id="7" idx="1"/>
          </p:cNvCxnSpPr>
          <p:nvPr/>
        </p:nvCxnSpPr>
        <p:spPr bwMode="auto">
          <a:xfrm rot="10800000">
            <a:off x="597615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5976156" y="1841814"/>
            <a:ext cx="1836204" cy="655040"/>
            <a:chOff x="6084168" y="3491718"/>
            <a:chExt cx="1800200" cy="873386"/>
          </a:xfrm>
        </p:grpSpPr>
        <p:grpSp>
          <p:nvGrpSpPr>
            <p:cNvPr id="14" name="Group 1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6" name="Rectangle 1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/>
                <a:r>
                  <a:rPr lang="en-CA" sz="1800" dirty="0">
                    <a:latin typeface="Calibri" panose="020F0502020204030204" pitchFamily="34" charset="0"/>
                  </a:rPr>
                  <a:t> value                 1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Base</a:t>
              </a:r>
            </a:p>
          </p:txBody>
        </p:sp>
      </p:grpSp>
      <p:cxnSp>
        <p:nvCxnSpPr>
          <p:cNvPr id="18" name="Curved Connector 17"/>
          <p:cNvCxnSpPr>
            <a:stCxn id="25" idx="1"/>
            <a:endCxn id="15" idx="1"/>
          </p:cNvCxnSpPr>
          <p:nvPr/>
        </p:nvCxnSpPr>
        <p:spPr bwMode="auto">
          <a:xfrm rot="10800000">
            <a:off x="5976156" y="2007316"/>
            <a:ext cx="9525" cy="89195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5976156" y="2733768"/>
            <a:ext cx="1836204" cy="655040"/>
            <a:chOff x="6084168" y="3491718"/>
            <a:chExt cx="1800200" cy="873386"/>
          </a:xfrm>
        </p:grpSpPr>
        <p:grpSp>
          <p:nvGrpSpPr>
            <p:cNvPr id="24" name="Group 2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26" name="Rectangle 2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>
                    <a:latin typeface="Calibri" panose="020F0502020204030204" pitchFamily="34" charset="0"/>
                  </a:rPr>
                  <a:t> value                 2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 bwMode="auto">
              <a:xfrm>
                <a:off x="8140799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" name="Rectangle 2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Derived</a:t>
              </a: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5976156" y="3651870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29" name="Curved Connector 28"/>
          <p:cNvCxnSpPr>
            <a:stCxn id="28" idx="1"/>
            <a:endCxn id="25" idx="1"/>
          </p:cNvCxnSpPr>
          <p:nvPr/>
        </p:nvCxnSpPr>
        <p:spPr bwMode="auto">
          <a:xfrm rot="10800000">
            <a:off x="5976156" y="2899270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ctangle 29"/>
          <p:cNvSpPr/>
          <p:nvPr/>
        </p:nvSpPr>
        <p:spPr bwMode="auto">
          <a:xfrm>
            <a:off x="5976156" y="3982874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CA" sz="1800" dirty="0">
                <a:latin typeface="Calibri" panose="020F0502020204030204" pitchFamily="34" charset="0"/>
              </a:rPr>
              <a:t> value                 3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7412886" y="3982874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EB8760E-F233-AC40-8E82-F820568EB781}"/>
              </a:ext>
            </a:extLst>
          </p:cNvPr>
          <p:cNvSpPr/>
          <p:nvPr/>
        </p:nvSpPr>
        <p:spPr bwMode="auto">
          <a:xfrm>
            <a:off x="2411760" y="3921900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03627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Explicit Disambiguation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A2530-6266-7D42-A04B-D4E64FEC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42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4558"/>
            <a:ext cx="442223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  int value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7615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8" name="Curved Connector 7"/>
          <p:cNvCxnSpPr>
            <a:endCxn id="7" idx="1"/>
          </p:cNvCxnSpPr>
          <p:nvPr/>
        </p:nvCxnSpPr>
        <p:spPr bwMode="auto">
          <a:xfrm rot="10800000">
            <a:off x="597615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5976156" y="1841814"/>
            <a:ext cx="1836204" cy="655040"/>
            <a:chOff x="6084168" y="3491718"/>
            <a:chExt cx="1800200" cy="873386"/>
          </a:xfrm>
        </p:grpSpPr>
        <p:grpSp>
          <p:nvGrpSpPr>
            <p:cNvPr id="14" name="Group 1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6" name="Rectangle 1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/>
                <a:r>
                  <a:rPr lang="en-CA" sz="1800" dirty="0">
                    <a:latin typeface="Calibri" panose="020F0502020204030204" pitchFamily="34" charset="0"/>
                  </a:rPr>
                  <a:t> value                 1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Base</a:t>
              </a:r>
            </a:p>
          </p:txBody>
        </p:sp>
      </p:grpSp>
      <p:cxnSp>
        <p:nvCxnSpPr>
          <p:cNvPr id="18" name="Curved Connector 17"/>
          <p:cNvCxnSpPr>
            <a:stCxn id="25" idx="1"/>
            <a:endCxn id="15" idx="1"/>
          </p:cNvCxnSpPr>
          <p:nvPr/>
        </p:nvCxnSpPr>
        <p:spPr bwMode="auto">
          <a:xfrm rot="10800000">
            <a:off x="5976156" y="2007316"/>
            <a:ext cx="9525" cy="89195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5976156" y="2733768"/>
            <a:ext cx="1836204" cy="655040"/>
            <a:chOff x="6084168" y="3491718"/>
            <a:chExt cx="1800200" cy="873386"/>
          </a:xfrm>
        </p:grpSpPr>
        <p:grpSp>
          <p:nvGrpSpPr>
            <p:cNvPr id="24" name="Group 2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26" name="Rectangle 2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>
                    <a:latin typeface="Calibri" panose="020F0502020204030204" pitchFamily="34" charset="0"/>
                  </a:rPr>
                  <a:t> value                 2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 bwMode="auto">
              <a:xfrm>
                <a:off x="8140799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" name="Rectangle 2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Derived</a:t>
              </a: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5976156" y="3651870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29" name="Curved Connector 28"/>
          <p:cNvCxnSpPr>
            <a:stCxn id="28" idx="1"/>
            <a:endCxn id="25" idx="1"/>
          </p:cNvCxnSpPr>
          <p:nvPr/>
        </p:nvCxnSpPr>
        <p:spPr bwMode="auto">
          <a:xfrm rot="10800000">
            <a:off x="5976156" y="2899270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ctangle 29"/>
          <p:cNvSpPr/>
          <p:nvPr/>
        </p:nvSpPr>
        <p:spPr bwMode="auto">
          <a:xfrm>
            <a:off x="5976156" y="3982874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CA" sz="1800" dirty="0">
                <a:latin typeface="Calibri" panose="020F0502020204030204" pitchFamily="34" charset="0"/>
              </a:rPr>
              <a:t> value                 3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7412886" y="3982874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EB8760E-F233-AC40-8E82-F820568EB781}"/>
              </a:ext>
            </a:extLst>
          </p:cNvPr>
          <p:cNvSpPr/>
          <p:nvPr/>
        </p:nvSpPr>
        <p:spPr bwMode="auto">
          <a:xfrm>
            <a:off x="2411760" y="3921900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3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899472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Explicit Disambiguation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A2530-6266-7D42-A04B-D4E64FEC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43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4558"/>
            <a:ext cx="442223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  int value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7615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8" name="Curved Connector 7"/>
          <p:cNvCxnSpPr>
            <a:endCxn id="7" idx="1"/>
          </p:cNvCxnSpPr>
          <p:nvPr/>
        </p:nvCxnSpPr>
        <p:spPr bwMode="auto">
          <a:xfrm rot="10800000">
            <a:off x="597615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5976156" y="1841814"/>
            <a:ext cx="1836204" cy="655040"/>
            <a:chOff x="6084168" y="3491718"/>
            <a:chExt cx="1800200" cy="873386"/>
          </a:xfrm>
        </p:grpSpPr>
        <p:grpSp>
          <p:nvGrpSpPr>
            <p:cNvPr id="14" name="Group 1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6" name="Rectangle 1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/>
                <a:r>
                  <a:rPr lang="en-CA" sz="1800" dirty="0">
                    <a:latin typeface="Calibri" panose="020F0502020204030204" pitchFamily="34" charset="0"/>
                  </a:rPr>
                  <a:t> value                 1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Base</a:t>
              </a:r>
            </a:p>
          </p:txBody>
        </p:sp>
      </p:grpSp>
      <p:cxnSp>
        <p:nvCxnSpPr>
          <p:cNvPr id="18" name="Curved Connector 17"/>
          <p:cNvCxnSpPr>
            <a:stCxn id="25" idx="1"/>
            <a:endCxn id="15" idx="1"/>
          </p:cNvCxnSpPr>
          <p:nvPr/>
        </p:nvCxnSpPr>
        <p:spPr bwMode="auto">
          <a:xfrm rot="10800000">
            <a:off x="5976156" y="2007316"/>
            <a:ext cx="9525" cy="89195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5976156" y="2733768"/>
            <a:ext cx="1836204" cy="655040"/>
            <a:chOff x="6084168" y="3491718"/>
            <a:chExt cx="1800200" cy="873386"/>
          </a:xfrm>
        </p:grpSpPr>
        <p:grpSp>
          <p:nvGrpSpPr>
            <p:cNvPr id="24" name="Group 2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26" name="Rectangle 2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>
                    <a:latin typeface="Calibri" panose="020F0502020204030204" pitchFamily="34" charset="0"/>
                  </a:rPr>
                  <a:t> value                 2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 bwMode="auto">
              <a:xfrm>
                <a:off x="8140799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" name="Rectangle 2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Derived</a:t>
              </a: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5976156" y="3651870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29" name="Curved Connector 28"/>
          <p:cNvCxnSpPr>
            <a:stCxn id="28" idx="1"/>
            <a:endCxn id="25" idx="1"/>
          </p:cNvCxnSpPr>
          <p:nvPr/>
        </p:nvCxnSpPr>
        <p:spPr bwMode="auto">
          <a:xfrm rot="10800000">
            <a:off x="5976156" y="2899270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ctangle 29"/>
          <p:cNvSpPr/>
          <p:nvPr/>
        </p:nvSpPr>
        <p:spPr bwMode="auto">
          <a:xfrm>
            <a:off x="5976156" y="3982874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CA" sz="1800" dirty="0">
                <a:latin typeface="Calibri" panose="020F0502020204030204" pitchFamily="34" charset="0"/>
              </a:rPr>
              <a:t> value                 3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7412886" y="3982874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EB8760E-F233-AC40-8E82-F820568EB781}"/>
              </a:ext>
            </a:extLst>
          </p:cNvPr>
          <p:cNvSpPr/>
          <p:nvPr/>
        </p:nvSpPr>
        <p:spPr bwMode="auto">
          <a:xfrm>
            <a:off x="2411760" y="3921900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3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1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32518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CA" dirty="0"/>
              <a:t>Explicit Disambiguation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A2530-6266-7D42-A04B-D4E64FEC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44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28650" y="1104558"/>
            <a:ext cx="442223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value = 1;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public class Derived extends Base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public void 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  int value = 3;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135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sz="1350" kern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super.value</a:t>
            </a: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        }	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76157" y="1329612"/>
            <a:ext cx="1350150" cy="3240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Root Scope</a:t>
            </a:r>
          </a:p>
        </p:txBody>
      </p:sp>
      <p:cxnSp>
        <p:nvCxnSpPr>
          <p:cNvPr id="8" name="Curved Connector 7"/>
          <p:cNvCxnSpPr>
            <a:endCxn id="7" idx="1"/>
          </p:cNvCxnSpPr>
          <p:nvPr/>
        </p:nvCxnSpPr>
        <p:spPr bwMode="auto">
          <a:xfrm rot="10800000">
            <a:off x="5976157" y="1491630"/>
            <a:ext cx="9525" cy="40504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5976156" y="1841814"/>
            <a:ext cx="1836204" cy="655040"/>
            <a:chOff x="6084168" y="3491718"/>
            <a:chExt cx="1800200" cy="873386"/>
          </a:xfrm>
        </p:grpSpPr>
        <p:grpSp>
          <p:nvGrpSpPr>
            <p:cNvPr id="14" name="Group 1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16" name="Rectangle 1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/>
                <a:r>
                  <a:rPr lang="en-CA" sz="1800" dirty="0">
                    <a:latin typeface="Calibri" panose="020F0502020204030204" pitchFamily="34" charset="0"/>
                  </a:rPr>
                  <a:t> value                 1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 bwMode="auto">
              <a:xfrm>
                <a:off x="8028384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Rectangle 1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Base</a:t>
              </a:r>
            </a:p>
          </p:txBody>
        </p:sp>
      </p:grpSp>
      <p:cxnSp>
        <p:nvCxnSpPr>
          <p:cNvPr id="18" name="Curved Connector 17"/>
          <p:cNvCxnSpPr>
            <a:stCxn id="25" idx="1"/>
            <a:endCxn id="15" idx="1"/>
          </p:cNvCxnSpPr>
          <p:nvPr/>
        </p:nvCxnSpPr>
        <p:spPr bwMode="auto">
          <a:xfrm rot="10800000">
            <a:off x="5976156" y="2007316"/>
            <a:ext cx="9525" cy="891954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5976156" y="2733768"/>
            <a:ext cx="1836204" cy="655040"/>
            <a:chOff x="6084168" y="3491718"/>
            <a:chExt cx="1800200" cy="873386"/>
          </a:xfrm>
        </p:grpSpPr>
        <p:grpSp>
          <p:nvGrpSpPr>
            <p:cNvPr id="24" name="Group 23"/>
            <p:cNvGrpSpPr/>
            <p:nvPr/>
          </p:nvGrpSpPr>
          <p:grpSpPr>
            <a:xfrm>
              <a:off x="6084168" y="3933056"/>
              <a:ext cx="1800200" cy="432048"/>
              <a:chOff x="6732240" y="1988840"/>
              <a:chExt cx="1800200" cy="432048"/>
            </a:xfrm>
          </p:grpSpPr>
          <p:sp>
            <p:nvSpPr>
              <p:cNvPr id="26" name="Rectangle 25"/>
              <p:cNvSpPr/>
              <p:nvPr/>
            </p:nvSpPr>
            <p:spPr bwMode="auto">
              <a:xfrm>
                <a:off x="6732240" y="1988840"/>
                <a:ext cx="1800200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l" defTabSz="685800"/>
                <a:r>
                  <a:rPr lang="en-CA" sz="1800" dirty="0">
                    <a:latin typeface="Calibri" panose="020F0502020204030204" pitchFamily="34" charset="0"/>
                  </a:rPr>
                  <a:t> value                 2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 bwMode="auto">
              <a:xfrm>
                <a:off x="8140799" y="1988840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" name="Rectangle 24"/>
            <p:cNvSpPr/>
            <p:nvPr/>
          </p:nvSpPr>
          <p:spPr bwMode="auto">
            <a:xfrm>
              <a:off x="6084168" y="3491718"/>
              <a:ext cx="1800200" cy="4413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Derived</a:t>
              </a:r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5976156" y="3651870"/>
            <a:ext cx="1836204" cy="331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 err="1">
                <a:latin typeface="Calibri" panose="020F0502020204030204" pitchFamily="34" charset="0"/>
              </a:rPr>
              <a:t>doSomething</a:t>
            </a:r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29" name="Curved Connector 28"/>
          <p:cNvCxnSpPr>
            <a:stCxn id="28" idx="1"/>
            <a:endCxn id="25" idx="1"/>
          </p:cNvCxnSpPr>
          <p:nvPr/>
        </p:nvCxnSpPr>
        <p:spPr bwMode="auto">
          <a:xfrm rot="10800000">
            <a:off x="5976156" y="2899270"/>
            <a:ext cx="9525" cy="91810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ctangle 29"/>
          <p:cNvSpPr/>
          <p:nvPr/>
        </p:nvSpPr>
        <p:spPr bwMode="auto">
          <a:xfrm>
            <a:off x="5976156" y="3982874"/>
            <a:ext cx="183620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CA" sz="1800" dirty="0">
                <a:latin typeface="Calibri" panose="020F0502020204030204" pitchFamily="34" charset="0"/>
              </a:rPr>
              <a:t> value                 3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7412886" y="3982874"/>
            <a:ext cx="0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EB8760E-F233-AC40-8E82-F820568EB781}"/>
              </a:ext>
            </a:extLst>
          </p:cNvPr>
          <p:cNvSpPr/>
          <p:nvPr/>
        </p:nvSpPr>
        <p:spPr bwMode="auto">
          <a:xfrm>
            <a:off x="2411760" y="3921900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&gt; 3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1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1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775035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Disambiguating Scopes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Maintain a second table of pointers into the scope stack</a:t>
            </a:r>
          </a:p>
          <a:p>
            <a:r>
              <a:rPr lang="en-CA" dirty="0"/>
              <a:t>When looking up a value in a specific scope, begin the search from that scope</a:t>
            </a:r>
          </a:p>
          <a:p>
            <a:r>
              <a:rPr lang="en-CA" dirty="0"/>
              <a:t>Some languages allow you to jump up to any arbitrary base class (for example, C++)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7CAEF-2BBA-B64C-871D-7B6B3183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415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Single and Multi-pass Compilers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CA" sz="2000" dirty="0"/>
              <a:t>Predictive parsing methods always scan the input from left-to-right</a:t>
            </a:r>
          </a:p>
          <a:p>
            <a:r>
              <a:rPr lang="en-CA" sz="2000" dirty="0"/>
              <a:t>Since we only need one token of lookahead, we can do lexical analysis and parsing simultaneously in one pass over the file</a:t>
            </a:r>
          </a:p>
          <a:p>
            <a:r>
              <a:rPr lang="en-CA" sz="2000" dirty="0"/>
              <a:t>Some compilers can combine lexical analysis, parsing, semantic analysis, and code generation into same pass</a:t>
            </a:r>
          </a:p>
          <a:p>
            <a:pPr lvl="1"/>
            <a:r>
              <a:rPr lang="en-CA" sz="2000" dirty="0"/>
              <a:t>Single pass compilers</a:t>
            </a:r>
          </a:p>
          <a:p>
            <a:r>
              <a:rPr lang="en-CA" sz="2000" dirty="0"/>
              <a:t>Other compilers rescan the input multiple times</a:t>
            </a:r>
          </a:p>
          <a:p>
            <a:pPr lvl="1"/>
            <a:r>
              <a:rPr lang="en-CA" sz="2000" dirty="0"/>
              <a:t>Multi-pass compilers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AE60-F916-6F4D-ABCB-E2AD965C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1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Single and Multi-pass Compilers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CA" sz="2400" dirty="0"/>
              <a:t>Some languages are defined to support single-pass compilers (C, C++)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CA" sz="2400" dirty="0"/>
              <a:t>Some languages require multi-passes (Java)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CA" sz="2400" dirty="0"/>
              <a:t>Most modern compilers uses many passes over the input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51B5D-1AFC-0648-AE6B-B9351929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05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Scoping in Multi-pass Compilers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1</a:t>
            </a:r>
            <a:r>
              <a:rPr lang="en-CA" sz="2400" baseline="30000" dirty="0"/>
              <a:t>st</a:t>
            </a:r>
            <a:r>
              <a:rPr lang="en-CA" sz="2400" dirty="0"/>
              <a:t> pass: parse the input into an abstract syntax</a:t>
            </a:r>
          </a:p>
          <a:p>
            <a:r>
              <a:rPr lang="en-CA" sz="2400" dirty="0"/>
              <a:t>2</a:t>
            </a:r>
            <a:r>
              <a:rPr lang="en-CA" sz="2400" baseline="30000" dirty="0"/>
              <a:t>nd</a:t>
            </a:r>
            <a:r>
              <a:rPr lang="en-CA" sz="2400" dirty="0"/>
              <a:t> pass: walk the AST, gathering information about classes</a:t>
            </a:r>
          </a:p>
          <a:p>
            <a:r>
              <a:rPr lang="en-CA" sz="2400" dirty="0"/>
              <a:t>3</a:t>
            </a:r>
            <a:r>
              <a:rPr lang="en-CA" sz="2400" baseline="30000" dirty="0"/>
              <a:t>rd</a:t>
            </a:r>
            <a:r>
              <a:rPr lang="en-CA" sz="2400" dirty="0"/>
              <a:t> pass: walk the AST checking semantic properties and do code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F3C34-A494-A74B-8650-C01498C9E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337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>
                <a:solidFill>
                  <a:schemeClr val="accent2"/>
                </a:solidFill>
              </a:rPr>
              <a:t>Semantic analysis</a:t>
            </a:r>
            <a:r>
              <a:rPr lang="en-CA" sz="2400" dirty="0"/>
              <a:t> verifies that a syntactically valid program is correctly-formed and computes additional information about the meaning of the program</a:t>
            </a:r>
          </a:p>
          <a:p>
            <a:r>
              <a:rPr lang="en-CA" sz="2400" dirty="0">
                <a:solidFill>
                  <a:schemeClr val="accent2"/>
                </a:solidFill>
              </a:rPr>
              <a:t>Scope checking</a:t>
            </a:r>
            <a:r>
              <a:rPr lang="en-CA" sz="2400" dirty="0"/>
              <a:t> determines what objects or classes are referred to by each name in the program.</a:t>
            </a:r>
          </a:p>
          <a:p>
            <a:r>
              <a:rPr lang="en-CA" sz="2400" dirty="0"/>
              <a:t>Scope checking is usually done with a </a:t>
            </a:r>
            <a:r>
              <a:rPr lang="en-CA" sz="2400" dirty="0">
                <a:solidFill>
                  <a:schemeClr val="accent2"/>
                </a:solidFill>
              </a:rPr>
              <a:t>symbol table</a:t>
            </a:r>
            <a:r>
              <a:rPr lang="en-CA" sz="2400" dirty="0"/>
              <a:t> implemented either as a stack or </a:t>
            </a:r>
            <a:r>
              <a:rPr lang="en-CA" sz="2400" dirty="0">
                <a:solidFill>
                  <a:schemeClr val="accent2"/>
                </a:solidFill>
              </a:rPr>
              <a:t>spaghetti stack</a:t>
            </a:r>
            <a:r>
              <a:rPr lang="en-CA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1821B-4F78-3345-965C-D1ADC708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70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In object-oriented programs, the scope for a derived class is often placed inside of the scope of a base class.</a:t>
            </a:r>
          </a:p>
          <a:p>
            <a:r>
              <a:rPr lang="en-CA" sz="2400" dirty="0"/>
              <a:t>Some semantic analyzers operate in multiple passes in order to gain more information about the program.</a:t>
            </a:r>
          </a:p>
          <a:p>
            <a:r>
              <a:rPr lang="en-CA" sz="2400" dirty="0"/>
              <a:t>In dynamic scoping, the actual execution of a program determines what each name refers to.</a:t>
            </a:r>
          </a:p>
          <a:p>
            <a:r>
              <a:rPr lang="en-CA" sz="2400" dirty="0"/>
              <a:t>With multiple inheritance, a name may need to be searched for along multiple paths.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1821B-4F78-3345-965C-D1ADC708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930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7F79-C705-6745-8B06-25BDD683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</p:spTree>
    <p:extLst>
      <p:ext uri="{BB962C8B-B14F-4D97-AF65-F5344CB8AC3E}">
        <p14:creationId xmlns:p14="http://schemas.microsoft.com/office/powerpoint/2010/main" val="15039502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Static and Dynamic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The scoping we’ve seen so far is called </a:t>
            </a:r>
            <a:r>
              <a:rPr lang="en-CA" sz="2400" dirty="0">
                <a:solidFill>
                  <a:schemeClr val="accent2"/>
                </a:solidFill>
              </a:rPr>
              <a:t>static scoping</a:t>
            </a:r>
            <a:r>
              <a:rPr lang="en-CA" sz="2400" dirty="0"/>
              <a:t> and is done at compile time</a:t>
            </a:r>
          </a:p>
          <a:p>
            <a:pPr lvl="1"/>
            <a:r>
              <a:rPr lang="en-CA" sz="2400" dirty="0"/>
              <a:t>Identifiers refer to logically related variables</a:t>
            </a:r>
          </a:p>
          <a:p>
            <a:r>
              <a:rPr lang="en-CA" sz="2400" dirty="0"/>
              <a:t>Some languages uses </a:t>
            </a:r>
            <a:r>
              <a:rPr lang="en-CA" sz="2400" dirty="0">
                <a:solidFill>
                  <a:schemeClr val="accent2"/>
                </a:solidFill>
              </a:rPr>
              <a:t>dynamic scoping</a:t>
            </a:r>
            <a:r>
              <a:rPr lang="en-CA" sz="2400" dirty="0"/>
              <a:t>, which is done at runtime</a:t>
            </a:r>
          </a:p>
          <a:p>
            <a:pPr lvl="1"/>
            <a:r>
              <a:rPr lang="en-CA" sz="2400" dirty="0"/>
              <a:t>Identifiers refer to the variable with that name that is closely nested at runtime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53849-DB5E-D645-927D-0B358979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093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1560F-0E01-6B4E-B743-A29C6005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5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230732-277B-0641-A565-418A452F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471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" name="Rectangle 27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8D2D32-D8EC-484D-9C33-6F7D4346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0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" name="Rectangle 27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640F74-CEC7-724B-82F2-E1570BF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936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" name="Rectangle 27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73B084-EEA6-B04B-ACC1-D2C657A8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9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4A5639-CFBF-264B-BDFC-C55A555E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622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C37AC-7FB3-CA4D-A986-1D28EAFE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558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3BFD2B-75EE-7A43-A276-E041A1F5B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1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6A18B9-65E0-3E47-804D-AD01F81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975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B47FB6-EADE-F448-ACB1-F55E2DF3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0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1E1E34-CC45-574B-8BB4-87047FC9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1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C3A87D-06C6-F04B-BB68-AB09E581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7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A59EC6-A5F9-8E4F-A2C9-4A8B1F79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0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B7100F-5611-B846-A4E4-31C61BAF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571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B35E77-022D-E141-BBB4-0FFDAA13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2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5F1D9-BC3A-EF4D-A565-6347833C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6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5657F-E851-DB49-8EA2-CB8BABCF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56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E96D1B-F7C9-9C4E-87C0-7DE00429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2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192180" y="2787774"/>
            <a:ext cx="1350150" cy="324036"/>
            <a:chOff x="6732240" y="1988840"/>
            <a:chExt cx="1800200" cy="432048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29" name="Straight Connector 28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2019DD-1805-2A45-9884-54986902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9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192180" y="2787774"/>
            <a:ext cx="1350150" cy="324036"/>
            <a:chOff x="6732240" y="1988840"/>
            <a:chExt cx="1800200" cy="432048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29" name="Straight Connector 28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D9BB74-A65C-8046-8A9E-964722F0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829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192180" y="2787774"/>
            <a:ext cx="1350150" cy="324036"/>
            <a:chOff x="6732240" y="1988840"/>
            <a:chExt cx="1800200" cy="432048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29" name="Straight Connector 28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/>
          <p:cNvSpPr/>
          <p:nvPr/>
        </p:nvSpPr>
        <p:spPr bwMode="auto">
          <a:xfrm>
            <a:off x="6192180" y="3111810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D1F285-9A20-2C47-A678-3778320D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1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0</a:t>
            </a:r>
            <a:endParaRPr lang="en-CA" sz="1350" dirty="0">
              <a:latin typeface="Calibri" panose="020F0502020204030204" pitchFamily="34" charset="0"/>
            </a:endParaRP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192180" y="2787774"/>
            <a:ext cx="1350150" cy="324036"/>
            <a:chOff x="6732240" y="1988840"/>
            <a:chExt cx="1800200" cy="432048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29" name="Straight Connector 28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/>
          <p:cNvSpPr/>
          <p:nvPr/>
        </p:nvSpPr>
        <p:spPr bwMode="auto">
          <a:xfrm>
            <a:off x="6192180" y="3111810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2A51B2-3F4B-A54E-B57C-2B013371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4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0</a:t>
            </a:r>
            <a:endParaRPr lang="en-CA" sz="1350" dirty="0">
              <a:latin typeface="Calibri" panose="020F0502020204030204" pitchFamily="34" charset="0"/>
            </a:endParaRP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192180" y="2787774"/>
            <a:ext cx="1350150" cy="324036"/>
            <a:chOff x="6732240" y="1988840"/>
            <a:chExt cx="1800200" cy="432048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29" name="Straight Connector 28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/>
          <p:cNvSpPr/>
          <p:nvPr/>
        </p:nvSpPr>
        <p:spPr bwMode="auto">
          <a:xfrm>
            <a:off x="6192180" y="3111810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AF377-4D5C-A54D-B950-5CE088DF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7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0</a:t>
            </a:r>
            <a:endParaRPr lang="en-CA" sz="1350" dirty="0">
              <a:latin typeface="Calibri" panose="020F0502020204030204" pitchFamily="34" charset="0"/>
            </a:endParaRP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Rectangle 17"/>
          <p:cNvSpPr/>
          <p:nvPr/>
        </p:nvSpPr>
        <p:spPr bwMode="auto">
          <a:xfrm>
            <a:off x="6192180" y="2625756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192180" y="2787774"/>
            <a:ext cx="1350150" cy="324036"/>
            <a:chOff x="6732240" y="1988840"/>
            <a:chExt cx="1800200" cy="432048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X        0</a:t>
              </a:r>
            </a:p>
          </p:txBody>
        </p:sp>
        <p:cxnSp>
          <p:nvCxnSpPr>
            <p:cNvPr id="29" name="Straight Connector 28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92CF0C-8C6D-C34B-B7C6-0D890B27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1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0</a:t>
            </a:r>
            <a:endParaRPr lang="en-CA" sz="1350" dirty="0">
              <a:latin typeface="Calibri" panose="020F0502020204030204" pitchFamily="34" charset="0"/>
            </a:endParaRP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Rectangle 13"/>
          <p:cNvSpPr/>
          <p:nvPr/>
        </p:nvSpPr>
        <p:spPr bwMode="auto">
          <a:xfrm>
            <a:off x="6192180" y="2139702"/>
            <a:ext cx="1350150" cy="162018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192180" y="2301720"/>
            <a:ext cx="1350150" cy="324036"/>
            <a:chOff x="6732240" y="1988840"/>
            <a:chExt cx="1800200" cy="43204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 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0DB960-00BD-3F4E-BDF0-61389909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873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88001" y="1213842"/>
            <a:ext cx="340803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137;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42;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function1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print(x + y);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function2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x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void function3 ()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135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y = 0;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       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function1();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function2();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CA" sz="1350" kern="0" dirty="0">
                <a:latin typeface="Calibri" panose="020F0502020204030204" pitchFamily="34" charset="0"/>
                <a:cs typeface="Calibri" panose="020F0502020204030204" pitchFamily="34" charset="0"/>
              </a:rPr>
              <a:t>function3();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135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CA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383868" y="3759882"/>
            <a:ext cx="2484276" cy="89756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&gt; 179</a:t>
            </a:r>
          </a:p>
          <a:p>
            <a:pPr algn="l" defTabSz="685800"/>
            <a:r>
              <a:rPr lang="en-CA" sz="1350" dirty="0">
                <a:solidFill>
                  <a:schemeClr val="bg1"/>
                </a:solidFill>
                <a:latin typeface="Calibri" panose="020F0502020204030204" pitchFamily="34" charset="0"/>
              </a:rPr>
              <a:t>   42</a:t>
            </a:r>
          </a:p>
          <a:p>
            <a:pPr algn="l" defTabSz="685800"/>
            <a:r>
              <a:rPr lang="en-CA" sz="1350" dirty="0">
                <a:latin typeface="Calibri" panose="020F0502020204030204" pitchFamily="34" charset="0"/>
              </a:rPr>
              <a:t>   </a:t>
            </a:r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0</a:t>
            </a:r>
            <a:endParaRPr lang="en-CA" sz="1350" dirty="0">
              <a:latin typeface="Calibri" panose="020F0502020204030204" pitchFamily="34" charset="0"/>
            </a:endParaRPr>
          </a:p>
          <a:p>
            <a:pPr algn="l" defTabSz="685800"/>
            <a:r>
              <a:rPr lang="en-CA" sz="1350" dirty="0">
                <a:solidFill>
                  <a:schemeClr val="accent3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6192180" y="1167594"/>
            <a:ext cx="1350150" cy="3240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CA" sz="1800" dirty="0">
                <a:latin typeface="Calibri" panose="020F0502020204030204" pitchFamily="34" charset="0"/>
              </a:rPr>
              <a:t>Symbol Table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92180" y="1491630"/>
            <a:ext cx="1350150" cy="324036"/>
            <a:chOff x="6732240" y="1988840"/>
            <a:chExt cx="1800200" cy="43204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 X      137</a:t>
              </a: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192180" y="1815666"/>
            <a:ext cx="1350150" cy="324036"/>
            <a:chOff x="6732240" y="1988840"/>
            <a:chExt cx="1800200" cy="432048"/>
          </a:xfrm>
        </p:grpSpPr>
        <p:sp>
          <p:nvSpPr>
            <p:cNvPr id="26" name="Rectangle 25"/>
            <p:cNvSpPr/>
            <p:nvPr/>
          </p:nvSpPr>
          <p:spPr bwMode="auto">
            <a:xfrm>
              <a:off x="6732240" y="1988840"/>
              <a:ext cx="1800200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en-CA" sz="1800" dirty="0">
                  <a:latin typeface="Calibri" panose="020F0502020204030204" pitchFamily="34" charset="0"/>
                </a:rPr>
                <a:t>      Y       42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8028384" y="198884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3B8734-FDA0-1447-9CF1-0ECD2135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421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Scoping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Examples</a:t>
            </a:r>
            <a:r>
              <a:rPr lang="en-CA"/>
              <a:t>: Perl</a:t>
            </a:r>
            <a:endParaRPr lang="en-CA" dirty="0"/>
          </a:p>
          <a:p>
            <a:r>
              <a:rPr lang="en-CA" dirty="0"/>
              <a:t>Often implemented by preserving symbol table at runtime</a:t>
            </a:r>
          </a:p>
          <a:p>
            <a:r>
              <a:rPr lang="en-CA" dirty="0"/>
              <a:t>Often less efficient than static scoping </a:t>
            </a:r>
          </a:p>
          <a:p>
            <a:pPr lvl="1"/>
            <a:r>
              <a:rPr lang="en-CA" dirty="0"/>
              <a:t>Compiler cannot hardcode location of variables</a:t>
            </a:r>
          </a:p>
          <a:p>
            <a:pPr lvl="1"/>
            <a:r>
              <a:rPr lang="en-CA" dirty="0"/>
              <a:t>Names must be resolved at runtime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771E6-0F63-9141-91D8-1CCD96DF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122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6265</TotalTime>
  <Words>5707</Words>
  <Application>Microsoft Macintosh PowerPoint</Application>
  <PresentationFormat>On-screen Show (16:9)</PresentationFormat>
  <Paragraphs>1581</Paragraphs>
  <Slides>79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6" baseType="lpstr">
      <vt:lpstr>Times</vt:lpstr>
      <vt:lpstr>Arial</vt:lpstr>
      <vt:lpstr>Calibri</vt:lpstr>
      <vt:lpstr>Calibri Light</vt:lpstr>
      <vt:lpstr>Consolas</vt:lpstr>
      <vt:lpstr>Times New Roman</vt:lpstr>
      <vt:lpstr>1_Office Theme</vt:lpstr>
      <vt:lpstr>Scoping and Symbol Tables</vt:lpstr>
      <vt:lpstr>Program Errors</vt:lpstr>
      <vt:lpstr>Example (Decaf program)</vt:lpstr>
      <vt:lpstr>Goal of Semantic Analysis</vt:lpstr>
      <vt:lpstr>Challenges in Semantic Analysis</vt:lpstr>
      <vt:lpstr>Validity versus Correctness</vt:lpstr>
      <vt:lpstr>Validity versus Correctness</vt:lpstr>
      <vt:lpstr>Challenges in Semantic Analysis</vt:lpstr>
      <vt:lpstr>Other Goals of Semantic Analysis</vt:lpstr>
      <vt:lpstr>Implementing Semantic Analysis</vt:lpstr>
      <vt:lpstr>Scoping</vt:lpstr>
      <vt:lpstr>What’s in a Name?</vt:lpstr>
      <vt:lpstr>What’s in a Name?</vt:lpstr>
      <vt:lpstr>Scope</vt:lpstr>
      <vt:lpstr>Symbol Tables</vt:lpstr>
      <vt:lpstr>Symbol Tables</vt:lpstr>
      <vt:lpstr>Symbol Tables</vt:lpstr>
      <vt:lpstr>Using a Symbol Table</vt:lpstr>
      <vt:lpstr>Spaghetti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Spaghetti Stack</vt:lpstr>
      <vt:lpstr>Scoping with Inheritance </vt:lpstr>
      <vt:lpstr>Scoping with Inheritance </vt:lpstr>
      <vt:lpstr>Scoping with Inheritance </vt:lpstr>
      <vt:lpstr>Scoping with Inheritance </vt:lpstr>
      <vt:lpstr>Scoping with Inheritance </vt:lpstr>
      <vt:lpstr>Scoping with Inheritance </vt:lpstr>
      <vt:lpstr>Scoping with Inheritance </vt:lpstr>
      <vt:lpstr>Scoping with Inheritance </vt:lpstr>
      <vt:lpstr>Scoping with Inheritance </vt:lpstr>
      <vt:lpstr>Inheritance and Scoping</vt:lpstr>
      <vt:lpstr>Explicit Disambiguation </vt:lpstr>
      <vt:lpstr>Explicit Disambiguation </vt:lpstr>
      <vt:lpstr>Explicit Disambiguation </vt:lpstr>
      <vt:lpstr>Explicit Disambiguation </vt:lpstr>
      <vt:lpstr>Explicit Disambiguation </vt:lpstr>
      <vt:lpstr>Explicit Disambiguation </vt:lpstr>
      <vt:lpstr>Explicit Disambiguation </vt:lpstr>
      <vt:lpstr>Explicit Disambiguation </vt:lpstr>
      <vt:lpstr>Disambiguating Scopes</vt:lpstr>
      <vt:lpstr>Single and Multi-pass Compilers</vt:lpstr>
      <vt:lpstr>Single and Multi-pass Compilers</vt:lpstr>
      <vt:lpstr>Scoping in Multi-pass Compilers</vt:lpstr>
      <vt:lpstr>Summary</vt:lpstr>
      <vt:lpstr>Summary</vt:lpstr>
      <vt:lpstr>Extra Slides</vt:lpstr>
      <vt:lpstr>Static and 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</vt:lpstr>
      <vt:lpstr>Dynamic Scoping in Practice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379  Compilers</dc:title>
  <dc:creator>Anoop Sarkar</dc:creator>
  <cp:lastModifiedBy>Anoop Sarkar</cp:lastModifiedBy>
  <cp:revision>779</cp:revision>
  <cp:lastPrinted>2011-11-29T07:16:29Z</cp:lastPrinted>
  <dcterms:created xsi:type="dcterms:W3CDTF">2011-11-29T07:13:39Z</dcterms:created>
  <dcterms:modified xsi:type="dcterms:W3CDTF">2025-07-07T01:19:37Z</dcterms:modified>
</cp:coreProperties>
</file>