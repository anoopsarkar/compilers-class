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35"/>
  </p:notesMasterIdLst>
  <p:handoutMasterIdLst>
    <p:handoutMasterId r:id="rId36"/>
  </p:handoutMasterIdLst>
  <p:sldIdLst>
    <p:sldId id="406" r:id="rId2"/>
    <p:sldId id="359" r:id="rId3"/>
    <p:sldId id="308" r:id="rId4"/>
    <p:sldId id="309" r:id="rId5"/>
    <p:sldId id="310" r:id="rId6"/>
    <p:sldId id="311" r:id="rId7"/>
    <p:sldId id="313" r:id="rId8"/>
    <p:sldId id="314" r:id="rId9"/>
    <p:sldId id="315" r:id="rId10"/>
    <p:sldId id="316" r:id="rId11"/>
    <p:sldId id="322" r:id="rId12"/>
    <p:sldId id="323" r:id="rId13"/>
    <p:sldId id="324" r:id="rId14"/>
    <p:sldId id="325" r:id="rId15"/>
    <p:sldId id="326" r:id="rId16"/>
    <p:sldId id="327" r:id="rId17"/>
    <p:sldId id="319" r:id="rId18"/>
    <p:sldId id="320" r:id="rId19"/>
    <p:sldId id="329" r:id="rId20"/>
    <p:sldId id="330" r:id="rId21"/>
    <p:sldId id="331" r:id="rId22"/>
    <p:sldId id="332" r:id="rId23"/>
    <p:sldId id="333" r:id="rId24"/>
    <p:sldId id="334" r:id="rId25"/>
    <p:sldId id="335" r:id="rId26"/>
    <p:sldId id="337" r:id="rId27"/>
    <p:sldId id="336" r:id="rId28"/>
    <p:sldId id="338" r:id="rId29"/>
    <p:sldId id="339" r:id="rId30"/>
    <p:sldId id="340" r:id="rId31"/>
    <p:sldId id="341" r:id="rId32"/>
    <p:sldId id="358" r:id="rId33"/>
    <p:sldId id="407" r:id="rId34"/>
  </p:sldIdLst>
  <p:sldSz cx="9144000" cy="5143500" type="screen16x9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333"/>
    <p:restoredTop sz="90884"/>
  </p:normalViewPr>
  <p:slideViewPr>
    <p:cSldViewPr>
      <p:cViewPr varScale="1">
        <p:scale>
          <a:sx n="126" d="100"/>
          <a:sy n="126" d="100"/>
        </p:scale>
        <p:origin x="208" y="55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Calibri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7A2236-E08B-F442-8949-EA311970E51B}" type="datetimeFigureOut">
              <a:rPr lang="en-US" smtClean="0">
                <a:latin typeface="Calibri"/>
              </a:rPr>
              <a:t>7/21/25</a:t>
            </a:fld>
            <a:endParaRPr lang="en-US" dirty="0">
              <a:latin typeface="Calibri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02D5BB-25C1-D84D-8DD1-F06E568294B6}" type="slidenum">
              <a:rPr lang="en-US" smtClean="0">
                <a:latin typeface="Calibri"/>
              </a:rPr>
              <a:t>‹#›</a:t>
            </a:fld>
            <a:endParaRPr lang="en-US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4401389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/>
              </a:defRPr>
            </a:lvl1pPr>
          </a:lstStyle>
          <a:p>
            <a:endParaRPr lang="en-US" dirty="0"/>
          </a:p>
        </p:txBody>
      </p:sp>
      <p:sp>
        <p:nvSpPr>
          <p:cNvPr id="1587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/>
              </a:defRPr>
            </a:lvl1pPr>
          </a:lstStyle>
          <a:p>
            <a:endParaRPr lang="en-US" dirty="0"/>
          </a:p>
        </p:txBody>
      </p:sp>
      <p:sp>
        <p:nvSpPr>
          <p:cNvPr id="1587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587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87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/>
              </a:defRPr>
            </a:lvl1pPr>
          </a:lstStyle>
          <a:p>
            <a:endParaRPr lang="en-US" dirty="0"/>
          </a:p>
        </p:txBody>
      </p:sp>
      <p:sp>
        <p:nvSpPr>
          <p:cNvPr id="1587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/>
              </a:defRPr>
            </a:lvl1pPr>
          </a:lstStyle>
          <a:p>
            <a:fld id="{ACA41FD9-E486-2243-90FC-80651AF85EA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464518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/>
        <a:ea typeface="Calibri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/>
        <a:ea typeface="Calibri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/>
        <a:ea typeface="Calibri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/>
        <a:ea typeface="Calibri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201" name="Shape 20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392A5EA-A963-734C-844B-30A50B80422B}" type="slidenum">
              <a:rPr lang="en-US"/>
              <a:pPr/>
              <a:t>17</a:t>
            </a:fld>
            <a:endParaRPr lang="en-US"/>
          </a:p>
        </p:txBody>
      </p:sp>
      <p:sp>
        <p:nvSpPr>
          <p:cNvPr id="181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81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FCCBA5C-3878-7D45-BC2B-B7336FBB9E49}" type="slidenum">
              <a:rPr lang="en-US"/>
              <a:pPr/>
              <a:t>18</a:t>
            </a:fld>
            <a:endParaRPr lang="en-US"/>
          </a:p>
        </p:txBody>
      </p:sp>
      <p:sp>
        <p:nvSpPr>
          <p:cNvPr id="182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82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806C3-0D37-1E4B-AB06-F67F2304BA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474DE2-44F0-154B-9FE6-BCB6D1E865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E33B0-B879-9D40-9953-106C0922B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8BEE-B66E-5E46-B50F-23B30D56323F}" type="datetime1">
              <a:rPr lang="en-CA" smtClean="0"/>
              <a:t>2025-07-21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01F4B7-24D8-504D-91CD-3E8202E86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91076-2E3A-CF41-96E4-D4E77A0CF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181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10978-DDE8-6144-A6B8-517FFF2E3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37744-5627-D646-9036-52ED7E568A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  <a:lvl4pPr>
              <a:spcAft>
                <a:spcPts val="600"/>
              </a:spcAft>
              <a:defRPr/>
            </a:lvl4pPr>
            <a:lvl5pPr>
              <a:spcAft>
                <a:spcPts val="6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D0F3F8-FC0C-1B43-BB73-11800B42E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06BE7-D4FF-0747-A46D-9D28D6793F9A}" type="datetime1">
              <a:rPr lang="en-CA" smtClean="0"/>
              <a:t>2025-07-21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0E874-E612-CA46-B18E-0C8FA2206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7269F-A49C-1948-BC2E-ABADCE191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416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B0754-0214-DF47-9D67-A716F6494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234BCA-78F6-F745-9EBE-EE525CDE7A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707FE-6251-4E4B-BDFF-5C0B1706B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12D8A-ADE8-E648-9A51-673455F77FA4}" type="datetime1">
              <a:rPr lang="en-CA" smtClean="0"/>
              <a:t>2025-07-21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2AF015-083F-9840-9A9E-9E31B7D7B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A0E270-7D4E-DB45-B70B-D033519BA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241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48785-840A-474A-B8BA-27207C013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C8B25-A9AD-F143-AD1A-17A95F44E0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4209DA-22E0-B146-A689-48B1E9D383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A82A87-E151-8641-8C5C-327C5209D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4D21D-FE66-404B-9D48-8813A41FDE83}" type="datetime1">
              <a:rPr lang="en-CA" smtClean="0"/>
              <a:t>2025-07-21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432E4D-CFE1-864C-892F-C0510CC3C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737C13-4A25-3440-9E41-0DB773459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743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B1DBC-EEEB-1C44-A4C7-02D9BB9CB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5D77D7-D2B1-0841-9C20-538058B42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0D616F-C61F-5B43-8094-DFDD05AE6B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AAF8CD-147D-0A4A-BE13-69AAC57DB7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EBD089-7443-DF4A-B93B-FC32F414CA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C8830C-AD3A-A446-BF5B-7A77BA98B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3913A-9187-9E4F-99AD-E5F9D3D715A1}" type="datetime1">
              <a:rPr lang="en-CA" smtClean="0"/>
              <a:t>2025-07-21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AAD4C6-8A32-E04D-85DA-373916480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150648-37B9-F641-A809-40BEBE4CD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356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2026B-B6A3-EF4D-842B-9C96C95EB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B243C6-3123-ED41-BC4A-2F8A58F1A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0FCF0-750B-2849-A907-F64332DB8FEE}" type="datetime1">
              <a:rPr lang="en-CA" smtClean="0"/>
              <a:t>2025-07-21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8FF4D9-A959-C943-9751-31FDE7548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08D117-E466-BD48-A108-6422DCF14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544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1BBCE3-E514-D54F-B044-7DF10F00B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DF663-3970-9B45-8274-AA8FABDA274B}" type="datetime1">
              <a:rPr lang="en-CA" smtClean="0"/>
              <a:t>2025-07-21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219DF5-0E3C-2C40-BDE6-94E98A9F3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75E4FB-2E36-024F-9776-AFED77F03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959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621DF-5A92-D94F-88C5-5DB1A9683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DA461-75EB-C94E-A41A-1280134B9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1D39AE-0AA2-2B40-B6F4-B24A10D9A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593C8F-B5C1-0D4A-8556-73269A2E3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809A3-0E53-524E-A233-B12C5DA91D99}" type="datetime1">
              <a:rPr lang="en-CA" smtClean="0"/>
              <a:t>2025-07-21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9A6773-21F3-7040-BF77-4C1D0B809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652BF5-D92E-A14D-B1B8-704532D27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015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FB85D-520A-BD48-A297-F7A9EDDB9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2093CD-6667-AD4E-93F7-F3B21EF98B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DCED6C-F32A-6A44-B857-EBD308B3E7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F4EDF9-2E61-C346-AEC1-C5515D510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FDF68-DD51-514E-B179-E22080947065}" type="datetime1">
              <a:rPr lang="en-CA" smtClean="0"/>
              <a:t>2025-07-21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8F289B-5706-A047-960A-6FDB1750F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612078-4758-934E-BFE9-86E98A44E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54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4CE0D-89FC-894E-837F-75025627F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80ACAA-2C0A-304E-83F1-4EB51F17E2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F2CE1A-ECCD-7C45-9EC1-935CBB996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D5F46-E862-7041-B839-1084A839C514}" type="datetime1">
              <a:rPr lang="en-CA" smtClean="0"/>
              <a:t>2025-07-21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CB26C1-B795-194B-A2F7-B95309E54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243C09-DCC3-4E4C-AE13-B0962DDB7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367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684669-9A93-654D-9A2F-8081C87784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AB22E1-C8CF-4B47-B5A2-1EE8384A2C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452BC-8E3F-AD42-BB94-46241CB0D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55934-2EEA-454B-B47B-39481B16D93C}" type="datetime1">
              <a:rPr lang="en-CA" smtClean="0"/>
              <a:t>2025-07-21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62FCD2-719C-FC4A-8ADE-C7C90A064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91E3A0-1E32-BB4E-B406-C12478931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3380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725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 algn="ctr">
              <a:spcBef>
                <a:spcPts val="0"/>
              </a:spcBef>
              <a:buSzPct val="100000"/>
              <a:defRPr sz="2700"/>
            </a:lvl1pPr>
            <a:lvl2pPr lvl="1" algn="ctr">
              <a:spcBef>
                <a:spcPts val="0"/>
              </a:spcBef>
              <a:buSzPct val="100000"/>
              <a:defRPr sz="2700"/>
            </a:lvl2pPr>
            <a:lvl3pPr lvl="2" algn="ctr">
              <a:spcBef>
                <a:spcPts val="0"/>
              </a:spcBef>
              <a:buSzPct val="100000"/>
              <a:defRPr sz="2700"/>
            </a:lvl3pPr>
            <a:lvl4pPr lvl="3" algn="ctr">
              <a:spcBef>
                <a:spcPts val="0"/>
              </a:spcBef>
              <a:buSzPct val="100000"/>
              <a:defRPr sz="2700"/>
            </a:lvl4pPr>
            <a:lvl5pPr lvl="4" algn="ctr">
              <a:spcBef>
                <a:spcPts val="0"/>
              </a:spcBef>
              <a:buSzPct val="100000"/>
              <a:defRPr sz="2700"/>
            </a:lvl5pPr>
            <a:lvl6pPr lvl="5" algn="ctr">
              <a:spcBef>
                <a:spcPts val="0"/>
              </a:spcBef>
              <a:buSzPct val="100000"/>
              <a:defRPr sz="2700"/>
            </a:lvl6pPr>
            <a:lvl7pPr lvl="6" algn="ctr">
              <a:spcBef>
                <a:spcPts val="0"/>
              </a:spcBef>
              <a:buSzPct val="100000"/>
              <a:defRPr sz="2700"/>
            </a:lvl7pPr>
            <a:lvl8pPr lvl="7" algn="ctr">
              <a:spcBef>
                <a:spcPts val="0"/>
              </a:spcBef>
              <a:buSzPct val="100000"/>
              <a:defRPr sz="2700"/>
            </a:lvl8pPr>
            <a:lvl9pPr lvl="8" algn="ctr">
              <a:spcBef>
                <a:spcPts val="0"/>
              </a:spcBef>
              <a:buSzPct val="100000"/>
              <a:defRPr sz="27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140611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8572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33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33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33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33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33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342900" marR="0" lvl="5" indent="0" algn="ctr" rtl="0">
              <a:spcBef>
                <a:spcPts val="0"/>
              </a:spcBef>
              <a:spcAft>
                <a:spcPts val="0"/>
              </a:spcAft>
              <a:buNone/>
              <a:defRPr sz="33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685800" marR="0" lvl="6" indent="0" algn="ctr" rtl="0">
              <a:spcBef>
                <a:spcPts val="0"/>
              </a:spcBef>
              <a:spcAft>
                <a:spcPts val="0"/>
              </a:spcAft>
              <a:buNone/>
              <a:defRPr sz="33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1028700" marR="0" lvl="7" indent="0" algn="ctr" rtl="0">
              <a:spcBef>
                <a:spcPts val="0"/>
              </a:spcBef>
              <a:spcAft>
                <a:spcPts val="0"/>
              </a:spcAft>
              <a:buNone/>
              <a:defRPr sz="33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1371600" marR="0" lvl="8" indent="0" algn="ctr" rtl="0">
              <a:spcBef>
                <a:spcPts val="0"/>
              </a:spcBef>
              <a:spcAft>
                <a:spcPts val="0"/>
              </a:spcAft>
              <a:buNone/>
              <a:defRPr sz="33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body" idx="1"/>
          </p:nvPr>
        </p:nvSpPr>
        <p:spPr>
          <a:xfrm>
            <a:off x="685801" y="1485900"/>
            <a:ext cx="3809999" cy="3086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57175" marR="0" lvl="0" indent="-104775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57213" marR="0" lvl="1" indent="-80963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857250" marR="0" lvl="2" indent="-571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00150" marR="0" lvl="3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543050" marR="0" lvl="4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885950" marR="0" lvl="5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»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228850" marR="0" lvl="6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»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2571750" marR="0" lvl="7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»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2914650" marR="0" lvl="8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»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5" name="Shape 35"/>
          <p:cNvSpPr txBox="1">
            <a:spLocks noGrp="1"/>
          </p:cNvSpPr>
          <p:nvPr>
            <p:ph type="body" idx="2"/>
          </p:nvPr>
        </p:nvSpPr>
        <p:spPr>
          <a:xfrm>
            <a:off x="4648201" y="1485900"/>
            <a:ext cx="3809999" cy="3086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57175" marR="0" lvl="0" indent="-104775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57213" marR="0" lvl="1" indent="-80963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857250" marR="0" lvl="2" indent="-571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00150" marR="0" lvl="3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543050" marR="0" lvl="4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885950" marR="0" lvl="5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»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228850" marR="0" lvl="6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»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2571750" marR="0" lvl="7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»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2914650" marR="0" lvl="8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»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dt" idx="10"/>
          </p:nvPr>
        </p:nvSpPr>
        <p:spPr>
          <a:xfrm>
            <a:off x="685801" y="4686300"/>
            <a:ext cx="1904999" cy="342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17145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0574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24003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27432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fld id="{33CDF6D5-475A-F046-87CA-412EB71D7141}" type="datetime1">
              <a:rPr lang="en-CA" smtClean="0"/>
              <a:t>2025-07-21</a:t>
            </a:fld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ftr" idx="11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17145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0574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24003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27432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sldNum" idx="12"/>
          </p:nvPr>
        </p:nvSpPr>
        <p:spPr>
          <a:xfrm>
            <a:off x="6553201" y="4686300"/>
            <a:ext cx="1904999" cy="3429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algn="r">
              <a:buSzPct val="25000"/>
            </a:pPr>
            <a:fld id="{00000000-1234-1234-1234-123412341234}" type="slidenum">
              <a:rPr lang="en-US" sz="105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r">
                <a:buSzPct val="25000"/>
              </a:pPr>
              <a:t>‹#›</a:t>
            </a:fld>
            <a:endParaRPr lang="en-US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19345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5FBF36-3AE9-6F4F-9D44-FDF1EDE69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433E42-24FB-9E4C-A197-FBE95A397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9F3E4-CCFD-A546-BD98-34B6A6B34C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i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CFB5B512-1C0B-5F4A-B1D8-07EED328189A}" type="datetime1">
              <a:rPr lang="en-CA" smtClean="0"/>
              <a:t>2025-07-21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AAA39-D2DE-7B4A-BB24-AAC6C28B6F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i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1F2AD-686E-E445-9758-B74AC410CE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7B252BF6-6A9C-D04A-BBE8-37A07D64A1C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5787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hape 20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vert="horz" wrap="square" lIns="68569" tIns="34275" rIns="68569" bIns="34275" numCol="1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Register Allocation</a:t>
            </a:r>
          </a:p>
        </p:txBody>
      </p:sp>
      <p:sp>
        <p:nvSpPr>
          <p:cNvPr id="204" name="Shape 204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25000"/>
            </a:pPr>
            <a:r>
              <a:rPr lang="en-US" dirty="0">
                <a:solidFill>
                  <a:srgbClr val="888888"/>
                </a:solidFill>
                <a:ea typeface="Calibri"/>
                <a:sym typeface="Calibri"/>
              </a:rPr>
              <a:t>CMPT 379: Compilers</a:t>
            </a:r>
          </a:p>
          <a:p>
            <a:pPr>
              <a:spcBef>
                <a:spcPts val="480"/>
              </a:spcBef>
              <a:buClr>
                <a:srgbClr val="888888"/>
              </a:buClr>
              <a:buSzPct val="25000"/>
            </a:pPr>
            <a:r>
              <a:rPr lang="en-US" dirty="0">
                <a:solidFill>
                  <a:srgbClr val="888888"/>
                </a:solidFill>
                <a:ea typeface="Calibri"/>
                <a:sym typeface="Calibri"/>
              </a:rPr>
              <a:t>Instructor: Anoop Sarkar</a:t>
            </a:r>
          </a:p>
          <a:p>
            <a:pPr>
              <a:spcBef>
                <a:spcPts val="480"/>
              </a:spcBef>
              <a:buClr>
                <a:srgbClr val="888888"/>
              </a:buClr>
              <a:buSzPct val="25000"/>
            </a:pPr>
            <a:r>
              <a:rPr lang="en-US" sz="1800" dirty="0" err="1">
                <a:solidFill>
                  <a:srgbClr val="888888"/>
                </a:solidFill>
                <a:ea typeface="Calibri"/>
                <a:sym typeface="Calibri"/>
              </a:rPr>
              <a:t>anoopsarkar.github.io</a:t>
            </a:r>
            <a:r>
              <a:rPr lang="en-US" sz="1800" dirty="0">
                <a:solidFill>
                  <a:srgbClr val="888888"/>
                </a:solidFill>
                <a:ea typeface="Calibri"/>
                <a:sym typeface="Calibri"/>
              </a:rPr>
              <a:t>/compilers-class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2DF9-8F59-3B48-8E00-329792CA07DF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Shape 205">
            <a:extLst>
              <a:ext uri="{FF2B5EF4-FFF2-40B4-BE49-F238E27FC236}">
                <a16:creationId xmlns:a16="http://schemas.microsoft.com/office/drawing/2014/main" id="{06AC48B1-0FA3-9E4C-A50D-C4A051FE785F}"/>
              </a:ext>
            </a:extLst>
          </p:cNvPr>
          <p:cNvSpPr/>
          <p:nvPr/>
        </p:nvSpPr>
        <p:spPr>
          <a:xfrm>
            <a:off x="6156176" y="273525"/>
            <a:ext cx="2651011" cy="383175"/>
          </a:xfrm>
          <a:prstGeom prst="roundRect">
            <a:avLst>
              <a:gd name="adj" fmla="val 16667"/>
            </a:avLst>
          </a:prstGeom>
          <a:solidFill>
            <a:schemeClr val="accent4">
              <a:lumMod val="60000"/>
              <a:lumOff val="4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68569" tIns="34275" rIns="68569" bIns="34275" anchor="t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dk1"/>
              </a:buClr>
              <a:buSzPct val="25000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OPT1: Register Allocation</a:t>
            </a:r>
          </a:p>
        </p:txBody>
      </p:sp>
    </p:spTree>
    <p:extLst>
      <p:ext uri="{BB962C8B-B14F-4D97-AF65-F5344CB8AC3E}">
        <p14:creationId xmlns:p14="http://schemas.microsoft.com/office/powerpoint/2010/main" val="1567051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Register Allocation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sz="2400" dirty="0"/>
              <a:t>Intermediate code uses unlimited temporaries</a:t>
            </a:r>
          </a:p>
          <a:p>
            <a:pPr lvl="1"/>
            <a:r>
              <a:rPr lang="en-CA" sz="2400" dirty="0"/>
              <a:t>Simplifying code generation and optimization</a:t>
            </a:r>
          </a:p>
          <a:p>
            <a:pPr lvl="1"/>
            <a:r>
              <a:rPr lang="en-CA" sz="2400" dirty="0"/>
              <a:t>Complicates final translation to assembly </a:t>
            </a:r>
          </a:p>
          <a:p>
            <a:pPr marL="0" indent="0">
              <a:buNone/>
            </a:pPr>
            <a:endParaRPr lang="en-CA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63D9E-7E5D-D141-B365-4BE0ED56F47E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270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Register Allocation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sz="2400" dirty="0"/>
              <a:t>The problem:</a:t>
            </a:r>
          </a:p>
          <a:p>
            <a:pPr marL="342900" lvl="1" indent="0">
              <a:buNone/>
            </a:pPr>
            <a:r>
              <a:rPr lang="en-CA" sz="2400" dirty="0"/>
              <a:t>Rewrite the intermediate code to use no more temporary locations than there are machine registers</a:t>
            </a:r>
          </a:p>
          <a:p>
            <a:pPr marL="385763" indent="-342900"/>
            <a:endParaRPr lang="en-CA" sz="2400" dirty="0"/>
          </a:p>
          <a:p>
            <a:pPr marL="385763" indent="-342900"/>
            <a:r>
              <a:rPr lang="en-CA" sz="2400" dirty="0"/>
              <a:t>Method:</a:t>
            </a:r>
          </a:p>
          <a:p>
            <a:pPr marL="685800" lvl="1" indent="-342900"/>
            <a:r>
              <a:rPr lang="en-CA" sz="2400" dirty="0"/>
              <a:t>Assign multiple temporaries to each register</a:t>
            </a:r>
          </a:p>
          <a:p>
            <a:pPr marL="685800" lvl="1" indent="-342900"/>
            <a:r>
              <a:rPr lang="en-CA" sz="2400" dirty="0"/>
              <a:t>But without changing the program behavior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63D9E-7E5D-D141-B365-4BE0ED56F47E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842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Example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63D9E-7E5D-D141-B365-4BE0ED56F47E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827584" y="1347614"/>
            <a:ext cx="3744416" cy="3086100"/>
          </a:xfrm>
        </p:spPr>
        <p:txBody>
          <a:bodyPr>
            <a:normAutofit/>
          </a:bodyPr>
          <a:lstStyle/>
          <a:p>
            <a:r>
              <a:rPr lang="en-CA" sz="2100" dirty="0"/>
              <a:t>Consider the program</a:t>
            </a:r>
          </a:p>
          <a:p>
            <a:pPr marL="342900" lvl="1" indent="0">
              <a:buNone/>
            </a:pPr>
            <a:r>
              <a:rPr lang="en-CA" sz="2000" dirty="0">
                <a:solidFill>
                  <a:schemeClr val="accent2"/>
                </a:solidFill>
              </a:rPr>
              <a:t>a = c + d</a:t>
            </a:r>
          </a:p>
          <a:p>
            <a:pPr marL="342900" lvl="1" indent="0">
              <a:buNone/>
            </a:pPr>
            <a:r>
              <a:rPr lang="en-CA" sz="2000" dirty="0">
                <a:solidFill>
                  <a:schemeClr val="accent2"/>
                </a:solidFill>
              </a:rPr>
              <a:t>e = a + b</a:t>
            </a:r>
          </a:p>
          <a:p>
            <a:pPr marL="342900" lvl="1" indent="0">
              <a:buNone/>
            </a:pPr>
            <a:r>
              <a:rPr lang="en-CA" sz="2000" dirty="0">
                <a:solidFill>
                  <a:schemeClr val="accent2"/>
                </a:solidFill>
              </a:rPr>
              <a:t>f = e - 1</a:t>
            </a:r>
          </a:p>
          <a:p>
            <a:pPr marL="385763" indent="-342900"/>
            <a:r>
              <a:rPr lang="en-CA" sz="2100" dirty="0"/>
              <a:t>Assume </a:t>
            </a:r>
            <a:r>
              <a:rPr lang="en-CA" sz="2100" dirty="0">
                <a:solidFill>
                  <a:schemeClr val="accent2"/>
                </a:solidFill>
              </a:rPr>
              <a:t>a</a:t>
            </a:r>
            <a:r>
              <a:rPr lang="en-CA" sz="2100" dirty="0"/>
              <a:t> &amp; </a:t>
            </a:r>
            <a:r>
              <a:rPr lang="en-CA" sz="2100" dirty="0">
                <a:solidFill>
                  <a:schemeClr val="accent2"/>
                </a:solidFill>
              </a:rPr>
              <a:t>e</a:t>
            </a:r>
            <a:r>
              <a:rPr lang="en-CA" sz="2100" dirty="0"/>
              <a:t> dead after use </a:t>
            </a:r>
          </a:p>
          <a:p>
            <a:pPr marL="685800" lvl="1" indent="-342900"/>
            <a:r>
              <a:rPr lang="en-CA" sz="1800" dirty="0"/>
              <a:t>"dead" means it is never used</a:t>
            </a:r>
          </a:p>
          <a:p>
            <a:pPr marL="685800" lvl="1" indent="-342900"/>
            <a:r>
              <a:rPr lang="en-CA" sz="1800" dirty="0"/>
              <a:t>A dead temporary location can be "reused"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4788024" y="1347614"/>
            <a:ext cx="3816424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ndara"/>
                <a:ea typeface="+mn-ea"/>
                <a:cs typeface="Candara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ndara"/>
                <a:ea typeface="ＭＳ Ｐゴシック" charset="-128"/>
                <a:cs typeface="Candar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eaLnBrk="1" hangingPunct="1"/>
            <a:r>
              <a:rPr lang="en-CA" sz="2100" kern="0" dirty="0">
                <a:latin typeface="Calibri"/>
                <a:cs typeface="Calibri"/>
              </a:rPr>
              <a:t>Can allocate </a:t>
            </a:r>
            <a:r>
              <a:rPr lang="en-CA" sz="2100" kern="0" dirty="0">
                <a:solidFill>
                  <a:schemeClr val="accent2"/>
                </a:solidFill>
                <a:latin typeface="Calibri"/>
                <a:cs typeface="Calibri"/>
              </a:rPr>
              <a:t>a</a:t>
            </a:r>
            <a:r>
              <a:rPr lang="en-CA" sz="2100" kern="0" dirty="0">
                <a:latin typeface="Calibri"/>
                <a:cs typeface="Calibri"/>
              </a:rPr>
              <a:t>, </a:t>
            </a:r>
            <a:r>
              <a:rPr lang="en-CA" sz="2100" kern="0" dirty="0">
                <a:solidFill>
                  <a:schemeClr val="accent2"/>
                </a:solidFill>
                <a:latin typeface="Calibri"/>
                <a:cs typeface="Calibri"/>
              </a:rPr>
              <a:t>e</a:t>
            </a:r>
            <a:r>
              <a:rPr lang="en-CA" sz="2100" kern="0" dirty="0">
                <a:latin typeface="Calibri"/>
                <a:cs typeface="Calibri"/>
              </a:rPr>
              <a:t> and </a:t>
            </a:r>
            <a:r>
              <a:rPr lang="en-CA" sz="2100" kern="0" dirty="0">
                <a:solidFill>
                  <a:schemeClr val="accent2"/>
                </a:solidFill>
                <a:latin typeface="Calibri"/>
                <a:cs typeface="Calibri"/>
              </a:rPr>
              <a:t>f</a:t>
            </a:r>
            <a:r>
              <a:rPr lang="en-CA" sz="2100" kern="0" dirty="0">
                <a:latin typeface="Calibri"/>
                <a:cs typeface="Calibri"/>
              </a:rPr>
              <a:t> all to one register (</a:t>
            </a:r>
            <a:r>
              <a:rPr lang="en-CA" sz="2100" kern="0" dirty="0">
                <a:solidFill>
                  <a:schemeClr val="accent2"/>
                </a:solidFill>
                <a:latin typeface="Calibri"/>
                <a:cs typeface="Calibri"/>
              </a:rPr>
              <a:t>r</a:t>
            </a:r>
            <a:r>
              <a:rPr lang="en-CA" sz="2100" kern="0" baseline="-25000" dirty="0">
                <a:solidFill>
                  <a:schemeClr val="accent2"/>
                </a:solidFill>
                <a:latin typeface="Calibri"/>
                <a:cs typeface="Calibri"/>
              </a:rPr>
              <a:t>1</a:t>
            </a:r>
            <a:r>
              <a:rPr lang="en-CA" sz="2100" kern="0" dirty="0">
                <a:latin typeface="Calibri"/>
                <a:cs typeface="Calibri"/>
              </a:rPr>
              <a:t>)</a:t>
            </a:r>
          </a:p>
          <a:p>
            <a:pPr marL="342900" lvl="1" indent="0" eaLnBrk="1" hangingPunct="1">
              <a:buNone/>
            </a:pPr>
            <a:r>
              <a:rPr lang="en-CA" sz="2000" kern="0" dirty="0">
                <a:solidFill>
                  <a:schemeClr val="accent2"/>
                </a:solidFill>
                <a:latin typeface="Calibri"/>
                <a:ea typeface="Calibri"/>
                <a:cs typeface="Calibri"/>
              </a:rPr>
              <a:t>r</a:t>
            </a:r>
            <a:r>
              <a:rPr lang="en-CA" sz="2000" kern="0" baseline="-25000" dirty="0">
                <a:solidFill>
                  <a:schemeClr val="accent2"/>
                </a:solidFill>
                <a:latin typeface="Calibri"/>
                <a:ea typeface="Calibri"/>
                <a:cs typeface="Calibri"/>
              </a:rPr>
              <a:t>1</a:t>
            </a:r>
            <a:r>
              <a:rPr lang="en-CA" sz="2000" kern="0" dirty="0">
                <a:solidFill>
                  <a:schemeClr val="accent2"/>
                </a:solidFill>
                <a:latin typeface="Calibri"/>
                <a:ea typeface="Calibri"/>
                <a:cs typeface="Calibri"/>
              </a:rPr>
              <a:t> = r</a:t>
            </a:r>
            <a:r>
              <a:rPr lang="en-CA" sz="2000" kern="0" baseline="-25000" dirty="0">
                <a:solidFill>
                  <a:schemeClr val="accent2"/>
                </a:solidFill>
                <a:latin typeface="Calibri"/>
                <a:ea typeface="Calibri"/>
                <a:cs typeface="Calibri"/>
              </a:rPr>
              <a:t>2</a:t>
            </a:r>
            <a:r>
              <a:rPr lang="en-CA" sz="2000" kern="0" dirty="0">
                <a:solidFill>
                  <a:schemeClr val="accent2"/>
                </a:solidFill>
                <a:latin typeface="Calibri"/>
                <a:ea typeface="Calibri"/>
                <a:cs typeface="Calibri"/>
              </a:rPr>
              <a:t> + r</a:t>
            </a:r>
            <a:r>
              <a:rPr lang="en-CA" sz="2000" kern="0" baseline="-25000" dirty="0">
                <a:solidFill>
                  <a:schemeClr val="accent2"/>
                </a:solidFill>
                <a:latin typeface="Calibri"/>
                <a:ea typeface="Calibri"/>
                <a:cs typeface="Calibri"/>
              </a:rPr>
              <a:t>3</a:t>
            </a:r>
            <a:endParaRPr lang="en-CA" sz="2000" kern="0" dirty="0">
              <a:solidFill>
                <a:schemeClr val="accent2"/>
              </a:solidFill>
              <a:latin typeface="Calibri"/>
              <a:ea typeface="Calibri"/>
              <a:cs typeface="Calibri"/>
            </a:endParaRPr>
          </a:p>
          <a:p>
            <a:pPr marL="342900" lvl="1" indent="0" eaLnBrk="1" hangingPunct="1">
              <a:buNone/>
            </a:pPr>
            <a:r>
              <a:rPr lang="en-CA" sz="2000" kern="0" dirty="0">
                <a:solidFill>
                  <a:schemeClr val="accent2"/>
                </a:solidFill>
                <a:latin typeface="Calibri"/>
                <a:ea typeface="Calibri"/>
                <a:cs typeface="Calibri"/>
              </a:rPr>
              <a:t>r</a:t>
            </a:r>
            <a:r>
              <a:rPr lang="en-CA" sz="2000" kern="0" baseline="-25000" dirty="0">
                <a:solidFill>
                  <a:schemeClr val="accent2"/>
                </a:solidFill>
                <a:latin typeface="Calibri"/>
                <a:ea typeface="Calibri"/>
                <a:cs typeface="Calibri"/>
              </a:rPr>
              <a:t>1</a:t>
            </a:r>
            <a:r>
              <a:rPr lang="en-CA" sz="2000" kern="0" dirty="0">
                <a:solidFill>
                  <a:schemeClr val="accent2"/>
                </a:solidFill>
                <a:latin typeface="Calibri"/>
                <a:ea typeface="Calibri"/>
                <a:cs typeface="Calibri"/>
              </a:rPr>
              <a:t> = r</a:t>
            </a:r>
            <a:r>
              <a:rPr lang="en-CA" sz="2000" kern="0" baseline="-25000" dirty="0">
                <a:solidFill>
                  <a:schemeClr val="accent2"/>
                </a:solidFill>
                <a:latin typeface="Calibri"/>
                <a:ea typeface="Calibri"/>
                <a:cs typeface="Calibri"/>
              </a:rPr>
              <a:t>1</a:t>
            </a:r>
            <a:r>
              <a:rPr lang="en-CA" sz="2000" kern="0" dirty="0">
                <a:solidFill>
                  <a:schemeClr val="accent2"/>
                </a:solidFill>
                <a:latin typeface="Calibri"/>
                <a:ea typeface="Calibri"/>
                <a:cs typeface="Calibri"/>
              </a:rPr>
              <a:t> + r</a:t>
            </a:r>
            <a:r>
              <a:rPr lang="en-CA" sz="2000" kern="0" baseline="-25000" dirty="0">
                <a:solidFill>
                  <a:schemeClr val="accent2"/>
                </a:solidFill>
                <a:latin typeface="Calibri"/>
                <a:ea typeface="Calibri"/>
                <a:cs typeface="Calibri"/>
              </a:rPr>
              <a:t>4</a:t>
            </a:r>
            <a:endParaRPr lang="en-CA" sz="2000" kern="0" dirty="0">
              <a:solidFill>
                <a:schemeClr val="accent2"/>
              </a:solidFill>
              <a:latin typeface="Calibri"/>
              <a:ea typeface="Calibri"/>
              <a:cs typeface="Calibri"/>
            </a:endParaRPr>
          </a:p>
          <a:p>
            <a:pPr marL="342900" lvl="1" indent="0" eaLnBrk="1" hangingPunct="1">
              <a:buNone/>
            </a:pPr>
            <a:r>
              <a:rPr lang="en-CA" sz="2000" kern="0" dirty="0">
                <a:solidFill>
                  <a:schemeClr val="accent2"/>
                </a:solidFill>
                <a:latin typeface="Calibri"/>
                <a:ea typeface="Calibri"/>
                <a:cs typeface="Calibri"/>
              </a:rPr>
              <a:t>r</a:t>
            </a:r>
            <a:r>
              <a:rPr lang="en-CA" sz="2000" kern="0" baseline="-25000" dirty="0">
                <a:solidFill>
                  <a:schemeClr val="accent2"/>
                </a:solidFill>
                <a:latin typeface="Calibri"/>
                <a:ea typeface="Calibri"/>
                <a:cs typeface="Calibri"/>
              </a:rPr>
              <a:t>1</a:t>
            </a:r>
            <a:r>
              <a:rPr lang="en-CA" sz="2000" kern="0" dirty="0">
                <a:solidFill>
                  <a:schemeClr val="accent2"/>
                </a:solidFill>
                <a:latin typeface="Calibri"/>
                <a:ea typeface="Calibri"/>
                <a:cs typeface="Calibri"/>
              </a:rPr>
              <a:t> = r</a:t>
            </a:r>
            <a:r>
              <a:rPr lang="en-CA" sz="2000" kern="0" baseline="-25000" dirty="0">
                <a:solidFill>
                  <a:schemeClr val="accent2"/>
                </a:solidFill>
                <a:latin typeface="Calibri"/>
                <a:ea typeface="Calibri"/>
                <a:cs typeface="Calibri"/>
              </a:rPr>
              <a:t>1</a:t>
            </a:r>
            <a:r>
              <a:rPr lang="en-CA" sz="2000" kern="0" dirty="0">
                <a:solidFill>
                  <a:schemeClr val="accent2"/>
                </a:solidFill>
                <a:latin typeface="Calibri"/>
                <a:ea typeface="Calibri"/>
                <a:cs typeface="Calibri"/>
              </a:rPr>
              <a:t> - 1</a:t>
            </a:r>
          </a:p>
        </p:txBody>
      </p:sp>
    </p:spTree>
    <p:extLst>
      <p:ext uri="{BB962C8B-B14F-4D97-AF65-F5344CB8AC3E}">
        <p14:creationId xmlns:p14="http://schemas.microsoft.com/office/powerpoint/2010/main" val="3103924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History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Register allocation is as old as compilers</a:t>
            </a:r>
          </a:p>
          <a:p>
            <a:pPr lvl="1"/>
            <a:r>
              <a:rPr lang="en-CA" dirty="0"/>
              <a:t>Register allocation was used in the original FORTRAN compiler in 1950’s</a:t>
            </a:r>
          </a:p>
          <a:p>
            <a:pPr lvl="1"/>
            <a:r>
              <a:rPr lang="en-CA" dirty="0"/>
              <a:t>Very crude algorithm</a:t>
            </a:r>
          </a:p>
          <a:p>
            <a:r>
              <a:rPr lang="en-CA" dirty="0"/>
              <a:t>A breakthrough came in 1980</a:t>
            </a:r>
          </a:p>
          <a:p>
            <a:pPr lvl="1"/>
            <a:r>
              <a:rPr lang="en-CA" dirty="0"/>
              <a:t>Register allocation scheme based on graph coloring</a:t>
            </a:r>
          </a:p>
          <a:p>
            <a:pPr lvl="1"/>
            <a:r>
              <a:rPr lang="en-CA" dirty="0"/>
              <a:t>Relatively simple, global and works well in practice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63D9E-7E5D-D141-B365-4BE0ED56F47E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288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Principles of Register Allocation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sz="2400" i="1" dirty="0"/>
              <a:t>Temporaries t</a:t>
            </a:r>
            <a:r>
              <a:rPr lang="en-CA" sz="2400" i="1" baseline="-25000" dirty="0"/>
              <a:t>1</a:t>
            </a:r>
            <a:r>
              <a:rPr lang="en-CA" sz="2400" i="1" dirty="0"/>
              <a:t> can t</a:t>
            </a:r>
            <a:r>
              <a:rPr lang="en-CA" sz="2400" i="1" baseline="-25000" dirty="0"/>
              <a:t>2</a:t>
            </a:r>
            <a:r>
              <a:rPr lang="en-CA" sz="2400" i="1" dirty="0"/>
              <a:t> can share the same register if </a:t>
            </a:r>
            <a:r>
              <a:rPr lang="en-CA" sz="2400" i="1" dirty="0">
                <a:solidFill>
                  <a:schemeClr val="accent2"/>
                </a:solidFill>
              </a:rPr>
              <a:t>at any point in the program at most one</a:t>
            </a:r>
            <a:r>
              <a:rPr lang="en-CA" sz="2400" i="1" dirty="0"/>
              <a:t> of t</a:t>
            </a:r>
            <a:r>
              <a:rPr lang="en-CA" sz="2400" i="1" baseline="-25000" dirty="0"/>
              <a:t>1</a:t>
            </a:r>
            <a:r>
              <a:rPr lang="en-CA" sz="2400" i="1" dirty="0"/>
              <a:t> or t</a:t>
            </a:r>
            <a:r>
              <a:rPr lang="en-CA" sz="2400" i="1" baseline="-25000" dirty="0"/>
              <a:t>2</a:t>
            </a:r>
            <a:r>
              <a:rPr lang="en-CA" sz="2400" i="1" dirty="0"/>
              <a:t> is </a:t>
            </a:r>
            <a:r>
              <a:rPr lang="en-CA" sz="2400" i="1" dirty="0">
                <a:solidFill>
                  <a:schemeClr val="accent2"/>
                </a:solidFill>
              </a:rPr>
              <a:t>live</a:t>
            </a:r>
          </a:p>
          <a:p>
            <a:pPr lvl="1"/>
            <a:r>
              <a:rPr lang="en-CA" sz="2000" i="1" dirty="0"/>
              <a:t>If t</a:t>
            </a:r>
            <a:r>
              <a:rPr lang="en-CA" sz="2000" i="1" baseline="-25000" dirty="0"/>
              <a:t>1</a:t>
            </a:r>
            <a:r>
              <a:rPr lang="en-CA" sz="2000" i="1" dirty="0"/>
              <a:t> and t</a:t>
            </a:r>
            <a:r>
              <a:rPr lang="en-CA" sz="2000" i="1" baseline="-25000" dirty="0"/>
              <a:t>2</a:t>
            </a:r>
            <a:r>
              <a:rPr lang="en-CA" sz="2000" i="1" dirty="0"/>
              <a:t> are live at the same time, they cannot share a register</a:t>
            </a:r>
          </a:p>
          <a:p>
            <a:r>
              <a:rPr lang="en-CA" sz="2400" dirty="0"/>
              <a:t>We need liveness analysis: which locations are live at the same time?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63D9E-7E5D-D141-B365-4BE0ED56F47E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689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Live Variables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63D9E-7E5D-D141-B365-4BE0ED56F47E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auto">
          <a:xfrm>
            <a:off x="3869922" y="1923678"/>
            <a:ext cx="1242138" cy="86977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CA" sz="1800" dirty="0">
                <a:latin typeface="Calibri"/>
              </a:rPr>
              <a:t>a = </a:t>
            </a:r>
            <a:r>
              <a:rPr lang="en-CA" sz="1800" dirty="0" err="1">
                <a:latin typeface="Calibri"/>
              </a:rPr>
              <a:t>b+c</a:t>
            </a:r>
            <a:endParaRPr lang="en-CA" sz="1800" dirty="0">
              <a:latin typeface="Calibri"/>
            </a:endParaRPr>
          </a:p>
          <a:p>
            <a:pPr algn="ctr"/>
            <a:r>
              <a:rPr lang="en-CA" sz="1800" dirty="0">
                <a:latin typeface="Calibri"/>
              </a:rPr>
              <a:t>d = -a</a:t>
            </a:r>
          </a:p>
          <a:p>
            <a:pPr algn="ctr"/>
            <a:r>
              <a:rPr lang="en-CA" sz="1800" dirty="0">
                <a:latin typeface="Calibri"/>
              </a:rPr>
              <a:t>e = </a:t>
            </a:r>
            <a:r>
              <a:rPr lang="en-CA" sz="1800" dirty="0" err="1">
                <a:latin typeface="Calibri"/>
              </a:rPr>
              <a:t>d+f</a:t>
            </a:r>
            <a:endParaRPr lang="en-CA" sz="1800" dirty="0"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2681790" y="3263929"/>
            <a:ext cx="1242138" cy="36650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00"/>
            <a:r>
              <a:rPr lang="en-CA" sz="1800" dirty="0">
                <a:latin typeface="Calibri"/>
              </a:rPr>
              <a:t>f = 2*e</a:t>
            </a:r>
          </a:p>
        </p:txBody>
      </p:sp>
      <p:sp>
        <p:nvSpPr>
          <p:cNvPr id="8" name="Rectangle 7"/>
          <p:cNvSpPr/>
          <p:nvPr/>
        </p:nvSpPr>
        <p:spPr bwMode="auto">
          <a:xfrm>
            <a:off x="5112060" y="3104423"/>
            <a:ext cx="1242138" cy="60884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00"/>
            <a:r>
              <a:rPr lang="en-CA" sz="1800" dirty="0">
                <a:latin typeface="Calibri"/>
              </a:rPr>
              <a:t>b = </a:t>
            </a:r>
            <a:r>
              <a:rPr lang="en-CA" sz="1800" dirty="0" err="1">
                <a:latin typeface="Calibri"/>
              </a:rPr>
              <a:t>d+e</a:t>
            </a:r>
            <a:endParaRPr lang="en-CA" sz="1800" dirty="0">
              <a:latin typeface="Calibri"/>
            </a:endParaRPr>
          </a:p>
          <a:p>
            <a:pPr algn="ctr" defTabSz="685800"/>
            <a:r>
              <a:rPr lang="en-CA" sz="1800" dirty="0">
                <a:latin typeface="Calibri"/>
              </a:rPr>
              <a:t>e = e-1</a:t>
            </a:r>
          </a:p>
        </p:txBody>
      </p:sp>
      <p:sp>
        <p:nvSpPr>
          <p:cNvPr id="9" name="Rectangle 8"/>
          <p:cNvSpPr/>
          <p:nvPr/>
        </p:nvSpPr>
        <p:spPr bwMode="auto">
          <a:xfrm>
            <a:off x="3891780" y="4321294"/>
            <a:ext cx="1242138" cy="33533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00"/>
            <a:r>
              <a:rPr lang="en-CA" sz="1800" dirty="0">
                <a:latin typeface="Calibri"/>
              </a:rPr>
              <a:t>b = </a:t>
            </a:r>
            <a:r>
              <a:rPr lang="en-CA" sz="1800" dirty="0" err="1">
                <a:latin typeface="Calibri"/>
              </a:rPr>
              <a:t>f+c</a:t>
            </a:r>
            <a:endParaRPr lang="en-CA" sz="1800" dirty="0">
              <a:latin typeface="Calibri"/>
            </a:endParaRPr>
          </a:p>
        </p:txBody>
      </p:sp>
      <p:cxnSp>
        <p:nvCxnSpPr>
          <p:cNvPr id="11" name="Straight Arrow Connector 10"/>
          <p:cNvCxnSpPr>
            <a:stCxn id="6" idx="2"/>
            <a:endCxn id="7" idx="0"/>
          </p:cNvCxnSpPr>
          <p:nvPr/>
        </p:nvCxnSpPr>
        <p:spPr bwMode="auto">
          <a:xfrm flipH="1">
            <a:off x="3302859" y="2793451"/>
            <a:ext cx="1188132" cy="47047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3" name="Straight Arrow Connector 12"/>
          <p:cNvCxnSpPr>
            <a:stCxn id="6" idx="2"/>
            <a:endCxn id="8" idx="0"/>
          </p:cNvCxnSpPr>
          <p:nvPr/>
        </p:nvCxnSpPr>
        <p:spPr bwMode="auto">
          <a:xfrm>
            <a:off x="4490991" y="2793451"/>
            <a:ext cx="1242138" cy="310972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6" name="Straight Arrow Connector 15"/>
          <p:cNvCxnSpPr>
            <a:stCxn id="7" idx="2"/>
            <a:endCxn id="9" idx="0"/>
          </p:cNvCxnSpPr>
          <p:nvPr/>
        </p:nvCxnSpPr>
        <p:spPr bwMode="auto">
          <a:xfrm>
            <a:off x="3302859" y="3630438"/>
            <a:ext cx="1209990" cy="690856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9" name="Straight Arrow Connector 18"/>
          <p:cNvCxnSpPr>
            <a:stCxn id="8" idx="2"/>
            <a:endCxn id="9" idx="0"/>
          </p:cNvCxnSpPr>
          <p:nvPr/>
        </p:nvCxnSpPr>
        <p:spPr bwMode="auto">
          <a:xfrm flipH="1">
            <a:off x="4512849" y="3713264"/>
            <a:ext cx="1220280" cy="60803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35" name="Group 34"/>
          <p:cNvGrpSpPr/>
          <p:nvPr/>
        </p:nvGrpSpPr>
        <p:grpSpPr>
          <a:xfrm>
            <a:off x="3087715" y="3813887"/>
            <a:ext cx="722885" cy="369332"/>
            <a:chOff x="2888074" y="1988840"/>
            <a:chExt cx="963846" cy="492443"/>
          </a:xfrm>
        </p:grpSpPr>
        <p:sp>
          <p:nvSpPr>
            <p:cNvPr id="36" name="Rectangle 35"/>
            <p:cNvSpPr/>
            <p:nvPr/>
          </p:nvSpPr>
          <p:spPr>
            <a:xfrm>
              <a:off x="2888074" y="1988840"/>
              <a:ext cx="721053" cy="4924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CA" sz="1800" dirty="0">
                  <a:solidFill>
                    <a:srgbClr val="FF0000"/>
                  </a:solidFill>
                  <a:latin typeface="Calibri"/>
                </a:rPr>
                <a:t>{</a:t>
              </a:r>
              <a:r>
                <a:rPr lang="en-CA" sz="1800" dirty="0" err="1">
                  <a:solidFill>
                    <a:srgbClr val="FF0000"/>
                  </a:solidFill>
                  <a:latin typeface="Calibri"/>
                </a:rPr>
                <a:t>f,c</a:t>
              </a:r>
              <a:r>
                <a:rPr lang="en-CA" sz="1800" dirty="0">
                  <a:solidFill>
                    <a:srgbClr val="FF0000"/>
                  </a:solidFill>
                  <a:latin typeface="Calibri"/>
                </a:rPr>
                <a:t>}</a:t>
              </a:r>
            </a:p>
          </p:txBody>
        </p:sp>
        <p:cxnSp>
          <p:nvCxnSpPr>
            <p:cNvPr id="37" name="Straight Arrow Connector 36"/>
            <p:cNvCxnSpPr>
              <a:stCxn id="36" idx="3"/>
            </p:cNvCxnSpPr>
            <p:nvPr/>
          </p:nvCxnSpPr>
          <p:spPr bwMode="auto">
            <a:xfrm flipV="1">
              <a:off x="3609127" y="2219672"/>
              <a:ext cx="242793" cy="15389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38" name="Group 37"/>
          <p:cNvGrpSpPr/>
          <p:nvPr/>
        </p:nvGrpSpPr>
        <p:grpSpPr>
          <a:xfrm>
            <a:off x="3426708" y="4601764"/>
            <a:ext cx="677872" cy="369332"/>
            <a:chOff x="2948090" y="1988840"/>
            <a:chExt cx="903830" cy="492443"/>
          </a:xfrm>
        </p:grpSpPr>
        <p:sp>
          <p:nvSpPr>
            <p:cNvPr id="39" name="Rectangle 38"/>
            <p:cNvSpPr/>
            <p:nvPr/>
          </p:nvSpPr>
          <p:spPr>
            <a:xfrm>
              <a:off x="2948090" y="1988840"/>
              <a:ext cx="601019" cy="4924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CA" sz="1800" dirty="0">
                  <a:solidFill>
                    <a:srgbClr val="FF0000"/>
                  </a:solidFill>
                  <a:latin typeface="Calibri"/>
                </a:rPr>
                <a:t>{b}</a:t>
              </a:r>
            </a:p>
          </p:txBody>
        </p:sp>
        <p:cxnSp>
          <p:nvCxnSpPr>
            <p:cNvPr id="40" name="Straight Arrow Connector 39"/>
            <p:cNvCxnSpPr>
              <a:stCxn id="39" idx="3"/>
            </p:cNvCxnSpPr>
            <p:nvPr/>
          </p:nvCxnSpPr>
          <p:spPr bwMode="auto">
            <a:xfrm flipV="1">
              <a:off x="3549109" y="2219672"/>
              <a:ext cx="302811" cy="15389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cxnSp>
        <p:nvCxnSpPr>
          <p:cNvPr id="48" name="Curved Connector 47"/>
          <p:cNvCxnSpPr>
            <a:stCxn id="9" idx="2"/>
            <a:endCxn id="6" idx="0"/>
          </p:cNvCxnSpPr>
          <p:nvPr/>
        </p:nvCxnSpPr>
        <p:spPr bwMode="auto">
          <a:xfrm rot="5400000" flipH="1">
            <a:off x="3135445" y="3279225"/>
            <a:ext cx="2732951" cy="21858"/>
          </a:xfrm>
          <a:prstGeom prst="curvedConnector5">
            <a:avLst>
              <a:gd name="adj1" fmla="val -6273"/>
              <a:gd name="adj2" fmla="val -12256008"/>
              <a:gd name="adj3" fmla="val 106273"/>
            </a:avLst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3" name="Straight Arrow Connector 52"/>
          <p:cNvCxnSpPr>
            <a:stCxn id="9" idx="2"/>
          </p:cNvCxnSpPr>
          <p:nvPr/>
        </p:nvCxnSpPr>
        <p:spPr bwMode="auto">
          <a:xfrm flipH="1">
            <a:off x="4291846" y="4656630"/>
            <a:ext cx="221003" cy="291385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0" name="Rectangle 59"/>
          <p:cNvSpPr/>
          <p:nvPr/>
        </p:nvSpPr>
        <p:spPr>
          <a:xfrm>
            <a:off x="6570201" y="1815666"/>
            <a:ext cx="7344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CA" sz="1800" dirty="0">
                <a:solidFill>
                  <a:srgbClr val="FF0000"/>
                </a:solidFill>
                <a:latin typeface="Calibri"/>
              </a:rPr>
              <a:t>{</a:t>
            </a:r>
            <a:r>
              <a:rPr lang="en-CA" sz="1800" dirty="0" err="1">
                <a:solidFill>
                  <a:srgbClr val="FF0000"/>
                </a:solidFill>
                <a:latin typeface="Calibri"/>
              </a:rPr>
              <a:t>b,c,f</a:t>
            </a:r>
            <a:r>
              <a:rPr lang="en-CA" sz="1800" dirty="0">
                <a:solidFill>
                  <a:srgbClr val="FF0000"/>
                </a:solidFill>
                <a:latin typeface="Calibri"/>
              </a:rPr>
              <a:t>}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399" y="1170737"/>
            <a:ext cx="43204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75" indent="-257175">
              <a:buFont typeface="Arial" panose="020B0604020202020204" pitchFamily="34" charset="0"/>
              <a:buChar char="•"/>
            </a:pPr>
            <a:r>
              <a:rPr lang="en-CA" sz="1800" dirty="0">
                <a:latin typeface="Calibri"/>
              </a:rPr>
              <a:t>Compute live variables for each point</a:t>
            </a:r>
          </a:p>
        </p:txBody>
      </p:sp>
      <p:grpSp>
        <p:nvGrpSpPr>
          <p:cNvPr id="49" name="Group 48"/>
          <p:cNvGrpSpPr/>
          <p:nvPr/>
        </p:nvGrpSpPr>
        <p:grpSpPr>
          <a:xfrm>
            <a:off x="4353694" y="3813887"/>
            <a:ext cx="650354" cy="369332"/>
            <a:chOff x="2888074" y="1988840"/>
            <a:chExt cx="867139" cy="492443"/>
          </a:xfrm>
        </p:grpSpPr>
        <p:sp>
          <p:nvSpPr>
            <p:cNvPr id="50" name="Rectangle 49"/>
            <p:cNvSpPr/>
            <p:nvPr/>
          </p:nvSpPr>
          <p:spPr>
            <a:xfrm>
              <a:off x="2888074" y="1988840"/>
              <a:ext cx="721054" cy="4924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CA" sz="1800" dirty="0">
                  <a:solidFill>
                    <a:srgbClr val="FF0000"/>
                  </a:solidFill>
                  <a:latin typeface="Calibri"/>
                </a:rPr>
                <a:t>{</a:t>
              </a:r>
              <a:r>
                <a:rPr lang="en-CA" sz="1800" dirty="0" err="1">
                  <a:solidFill>
                    <a:srgbClr val="FF0000"/>
                  </a:solidFill>
                  <a:latin typeface="Calibri"/>
                </a:rPr>
                <a:t>f,c</a:t>
              </a:r>
              <a:r>
                <a:rPr lang="en-CA" sz="1800" dirty="0">
                  <a:solidFill>
                    <a:srgbClr val="FF0000"/>
                  </a:solidFill>
                  <a:latin typeface="Calibri"/>
                </a:rPr>
                <a:t>}</a:t>
              </a:r>
            </a:p>
          </p:txBody>
        </p:sp>
        <p:cxnSp>
          <p:nvCxnSpPr>
            <p:cNvPr id="51" name="Straight Arrow Connector 50"/>
            <p:cNvCxnSpPr/>
            <p:nvPr/>
          </p:nvCxnSpPr>
          <p:spPr bwMode="auto">
            <a:xfrm>
              <a:off x="3549600" y="2247728"/>
              <a:ext cx="205613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52" name="Group 51"/>
          <p:cNvGrpSpPr/>
          <p:nvPr/>
        </p:nvGrpSpPr>
        <p:grpSpPr>
          <a:xfrm>
            <a:off x="3004184" y="2819566"/>
            <a:ext cx="684771" cy="369332"/>
            <a:chOff x="2848706" y="1988840"/>
            <a:chExt cx="913027" cy="492443"/>
          </a:xfrm>
        </p:grpSpPr>
        <p:sp>
          <p:nvSpPr>
            <p:cNvPr id="57" name="Rectangle 56"/>
            <p:cNvSpPr/>
            <p:nvPr/>
          </p:nvSpPr>
          <p:spPr>
            <a:xfrm>
              <a:off x="2848706" y="1988840"/>
              <a:ext cx="799791" cy="4924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CA" sz="1800" dirty="0">
                  <a:solidFill>
                    <a:srgbClr val="FF0000"/>
                  </a:solidFill>
                  <a:latin typeface="Calibri"/>
                </a:rPr>
                <a:t>{</a:t>
              </a:r>
              <a:r>
                <a:rPr lang="en-CA" sz="1800" dirty="0" err="1">
                  <a:solidFill>
                    <a:srgbClr val="FF0000"/>
                  </a:solidFill>
                  <a:latin typeface="Calibri"/>
                </a:rPr>
                <a:t>c,e</a:t>
              </a:r>
              <a:r>
                <a:rPr lang="en-CA" sz="1800" dirty="0">
                  <a:solidFill>
                    <a:srgbClr val="FF0000"/>
                  </a:solidFill>
                  <a:latin typeface="Calibri"/>
                </a:rPr>
                <a:t>}</a:t>
              </a:r>
            </a:p>
          </p:txBody>
        </p:sp>
        <p:cxnSp>
          <p:nvCxnSpPr>
            <p:cNvPr id="64" name="Straight Arrow Connector 63"/>
            <p:cNvCxnSpPr/>
            <p:nvPr/>
          </p:nvCxnSpPr>
          <p:spPr bwMode="auto">
            <a:xfrm>
              <a:off x="3556120" y="2248249"/>
              <a:ext cx="205613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71" name="Group 70"/>
          <p:cNvGrpSpPr/>
          <p:nvPr/>
        </p:nvGrpSpPr>
        <p:grpSpPr>
          <a:xfrm>
            <a:off x="5382090" y="2711553"/>
            <a:ext cx="1073533" cy="369332"/>
            <a:chOff x="4708380" y="3488234"/>
            <a:chExt cx="1431377" cy="492443"/>
          </a:xfrm>
        </p:grpSpPr>
        <p:sp>
          <p:nvSpPr>
            <p:cNvPr id="72" name="Rectangle 71"/>
            <p:cNvSpPr/>
            <p:nvPr/>
          </p:nvSpPr>
          <p:spPr>
            <a:xfrm>
              <a:off x="4948491" y="3488234"/>
              <a:ext cx="1191266" cy="4924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CA" sz="1800" dirty="0">
                  <a:solidFill>
                    <a:srgbClr val="FF0000"/>
                  </a:solidFill>
                  <a:latin typeface="Calibri"/>
                </a:rPr>
                <a:t>{</a:t>
              </a:r>
              <a:r>
                <a:rPr lang="en-CA" sz="1800" dirty="0" err="1">
                  <a:solidFill>
                    <a:srgbClr val="FF0000"/>
                  </a:solidFill>
                  <a:latin typeface="Calibri"/>
                </a:rPr>
                <a:t>d,e,f,c</a:t>
              </a:r>
              <a:r>
                <a:rPr lang="en-CA" sz="1800" dirty="0">
                  <a:solidFill>
                    <a:srgbClr val="FF0000"/>
                  </a:solidFill>
                  <a:latin typeface="Calibri"/>
                </a:rPr>
                <a:t>}</a:t>
              </a:r>
            </a:p>
          </p:txBody>
        </p:sp>
        <p:cxnSp>
          <p:nvCxnSpPr>
            <p:cNvPr id="73" name="Straight Arrow Connector 72"/>
            <p:cNvCxnSpPr/>
            <p:nvPr/>
          </p:nvCxnSpPr>
          <p:spPr bwMode="auto">
            <a:xfrm flipH="1">
              <a:off x="4708380" y="3789040"/>
              <a:ext cx="316281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74" name="Group 73"/>
          <p:cNvGrpSpPr/>
          <p:nvPr/>
        </p:nvGrpSpPr>
        <p:grpSpPr>
          <a:xfrm>
            <a:off x="3178918" y="2355725"/>
            <a:ext cx="1015041" cy="369332"/>
            <a:chOff x="2768385" y="1988840"/>
            <a:chExt cx="1353388" cy="492443"/>
          </a:xfrm>
        </p:grpSpPr>
        <p:sp>
          <p:nvSpPr>
            <p:cNvPr id="75" name="Rectangle 74"/>
            <p:cNvSpPr/>
            <p:nvPr/>
          </p:nvSpPr>
          <p:spPr>
            <a:xfrm>
              <a:off x="2768385" y="1988840"/>
              <a:ext cx="960434" cy="4924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CA" sz="1800" dirty="0">
                  <a:solidFill>
                    <a:srgbClr val="FF0000"/>
                  </a:solidFill>
                  <a:latin typeface="Calibri"/>
                </a:rPr>
                <a:t>{</a:t>
              </a:r>
              <a:r>
                <a:rPr lang="en-CA" sz="1800" dirty="0" err="1">
                  <a:solidFill>
                    <a:srgbClr val="FF0000"/>
                  </a:solidFill>
                  <a:latin typeface="Calibri"/>
                </a:rPr>
                <a:t>d,f,c</a:t>
              </a:r>
              <a:r>
                <a:rPr lang="en-CA" sz="1800" dirty="0">
                  <a:solidFill>
                    <a:srgbClr val="FF0000"/>
                  </a:solidFill>
                  <a:latin typeface="Calibri"/>
                </a:rPr>
                <a:t>}</a:t>
              </a:r>
            </a:p>
          </p:txBody>
        </p:sp>
        <p:cxnSp>
          <p:nvCxnSpPr>
            <p:cNvPr id="76" name="Straight Arrow Connector 75"/>
            <p:cNvCxnSpPr/>
            <p:nvPr/>
          </p:nvCxnSpPr>
          <p:spPr bwMode="auto">
            <a:xfrm>
              <a:off x="3721092" y="2248249"/>
              <a:ext cx="400681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77" name="Group 76"/>
          <p:cNvGrpSpPr/>
          <p:nvPr/>
        </p:nvGrpSpPr>
        <p:grpSpPr>
          <a:xfrm>
            <a:off x="3184527" y="2085695"/>
            <a:ext cx="1009431" cy="369332"/>
            <a:chOff x="2775865" y="1988840"/>
            <a:chExt cx="1345908" cy="492443"/>
          </a:xfrm>
        </p:grpSpPr>
        <p:sp>
          <p:nvSpPr>
            <p:cNvPr id="78" name="Rectangle 77"/>
            <p:cNvSpPr/>
            <p:nvPr/>
          </p:nvSpPr>
          <p:spPr>
            <a:xfrm>
              <a:off x="2775865" y="1988840"/>
              <a:ext cx="945473" cy="4924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CA" sz="1800" dirty="0">
                  <a:solidFill>
                    <a:srgbClr val="FF0000"/>
                  </a:solidFill>
                  <a:latin typeface="Calibri"/>
                </a:rPr>
                <a:t>{</a:t>
              </a:r>
              <a:r>
                <a:rPr lang="en-CA" sz="1800" dirty="0" err="1">
                  <a:solidFill>
                    <a:srgbClr val="FF0000"/>
                  </a:solidFill>
                  <a:latin typeface="Calibri"/>
                </a:rPr>
                <a:t>a,f,c</a:t>
              </a:r>
              <a:r>
                <a:rPr lang="en-CA" sz="1800" dirty="0">
                  <a:solidFill>
                    <a:srgbClr val="FF0000"/>
                  </a:solidFill>
                  <a:latin typeface="Calibri"/>
                </a:rPr>
                <a:t>}</a:t>
              </a:r>
            </a:p>
          </p:txBody>
        </p:sp>
        <p:cxnSp>
          <p:nvCxnSpPr>
            <p:cNvPr id="79" name="Straight Arrow Connector 78"/>
            <p:cNvCxnSpPr/>
            <p:nvPr/>
          </p:nvCxnSpPr>
          <p:spPr bwMode="auto">
            <a:xfrm>
              <a:off x="3721092" y="2248249"/>
              <a:ext cx="400681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80" name="Group 79"/>
          <p:cNvGrpSpPr/>
          <p:nvPr/>
        </p:nvGrpSpPr>
        <p:grpSpPr>
          <a:xfrm>
            <a:off x="6072688" y="3219820"/>
            <a:ext cx="1073534" cy="369332"/>
            <a:chOff x="4708380" y="3488234"/>
            <a:chExt cx="1431378" cy="492443"/>
          </a:xfrm>
        </p:grpSpPr>
        <p:sp>
          <p:nvSpPr>
            <p:cNvPr id="81" name="Rectangle 80"/>
            <p:cNvSpPr/>
            <p:nvPr/>
          </p:nvSpPr>
          <p:spPr>
            <a:xfrm>
              <a:off x="4948492" y="3488234"/>
              <a:ext cx="1191266" cy="4924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CA" sz="1800" dirty="0">
                  <a:solidFill>
                    <a:srgbClr val="FF0000"/>
                  </a:solidFill>
                  <a:latin typeface="Calibri"/>
                </a:rPr>
                <a:t>{</a:t>
              </a:r>
              <a:r>
                <a:rPr lang="en-CA" sz="1800" dirty="0" err="1">
                  <a:solidFill>
                    <a:srgbClr val="FF0000"/>
                  </a:solidFill>
                  <a:latin typeface="Calibri"/>
                </a:rPr>
                <a:t>b,e,f,c</a:t>
              </a:r>
              <a:r>
                <a:rPr lang="en-CA" sz="1800" dirty="0">
                  <a:solidFill>
                    <a:srgbClr val="FF0000"/>
                  </a:solidFill>
                  <a:latin typeface="Calibri"/>
                </a:rPr>
                <a:t>}</a:t>
              </a:r>
            </a:p>
          </p:txBody>
        </p:sp>
        <p:cxnSp>
          <p:nvCxnSpPr>
            <p:cNvPr id="82" name="Straight Arrow Connector 81"/>
            <p:cNvCxnSpPr/>
            <p:nvPr/>
          </p:nvCxnSpPr>
          <p:spPr bwMode="auto">
            <a:xfrm flipH="1">
              <a:off x="4708380" y="3789040"/>
              <a:ext cx="316281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sp>
        <p:nvSpPr>
          <p:cNvPr id="4" name="Rounded Rectangular Callout 3"/>
          <p:cNvSpPr/>
          <p:nvPr/>
        </p:nvSpPr>
        <p:spPr bwMode="auto">
          <a:xfrm>
            <a:off x="1277634" y="2679762"/>
            <a:ext cx="1134126" cy="972108"/>
          </a:xfrm>
          <a:prstGeom prst="wedgeRoundRectCallout">
            <a:avLst>
              <a:gd name="adj1" fmla="val 105313"/>
              <a:gd name="adj2" fmla="val -10209"/>
              <a:gd name="adj3" fmla="val 16667"/>
            </a:avLst>
          </a:prstGeom>
          <a:solidFill>
            <a:schemeClr val="accent4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/>
            <a:r>
              <a:rPr lang="en-US" sz="1350" dirty="0">
                <a:ln w="18415" cmpd="sng">
                  <a:noFill/>
                  <a:prstDash val="solid"/>
                </a:ln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n-lt"/>
              </a:rPr>
              <a:t>f is not needed because we redefine it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1363F2F-0D27-D043-9ECF-D4C89F035631}"/>
              </a:ext>
            </a:extLst>
          </p:cNvPr>
          <p:cNvGrpSpPr/>
          <p:nvPr/>
        </p:nvGrpSpPr>
        <p:grpSpPr>
          <a:xfrm>
            <a:off x="6790266" y="-31254"/>
            <a:ext cx="2249746" cy="2216252"/>
            <a:chOff x="2796475" y="2550616"/>
            <a:chExt cx="2999661" cy="2955003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FD98E423-887B-3649-AD5E-5C7B0F0E513C}"/>
                </a:ext>
              </a:extLst>
            </p:cNvPr>
            <p:cNvGrpSpPr/>
            <p:nvPr/>
          </p:nvGrpSpPr>
          <p:grpSpPr>
            <a:xfrm>
              <a:off x="4092620" y="2550616"/>
              <a:ext cx="494236" cy="662360"/>
              <a:chOff x="4092620" y="2550616"/>
              <a:chExt cx="494236" cy="662360"/>
            </a:xfrm>
          </p:grpSpPr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728259DB-6328-2D48-9C52-5820FD960E63}"/>
                  </a:ext>
                </a:extLst>
              </p:cNvPr>
              <p:cNvSpPr/>
              <p:nvPr/>
            </p:nvSpPr>
            <p:spPr bwMode="auto">
              <a:xfrm>
                <a:off x="4149772" y="2996952"/>
                <a:ext cx="196385" cy="216024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580" tIns="34290" rIns="68580" bIns="34290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en-CA" sz="1800" dirty="0">
                  <a:latin typeface="Calibri"/>
                </a:endParaRPr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BBA723BF-53A9-8A4A-99F0-6542EBBE592E}"/>
                  </a:ext>
                </a:extLst>
              </p:cNvPr>
              <p:cNvSpPr txBox="1"/>
              <p:nvPr/>
            </p:nvSpPr>
            <p:spPr>
              <a:xfrm>
                <a:off x="4092620" y="2550616"/>
                <a:ext cx="494236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1800" b="1" dirty="0">
                    <a:latin typeface="Calibri"/>
                  </a:rPr>
                  <a:t>a</a:t>
                </a: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15F7365E-AA16-DA47-A7EF-099BA3EB54C3}"/>
                </a:ext>
              </a:extLst>
            </p:cNvPr>
            <p:cNvGrpSpPr/>
            <p:nvPr/>
          </p:nvGrpSpPr>
          <p:grpSpPr>
            <a:xfrm>
              <a:off x="4999012" y="3111351"/>
              <a:ext cx="725116" cy="533673"/>
              <a:chOff x="4149772" y="2679303"/>
              <a:chExt cx="725116" cy="533673"/>
            </a:xfrm>
          </p:grpSpPr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898D87BE-4E18-1042-A996-AF4ACBDAE8B3}"/>
                  </a:ext>
                </a:extLst>
              </p:cNvPr>
              <p:cNvSpPr/>
              <p:nvPr/>
            </p:nvSpPr>
            <p:spPr bwMode="auto">
              <a:xfrm>
                <a:off x="4149772" y="2996952"/>
                <a:ext cx="196385" cy="216024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580" tIns="34290" rIns="68580" bIns="34290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en-CA" sz="1800" dirty="0">
                  <a:latin typeface="Calibri"/>
                </a:endParaRPr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CF4D7575-F8F2-AA45-BB85-39FB36062DFC}"/>
                  </a:ext>
                </a:extLst>
              </p:cNvPr>
              <p:cNvSpPr txBox="1"/>
              <p:nvPr/>
            </p:nvSpPr>
            <p:spPr>
              <a:xfrm>
                <a:off x="4380652" y="2679303"/>
                <a:ext cx="494236" cy="4924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1800" b="1" dirty="0">
                    <a:latin typeface="Calibri"/>
                  </a:rPr>
                  <a:t>b</a:t>
                </a:r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C94DBE29-215A-8645-B9D4-A43EC7C3174B}"/>
                </a:ext>
              </a:extLst>
            </p:cNvPr>
            <p:cNvGrpSpPr/>
            <p:nvPr/>
          </p:nvGrpSpPr>
          <p:grpSpPr>
            <a:xfrm>
              <a:off x="5032624" y="4191471"/>
              <a:ext cx="763512" cy="492442"/>
              <a:chOff x="4149772" y="2823319"/>
              <a:chExt cx="763512" cy="492442"/>
            </a:xfrm>
          </p:grpSpPr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C71ABB2C-FBD4-424C-B0C5-BC1B306728BC}"/>
                  </a:ext>
                </a:extLst>
              </p:cNvPr>
              <p:cNvSpPr/>
              <p:nvPr/>
            </p:nvSpPr>
            <p:spPr bwMode="auto">
              <a:xfrm>
                <a:off x="4149772" y="2996952"/>
                <a:ext cx="196385" cy="216024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580" tIns="34290" rIns="68580" bIns="34290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en-CA" sz="1800" dirty="0">
                  <a:latin typeface="Calibri"/>
                </a:endParaRP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77C0F43E-A313-AF42-8A48-ACDA9C205606}"/>
                  </a:ext>
                </a:extLst>
              </p:cNvPr>
              <p:cNvSpPr txBox="1"/>
              <p:nvPr/>
            </p:nvSpPr>
            <p:spPr>
              <a:xfrm>
                <a:off x="4419048" y="2823319"/>
                <a:ext cx="494236" cy="4924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1800" b="1" dirty="0">
                    <a:latin typeface="Calibri"/>
                  </a:rPr>
                  <a:t>c</a:t>
                </a: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53CF256F-4E3B-CB4A-BA1F-766995FD2AAC}"/>
                </a:ext>
              </a:extLst>
            </p:cNvPr>
            <p:cNvGrpSpPr/>
            <p:nvPr/>
          </p:nvGrpSpPr>
          <p:grpSpPr>
            <a:xfrm>
              <a:off x="4077764" y="4869160"/>
              <a:ext cx="494236" cy="636459"/>
              <a:chOff x="4092620" y="2996952"/>
              <a:chExt cx="494236" cy="636459"/>
            </a:xfrm>
          </p:grpSpPr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CC1CA740-F23D-2042-B01D-947DD169FA12}"/>
                  </a:ext>
                </a:extLst>
              </p:cNvPr>
              <p:cNvSpPr/>
              <p:nvPr/>
            </p:nvSpPr>
            <p:spPr bwMode="auto">
              <a:xfrm>
                <a:off x="4149772" y="2996952"/>
                <a:ext cx="196385" cy="216024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580" tIns="34290" rIns="68580" bIns="34290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en-CA" sz="1800" dirty="0">
                  <a:latin typeface="Calibri"/>
                </a:endParaRP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AB78FCEF-9742-A744-BB85-25889C9A8C14}"/>
                  </a:ext>
                </a:extLst>
              </p:cNvPr>
              <p:cNvSpPr txBox="1"/>
              <p:nvPr/>
            </p:nvSpPr>
            <p:spPr>
              <a:xfrm>
                <a:off x="4092620" y="3140968"/>
                <a:ext cx="494236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1800" b="1" dirty="0">
                    <a:latin typeface="Calibri"/>
                  </a:rPr>
                  <a:t>d</a:t>
                </a:r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3D7FE76A-BB5C-8A4C-97F5-D65501FBBF40}"/>
                </a:ext>
              </a:extLst>
            </p:cNvPr>
            <p:cNvGrpSpPr/>
            <p:nvPr/>
          </p:nvGrpSpPr>
          <p:grpSpPr>
            <a:xfrm>
              <a:off x="2796475" y="3068960"/>
              <a:ext cx="613577" cy="576064"/>
              <a:chOff x="3732580" y="2636912"/>
              <a:chExt cx="613577" cy="576064"/>
            </a:xfrm>
          </p:grpSpPr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16EF1AB6-51AD-A64D-9619-FEBB86AB9DB5}"/>
                  </a:ext>
                </a:extLst>
              </p:cNvPr>
              <p:cNvSpPr/>
              <p:nvPr/>
            </p:nvSpPr>
            <p:spPr bwMode="auto">
              <a:xfrm>
                <a:off x="4149772" y="2996952"/>
                <a:ext cx="196385" cy="216024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580" tIns="34290" rIns="68580" bIns="34290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en-CA" sz="1800" dirty="0">
                  <a:latin typeface="Calibri"/>
                </a:endParaRPr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C48280E6-AE86-6E44-A8DD-85272D31D8DB}"/>
                  </a:ext>
                </a:extLst>
              </p:cNvPr>
              <p:cNvSpPr txBox="1"/>
              <p:nvPr/>
            </p:nvSpPr>
            <p:spPr>
              <a:xfrm>
                <a:off x="3732580" y="2636912"/>
                <a:ext cx="494236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1800" b="1" dirty="0">
                    <a:latin typeface="Calibri"/>
                  </a:rPr>
                  <a:t>f</a:t>
                </a:r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12B7DECD-51A6-964A-A0F3-AE6AAEC69FA4}"/>
                </a:ext>
              </a:extLst>
            </p:cNvPr>
            <p:cNvGrpSpPr/>
            <p:nvPr/>
          </p:nvGrpSpPr>
          <p:grpSpPr>
            <a:xfrm>
              <a:off x="2868483" y="4191471"/>
              <a:ext cx="551389" cy="492442"/>
              <a:chOff x="3794768" y="2823319"/>
              <a:chExt cx="551389" cy="492442"/>
            </a:xfrm>
          </p:grpSpPr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6F126FD4-0D40-2340-A939-98A298E70808}"/>
                  </a:ext>
                </a:extLst>
              </p:cNvPr>
              <p:cNvSpPr/>
              <p:nvPr/>
            </p:nvSpPr>
            <p:spPr bwMode="auto">
              <a:xfrm>
                <a:off x="4149772" y="2996952"/>
                <a:ext cx="196385" cy="216024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580" tIns="34290" rIns="68580" bIns="34290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en-CA" sz="1800" dirty="0">
                  <a:latin typeface="Calibri"/>
                </a:endParaRP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5EC8A6B9-1F82-2F40-91FA-D58295056938}"/>
                  </a:ext>
                </a:extLst>
              </p:cNvPr>
              <p:cNvSpPr txBox="1"/>
              <p:nvPr/>
            </p:nvSpPr>
            <p:spPr>
              <a:xfrm>
                <a:off x="3794768" y="2823319"/>
                <a:ext cx="494236" cy="4924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1800" b="1" dirty="0">
                    <a:latin typeface="Calibri"/>
                  </a:rPr>
                  <a:t>e</a:t>
                </a:r>
              </a:p>
            </p:txBody>
          </p:sp>
        </p:grp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23B2F2FA-BBFD-3C40-B107-9CBF10F3C4E4}"/>
                </a:ext>
              </a:extLst>
            </p:cNvPr>
            <p:cNvCxnSpPr>
              <a:stCxn id="90" idx="2"/>
              <a:endCxn id="70" idx="7"/>
            </p:cNvCxnSpPr>
            <p:nvPr/>
          </p:nvCxnSpPr>
          <p:spPr bwMode="auto">
            <a:xfrm flipH="1">
              <a:off x="3381292" y="3104964"/>
              <a:ext cx="768480" cy="355672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C58DF123-9053-3641-9665-A4A83D6C9D0D}"/>
                </a:ext>
              </a:extLst>
            </p:cNvPr>
            <p:cNvCxnSpPr>
              <a:stCxn id="68" idx="0"/>
              <a:endCxn id="70" idx="4"/>
            </p:cNvCxnSpPr>
            <p:nvPr/>
          </p:nvCxnSpPr>
          <p:spPr bwMode="auto">
            <a:xfrm flipH="1" flipV="1">
              <a:off x="3311860" y="3645024"/>
              <a:ext cx="9820" cy="72008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6E6957B3-6C4D-8A42-B4C4-FB1AC558D082}"/>
                </a:ext>
              </a:extLst>
            </p:cNvPr>
            <p:cNvCxnSpPr>
              <a:stCxn id="84" idx="1"/>
              <a:endCxn id="70" idx="5"/>
            </p:cNvCxnSpPr>
            <p:nvPr/>
          </p:nvCxnSpPr>
          <p:spPr bwMode="auto">
            <a:xfrm flipH="1" flipV="1">
              <a:off x="3381292" y="3613388"/>
              <a:ext cx="782384" cy="128740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CB9EA9A5-290F-4244-AC51-37DB0E3F8101}"/>
                </a:ext>
              </a:extLst>
            </p:cNvPr>
            <p:cNvCxnSpPr>
              <a:stCxn id="84" idx="2"/>
              <a:endCxn id="68" idx="5"/>
            </p:cNvCxnSpPr>
            <p:nvPr/>
          </p:nvCxnSpPr>
          <p:spPr bwMode="auto">
            <a:xfrm flipH="1" flipV="1">
              <a:off x="3391112" y="4549492"/>
              <a:ext cx="743804" cy="42768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34F4EDA9-42EC-8B4B-B973-540B58C6F858}"/>
                </a:ext>
              </a:extLst>
            </p:cNvPr>
            <p:cNvCxnSpPr>
              <a:stCxn id="90" idx="5"/>
              <a:endCxn id="86" idx="1"/>
            </p:cNvCxnSpPr>
            <p:nvPr/>
          </p:nvCxnSpPr>
          <p:spPr bwMode="auto">
            <a:xfrm>
              <a:off x="4317397" y="3181340"/>
              <a:ext cx="743987" cy="12154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71213F20-AA64-D24D-8D1C-63529E1D65D9}"/>
                </a:ext>
              </a:extLst>
            </p:cNvPr>
            <p:cNvCxnSpPr>
              <a:stCxn id="88" idx="2"/>
              <a:endCxn id="70" idx="6"/>
            </p:cNvCxnSpPr>
            <p:nvPr/>
          </p:nvCxnSpPr>
          <p:spPr bwMode="auto">
            <a:xfrm flipH="1">
              <a:off x="3410052" y="3537012"/>
              <a:ext cx="158896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5D321C90-AE94-154A-AF1C-F3A59D510AC0}"/>
                </a:ext>
              </a:extLst>
            </p:cNvPr>
            <p:cNvCxnSpPr>
              <a:stCxn id="86" idx="2"/>
              <a:endCxn id="70" idx="5"/>
            </p:cNvCxnSpPr>
            <p:nvPr/>
          </p:nvCxnSpPr>
          <p:spPr bwMode="auto">
            <a:xfrm flipH="1" flipV="1">
              <a:off x="3381292" y="3613388"/>
              <a:ext cx="1651332" cy="85972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10FDBE0-3461-884B-B9AF-F4EC675D99C9}"/>
                </a:ext>
              </a:extLst>
            </p:cNvPr>
            <p:cNvCxnSpPr>
              <a:stCxn id="88" idx="4"/>
              <a:endCxn id="86" idx="0"/>
            </p:cNvCxnSpPr>
            <p:nvPr/>
          </p:nvCxnSpPr>
          <p:spPr bwMode="auto">
            <a:xfrm>
              <a:off x="5097205" y="3645024"/>
              <a:ext cx="33612" cy="72008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49BB858F-6B4E-A74F-83DC-9B656F9CD02D}"/>
                </a:ext>
              </a:extLst>
            </p:cNvPr>
            <p:cNvCxnSpPr>
              <a:stCxn id="86" idx="3"/>
              <a:endCxn id="68" idx="6"/>
            </p:cNvCxnSpPr>
            <p:nvPr/>
          </p:nvCxnSpPr>
          <p:spPr bwMode="auto">
            <a:xfrm flipH="1" flipV="1">
              <a:off x="3419872" y="4473116"/>
              <a:ext cx="1641512" cy="76376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DF64DBF8-A1A5-254F-857A-3930C0E7B7E0}"/>
                </a:ext>
              </a:extLst>
            </p:cNvPr>
            <p:cNvCxnSpPr>
              <a:stCxn id="86" idx="4"/>
              <a:endCxn id="84" idx="6"/>
            </p:cNvCxnSpPr>
            <p:nvPr/>
          </p:nvCxnSpPr>
          <p:spPr bwMode="auto">
            <a:xfrm flipH="1">
              <a:off x="4331301" y="4581128"/>
              <a:ext cx="799516" cy="39604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096EF365-C53E-5C44-9FA6-1FAA1F3CBADD}"/>
                </a:ext>
              </a:extLst>
            </p:cNvPr>
            <p:cNvCxnSpPr>
              <a:stCxn id="88" idx="3"/>
              <a:endCxn id="68" idx="7"/>
            </p:cNvCxnSpPr>
            <p:nvPr/>
          </p:nvCxnSpPr>
          <p:spPr bwMode="auto">
            <a:xfrm flipH="1">
              <a:off x="3391112" y="3613388"/>
              <a:ext cx="1636660" cy="783352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0" name="Rectangular Callout 9">
            <a:extLst>
              <a:ext uri="{FF2B5EF4-FFF2-40B4-BE49-F238E27FC236}">
                <a16:creationId xmlns:a16="http://schemas.microsoft.com/office/drawing/2014/main" id="{F7F71516-40AF-CD41-88BE-48ACEF5D579B}"/>
              </a:ext>
            </a:extLst>
          </p:cNvPr>
          <p:cNvSpPr/>
          <p:nvPr/>
        </p:nvSpPr>
        <p:spPr>
          <a:xfrm>
            <a:off x="7596335" y="2455027"/>
            <a:ext cx="1224137" cy="1119756"/>
          </a:xfrm>
          <a:prstGeom prst="wedgeRectCallout">
            <a:avLst>
              <a:gd name="adj1" fmla="val 6990"/>
              <a:gd name="adj2" fmla="val -10170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Graph coloring = register allocation</a:t>
            </a:r>
          </a:p>
        </p:txBody>
      </p:sp>
    </p:spTree>
    <p:extLst>
      <p:ext uri="{BB962C8B-B14F-4D97-AF65-F5344CB8AC3E}">
        <p14:creationId xmlns:p14="http://schemas.microsoft.com/office/powerpoint/2010/main" val="2019275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  <p:bldP spid="4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Register Interference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Construct an undirected graph</a:t>
            </a:r>
          </a:p>
          <a:p>
            <a:pPr lvl="1"/>
            <a:r>
              <a:rPr lang="en-CA" dirty="0"/>
              <a:t>A node for each temporary</a:t>
            </a:r>
          </a:p>
          <a:p>
            <a:pPr lvl="1"/>
            <a:r>
              <a:rPr lang="en-CA" dirty="0"/>
              <a:t>An edge between </a:t>
            </a:r>
            <a:r>
              <a:rPr lang="en-CA" dirty="0">
                <a:solidFill>
                  <a:schemeClr val="accent2"/>
                </a:solidFill>
              </a:rPr>
              <a:t>t</a:t>
            </a:r>
            <a:r>
              <a:rPr lang="en-CA" baseline="-25000" dirty="0">
                <a:solidFill>
                  <a:schemeClr val="accent2"/>
                </a:solidFill>
              </a:rPr>
              <a:t>1</a:t>
            </a:r>
            <a:r>
              <a:rPr lang="en-CA" dirty="0"/>
              <a:t> and </a:t>
            </a:r>
            <a:r>
              <a:rPr lang="en-CA" dirty="0">
                <a:solidFill>
                  <a:schemeClr val="accent2"/>
                </a:solidFill>
              </a:rPr>
              <a:t>t</a:t>
            </a:r>
            <a:r>
              <a:rPr lang="en-CA" baseline="-25000" dirty="0">
                <a:solidFill>
                  <a:schemeClr val="accent2"/>
                </a:solidFill>
              </a:rPr>
              <a:t>2</a:t>
            </a:r>
            <a:r>
              <a:rPr lang="en-CA" dirty="0"/>
              <a:t> if they are live simultaneously at some point in the program </a:t>
            </a:r>
          </a:p>
          <a:p>
            <a:r>
              <a:rPr lang="en-CA" dirty="0"/>
              <a:t>This is the </a:t>
            </a:r>
            <a:r>
              <a:rPr lang="en-CA" i="1" dirty="0">
                <a:solidFill>
                  <a:schemeClr val="accent2"/>
                </a:solidFill>
              </a:rPr>
              <a:t>register interference graph</a:t>
            </a:r>
            <a:r>
              <a:rPr lang="en-CA" dirty="0"/>
              <a:t> (RIG)</a:t>
            </a:r>
          </a:p>
          <a:p>
            <a:pPr lvl="1"/>
            <a:r>
              <a:rPr lang="en-CA" dirty="0"/>
              <a:t>Two temporaries can be allocated to the same register if there is no edge connecting them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63D9E-7E5D-D141-B365-4BE0ED56F47E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625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Register Interference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For our example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pPr marL="0" indent="0">
              <a:buNone/>
            </a:pPr>
            <a:endParaRPr lang="en-CA" dirty="0"/>
          </a:p>
          <a:p>
            <a:r>
              <a:rPr lang="en-CA" dirty="0">
                <a:solidFill>
                  <a:schemeClr val="accent2"/>
                </a:solidFill>
              </a:rPr>
              <a:t>a</a:t>
            </a:r>
            <a:r>
              <a:rPr lang="en-CA" dirty="0"/>
              <a:t> and </a:t>
            </a:r>
            <a:r>
              <a:rPr lang="en-CA" dirty="0">
                <a:solidFill>
                  <a:schemeClr val="accent2"/>
                </a:solidFill>
              </a:rPr>
              <a:t>c</a:t>
            </a:r>
            <a:r>
              <a:rPr lang="en-CA" dirty="0"/>
              <a:t> cannot be in the same register</a:t>
            </a:r>
          </a:p>
          <a:p>
            <a:r>
              <a:rPr lang="en-CA" dirty="0">
                <a:solidFill>
                  <a:schemeClr val="accent2"/>
                </a:solidFill>
              </a:rPr>
              <a:t>a</a:t>
            </a:r>
            <a:r>
              <a:rPr lang="en-CA" dirty="0"/>
              <a:t> and </a:t>
            </a:r>
            <a:r>
              <a:rPr lang="en-CA" dirty="0">
                <a:solidFill>
                  <a:schemeClr val="accent2"/>
                </a:solidFill>
              </a:rPr>
              <a:t>d</a:t>
            </a:r>
            <a:r>
              <a:rPr lang="en-CA" dirty="0"/>
              <a:t> could be in the same register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63D9E-7E5D-D141-B365-4BE0ED56F47E}" type="slidenum">
              <a:rPr lang="en-US" smtClean="0"/>
              <a:pPr/>
              <a:t>9</a:t>
            </a:fld>
            <a:endParaRPr lang="en-US"/>
          </a:p>
        </p:txBody>
      </p:sp>
      <p:grpSp>
        <p:nvGrpSpPr>
          <p:cNvPr id="61" name="Group 60"/>
          <p:cNvGrpSpPr/>
          <p:nvPr/>
        </p:nvGrpSpPr>
        <p:grpSpPr>
          <a:xfrm>
            <a:off x="2915816" y="1239756"/>
            <a:ext cx="2249746" cy="2216252"/>
            <a:chOff x="2796475" y="2550616"/>
            <a:chExt cx="2999661" cy="2955003"/>
          </a:xfrm>
        </p:grpSpPr>
        <p:grpSp>
          <p:nvGrpSpPr>
            <p:cNvPr id="8" name="Group 7"/>
            <p:cNvGrpSpPr/>
            <p:nvPr/>
          </p:nvGrpSpPr>
          <p:grpSpPr>
            <a:xfrm>
              <a:off x="4092620" y="2550616"/>
              <a:ext cx="494236" cy="662360"/>
              <a:chOff x="4092620" y="2550616"/>
              <a:chExt cx="494236" cy="662360"/>
            </a:xfrm>
          </p:grpSpPr>
          <p:sp>
            <p:nvSpPr>
              <p:cNvPr id="6" name="Oval 5"/>
              <p:cNvSpPr/>
              <p:nvPr/>
            </p:nvSpPr>
            <p:spPr bwMode="auto">
              <a:xfrm>
                <a:off x="4149772" y="2996952"/>
                <a:ext cx="196385" cy="216024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580" tIns="34290" rIns="68580" bIns="34290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en-CA" sz="1800" dirty="0">
                  <a:latin typeface="Calibri"/>
                </a:endParaRP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4092620" y="2550616"/>
                <a:ext cx="494236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1800" b="1" dirty="0">
                    <a:latin typeface="Calibri"/>
                  </a:rPr>
                  <a:t>a</a:t>
                </a:r>
              </a:p>
            </p:txBody>
          </p:sp>
        </p:grpSp>
        <p:grpSp>
          <p:nvGrpSpPr>
            <p:cNvPr id="9" name="Group 8"/>
            <p:cNvGrpSpPr/>
            <p:nvPr/>
          </p:nvGrpSpPr>
          <p:grpSpPr>
            <a:xfrm>
              <a:off x="4999012" y="3111351"/>
              <a:ext cx="725116" cy="533673"/>
              <a:chOff x="4149772" y="2679303"/>
              <a:chExt cx="725116" cy="533673"/>
            </a:xfrm>
          </p:grpSpPr>
          <p:sp>
            <p:nvSpPr>
              <p:cNvPr id="10" name="Oval 9"/>
              <p:cNvSpPr/>
              <p:nvPr/>
            </p:nvSpPr>
            <p:spPr bwMode="auto">
              <a:xfrm>
                <a:off x="4149772" y="2996952"/>
                <a:ext cx="196385" cy="216024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580" tIns="34290" rIns="68580" bIns="34290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en-CA" sz="1800" dirty="0">
                  <a:latin typeface="Calibri"/>
                </a:endParaRP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4380652" y="2679303"/>
                <a:ext cx="494236" cy="4924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1800" b="1" dirty="0">
                    <a:latin typeface="Calibri"/>
                  </a:rPr>
                  <a:t>b</a:t>
                </a:r>
              </a:p>
            </p:txBody>
          </p:sp>
        </p:grpSp>
        <p:grpSp>
          <p:nvGrpSpPr>
            <p:cNvPr id="12" name="Group 11"/>
            <p:cNvGrpSpPr/>
            <p:nvPr/>
          </p:nvGrpSpPr>
          <p:grpSpPr>
            <a:xfrm>
              <a:off x="5032624" y="4191471"/>
              <a:ext cx="763512" cy="492442"/>
              <a:chOff x="4149772" y="2823319"/>
              <a:chExt cx="763512" cy="492442"/>
            </a:xfrm>
          </p:grpSpPr>
          <p:sp>
            <p:nvSpPr>
              <p:cNvPr id="13" name="Oval 12"/>
              <p:cNvSpPr/>
              <p:nvPr/>
            </p:nvSpPr>
            <p:spPr bwMode="auto">
              <a:xfrm>
                <a:off x="4149772" y="2996952"/>
                <a:ext cx="196385" cy="216024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580" tIns="34290" rIns="68580" bIns="34290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en-CA" sz="1800" dirty="0">
                  <a:latin typeface="Calibri"/>
                </a:endParaRP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4419048" y="2823319"/>
                <a:ext cx="494236" cy="4924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1800" b="1" dirty="0">
                    <a:latin typeface="Calibri"/>
                  </a:rPr>
                  <a:t>c</a:t>
                </a:r>
              </a:p>
            </p:txBody>
          </p:sp>
        </p:grpSp>
        <p:grpSp>
          <p:nvGrpSpPr>
            <p:cNvPr id="15" name="Group 14"/>
            <p:cNvGrpSpPr/>
            <p:nvPr/>
          </p:nvGrpSpPr>
          <p:grpSpPr>
            <a:xfrm>
              <a:off x="4077764" y="4869160"/>
              <a:ext cx="494236" cy="636459"/>
              <a:chOff x="4092620" y="2996952"/>
              <a:chExt cx="494236" cy="636459"/>
            </a:xfrm>
          </p:grpSpPr>
          <p:sp>
            <p:nvSpPr>
              <p:cNvPr id="16" name="Oval 15"/>
              <p:cNvSpPr/>
              <p:nvPr/>
            </p:nvSpPr>
            <p:spPr bwMode="auto">
              <a:xfrm>
                <a:off x="4149772" y="2996952"/>
                <a:ext cx="196385" cy="216024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580" tIns="34290" rIns="68580" bIns="34290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en-CA" sz="1800" dirty="0">
                  <a:latin typeface="Calibri"/>
                </a:endParaRPr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4092620" y="3140968"/>
                <a:ext cx="494236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1800" b="1" dirty="0">
                    <a:latin typeface="Calibri"/>
                  </a:rPr>
                  <a:t>d</a:t>
                </a:r>
              </a:p>
            </p:txBody>
          </p:sp>
        </p:grpSp>
        <p:grpSp>
          <p:nvGrpSpPr>
            <p:cNvPr id="18" name="Group 17"/>
            <p:cNvGrpSpPr/>
            <p:nvPr/>
          </p:nvGrpSpPr>
          <p:grpSpPr>
            <a:xfrm>
              <a:off x="2796475" y="3068960"/>
              <a:ext cx="613577" cy="576064"/>
              <a:chOff x="3732580" y="2636912"/>
              <a:chExt cx="613577" cy="576064"/>
            </a:xfrm>
          </p:grpSpPr>
          <p:sp>
            <p:nvSpPr>
              <p:cNvPr id="19" name="Oval 18"/>
              <p:cNvSpPr/>
              <p:nvPr/>
            </p:nvSpPr>
            <p:spPr bwMode="auto">
              <a:xfrm>
                <a:off x="4149772" y="2996952"/>
                <a:ext cx="196385" cy="216024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580" tIns="34290" rIns="68580" bIns="34290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en-CA" sz="1800" dirty="0">
                  <a:latin typeface="Calibri"/>
                </a:endParaRPr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3732580" y="2636912"/>
                <a:ext cx="494236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1800" b="1" dirty="0">
                    <a:latin typeface="Calibri"/>
                  </a:rPr>
                  <a:t>f</a:t>
                </a:r>
              </a:p>
            </p:txBody>
          </p:sp>
        </p:grpSp>
        <p:grpSp>
          <p:nvGrpSpPr>
            <p:cNvPr id="21" name="Group 20"/>
            <p:cNvGrpSpPr/>
            <p:nvPr/>
          </p:nvGrpSpPr>
          <p:grpSpPr>
            <a:xfrm>
              <a:off x="2868483" y="4191471"/>
              <a:ext cx="551389" cy="492442"/>
              <a:chOff x="3794768" y="2823319"/>
              <a:chExt cx="551389" cy="492442"/>
            </a:xfrm>
          </p:grpSpPr>
          <p:sp>
            <p:nvSpPr>
              <p:cNvPr id="22" name="Oval 21"/>
              <p:cNvSpPr/>
              <p:nvPr/>
            </p:nvSpPr>
            <p:spPr bwMode="auto">
              <a:xfrm>
                <a:off x="4149772" y="2996952"/>
                <a:ext cx="196385" cy="216024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580" tIns="34290" rIns="68580" bIns="34290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en-CA" sz="1800" dirty="0">
                  <a:latin typeface="Calibri"/>
                </a:endParaRP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3794768" y="2823319"/>
                <a:ext cx="494236" cy="4924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1800" b="1" dirty="0">
                    <a:latin typeface="Calibri"/>
                  </a:rPr>
                  <a:t>e</a:t>
                </a:r>
              </a:p>
            </p:txBody>
          </p:sp>
        </p:grpSp>
        <p:cxnSp>
          <p:nvCxnSpPr>
            <p:cNvPr id="25" name="Straight Connector 24"/>
            <p:cNvCxnSpPr>
              <a:stCxn id="6" idx="2"/>
              <a:endCxn id="19" idx="7"/>
            </p:cNvCxnSpPr>
            <p:nvPr/>
          </p:nvCxnSpPr>
          <p:spPr bwMode="auto">
            <a:xfrm flipH="1">
              <a:off x="3381292" y="3104964"/>
              <a:ext cx="768480" cy="355672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" name="Straight Connector 26"/>
            <p:cNvCxnSpPr>
              <a:stCxn id="22" idx="0"/>
              <a:endCxn id="19" idx="4"/>
            </p:cNvCxnSpPr>
            <p:nvPr/>
          </p:nvCxnSpPr>
          <p:spPr bwMode="auto">
            <a:xfrm flipH="1" flipV="1">
              <a:off x="3311860" y="3645024"/>
              <a:ext cx="9820" cy="72008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" name="Straight Connector 30"/>
            <p:cNvCxnSpPr>
              <a:stCxn id="16" idx="1"/>
              <a:endCxn id="19" idx="5"/>
            </p:cNvCxnSpPr>
            <p:nvPr/>
          </p:nvCxnSpPr>
          <p:spPr bwMode="auto">
            <a:xfrm flipH="1" flipV="1">
              <a:off x="3381292" y="3613388"/>
              <a:ext cx="782384" cy="128740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4" name="Straight Connector 33"/>
            <p:cNvCxnSpPr>
              <a:stCxn id="16" idx="2"/>
              <a:endCxn id="22" idx="5"/>
            </p:cNvCxnSpPr>
            <p:nvPr/>
          </p:nvCxnSpPr>
          <p:spPr bwMode="auto">
            <a:xfrm flipH="1" flipV="1">
              <a:off x="3391112" y="4549492"/>
              <a:ext cx="743804" cy="42768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7" name="Straight Connector 36"/>
            <p:cNvCxnSpPr>
              <a:stCxn id="6" idx="5"/>
              <a:endCxn id="13" idx="1"/>
            </p:cNvCxnSpPr>
            <p:nvPr/>
          </p:nvCxnSpPr>
          <p:spPr bwMode="auto">
            <a:xfrm>
              <a:off x="4317397" y="3181340"/>
              <a:ext cx="743987" cy="12154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0" name="Straight Connector 39"/>
            <p:cNvCxnSpPr>
              <a:stCxn id="10" idx="2"/>
              <a:endCxn id="19" idx="6"/>
            </p:cNvCxnSpPr>
            <p:nvPr/>
          </p:nvCxnSpPr>
          <p:spPr bwMode="auto">
            <a:xfrm flipH="1">
              <a:off x="3410052" y="3537012"/>
              <a:ext cx="158896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4" name="Straight Connector 43"/>
            <p:cNvCxnSpPr>
              <a:stCxn id="13" idx="2"/>
              <a:endCxn id="19" idx="5"/>
            </p:cNvCxnSpPr>
            <p:nvPr/>
          </p:nvCxnSpPr>
          <p:spPr bwMode="auto">
            <a:xfrm flipH="1" flipV="1">
              <a:off x="3381292" y="3613388"/>
              <a:ext cx="1651332" cy="85972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8" name="Straight Connector 47"/>
            <p:cNvCxnSpPr>
              <a:stCxn id="10" idx="4"/>
              <a:endCxn id="13" idx="0"/>
            </p:cNvCxnSpPr>
            <p:nvPr/>
          </p:nvCxnSpPr>
          <p:spPr bwMode="auto">
            <a:xfrm>
              <a:off x="5097205" y="3645024"/>
              <a:ext cx="33612" cy="72008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2" name="Straight Connector 51"/>
            <p:cNvCxnSpPr>
              <a:stCxn id="13" idx="3"/>
              <a:endCxn id="22" idx="6"/>
            </p:cNvCxnSpPr>
            <p:nvPr/>
          </p:nvCxnSpPr>
          <p:spPr bwMode="auto">
            <a:xfrm flipH="1" flipV="1">
              <a:off x="3419872" y="4473116"/>
              <a:ext cx="1641512" cy="76376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5" name="Straight Connector 54"/>
            <p:cNvCxnSpPr>
              <a:stCxn id="13" idx="4"/>
              <a:endCxn id="16" idx="6"/>
            </p:cNvCxnSpPr>
            <p:nvPr/>
          </p:nvCxnSpPr>
          <p:spPr bwMode="auto">
            <a:xfrm flipH="1">
              <a:off x="4331301" y="4581128"/>
              <a:ext cx="799516" cy="39604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8" name="Straight Connector 57"/>
            <p:cNvCxnSpPr>
              <a:stCxn id="10" idx="3"/>
              <a:endCxn id="22" idx="7"/>
            </p:cNvCxnSpPr>
            <p:nvPr/>
          </p:nvCxnSpPr>
          <p:spPr bwMode="auto">
            <a:xfrm flipH="1">
              <a:off x="3391112" y="3613388"/>
              <a:ext cx="1636660" cy="783352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6163544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Register Interference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Extracts exactly the information we need to characterize legal register allocation </a:t>
            </a:r>
          </a:p>
          <a:p>
            <a:r>
              <a:rPr lang="en-CA" dirty="0"/>
              <a:t>Gives the global view (i.e., over the entire control flow graph) of the register requirements</a:t>
            </a:r>
          </a:p>
          <a:p>
            <a:r>
              <a:rPr lang="en-CA" dirty="0"/>
              <a:t>After RIG construction the register allocation algorithm is architecture independent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63D9E-7E5D-D141-B365-4BE0ED56F47E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74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Graph Coloring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 coloring of a graph is an assignment of colors to nodes, such that nodes connected by an edge have different colors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A graph is k-colorable if it has a coloring with k colors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63D9E-7E5D-D141-B365-4BE0ED56F47E}" type="slidenum">
              <a:rPr lang="en-US" smtClean="0"/>
              <a:pPr/>
              <a:t>11</a:t>
            </a:fld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1187624" y="3000971"/>
            <a:ext cx="1605450" cy="888315"/>
            <a:chOff x="3285676" y="2550616"/>
            <a:chExt cx="2140600" cy="1184420"/>
          </a:xfrm>
        </p:grpSpPr>
        <p:grpSp>
          <p:nvGrpSpPr>
            <p:cNvPr id="7" name="Group 6"/>
            <p:cNvGrpSpPr/>
            <p:nvPr/>
          </p:nvGrpSpPr>
          <p:grpSpPr>
            <a:xfrm>
              <a:off x="4092620" y="2550616"/>
              <a:ext cx="494236" cy="662360"/>
              <a:chOff x="4092620" y="2550616"/>
              <a:chExt cx="494236" cy="662360"/>
            </a:xfrm>
          </p:grpSpPr>
          <p:sp>
            <p:nvSpPr>
              <p:cNvPr id="34" name="Oval 33"/>
              <p:cNvSpPr/>
              <p:nvPr/>
            </p:nvSpPr>
            <p:spPr bwMode="auto">
              <a:xfrm>
                <a:off x="4149772" y="2996952"/>
                <a:ext cx="196385" cy="216024"/>
              </a:xfrm>
              <a:prstGeom prst="ellipse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580" tIns="34290" rIns="68580" bIns="34290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en-CA" sz="1800" dirty="0">
                  <a:latin typeface="Calibri"/>
                </a:endParaRPr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4092620" y="2550616"/>
                <a:ext cx="494236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1800" b="1" dirty="0">
                    <a:latin typeface="Calibri"/>
                  </a:rPr>
                  <a:t>a</a:t>
                </a:r>
              </a:p>
            </p:txBody>
          </p:sp>
        </p:grpSp>
        <p:grpSp>
          <p:nvGrpSpPr>
            <p:cNvPr id="9" name="Group 8"/>
            <p:cNvGrpSpPr/>
            <p:nvPr/>
          </p:nvGrpSpPr>
          <p:grpSpPr>
            <a:xfrm>
              <a:off x="4648872" y="3242593"/>
              <a:ext cx="777404" cy="492443"/>
              <a:chOff x="3766020" y="1874441"/>
              <a:chExt cx="777404" cy="492443"/>
            </a:xfrm>
          </p:grpSpPr>
          <p:sp>
            <p:nvSpPr>
              <p:cNvPr id="30" name="Oval 29"/>
              <p:cNvSpPr/>
              <p:nvPr/>
            </p:nvSpPr>
            <p:spPr bwMode="auto">
              <a:xfrm>
                <a:off x="3766020" y="2090465"/>
                <a:ext cx="196385" cy="216024"/>
              </a:xfrm>
              <a:prstGeom prst="ellipse">
                <a:avLst/>
              </a:prstGeom>
              <a:solidFill>
                <a:srgbClr val="00B05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580" tIns="34290" rIns="68580" bIns="34290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en-CA" sz="1800" dirty="0">
                  <a:latin typeface="Calibri"/>
                </a:endParaRPr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4049188" y="1874441"/>
                <a:ext cx="494236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1800" b="1" dirty="0">
                    <a:latin typeface="Calibri"/>
                  </a:rPr>
                  <a:t>c</a:t>
                </a:r>
              </a:p>
            </p:txBody>
          </p:sp>
        </p:grpSp>
        <p:grpSp>
          <p:nvGrpSpPr>
            <p:cNvPr id="11" name="Group 10"/>
            <p:cNvGrpSpPr/>
            <p:nvPr/>
          </p:nvGrpSpPr>
          <p:grpSpPr>
            <a:xfrm>
              <a:off x="3285676" y="3212976"/>
              <a:ext cx="546605" cy="492442"/>
              <a:chOff x="4221781" y="2780928"/>
              <a:chExt cx="546605" cy="492442"/>
            </a:xfrm>
          </p:grpSpPr>
          <p:sp>
            <p:nvSpPr>
              <p:cNvPr id="26" name="Oval 25"/>
              <p:cNvSpPr/>
              <p:nvPr/>
            </p:nvSpPr>
            <p:spPr bwMode="auto">
              <a:xfrm>
                <a:off x="4572001" y="3026569"/>
                <a:ext cx="196385" cy="216024"/>
              </a:xfrm>
              <a:prstGeom prst="ellipse">
                <a:avLst/>
              </a:prstGeom>
              <a:solidFill>
                <a:srgbClr val="00B0F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580" tIns="34290" rIns="68580" bIns="34290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en-CA" sz="1800" dirty="0">
                  <a:latin typeface="Calibri"/>
                </a:endParaRPr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>
                <a:off x="4221781" y="2780928"/>
                <a:ext cx="494236" cy="4924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1800" b="1" dirty="0">
                    <a:latin typeface="Calibri"/>
                  </a:rPr>
                  <a:t>f</a:t>
                </a:r>
              </a:p>
            </p:txBody>
          </p:sp>
        </p:grpSp>
        <p:cxnSp>
          <p:nvCxnSpPr>
            <p:cNvPr id="13" name="Straight Connector 12"/>
            <p:cNvCxnSpPr>
              <a:endCxn id="26" idx="7"/>
            </p:cNvCxnSpPr>
            <p:nvPr/>
          </p:nvCxnSpPr>
          <p:spPr bwMode="auto">
            <a:xfrm flipH="1">
              <a:off x="3803521" y="3212976"/>
              <a:ext cx="430063" cy="27727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" name="Straight Connector 16"/>
            <p:cNvCxnSpPr>
              <a:stCxn id="34" idx="4"/>
              <a:endCxn id="30" idx="1"/>
            </p:cNvCxnSpPr>
            <p:nvPr/>
          </p:nvCxnSpPr>
          <p:spPr bwMode="auto">
            <a:xfrm>
              <a:off x="4247965" y="3212976"/>
              <a:ext cx="429667" cy="27727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" name="Straight Connector 18"/>
            <p:cNvCxnSpPr>
              <a:stCxn id="30" idx="2"/>
              <a:endCxn id="26" idx="6"/>
            </p:cNvCxnSpPr>
            <p:nvPr/>
          </p:nvCxnSpPr>
          <p:spPr bwMode="auto">
            <a:xfrm flipH="1">
              <a:off x="3832281" y="3566629"/>
              <a:ext cx="816591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1584962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700" dirty="0"/>
              <a:t>Register Allocation as Graph Coloring</a:t>
            </a:r>
            <a:endParaRPr lang="en-CA" sz="27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In our problem, colors = registers</a:t>
            </a:r>
          </a:p>
          <a:p>
            <a:r>
              <a:rPr lang="en-CA" dirty="0"/>
              <a:t>We need to assign colors (registers) to graph nodes (temporaries)</a:t>
            </a:r>
          </a:p>
          <a:p>
            <a:r>
              <a:rPr lang="en-CA" dirty="0"/>
              <a:t>Let </a:t>
            </a:r>
            <a:r>
              <a:rPr lang="en-CA" dirty="0">
                <a:solidFill>
                  <a:schemeClr val="accent2"/>
                </a:solidFill>
              </a:rPr>
              <a:t>k</a:t>
            </a:r>
            <a:r>
              <a:rPr lang="en-CA" dirty="0"/>
              <a:t> = number of machine registers</a:t>
            </a:r>
          </a:p>
          <a:p>
            <a:r>
              <a:rPr lang="en-CA" dirty="0"/>
              <a:t>If the RIG is k-colorable then there is a register assignment that uses no more than </a:t>
            </a:r>
            <a:r>
              <a:rPr lang="en-CA" dirty="0">
                <a:solidFill>
                  <a:schemeClr val="accent2"/>
                </a:solidFill>
              </a:rPr>
              <a:t>k</a:t>
            </a:r>
            <a:r>
              <a:rPr lang="en-CA" dirty="0"/>
              <a:t> registers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63D9E-7E5D-D141-B365-4BE0ED56F47E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341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For our example 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r>
              <a:rPr lang="en-CA" dirty="0"/>
              <a:t>There is no coloring with less than 4 colors</a:t>
            </a:r>
          </a:p>
          <a:p>
            <a:r>
              <a:rPr lang="en-CA" dirty="0"/>
              <a:t>There is a 4-coloring of this graph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63D9E-7E5D-D141-B365-4BE0ED56F47E}" type="slidenum">
              <a:rPr lang="en-US" smtClean="0"/>
              <a:pPr/>
              <a:t>13</a:t>
            </a:fld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2915816" y="970570"/>
            <a:ext cx="2808312" cy="2486282"/>
            <a:chOff x="2483768" y="2190576"/>
            <a:chExt cx="3744416" cy="3315043"/>
          </a:xfrm>
        </p:grpSpPr>
        <p:grpSp>
          <p:nvGrpSpPr>
            <p:cNvPr id="7" name="Group 6"/>
            <p:cNvGrpSpPr/>
            <p:nvPr/>
          </p:nvGrpSpPr>
          <p:grpSpPr>
            <a:xfrm>
              <a:off x="4092620" y="2190576"/>
              <a:ext cx="494236" cy="1022400"/>
              <a:chOff x="4092620" y="2190576"/>
              <a:chExt cx="494236" cy="1022400"/>
            </a:xfrm>
          </p:grpSpPr>
          <p:sp>
            <p:nvSpPr>
              <p:cNvPr id="34" name="Oval 33"/>
              <p:cNvSpPr/>
              <p:nvPr/>
            </p:nvSpPr>
            <p:spPr bwMode="auto">
              <a:xfrm>
                <a:off x="4149772" y="2996952"/>
                <a:ext cx="196385" cy="216024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580" tIns="34290" rIns="68580" bIns="34290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en-CA" sz="1800" dirty="0">
                  <a:latin typeface="Calibri"/>
                </a:endParaRPr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4092620" y="2190576"/>
                <a:ext cx="494236" cy="861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1800" b="1" dirty="0">
                    <a:solidFill>
                      <a:srgbClr val="00B050"/>
                    </a:solidFill>
                    <a:latin typeface="Calibri"/>
                  </a:rPr>
                  <a:t>r</a:t>
                </a:r>
                <a:r>
                  <a:rPr lang="en-CA" sz="1800" b="1" baseline="-25000" dirty="0">
                    <a:solidFill>
                      <a:srgbClr val="00B050"/>
                    </a:solidFill>
                    <a:latin typeface="Calibri"/>
                  </a:rPr>
                  <a:t>2</a:t>
                </a:r>
                <a:endParaRPr lang="en-CA" sz="1800" b="1" dirty="0">
                  <a:solidFill>
                    <a:srgbClr val="00B050"/>
                  </a:solidFill>
                  <a:latin typeface="Calibri"/>
                </a:endParaRPr>
              </a:p>
              <a:p>
                <a:r>
                  <a:rPr lang="en-CA" sz="1800" b="1" dirty="0">
                    <a:latin typeface="Calibri"/>
                  </a:rPr>
                  <a:t>a</a:t>
                </a:r>
              </a:p>
            </p:txBody>
          </p:sp>
        </p:grpSp>
        <p:grpSp>
          <p:nvGrpSpPr>
            <p:cNvPr id="8" name="Group 7"/>
            <p:cNvGrpSpPr/>
            <p:nvPr/>
          </p:nvGrpSpPr>
          <p:grpSpPr>
            <a:xfrm>
              <a:off x="4999012" y="3111351"/>
              <a:ext cx="1013148" cy="533673"/>
              <a:chOff x="4149772" y="2679303"/>
              <a:chExt cx="1013148" cy="533673"/>
            </a:xfrm>
          </p:grpSpPr>
          <p:sp>
            <p:nvSpPr>
              <p:cNvPr id="32" name="Oval 31"/>
              <p:cNvSpPr/>
              <p:nvPr/>
            </p:nvSpPr>
            <p:spPr bwMode="auto">
              <a:xfrm>
                <a:off x="4149772" y="2996952"/>
                <a:ext cx="196385" cy="216024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580" tIns="34290" rIns="68580" bIns="34290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en-CA" sz="1800" dirty="0">
                  <a:latin typeface="Calibri"/>
                </a:endParaRPr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4380652" y="2679303"/>
                <a:ext cx="782268" cy="4924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1800" b="1" dirty="0">
                    <a:latin typeface="Calibri"/>
                  </a:rPr>
                  <a:t>b </a:t>
                </a:r>
                <a:r>
                  <a:rPr lang="en-CA" sz="1800" b="1" dirty="0">
                    <a:solidFill>
                      <a:srgbClr val="FF0000"/>
                    </a:solidFill>
                    <a:latin typeface="Calibri"/>
                  </a:rPr>
                  <a:t>r</a:t>
                </a:r>
                <a:r>
                  <a:rPr lang="en-CA" sz="1800" b="1" baseline="-25000" dirty="0">
                    <a:solidFill>
                      <a:srgbClr val="FF0000"/>
                    </a:solidFill>
                    <a:latin typeface="Calibri"/>
                  </a:rPr>
                  <a:t>3</a:t>
                </a:r>
                <a:endParaRPr lang="en-CA" sz="1800" b="1" dirty="0">
                  <a:solidFill>
                    <a:srgbClr val="FF0000"/>
                  </a:solidFill>
                  <a:latin typeface="Calibri"/>
                </a:endParaRPr>
              </a:p>
            </p:txBody>
          </p:sp>
        </p:grpSp>
        <p:grpSp>
          <p:nvGrpSpPr>
            <p:cNvPr id="9" name="Group 8"/>
            <p:cNvGrpSpPr/>
            <p:nvPr/>
          </p:nvGrpSpPr>
          <p:grpSpPr>
            <a:xfrm>
              <a:off x="5032624" y="4191471"/>
              <a:ext cx="1195560" cy="492442"/>
              <a:chOff x="4149772" y="2823319"/>
              <a:chExt cx="1195560" cy="492442"/>
            </a:xfrm>
          </p:grpSpPr>
          <p:sp>
            <p:nvSpPr>
              <p:cNvPr id="30" name="Oval 29"/>
              <p:cNvSpPr/>
              <p:nvPr/>
            </p:nvSpPr>
            <p:spPr bwMode="auto">
              <a:xfrm>
                <a:off x="4149772" y="2996952"/>
                <a:ext cx="196385" cy="216024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580" tIns="34290" rIns="68580" bIns="34290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en-CA" sz="1800" dirty="0">
                  <a:latin typeface="Calibri"/>
                </a:endParaRPr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4419048" y="2823319"/>
                <a:ext cx="926284" cy="4924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1800" b="1" dirty="0">
                    <a:latin typeface="Calibri"/>
                  </a:rPr>
                  <a:t>c  r</a:t>
                </a:r>
                <a:r>
                  <a:rPr lang="en-CA" sz="1800" b="1" baseline="-25000" dirty="0">
                    <a:latin typeface="Calibri"/>
                  </a:rPr>
                  <a:t>4</a:t>
                </a:r>
                <a:endParaRPr lang="en-CA" sz="1800" b="1" dirty="0">
                  <a:latin typeface="Calibri"/>
                </a:endParaRPr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4077764" y="4869160"/>
              <a:ext cx="921248" cy="636459"/>
              <a:chOff x="4092620" y="2996952"/>
              <a:chExt cx="921248" cy="636459"/>
            </a:xfrm>
          </p:grpSpPr>
          <p:sp>
            <p:nvSpPr>
              <p:cNvPr id="28" name="Oval 27"/>
              <p:cNvSpPr/>
              <p:nvPr/>
            </p:nvSpPr>
            <p:spPr bwMode="auto">
              <a:xfrm>
                <a:off x="4149772" y="2996952"/>
                <a:ext cx="196385" cy="216024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580" tIns="34290" rIns="68580" bIns="34290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en-CA" sz="1800" dirty="0">
                  <a:latin typeface="Calibri"/>
                </a:endParaRPr>
              </a:p>
            </p:txBody>
          </p:sp>
          <p:sp>
            <p:nvSpPr>
              <p:cNvPr id="29" name="TextBox 28"/>
              <p:cNvSpPr txBox="1"/>
              <p:nvPr/>
            </p:nvSpPr>
            <p:spPr>
              <a:xfrm>
                <a:off x="4092620" y="3140968"/>
                <a:ext cx="921248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1800" b="1" dirty="0">
                    <a:latin typeface="Calibri"/>
                  </a:rPr>
                  <a:t>d  </a:t>
                </a:r>
                <a:r>
                  <a:rPr lang="en-CA" sz="1800" b="1" dirty="0">
                    <a:solidFill>
                      <a:srgbClr val="FF0000"/>
                    </a:solidFill>
                    <a:latin typeface="Calibri"/>
                  </a:rPr>
                  <a:t>r</a:t>
                </a:r>
                <a:r>
                  <a:rPr lang="en-CA" sz="1800" b="1" baseline="-25000" dirty="0">
                    <a:solidFill>
                      <a:srgbClr val="FF0000"/>
                    </a:solidFill>
                    <a:latin typeface="Calibri"/>
                  </a:rPr>
                  <a:t>3</a:t>
                </a:r>
                <a:endParaRPr lang="en-CA" sz="1800" b="1" dirty="0">
                  <a:solidFill>
                    <a:srgbClr val="FF0000"/>
                  </a:solidFill>
                  <a:latin typeface="Calibri"/>
                </a:endParaRPr>
              </a:p>
            </p:txBody>
          </p:sp>
        </p:grpSp>
        <p:grpSp>
          <p:nvGrpSpPr>
            <p:cNvPr id="11" name="Group 10"/>
            <p:cNvGrpSpPr/>
            <p:nvPr/>
          </p:nvGrpSpPr>
          <p:grpSpPr>
            <a:xfrm>
              <a:off x="2483768" y="3169071"/>
              <a:ext cx="926284" cy="492442"/>
              <a:chOff x="3419873" y="2737023"/>
              <a:chExt cx="926284" cy="492442"/>
            </a:xfrm>
          </p:grpSpPr>
          <p:sp>
            <p:nvSpPr>
              <p:cNvPr id="26" name="Oval 25"/>
              <p:cNvSpPr/>
              <p:nvPr/>
            </p:nvSpPr>
            <p:spPr bwMode="auto">
              <a:xfrm>
                <a:off x="4149772" y="2996952"/>
                <a:ext cx="196385" cy="216024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580" tIns="34290" rIns="68580" bIns="34290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en-CA" sz="1800" dirty="0">
                  <a:latin typeface="Calibri"/>
                </a:endParaRPr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>
                <a:off x="3419873" y="2737023"/>
                <a:ext cx="839421" cy="4924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1800" b="1" dirty="0">
                    <a:solidFill>
                      <a:schemeClr val="accent2"/>
                    </a:solidFill>
                    <a:latin typeface="Calibri"/>
                  </a:rPr>
                  <a:t>r</a:t>
                </a:r>
                <a:r>
                  <a:rPr lang="en-CA" sz="1800" b="1" baseline="-25000" dirty="0">
                    <a:solidFill>
                      <a:schemeClr val="accent2"/>
                    </a:solidFill>
                    <a:latin typeface="Calibri"/>
                  </a:rPr>
                  <a:t>1</a:t>
                </a:r>
                <a:r>
                  <a:rPr lang="en-CA" sz="1800" b="1" dirty="0">
                    <a:latin typeface="Calibri"/>
                  </a:rPr>
                  <a:t> f</a:t>
                </a:r>
              </a:p>
            </p:txBody>
          </p:sp>
        </p:grpSp>
        <p:grpSp>
          <p:nvGrpSpPr>
            <p:cNvPr id="12" name="Group 11"/>
            <p:cNvGrpSpPr/>
            <p:nvPr/>
          </p:nvGrpSpPr>
          <p:grpSpPr>
            <a:xfrm>
              <a:off x="2483768" y="4191471"/>
              <a:ext cx="936104" cy="492442"/>
              <a:chOff x="3410053" y="2823319"/>
              <a:chExt cx="936104" cy="492442"/>
            </a:xfrm>
          </p:grpSpPr>
          <p:sp>
            <p:nvSpPr>
              <p:cNvPr id="24" name="Oval 23"/>
              <p:cNvSpPr/>
              <p:nvPr/>
            </p:nvSpPr>
            <p:spPr bwMode="auto">
              <a:xfrm>
                <a:off x="4149772" y="2996952"/>
                <a:ext cx="196385" cy="216024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580" tIns="34290" rIns="68580" bIns="34290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en-CA" sz="1800" dirty="0">
                  <a:latin typeface="Calibri"/>
                </a:endParaRP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3410053" y="2823319"/>
                <a:ext cx="767413" cy="4924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1800" b="1" dirty="0">
                    <a:solidFill>
                      <a:srgbClr val="00B050"/>
                    </a:solidFill>
                    <a:latin typeface="Calibri"/>
                  </a:rPr>
                  <a:t>r</a:t>
                </a:r>
                <a:r>
                  <a:rPr lang="en-CA" sz="1800" b="1" baseline="-25000" dirty="0">
                    <a:solidFill>
                      <a:srgbClr val="00B050"/>
                    </a:solidFill>
                    <a:latin typeface="Calibri"/>
                  </a:rPr>
                  <a:t>2</a:t>
                </a:r>
                <a:r>
                  <a:rPr lang="en-CA" sz="1800" b="1" dirty="0">
                    <a:latin typeface="Calibri"/>
                  </a:rPr>
                  <a:t> e</a:t>
                </a:r>
              </a:p>
            </p:txBody>
          </p:sp>
        </p:grpSp>
        <p:cxnSp>
          <p:nvCxnSpPr>
            <p:cNvPr id="13" name="Straight Connector 12"/>
            <p:cNvCxnSpPr>
              <a:stCxn id="34" idx="2"/>
              <a:endCxn id="26" idx="7"/>
            </p:cNvCxnSpPr>
            <p:nvPr/>
          </p:nvCxnSpPr>
          <p:spPr bwMode="auto">
            <a:xfrm flipH="1">
              <a:off x="3381292" y="3104964"/>
              <a:ext cx="768480" cy="355672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" name="Straight Connector 13"/>
            <p:cNvCxnSpPr>
              <a:stCxn id="24" idx="0"/>
              <a:endCxn id="26" idx="4"/>
            </p:cNvCxnSpPr>
            <p:nvPr/>
          </p:nvCxnSpPr>
          <p:spPr bwMode="auto">
            <a:xfrm flipH="1" flipV="1">
              <a:off x="3311860" y="3645024"/>
              <a:ext cx="9820" cy="72008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" name="Straight Connector 14"/>
            <p:cNvCxnSpPr>
              <a:stCxn id="28" idx="1"/>
              <a:endCxn id="26" idx="5"/>
            </p:cNvCxnSpPr>
            <p:nvPr/>
          </p:nvCxnSpPr>
          <p:spPr bwMode="auto">
            <a:xfrm flipH="1" flipV="1">
              <a:off x="3381292" y="3613388"/>
              <a:ext cx="782384" cy="128740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" name="Straight Connector 15"/>
            <p:cNvCxnSpPr>
              <a:stCxn id="28" idx="2"/>
              <a:endCxn id="24" idx="5"/>
            </p:cNvCxnSpPr>
            <p:nvPr/>
          </p:nvCxnSpPr>
          <p:spPr bwMode="auto">
            <a:xfrm flipH="1" flipV="1">
              <a:off x="3391112" y="4549492"/>
              <a:ext cx="743804" cy="42768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" name="Straight Connector 16"/>
            <p:cNvCxnSpPr>
              <a:stCxn id="34" idx="5"/>
              <a:endCxn id="30" idx="1"/>
            </p:cNvCxnSpPr>
            <p:nvPr/>
          </p:nvCxnSpPr>
          <p:spPr bwMode="auto">
            <a:xfrm>
              <a:off x="4317397" y="3181340"/>
              <a:ext cx="743987" cy="12154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" name="Straight Connector 17"/>
            <p:cNvCxnSpPr>
              <a:stCxn id="32" idx="2"/>
              <a:endCxn id="26" idx="6"/>
            </p:cNvCxnSpPr>
            <p:nvPr/>
          </p:nvCxnSpPr>
          <p:spPr bwMode="auto">
            <a:xfrm flipH="1">
              <a:off x="3410052" y="3537012"/>
              <a:ext cx="158896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" name="Straight Connector 18"/>
            <p:cNvCxnSpPr>
              <a:stCxn id="30" idx="2"/>
              <a:endCxn id="26" idx="5"/>
            </p:cNvCxnSpPr>
            <p:nvPr/>
          </p:nvCxnSpPr>
          <p:spPr bwMode="auto">
            <a:xfrm flipH="1" flipV="1">
              <a:off x="3381292" y="3613388"/>
              <a:ext cx="1651332" cy="85972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" name="Straight Connector 19"/>
            <p:cNvCxnSpPr>
              <a:stCxn id="32" idx="4"/>
              <a:endCxn id="30" idx="0"/>
            </p:cNvCxnSpPr>
            <p:nvPr/>
          </p:nvCxnSpPr>
          <p:spPr bwMode="auto">
            <a:xfrm>
              <a:off x="5097205" y="3645024"/>
              <a:ext cx="33612" cy="72008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" name="Straight Connector 20"/>
            <p:cNvCxnSpPr>
              <a:stCxn id="30" idx="3"/>
              <a:endCxn id="24" idx="6"/>
            </p:cNvCxnSpPr>
            <p:nvPr/>
          </p:nvCxnSpPr>
          <p:spPr bwMode="auto">
            <a:xfrm flipH="1" flipV="1">
              <a:off x="3419872" y="4473116"/>
              <a:ext cx="1641512" cy="76376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" name="Straight Connector 21"/>
            <p:cNvCxnSpPr>
              <a:stCxn id="30" idx="4"/>
              <a:endCxn id="28" idx="6"/>
            </p:cNvCxnSpPr>
            <p:nvPr/>
          </p:nvCxnSpPr>
          <p:spPr bwMode="auto">
            <a:xfrm flipH="1">
              <a:off x="4331301" y="4581128"/>
              <a:ext cx="799516" cy="39604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" name="Straight Connector 22"/>
            <p:cNvCxnSpPr>
              <a:stCxn id="32" idx="3"/>
              <a:endCxn id="24" idx="7"/>
            </p:cNvCxnSpPr>
            <p:nvPr/>
          </p:nvCxnSpPr>
          <p:spPr bwMode="auto">
            <a:xfrm flipH="1">
              <a:off x="3391112" y="3613388"/>
              <a:ext cx="1636660" cy="783352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24008085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Control Flow Graph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63D9E-7E5D-D141-B365-4BE0ED56F47E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auto">
          <a:xfrm>
            <a:off x="3374866" y="1505470"/>
            <a:ext cx="1242138" cy="86977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CA" sz="1800" dirty="0">
                <a:latin typeface="Calibri"/>
              </a:rPr>
              <a:t>a = </a:t>
            </a:r>
            <a:r>
              <a:rPr lang="en-CA" sz="1800" dirty="0" err="1">
                <a:latin typeface="Calibri"/>
              </a:rPr>
              <a:t>b+c</a:t>
            </a:r>
            <a:endParaRPr lang="en-CA" sz="1800" dirty="0">
              <a:latin typeface="Calibri"/>
            </a:endParaRPr>
          </a:p>
          <a:p>
            <a:pPr algn="ctr"/>
            <a:r>
              <a:rPr lang="en-CA" sz="1800" dirty="0">
                <a:latin typeface="Calibri"/>
              </a:rPr>
              <a:t>d = -a</a:t>
            </a:r>
          </a:p>
          <a:p>
            <a:pPr algn="ctr"/>
            <a:r>
              <a:rPr lang="en-CA" sz="1800" dirty="0">
                <a:latin typeface="Calibri"/>
              </a:rPr>
              <a:t>e = </a:t>
            </a:r>
            <a:r>
              <a:rPr lang="en-CA" sz="1800" dirty="0" err="1">
                <a:latin typeface="Calibri"/>
              </a:rPr>
              <a:t>d+f</a:t>
            </a:r>
            <a:endParaRPr lang="en-CA" sz="1800" dirty="0"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2186734" y="2845721"/>
            <a:ext cx="1242138" cy="36650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00"/>
            <a:r>
              <a:rPr lang="en-CA" sz="1800" dirty="0">
                <a:latin typeface="Calibri"/>
              </a:rPr>
              <a:t>f = 2*e</a:t>
            </a:r>
          </a:p>
        </p:txBody>
      </p:sp>
      <p:sp>
        <p:nvSpPr>
          <p:cNvPr id="8" name="Rectangle 7"/>
          <p:cNvSpPr/>
          <p:nvPr/>
        </p:nvSpPr>
        <p:spPr bwMode="auto">
          <a:xfrm>
            <a:off x="4617004" y="2686215"/>
            <a:ext cx="1242138" cy="60884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00"/>
            <a:r>
              <a:rPr lang="en-CA" sz="1800" dirty="0">
                <a:latin typeface="Calibri"/>
              </a:rPr>
              <a:t>b = </a:t>
            </a:r>
            <a:r>
              <a:rPr lang="en-CA" sz="1800" dirty="0" err="1">
                <a:latin typeface="Calibri"/>
              </a:rPr>
              <a:t>d+e</a:t>
            </a:r>
            <a:endParaRPr lang="en-CA" sz="1800" dirty="0">
              <a:latin typeface="Calibri"/>
            </a:endParaRPr>
          </a:p>
          <a:p>
            <a:pPr algn="ctr" defTabSz="685800"/>
            <a:r>
              <a:rPr lang="en-CA" sz="1800" dirty="0">
                <a:latin typeface="Calibri"/>
              </a:rPr>
              <a:t>e = e-1</a:t>
            </a:r>
          </a:p>
        </p:txBody>
      </p:sp>
      <p:sp>
        <p:nvSpPr>
          <p:cNvPr id="9" name="Rectangle 8"/>
          <p:cNvSpPr/>
          <p:nvPr/>
        </p:nvSpPr>
        <p:spPr bwMode="auto">
          <a:xfrm>
            <a:off x="3396724" y="3903086"/>
            <a:ext cx="1242138" cy="33533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00"/>
            <a:r>
              <a:rPr lang="en-CA" sz="1800" dirty="0">
                <a:latin typeface="Calibri"/>
              </a:rPr>
              <a:t>b = </a:t>
            </a:r>
            <a:r>
              <a:rPr lang="en-CA" sz="1800" dirty="0" err="1">
                <a:latin typeface="Calibri"/>
              </a:rPr>
              <a:t>f+c</a:t>
            </a:r>
            <a:endParaRPr lang="en-CA" sz="1800" dirty="0">
              <a:latin typeface="Calibri"/>
            </a:endParaRPr>
          </a:p>
        </p:txBody>
      </p:sp>
      <p:cxnSp>
        <p:nvCxnSpPr>
          <p:cNvPr id="11" name="Straight Arrow Connector 10"/>
          <p:cNvCxnSpPr>
            <a:stCxn id="6" idx="2"/>
            <a:endCxn id="7" idx="0"/>
          </p:cNvCxnSpPr>
          <p:nvPr/>
        </p:nvCxnSpPr>
        <p:spPr bwMode="auto">
          <a:xfrm flipH="1">
            <a:off x="2807803" y="2375243"/>
            <a:ext cx="1188132" cy="47047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3" name="Straight Arrow Connector 12"/>
          <p:cNvCxnSpPr>
            <a:stCxn id="6" idx="2"/>
            <a:endCxn id="8" idx="0"/>
          </p:cNvCxnSpPr>
          <p:nvPr/>
        </p:nvCxnSpPr>
        <p:spPr bwMode="auto">
          <a:xfrm>
            <a:off x="3995935" y="2375243"/>
            <a:ext cx="1242138" cy="310972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6" name="Straight Arrow Connector 15"/>
          <p:cNvCxnSpPr>
            <a:stCxn id="7" idx="2"/>
            <a:endCxn id="9" idx="0"/>
          </p:cNvCxnSpPr>
          <p:nvPr/>
        </p:nvCxnSpPr>
        <p:spPr bwMode="auto">
          <a:xfrm>
            <a:off x="2807803" y="3212230"/>
            <a:ext cx="1209990" cy="690856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9" name="Straight Arrow Connector 18"/>
          <p:cNvCxnSpPr>
            <a:stCxn id="8" idx="2"/>
            <a:endCxn id="9" idx="0"/>
          </p:cNvCxnSpPr>
          <p:nvPr/>
        </p:nvCxnSpPr>
        <p:spPr bwMode="auto">
          <a:xfrm flipH="1">
            <a:off x="4017793" y="3295056"/>
            <a:ext cx="1220280" cy="60803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8" name="Curved Connector 47"/>
          <p:cNvCxnSpPr>
            <a:stCxn id="9" idx="2"/>
            <a:endCxn id="6" idx="0"/>
          </p:cNvCxnSpPr>
          <p:nvPr/>
        </p:nvCxnSpPr>
        <p:spPr bwMode="auto">
          <a:xfrm rot="5400000" flipH="1">
            <a:off x="2640389" y="2861017"/>
            <a:ext cx="2732951" cy="21858"/>
          </a:xfrm>
          <a:prstGeom prst="curvedConnector5">
            <a:avLst>
              <a:gd name="adj1" fmla="val -6273"/>
              <a:gd name="adj2" fmla="val -12256008"/>
              <a:gd name="adj3" fmla="val 106273"/>
            </a:avLst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3" name="Straight Arrow Connector 52"/>
          <p:cNvCxnSpPr>
            <a:stCxn id="9" idx="2"/>
          </p:cNvCxnSpPr>
          <p:nvPr/>
        </p:nvCxnSpPr>
        <p:spPr bwMode="auto">
          <a:xfrm flipH="1">
            <a:off x="3796790" y="4238422"/>
            <a:ext cx="221003" cy="291385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7" name="Straight Arrow Connector 46"/>
          <p:cNvCxnSpPr>
            <a:stCxn id="8" idx="2"/>
          </p:cNvCxnSpPr>
          <p:nvPr/>
        </p:nvCxnSpPr>
        <p:spPr bwMode="auto">
          <a:xfrm>
            <a:off x="5238073" y="3295055"/>
            <a:ext cx="5370" cy="478667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14360585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Register Allocation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63D9E-7E5D-D141-B365-4BE0ED56F47E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auto">
          <a:xfrm>
            <a:off x="3419872" y="1479579"/>
            <a:ext cx="1242138" cy="86977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CA" sz="1800" dirty="0">
                <a:latin typeface="Calibri"/>
              </a:rPr>
              <a:t>r</a:t>
            </a:r>
            <a:r>
              <a:rPr lang="en-CA" sz="1800" baseline="-25000" dirty="0">
                <a:latin typeface="Calibri"/>
              </a:rPr>
              <a:t>2</a:t>
            </a:r>
            <a:r>
              <a:rPr lang="en-CA" sz="1800" dirty="0">
                <a:latin typeface="Calibri"/>
              </a:rPr>
              <a:t> = r</a:t>
            </a:r>
            <a:r>
              <a:rPr lang="en-CA" sz="1800" baseline="-25000" dirty="0">
                <a:latin typeface="Calibri"/>
              </a:rPr>
              <a:t>3</a:t>
            </a:r>
            <a:r>
              <a:rPr lang="en-CA" sz="1800" dirty="0">
                <a:latin typeface="Calibri"/>
              </a:rPr>
              <a:t> +r</a:t>
            </a:r>
            <a:r>
              <a:rPr lang="en-CA" sz="1800" baseline="-25000" dirty="0">
                <a:latin typeface="Calibri"/>
              </a:rPr>
              <a:t>4</a:t>
            </a:r>
            <a:endParaRPr lang="en-CA" sz="1800" dirty="0">
              <a:latin typeface="Calibri"/>
            </a:endParaRPr>
          </a:p>
          <a:p>
            <a:pPr algn="ctr"/>
            <a:r>
              <a:rPr lang="en-CA" sz="1800" dirty="0">
                <a:latin typeface="Calibri"/>
              </a:rPr>
              <a:t>r</a:t>
            </a:r>
            <a:r>
              <a:rPr lang="en-CA" sz="1800" baseline="-25000" dirty="0">
                <a:latin typeface="Calibri"/>
              </a:rPr>
              <a:t>3</a:t>
            </a:r>
            <a:r>
              <a:rPr lang="en-CA" sz="1800" dirty="0">
                <a:latin typeface="Calibri"/>
              </a:rPr>
              <a:t> = -r</a:t>
            </a:r>
            <a:r>
              <a:rPr lang="en-CA" sz="1800" baseline="-25000" dirty="0">
                <a:latin typeface="Calibri"/>
              </a:rPr>
              <a:t>2</a:t>
            </a:r>
            <a:endParaRPr lang="en-CA" sz="1800" dirty="0">
              <a:latin typeface="Calibri"/>
            </a:endParaRPr>
          </a:p>
          <a:p>
            <a:pPr algn="ctr"/>
            <a:r>
              <a:rPr lang="en-CA" sz="1800" dirty="0">
                <a:latin typeface="Calibri"/>
              </a:rPr>
              <a:t>r</a:t>
            </a:r>
            <a:r>
              <a:rPr lang="en-CA" sz="1800" baseline="-25000" dirty="0">
                <a:latin typeface="Calibri"/>
              </a:rPr>
              <a:t>2</a:t>
            </a:r>
            <a:r>
              <a:rPr lang="en-CA" sz="1800" dirty="0">
                <a:latin typeface="Calibri"/>
              </a:rPr>
              <a:t> = r</a:t>
            </a:r>
            <a:r>
              <a:rPr lang="en-CA" sz="1800" baseline="-25000" dirty="0">
                <a:latin typeface="Calibri"/>
              </a:rPr>
              <a:t>3</a:t>
            </a:r>
            <a:r>
              <a:rPr lang="en-CA" sz="1800" dirty="0">
                <a:latin typeface="Calibri"/>
              </a:rPr>
              <a:t> + r</a:t>
            </a:r>
            <a:r>
              <a:rPr lang="en-CA" sz="1800" baseline="-25000" dirty="0">
                <a:latin typeface="Calibri"/>
              </a:rPr>
              <a:t>1</a:t>
            </a:r>
            <a:endParaRPr lang="en-CA" sz="1800" dirty="0"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2231740" y="2819830"/>
            <a:ext cx="1242138" cy="36650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00"/>
            <a:r>
              <a:rPr lang="en-CA" sz="1800" dirty="0">
                <a:latin typeface="Calibri"/>
              </a:rPr>
              <a:t>r</a:t>
            </a:r>
            <a:r>
              <a:rPr lang="en-CA" sz="1800" baseline="-25000" dirty="0">
                <a:latin typeface="Calibri"/>
              </a:rPr>
              <a:t>1</a:t>
            </a:r>
            <a:r>
              <a:rPr lang="en-CA" sz="1800" dirty="0">
                <a:latin typeface="Calibri"/>
              </a:rPr>
              <a:t> = 2* r</a:t>
            </a:r>
            <a:r>
              <a:rPr lang="en-CA" sz="1800" baseline="-25000" dirty="0">
                <a:latin typeface="Calibri"/>
              </a:rPr>
              <a:t>2</a:t>
            </a:r>
            <a:endParaRPr lang="en-CA" sz="1800" dirty="0"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4662010" y="2660324"/>
            <a:ext cx="1242138" cy="60884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00"/>
            <a:r>
              <a:rPr lang="en-CA" sz="1800" dirty="0">
                <a:latin typeface="Calibri"/>
              </a:rPr>
              <a:t>r</a:t>
            </a:r>
            <a:r>
              <a:rPr lang="en-CA" sz="1800" baseline="-25000" dirty="0">
                <a:latin typeface="Calibri"/>
              </a:rPr>
              <a:t>3</a:t>
            </a:r>
            <a:r>
              <a:rPr lang="en-CA" sz="1800" dirty="0">
                <a:latin typeface="Calibri"/>
              </a:rPr>
              <a:t> = r</a:t>
            </a:r>
            <a:r>
              <a:rPr lang="en-CA" sz="1800" baseline="-25000" dirty="0">
                <a:latin typeface="Calibri"/>
              </a:rPr>
              <a:t>3</a:t>
            </a:r>
            <a:r>
              <a:rPr lang="en-CA" sz="1800" dirty="0">
                <a:latin typeface="Calibri"/>
              </a:rPr>
              <a:t> + r</a:t>
            </a:r>
            <a:r>
              <a:rPr lang="en-CA" sz="1800" baseline="-25000" dirty="0">
                <a:latin typeface="Calibri"/>
              </a:rPr>
              <a:t>2</a:t>
            </a:r>
            <a:endParaRPr lang="en-CA" sz="1800" dirty="0">
              <a:latin typeface="Calibri"/>
            </a:endParaRPr>
          </a:p>
          <a:p>
            <a:pPr algn="ctr" defTabSz="685800"/>
            <a:r>
              <a:rPr lang="en-CA" sz="1800" dirty="0">
                <a:latin typeface="Calibri"/>
              </a:rPr>
              <a:t>r</a:t>
            </a:r>
            <a:r>
              <a:rPr lang="en-CA" sz="1800" baseline="-25000" dirty="0">
                <a:latin typeface="Calibri"/>
              </a:rPr>
              <a:t>2</a:t>
            </a:r>
            <a:r>
              <a:rPr lang="en-CA" sz="1800" dirty="0">
                <a:latin typeface="Calibri"/>
              </a:rPr>
              <a:t> = r</a:t>
            </a:r>
            <a:r>
              <a:rPr lang="en-CA" sz="1800" baseline="-25000" dirty="0">
                <a:latin typeface="Calibri"/>
              </a:rPr>
              <a:t>2</a:t>
            </a:r>
            <a:r>
              <a:rPr lang="en-CA" sz="1800" dirty="0">
                <a:latin typeface="Calibri"/>
              </a:rPr>
              <a:t> -1</a:t>
            </a:r>
          </a:p>
        </p:txBody>
      </p:sp>
      <p:sp>
        <p:nvSpPr>
          <p:cNvPr id="9" name="Rectangle 8"/>
          <p:cNvSpPr/>
          <p:nvPr/>
        </p:nvSpPr>
        <p:spPr bwMode="auto">
          <a:xfrm>
            <a:off x="3441730" y="3877195"/>
            <a:ext cx="1242138" cy="33533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00"/>
            <a:r>
              <a:rPr lang="en-CA" sz="1800" dirty="0">
                <a:latin typeface="Calibri"/>
              </a:rPr>
              <a:t>r</a:t>
            </a:r>
            <a:r>
              <a:rPr lang="en-CA" sz="1800" baseline="-25000" dirty="0">
                <a:latin typeface="Calibri"/>
              </a:rPr>
              <a:t>3</a:t>
            </a:r>
            <a:r>
              <a:rPr lang="en-CA" sz="1800" dirty="0">
                <a:latin typeface="Calibri"/>
              </a:rPr>
              <a:t> = r</a:t>
            </a:r>
            <a:r>
              <a:rPr lang="en-CA" sz="1800" baseline="-25000" dirty="0">
                <a:latin typeface="Calibri"/>
              </a:rPr>
              <a:t>1</a:t>
            </a:r>
            <a:r>
              <a:rPr lang="en-CA" sz="1800" dirty="0">
                <a:latin typeface="Calibri"/>
              </a:rPr>
              <a:t> + r</a:t>
            </a:r>
            <a:r>
              <a:rPr lang="en-CA" sz="1800" baseline="-25000" dirty="0">
                <a:latin typeface="Calibri"/>
              </a:rPr>
              <a:t>4</a:t>
            </a:r>
            <a:endParaRPr lang="en-CA" sz="1800" dirty="0">
              <a:latin typeface="Calibri"/>
            </a:endParaRPr>
          </a:p>
        </p:txBody>
      </p:sp>
      <p:cxnSp>
        <p:nvCxnSpPr>
          <p:cNvPr id="11" name="Straight Arrow Connector 10"/>
          <p:cNvCxnSpPr>
            <a:stCxn id="6" idx="2"/>
            <a:endCxn id="7" idx="0"/>
          </p:cNvCxnSpPr>
          <p:nvPr/>
        </p:nvCxnSpPr>
        <p:spPr bwMode="auto">
          <a:xfrm flipH="1">
            <a:off x="2852809" y="2349352"/>
            <a:ext cx="1188132" cy="47047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3" name="Straight Arrow Connector 12"/>
          <p:cNvCxnSpPr>
            <a:stCxn id="6" idx="2"/>
            <a:endCxn id="8" idx="0"/>
          </p:cNvCxnSpPr>
          <p:nvPr/>
        </p:nvCxnSpPr>
        <p:spPr bwMode="auto">
          <a:xfrm>
            <a:off x="4040941" y="2349352"/>
            <a:ext cx="1242138" cy="310972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6" name="Straight Arrow Connector 15"/>
          <p:cNvCxnSpPr>
            <a:stCxn id="7" idx="2"/>
            <a:endCxn id="9" idx="0"/>
          </p:cNvCxnSpPr>
          <p:nvPr/>
        </p:nvCxnSpPr>
        <p:spPr bwMode="auto">
          <a:xfrm>
            <a:off x="2852809" y="3186339"/>
            <a:ext cx="1209990" cy="690856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9" name="Straight Arrow Connector 18"/>
          <p:cNvCxnSpPr>
            <a:stCxn id="8" idx="2"/>
            <a:endCxn id="9" idx="0"/>
          </p:cNvCxnSpPr>
          <p:nvPr/>
        </p:nvCxnSpPr>
        <p:spPr bwMode="auto">
          <a:xfrm flipH="1">
            <a:off x="4062799" y="3269165"/>
            <a:ext cx="1220280" cy="60803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8" name="Curved Connector 47"/>
          <p:cNvCxnSpPr>
            <a:stCxn id="9" idx="2"/>
            <a:endCxn id="6" idx="0"/>
          </p:cNvCxnSpPr>
          <p:nvPr/>
        </p:nvCxnSpPr>
        <p:spPr bwMode="auto">
          <a:xfrm rot="5400000" flipH="1">
            <a:off x="2685395" y="2835126"/>
            <a:ext cx="2732951" cy="21858"/>
          </a:xfrm>
          <a:prstGeom prst="curvedConnector5">
            <a:avLst>
              <a:gd name="adj1" fmla="val -6273"/>
              <a:gd name="adj2" fmla="val -12256008"/>
              <a:gd name="adj3" fmla="val 106273"/>
            </a:avLst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3" name="Straight Arrow Connector 52"/>
          <p:cNvCxnSpPr>
            <a:stCxn id="9" idx="2"/>
          </p:cNvCxnSpPr>
          <p:nvPr/>
        </p:nvCxnSpPr>
        <p:spPr bwMode="auto">
          <a:xfrm flipH="1">
            <a:off x="3841796" y="4212531"/>
            <a:ext cx="221003" cy="291385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7" name="Straight Arrow Connector 46"/>
          <p:cNvCxnSpPr>
            <a:stCxn id="8" idx="2"/>
          </p:cNvCxnSpPr>
          <p:nvPr/>
        </p:nvCxnSpPr>
        <p:spPr bwMode="auto">
          <a:xfrm>
            <a:off x="5283079" y="3269164"/>
            <a:ext cx="5370" cy="478667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2965472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Graph Coloring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sz="2400" dirty="0"/>
              <a:t>How do we compute graph coloring?</a:t>
            </a:r>
          </a:p>
          <a:p>
            <a:r>
              <a:rPr lang="en-CA" sz="2400" dirty="0"/>
              <a:t>It is not easy :</a:t>
            </a:r>
          </a:p>
          <a:p>
            <a:pPr lvl="1"/>
            <a:r>
              <a:rPr lang="en-CA" sz="2000" dirty="0"/>
              <a:t>The problem is NP-hard. No efficient algorithms are known</a:t>
            </a:r>
            <a:r>
              <a:rPr lang="en-CA" dirty="0"/>
              <a:t> </a:t>
            </a:r>
          </a:p>
          <a:p>
            <a:pPr lvl="2"/>
            <a:r>
              <a:rPr lang="en-CA" sz="1800" dirty="0"/>
              <a:t>Solution: use heuristics</a:t>
            </a:r>
          </a:p>
          <a:p>
            <a:pPr lvl="1"/>
            <a:r>
              <a:rPr lang="en-CA" sz="2000" dirty="0"/>
              <a:t>A coloring might not exist for a given number of registers</a:t>
            </a:r>
          </a:p>
          <a:p>
            <a:pPr lvl="2"/>
            <a:r>
              <a:rPr lang="en-CA" sz="1800" dirty="0"/>
              <a:t>Solution: register spilling to memory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63D9E-7E5D-D141-B365-4BE0ED56F47E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46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700"/>
              <a:t>Register Allocation as Graph Coloring</a:t>
            </a:r>
            <a:endParaRPr lang="en-US"/>
          </a:p>
        </p:txBody>
      </p:sp>
      <p:sp>
        <p:nvSpPr>
          <p:cNvPr id="13824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100" dirty="0"/>
              <a:t>Main idea for solving whether a graph G is </a:t>
            </a:r>
            <a:r>
              <a:rPr lang="en-US" sz="2100" i="1" dirty="0"/>
              <a:t>k</a:t>
            </a:r>
            <a:r>
              <a:rPr lang="en-US" sz="2100" dirty="0"/>
              <a:t>-colorable:</a:t>
            </a:r>
          </a:p>
          <a:p>
            <a:pPr>
              <a:lnSpc>
                <a:spcPct val="90000"/>
              </a:lnSpc>
            </a:pPr>
            <a:r>
              <a:rPr lang="en-US" sz="2100" dirty="0"/>
              <a:t>Pick any node </a:t>
            </a:r>
            <a:r>
              <a:rPr lang="en-US" sz="2100" i="1" dirty="0"/>
              <a:t>t</a:t>
            </a:r>
            <a:r>
              <a:rPr lang="en-US" sz="2100" dirty="0"/>
              <a:t> with fewer than </a:t>
            </a:r>
            <a:r>
              <a:rPr lang="en-US" sz="2100" i="1" dirty="0"/>
              <a:t>k</a:t>
            </a:r>
            <a:r>
              <a:rPr lang="en-US" sz="2100" dirty="0"/>
              <a:t> neighbors</a:t>
            </a:r>
          </a:p>
          <a:p>
            <a:pPr>
              <a:lnSpc>
                <a:spcPct val="90000"/>
              </a:lnSpc>
            </a:pPr>
            <a:r>
              <a:rPr lang="en-US" sz="2100" dirty="0"/>
              <a:t>Remove </a:t>
            </a:r>
            <a:r>
              <a:rPr lang="en-US" sz="2100" i="1" dirty="0"/>
              <a:t>n</a:t>
            </a:r>
            <a:r>
              <a:rPr lang="en-US" sz="2100" dirty="0"/>
              <a:t> adjacent edges of node </a:t>
            </a:r>
            <a:r>
              <a:rPr lang="en-US" sz="2100" i="1" dirty="0"/>
              <a:t>t</a:t>
            </a:r>
            <a:r>
              <a:rPr lang="en-US" sz="2100" dirty="0"/>
              <a:t> to create a new graph G’</a:t>
            </a:r>
          </a:p>
          <a:p>
            <a:pPr>
              <a:lnSpc>
                <a:spcPct val="90000"/>
              </a:lnSpc>
            </a:pPr>
            <a:r>
              <a:rPr lang="en-US" sz="2100" dirty="0"/>
              <a:t>If G’ is</a:t>
            </a:r>
            <a:r>
              <a:rPr lang="en-US" sz="2100" i="1" dirty="0"/>
              <a:t> k</a:t>
            </a:r>
            <a:r>
              <a:rPr lang="en-US" sz="2100" dirty="0"/>
              <a:t>-colorable, then so is G (the original graph)</a:t>
            </a:r>
          </a:p>
          <a:p>
            <a:pPr>
              <a:lnSpc>
                <a:spcPct val="90000"/>
              </a:lnSpc>
            </a:pPr>
            <a:r>
              <a:rPr lang="en-US" sz="2100" dirty="0"/>
              <a:t>Let c</a:t>
            </a:r>
            <a:r>
              <a:rPr lang="en-US" sz="2100" baseline="-25000" dirty="0"/>
              <a:t>1</a:t>
            </a:r>
            <a:r>
              <a:rPr lang="en-US" sz="2100" dirty="0"/>
              <a:t>,…,</a:t>
            </a:r>
            <a:r>
              <a:rPr lang="en-US" sz="2100" dirty="0" err="1"/>
              <a:t>c</a:t>
            </a:r>
            <a:r>
              <a:rPr lang="en-US" sz="2100" baseline="-25000" dirty="0" err="1"/>
              <a:t>n</a:t>
            </a:r>
            <a:r>
              <a:rPr lang="en-US" sz="2100" dirty="0"/>
              <a:t> be the colors assigned to the neighbors of t in G’</a:t>
            </a:r>
          </a:p>
          <a:p>
            <a:pPr>
              <a:lnSpc>
                <a:spcPct val="90000"/>
              </a:lnSpc>
            </a:pPr>
            <a:r>
              <a:rPr lang="en-US" sz="2100" dirty="0"/>
              <a:t>Since </a:t>
            </a:r>
            <a:r>
              <a:rPr lang="en-US" sz="2100" i="1" dirty="0"/>
              <a:t>n</a:t>
            </a:r>
            <a:r>
              <a:rPr lang="en-US" sz="2100" dirty="0"/>
              <a:t>&lt;</a:t>
            </a:r>
            <a:r>
              <a:rPr lang="en-US" sz="2100" i="1" dirty="0"/>
              <a:t>k</a:t>
            </a:r>
            <a:r>
              <a:rPr lang="en-US" sz="2100" dirty="0"/>
              <a:t> we can pick some color for </a:t>
            </a:r>
            <a:r>
              <a:rPr lang="en-US" sz="2100" i="1" dirty="0"/>
              <a:t>t</a:t>
            </a:r>
            <a:r>
              <a:rPr lang="en-US" sz="2100" dirty="0"/>
              <a:t> that is different from its neighbors 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5177A-73B0-0545-9AC6-FB8C4F55ACC3}" type="slidenum">
              <a:rPr lang="en-US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8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Register Allocation as Graph Coloring</a:t>
            </a:r>
          </a:p>
        </p:txBody>
      </p:sp>
      <p:sp>
        <p:nvSpPr>
          <p:cNvPr id="139269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100" dirty="0"/>
              <a:t>Heuristic for graph coloring:</a:t>
            </a:r>
          </a:p>
          <a:p>
            <a:pPr lvl="1"/>
            <a:r>
              <a:rPr lang="en-US" sz="1800" dirty="0"/>
              <a:t>Ordering nodes (in a stack)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sz="1800" dirty="0"/>
              <a:t>Pick a node t with fewer than k neighbors 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sz="1800" dirty="0"/>
              <a:t>Put </a:t>
            </a:r>
            <a:r>
              <a:rPr lang="en-US" sz="1800" i="1" dirty="0"/>
              <a:t>t</a:t>
            </a:r>
            <a:r>
              <a:rPr lang="en-US" sz="1800" dirty="0"/>
              <a:t> on a stack and remove it from the register interference graph (RIG)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sz="1800" dirty="0"/>
              <a:t>Repeat until the graph is empty</a:t>
            </a:r>
          </a:p>
          <a:p>
            <a:pPr lvl="1"/>
            <a:r>
              <a:rPr lang="en-US" sz="1800" dirty="0"/>
              <a:t>Assigning color to nodes on the stack: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sz="1800" dirty="0"/>
              <a:t>Start with the last node added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sz="1800" dirty="0"/>
              <a:t>At each step pick a color different from those assigned to already colored neighbors 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B8E83-0173-5241-8847-4A0D89729025}" type="slidenum">
              <a:rPr lang="en-US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99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Assume k=4</a:t>
            </a:r>
          </a:p>
          <a:p>
            <a:pPr marL="342900" lvl="1" indent="0">
              <a:buNone/>
            </a:pPr>
            <a:endParaRPr lang="en-CA" dirty="0"/>
          </a:p>
          <a:p>
            <a:pPr marL="342900" lvl="1" indent="0">
              <a:buNone/>
            </a:pPr>
            <a:r>
              <a:rPr lang="en-CA" dirty="0"/>
              <a:t>Remove </a:t>
            </a:r>
            <a:r>
              <a:rPr lang="en-CA" dirty="0">
                <a:solidFill>
                  <a:schemeClr val="accent2"/>
                </a:solidFill>
              </a:rPr>
              <a:t>a</a:t>
            </a:r>
          </a:p>
          <a:p>
            <a:pPr marL="342900" lvl="1" indent="0">
              <a:buNone/>
            </a:pPr>
            <a:endParaRPr lang="en-CA" dirty="0"/>
          </a:p>
          <a:p>
            <a:pPr marL="342900" lvl="1" indent="0">
              <a:buNone/>
            </a:pPr>
            <a:r>
              <a:rPr lang="en-CA" dirty="0"/>
              <a:t>stack={}</a:t>
            </a:r>
          </a:p>
          <a:p>
            <a:pPr marL="342900" lvl="1" indent="0">
              <a:buNone/>
            </a:pPr>
            <a:endParaRPr lang="en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63D9E-7E5D-D141-B365-4BE0ED56F47E}" type="slidenum">
              <a:rPr lang="en-US" smtClean="0"/>
              <a:pPr/>
              <a:t>19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5976157" y="1760525"/>
            <a:ext cx="370677" cy="572989"/>
            <a:chOff x="4092620" y="2448991"/>
            <a:chExt cx="494236" cy="763985"/>
          </a:xfrm>
        </p:grpSpPr>
        <p:sp>
          <p:nvSpPr>
            <p:cNvPr id="34" name="Oval 33"/>
            <p:cNvSpPr/>
            <p:nvPr/>
          </p:nvSpPr>
          <p:spPr bwMode="auto">
            <a:xfrm>
              <a:off x="4149772" y="2996952"/>
              <a:ext cx="196385" cy="216024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en-CA" sz="1800" dirty="0">
                <a:latin typeface="Calibri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092620" y="2448991"/>
              <a:ext cx="494236" cy="492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800" b="1" dirty="0">
                  <a:latin typeface="Calibri"/>
                </a:rPr>
                <a:t>a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6655951" y="2257295"/>
            <a:ext cx="759861" cy="400255"/>
            <a:chOff x="4149772" y="2679303"/>
            <a:chExt cx="1013148" cy="533673"/>
          </a:xfrm>
        </p:grpSpPr>
        <p:sp>
          <p:nvSpPr>
            <p:cNvPr id="32" name="Oval 31"/>
            <p:cNvSpPr/>
            <p:nvPr/>
          </p:nvSpPr>
          <p:spPr bwMode="auto">
            <a:xfrm>
              <a:off x="4149772" y="2996952"/>
              <a:ext cx="196385" cy="216024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en-CA" sz="1800" dirty="0">
                <a:latin typeface="Calibri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380652" y="2679303"/>
              <a:ext cx="782268" cy="492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800" b="1" dirty="0">
                  <a:latin typeface="Calibri"/>
                </a:rPr>
                <a:t>b</a:t>
              </a:r>
              <a:endParaRPr lang="en-CA" sz="1800" b="1" dirty="0">
                <a:solidFill>
                  <a:srgbClr val="FF0000"/>
                </a:solidFill>
                <a:latin typeface="Calibri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6681160" y="3067386"/>
            <a:ext cx="896670" cy="369332"/>
            <a:chOff x="4149772" y="2823319"/>
            <a:chExt cx="1195560" cy="492442"/>
          </a:xfrm>
        </p:grpSpPr>
        <p:sp>
          <p:nvSpPr>
            <p:cNvPr id="30" name="Oval 29"/>
            <p:cNvSpPr/>
            <p:nvPr/>
          </p:nvSpPr>
          <p:spPr bwMode="auto">
            <a:xfrm>
              <a:off x="4149772" y="2996952"/>
              <a:ext cx="196385" cy="216024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en-CA" sz="1800" dirty="0">
                <a:latin typeface="Calibri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419048" y="2823319"/>
              <a:ext cx="926284" cy="492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800" b="1" dirty="0">
                  <a:latin typeface="Calibri"/>
                </a:rPr>
                <a:t>c 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5965015" y="3575650"/>
            <a:ext cx="690936" cy="477344"/>
            <a:chOff x="4092620" y="2996952"/>
            <a:chExt cx="921248" cy="636459"/>
          </a:xfrm>
        </p:grpSpPr>
        <p:sp>
          <p:nvSpPr>
            <p:cNvPr id="28" name="Oval 27"/>
            <p:cNvSpPr/>
            <p:nvPr/>
          </p:nvSpPr>
          <p:spPr bwMode="auto">
            <a:xfrm>
              <a:off x="4149772" y="2996952"/>
              <a:ext cx="196385" cy="216024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en-CA" sz="1800" dirty="0">
                <a:latin typeface="Calibri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092620" y="3140968"/>
              <a:ext cx="921248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800" b="1" dirty="0">
                  <a:latin typeface="Calibri"/>
                </a:rPr>
                <a:t>d </a:t>
              </a:r>
              <a:endParaRPr lang="en-CA" sz="1800" b="1" dirty="0">
                <a:solidFill>
                  <a:srgbClr val="FF0000"/>
                </a:solidFill>
                <a:latin typeface="Calibri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985542" y="2300586"/>
            <a:ext cx="629566" cy="369332"/>
            <a:chOff x="3707905" y="2737023"/>
            <a:chExt cx="839421" cy="492442"/>
          </a:xfrm>
        </p:grpSpPr>
        <p:sp>
          <p:nvSpPr>
            <p:cNvPr id="26" name="Oval 25"/>
            <p:cNvSpPr/>
            <p:nvPr/>
          </p:nvSpPr>
          <p:spPr bwMode="auto">
            <a:xfrm>
              <a:off x="4149772" y="2996952"/>
              <a:ext cx="196385" cy="216024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en-CA" sz="1800" dirty="0">
                <a:latin typeface="Calibri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707905" y="2737023"/>
              <a:ext cx="839421" cy="492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800" b="1" dirty="0">
                  <a:latin typeface="Calibri"/>
                </a:rPr>
                <a:t>f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4950042" y="3067386"/>
            <a:ext cx="575560" cy="369332"/>
            <a:chOff x="3650752" y="2823319"/>
            <a:chExt cx="767413" cy="492442"/>
          </a:xfrm>
        </p:grpSpPr>
        <p:sp>
          <p:nvSpPr>
            <p:cNvPr id="24" name="Oval 23"/>
            <p:cNvSpPr/>
            <p:nvPr/>
          </p:nvSpPr>
          <p:spPr bwMode="auto">
            <a:xfrm>
              <a:off x="4149772" y="2996952"/>
              <a:ext cx="196385" cy="216024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en-CA" sz="1800" dirty="0">
                <a:latin typeface="Calibri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650752" y="2823319"/>
              <a:ext cx="767413" cy="492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800" b="1" dirty="0">
                  <a:latin typeface="Calibri"/>
                </a:rPr>
                <a:t>e</a:t>
              </a:r>
            </a:p>
          </p:txBody>
        </p:sp>
      </p:grpSp>
      <p:cxnSp>
        <p:nvCxnSpPr>
          <p:cNvPr id="13" name="Straight Connector 12"/>
          <p:cNvCxnSpPr>
            <a:stCxn id="34" idx="2"/>
            <a:endCxn id="26" idx="7"/>
          </p:cNvCxnSpPr>
          <p:nvPr/>
        </p:nvCxnSpPr>
        <p:spPr bwMode="auto">
          <a:xfrm flipH="1">
            <a:off x="5442661" y="2252504"/>
            <a:ext cx="576360" cy="26675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Straight Connector 13"/>
          <p:cNvCxnSpPr>
            <a:stCxn id="24" idx="0"/>
            <a:endCxn id="26" idx="4"/>
          </p:cNvCxnSpPr>
          <p:nvPr/>
        </p:nvCxnSpPr>
        <p:spPr bwMode="auto">
          <a:xfrm flipH="1" flipV="1">
            <a:off x="5390587" y="2657549"/>
            <a:ext cx="7365" cy="54006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Straight Connector 14"/>
          <p:cNvCxnSpPr>
            <a:stCxn id="28" idx="1"/>
            <a:endCxn id="26" idx="5"/>
          </p:cNvCxnSpPr>
          <p:nvPr/>
        </p:nvCxnSpPr>
        <p:spPr bwMode="auto">
          <a:xfrm flipH="1" flipV="1">
            <a:off x="5442661" y="2633822"/>
            <a:ext cx="586788" cy="96555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Straight Connector 15"/>
          <p:cNvCxnSpPr>
            <a:stCxn id="28" idx="2"/>
            <a:endCxn id="24" idx="5"/>
          </p:cNvCxnSpPr>
          <p:nvPr/>
        </p:nvCxnSpPr>
        <p:spPr bwMode="auto">
          <a:xfrm flipH="1" flipV="1">
            <a:off x="5450026" y="3335900"/>
            <a:ext cx="557853" cy="32076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Straight Connector 16"/>
          <p:cNvCxnSpPr>
            <a:stCxn id="34" idx="5"/>
            <a:endCxn id="30" idx="1"/>
          </p:cNvCxnSpPr>
          <p:nvPr/>
        </p:nvCxnSpPr>
        <p:spPr bwMode="auto">
          <a:xfrm>
            <a:off x="6144740" y="2309786"/>
            <a:ext cx="557990" cy="91155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Straight Connector 17"/>
          <p:cNvCxnSpPr>
            <a:stCxn id="32" idx="2"/>
            <a:endCxn id="26" idx="6"/>
          </p:cNvCxnSpPr>
          <p:nvPr/>
        </p:nvCxnSpPr>
        <p:spPr bwMode="auto">
          <a:xfrm flipH="1">
            <a:off x="5464231" y="2576540"/>
            <a:ext cx="119172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/>
          <p:cNvCxnSpPr>
            <a:stCxn id="30" idx="2"/>
            <a:endCxn id="26" idx="5"/>
          </p:cNvCxnSpPr>
          <p:nvPr/>
        </p:nvCxnSpPr>
        <p:spPr bwMode="auto">
          <a:xfrm flipH="1" flipV="1">
            <a:off x="5442661" y="2633822"/>
            <a:ext cx="1238499" cy="64479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/>
          <p:cNvCxnSpPr>
            <a:stCxn id="32" idx="4"/>
            <a:endCxn id="30" idx="0"/>
          </p:cNvCxnSpPr>
          <p:nvPr/>
        </p:nvCxnSpPr>
        <p:spPr bwMode="auto">
          <a:xfrm>
            <a:off x="6729596" y="2657549"/>
            <a:ext cx="25209" cy="54006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Straight Connector 20"/>
          <p:cNvCxnSpPr>
            <a:stCxn id="30" idx="3"/>
            <a:endCxn id="24" idx="6"/>
          </p:cNvCxnSpPr>
          <p:nvPr/>
        </p:nvCxnSpPr>
        <p:spPr bwMode="auto">
          <a:xfrm flipH="1" flipV="1">
            <a:off x="5471596" y="3278618"/>
            <a:ext cx="1231134" cy="5728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" name="Straight Connector 21"/>
          <p:cNvCxnSpPr>
            <a:stCxn id="30" idx="4"/>
            <a:endCxn id="28" idx="6"/>
          </p:cNvCxnSpPr>
          <p:nvPr/>
        </p:nvCxnSpPr>
        <p:spPr bwMode="auto">
          <a:xfrm flipH="1">
            <a:off x="6155168" y="3359627"/>
            <a:ext cx="599637" cy="29703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/>
          <p:cNvCxnSpPr>
            <a:stCxn id="32" idx="3"/>
            <a:endCxn id="24" idx="7"/>
          </p:cNvCxnSpPr>
          <p:nvPr/>
        </p:nvCxnSpPr>
        <p:spPr bwMode="auto">
          <a:xfrm flipH="1">
            <a:off x="5450026" y="2633822"/>
            <a:ext cx="1227495" cy="58751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699396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Assume k=4</a:t>
            </a:r>
          </a:p>
          <a:p>
            <a:pPr marL="342900" lvl="1" indent="0">
              <a:buNone/>
            </a:pPr>
            <a:endParaRPr lang="en-CA" dirty="0"/>
          </a:p>
          <a:p>
            <a:pPr marL="342900" lvl="1" indent="0">
              <a:buNone/>
            </a:pPr>
            <a:r>
              <a:rPr lang="en-CA" dirty="0"/>
              <a:t>Remove </a:t>
            </a:r>
            <a:r>
              <a:rPr lang="en-CA" dirty="0">
                <a:solidFill>
                  <a:schemeClr val="accent2"/>
                </a:solidFill>
              </a:rPr>
              <a:t>d</a:t>
            </a:r>
          </a:p>
          <a:p>
            <a:pPr marL="342900" lvl="1" indent="0">
              <a:buNone/>
            </a:pPr>
            <a:endParaRPr lang="en-CA" dirty="0"/>
          </a:p>
          <a:p>
            <a:pPr marL="342900" lvl="1" indent="0">
              <a:buNone/>
            </a:pPr>
            <a:r>
              <a:rPr lang="en-CA" dirty="0"/>
              <a:t>stack={a}</a:t>
            </a:r>
          </a:p>
          <a:p>
            <a:pPr marL="342900" lvl="1" indent="0">
              <a:buNone/>
            </a:pPr>
            <a:endParaRPr lang="en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63D9E-7E5D-D141-B365-4BE0ED56F47E}" type="slidenum">
              <a:rPr lang="en-US" smtClean="0"/>
              <a:pPr/>
              <a:t>20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6655951" y="2257295"/>
            <a:ext cx="759861" cy="400255"/>
            <a:chOff x="4149772" y="2679303"/>
            <a:chExt cx="1013148" cy="533673"/>
          </a:xfrm>
        </p:grpSpPr>
        <p:sp>
          <p:nvSpPr>
            <p:cNvPr id="32" name="Oval 31"/>
            <p:cNvSpPr/>
            <p:nvPr/>
          </p:nvSpPr>
          <p:spPr bwMode="auto">
            <a:xfrm>
              <a:off x="4149772" y="2996952"/>
              <a:ext cx="196385" cy="216024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en-CA" sz="1800" dirty="0">
                <a:latin typeface="Calibri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380652" y="2679303"/>
              <a:ext cx="782268" cy="492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800" b="1" dirty="0">
                  <a:latin typeface="Calibri"/>
                </a:rPr>
                <a:t>b</a:t>
              </a:r>
              <a:endParaRPr lang="en-CA" sz="1800" b="1" dirty="0">
                <a:solidFill>
                  <a:srgbClr val="FF0000"/>
                </a:solidFill>
                <a:latin typeface="Calibri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6681160" y="3067386"/>
            <a:ext cx="896670" cy="369332"/>
            <a:chOff x="4149772" y="2823319"/>
            <a:chExt cx="1195560" cy="492442"/>
          </a:xfrm>
        </p:grpSpPr>
        <p:sp>
          <p:nvSpPr>
            <p:cNvPr id="30" name="Oval 29"/>
            <p:cNvSpPr/>
            <p:nvPr/>
          </p:nvSpPr>
          <p:spPr bwMode="auto">
            <a:xfrm>
              <a:off x="4149772" y="2996952"/>
              <a:ext cx="196385" cy="216024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en-CA" sz="1800" dirty="0">
                <a:latin typeface="Calibri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419048" y="2823319"/>
              <a:ext cx="926284" cy="492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800" b="1" dirty="0">
                  <a:latin typeface="Calibri"/>
                </a:rPr>
                <a:t>c 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5965015" y="3575650"/>
            <a:ext cx="690936" cy="477344"/>
            <a:chOff x="4092620" y="2996952"/>
            <a:chExt cx="921248" cy="636459"/>
          </a:xfrm>
        </p:grpSpPr>
        <p:sp>
          <p:nvSpPr>
            <p:cNvPr id="28" name="Oval 27"/>
            <p:cNvSpPr/>
            <p:nvPr/>
          </p:nvSpPr>
          <p:spPr bwMode="auto">
            <a:xfrm>
              <a:off x="4149772" y="2996952"/>
              <a:ext cx="196385" cy="216024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en-CA" sz="1800" dirty="0">
                <a:latin typeface="Calibri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092620" y="3140968"/>
              <a:ext cx="921248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800" b="1" dirty="0">
                  <a:latin typeface="Calibri"/>
                </a:rPr>
                <a:t>d </a:t>
              </a:r>
              <a:endParaRPr lang="en-CA" sz="1800" b="1" dirty="0">
                <a:solidFill>
                  <a:srgbClr val="FF0000"/>
                </a:solidFill>
                <a:latin typeface="Calibri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985542" y="2300586"/>
            <a:ext cx="629566" cy="369332"/>
            <a:chOff x="3707905" y="2737023"/>
            <a:chExt cx="839421" cy="492442"/>
          </a:xfrm>
        </p:grpSpPr>
        <p:sp>
          <p:nvSpPr>
            <p:cNvPr id="26" name="Oval 25"/>
            <p:cNvSpPr/>
            <p:nvPr/>
          </p:nvSpPr>
          <p:spPr bwMode="auto">
            <a:xfrm>
              <a:off x="4149772" y="2996952"/>
              <a:ext cx="196385" cy="216024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en-CA" sz="1800" dirty="0">
                <a:latin typeface="Calibri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707905" y="2737023"/>
              <a:ext cx="839421" cy="492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800" b="1" dirty="0">
                  <a:latin typeface="Calibri"/>
                </a:rPr>
                <a:t>f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4950042" y="3067386"/>
            <a:ext cx="575560" cy="369332"/>
            <a:chOff x="3650752" y="2823319"/>
            <a:chExt cx="767413" cy="492442"/>
          </a:xfrm>
        </p:grpSpPr>
        <p:sp>
          <p:nvSpPr>
            <p:cNvPr id="24" name="Oval 23"/>
            <p:cNvSpPr/>
            <p:nvPr/>
          </p:nvSpPr>
          <p:spPr bwMode="auto">
            <a:xfrm>
              <a:off x="4149772" y="2996952"/>
              <a:ext cx="196385" cy="216024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en-CA" sz="1800" dirty="0">
                <a:latin typeface="Calibri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650752" y="2823319"/>
              <a:ext cx="767413" cy="492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800" b="1" dirty="0">
                  <a:latin typeface="Calibri"/>
                </a:rPr>
                <a:t>e</a:t>
              </a:r>
            </a:p>
          </p:txBody>
        </p:sp>
      </p:grpSp>
      <p:cxnSp>
        <p:nvCxnSpPr>
          <p:cNvPr id="14" name="Straight Connector 13"/>
          <p:cNvCxnSpPr>
            <a:stCxn id="24" idx="0"/>
            <a:endCxn id="26" idx="4"/>
          </p:cNvCxnSpPr>
          <p:nvPr/>
        </p:nvCxnSpPr>
        <p:spPr bwMode="auto">
          <a:xfrm flipH="1" flipV="1">
            <a:off x="5390587" y="2657549"/>
            <a:ext cx="7365" cy="54006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Straight Connector 14"/>
          <p:cNvCxnSpPr>
            <a:stCxn id="28" idx="1"/>
            <a:endCxn id="26" idx="5"/>
          </p:cNvCxnSpPr>
          <p:nvPr/>
        </p:nvCxnSpPr>
        <p:spPr bwMode="auto">
          <a:xfrm flipH="1" flipV="1">
            <a:off x="5442661" y="2633822"/>
            <a:ext cx="586788" cy="96555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Straight Connector 15"/>
          <p:cNvCxnSpPr>
            <a:stCxn id="28" idx="2"/>
            <a:endCxn id="24" idx="5"/>
          </p:cNvCxnSpPr>
          <p:nvPr/>
        </p:nvCxnSpPr>
        <p:spPr bwMode="auto">
          <a:xfrm flipH="1" flipV="1">
            <a:off x="5450026" y="3335900"/>
            <a:ext cx="557853" cy="32076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Straight Connector 17"/>
          <p:cNvCxnSpPr>
            <a:stCxn id="32" idx="2"/>
            <a:endCxn id="26" idx="6"/>
          </p:cNvCxnSpPr>
          <p:nvPr/>
        </p:nvCxnSpPr>
        <p:spPr bwMode="auto">
          <a:xfrm flipH="1">
            <a:off x="5464231" y="2576540"/>
            <a:ext cx="119172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/>
          <p:cNvCxnSpPr>
            <a:stCxn id="30" idx="2"/>
            <a:endCxn id="26" idx="5"/>
          </p:cNvCxnSpPr>
          <p:nvPr/>
        </p:nvCxnSpPr>
        <p:spPr bwMode="auto">
          <a:xfrm flipH="1" flipV="1">
            <a:off x="5442661" y="2633822"/>
            <a:ext cx="1238499" cy="64479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/>
          <p:cNvCxnSpPr>
            <a:stCxn id="32" idx="4"/>
            <a:endCxn id="30" idx="0"/>
          </p:cNvCxnSpPr>
          <p:nvPr/>
        </p:nvCxnSpPr>
        <p:spPr bwMode="auto">
          <a:xfrm>
            <a:off x="6729596" y="2657549"/>
            <a:ext cx="25209" cy="54006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Straight Connector 20"/>
          <p:cNvCxnSpPr>
            <a:stCxn id="30" idx="3"/>
            <a:endCxn id="24" idx="6"/>
          </p:cNvCxnSpPr>
          <p:nvPr/>
        </p:nvCxnSpPr>
        <p:spPr bwMode="auto">
          <a:xfrm flipH="1" flipV="1">
            <a:off x="5471596" y="3278618"/>
            <a:ext cx="1231134" cy="5728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" name="Straight Connector 21"/>
          <p:cNvCxnSpPr>
            <a:stCxn id="30" idx="4"/>
            <a:endCxn id="28" idx="6"/>
          </p:cNvCxnSpPr>
          <p:nvPr/>
        </p:nvCxnSpPr>
        <p:spPr bwMode="auto">
          <a:xfrm flipH="1">
            <a:off x="6155168" y="3359627"/>
            <a:ext cx="599637" cy="29703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/>
          <p:cNvCxnSpPr>
            <a:stCxn id="32" idx="3"/>
            <a:endCxn id="24" idx="7"/>
          </p:cNvCxnSpPr>
          <p:nvPr/>
        </p:nvCxnSpPr>
        <p:spPr bwMode="auto">
          <a:xfrm flipH="1">
            <a:off x="5450026" y="2633822"/>
            <a:ext cx="1227495" cy="58751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047199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Assume k=4</a:t>
            </a:r>
          </a:p>
          <a:p>
            <a:pPr marL="342900" lvl="1" indent="0">
              <a:buNone/>
            </a:pPr>
            <a:r>
              <a:rPr lang="en-CA" dirty="0"/>
              <a:t>All nodes now have fewer than 4 neighbors </a:t>
            </a:r>
          </a:p>
          <a:p>
            <a:pPr marL="642938" lvl="2" indent="0">
              <a:buNone/>
            </a:pPr>
            <a:r>
              <a:rPr lang="en-CA" dirty="0">
                <a:solidFill>
                  <a:schemeClr val="accent2"/>
                </a:solidFill>
              </a:rPr>
              <a:t>The graph coloring is guaranteed to succeed </a:t>
            </a:r>
          </a:p>
          <a:p>
            <a:pPr marL="342900" lvl="1" indent="0">
              <a:buNone/>
            </a:pPr>
            <a:endParaRPr lang="en-CA" dirty="0"/>
          </a:p>
          <a:p>
            <a:pPr marL="342900" lvl="1" indent="0">
              <a:buNone/>
            </a:pPr>
            <a:r>
              <a:rPr lang="en-CA" dirty="0"/>
              <a:t>Remove </a:t>
            </a:r>
            <a:r>
              <a:rPr lang="en-CA" dirty="0">
                <a:solidFill>
                  <a:schemeClr val="accent2"/>
                </a:solidFill>
              </a:rPr>
              <a:t>c</a:t>
            </a:r>
          </a:p>
          <a:p>
            <a:pPr marL="342900" lvl="1" indent="0">
              <a:buNone/>
            </a:pPr>
            <a:r>
              <a:rPr lang="en-CA" dirty="0"/>
              <a:t>stack={</a:t>
            </a:r>
            <a:r>
              <a:rPr lang="en-CA" dirty="0" err="1"/>
              <a:t>d,a</a:t>
            </a:r>
            <a:r>
              <a:rPr lang="en-CA" dirty="0"/>
              <a:t>}</a:t>
            </a:r>
          </a:p>
          <a:p>
            <a:pPr marL="342900" lvl="1" indent="0">
              <a:buNone/>
            </a:pPr>
            <a:endParaRPr lang="en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63D9E-7E5D-D141-B365-4BE0ED56F47E}" type="slidenum">
              <a:rPr lang="en-US" smtClean="0"/>
              <a:pPr/>
              <a:t>21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6655951" y="2257295"/>
            <a:ext cx="759861" cy="400255"/>
            <a:chOff x="4149772" y="2679303"/>
            <a:chExt cx="1013148" cy="533673"/>
          </a:xfrm>
        </p:grpSpPr>
        <p:sp>
          <p:nvSpPr>
            <p:cNvPr id="32" name="Oval 31"/>
            <p:cNvSpPr/>
            <p:nvPr/>
          </p:nvSpPr>
          <p:spPr bwMode="auto">
            <a:xfrm>
              <a:off x="4149772" y="2996952"/>
              <a:ext cx="196385" cy="216024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en-CA" sz="1800" dirty="0">
                <a:latin typeface="Calibri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380652" y="2679303"/>
              <a:ext cx="782268" cy="492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800" b="1" dirty="0">
                  <a:latin typeface="Calibri"/>
                </a:rPr>
                <a:t>b</a:t>
              </a:r>
              <a:endParaRPr lang="en-CA" sz="1800" b="1" dirty="0">
                <a:solidFill>
                  <a:srgbClr val="FF0000"/>
                </a:solidFill>
                <a:latin typeface="Calibri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6681160" y="3067386"/>
            <a:ext cx="896670" cy="369332"/>
            <a:chOff x="4149772" y="2823319"/>
            <a:chExt cx="1195560" cy="492442"/>
          </a:xfrm>
        </p:grpSpPr>
        <p:sp>
          <p:nvSpPr>
            <p:cNvPr id="30" name="Oval 29"/>
            <p:cNvSpPr/>
            <p:nvPr/>
          </p:nvSpPr>
          <p:spPr bwMode="auto">
            <a:xfrm>
              <a:off x="4149772" y="2996952"/>
              <a:ext cx="196385" cy="216024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en-CA" sz="1800" dirty="0">
                <a:latin typeface="Calibri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419048" y="2823319"/>
              <a:ext cx="926284" cy="492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800" b="1" dirty="0">
                  <a:latin typeface="Calibri"/>
                </a:rPr>
                <a:t>c 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985542" y="2300586"/>
            <a:ext cx="629566" cy="369332"/>
            <a:chOff x="3707905" y="2737023"/>
            <a:chExt cx="839421" cy="492442"/>
          </a:xfrm>
        </p:grpSpPr>
        <p:sp>
          <p:nvSpPr>
            <p:cNvPr id="26" name="Oval 25"/>
            <p:cNvSpPr/>
            <p:nvPr/>
          </p:nvSpPr>
          <p:spPr bwMode="auto">
            <a:xfrm>
              <a:off x="4149772" y="2996952"/>
              <a:ext cx="196385" cy="216024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en-CA" sz="1800" dirty="0">
                <a:latin typeface="Calibri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707905" y="2737023"/>
              <a:ext cx="839421" cy="492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800" b="1" dirty="0">
                  <a:latin typeface="Calibri"/>
                </a:rPr>
                <a:t>f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4950042" y="3067386"/>
            <a:ext cx="575560" cy="369332"/>
            <a:chOff x="3650752" y="2823319"/>
            <a:chExt cx="767413" cy="492442"/>
          </a:xfrm>
        </p:grpSpPr>
        <p:sp>
          <p:nvSpPr>
            <p:cNvPr id="24" name="Oval 23"/>
            <p:cNvSpPr/>
            <p:nvPr/>
          </p:nvSpPr>
          <p:spPr bwMode="auto">
            <a:xfrm>
              <a:off x="4149772" y="2996952"/>
              <a:ext cx="196385" cy="216024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en-CA" sz="1800" dirty="0">
                <a:latin typeface="Calibri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650752" y="2823319"/>
              <a:ext cx="767413" cy="492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800" b="1" dirty="0">
                  <a:latin typeface="Calibri"/>
                </a:rPr>
                <a:t>e</a:t>
              </a:r>
            </a:p>
          </p:txBody>
        </p:sp>
      </p:grpSp>
      <p:cxnSp>
        <p:nvCxnSpPr>
          <p:cNvPr id="14" name="Straight Connector 13"/>
          <p:cNvCxnSpPr>
            <a:stCxn id="24" idx="0"/>
            <a:endCxn id="26" idx="4"/>
          </p:cNvCxnSpPr>
          <p:nvPr/>
        </p:nvCxnSpPr>
        <p:spPr bwMode="auto">
          <a:xfrm flipH="1" flipV="1">
            <a:off x="5390587" y="2657549"/>
            <a:ext cx="7365" cy="54006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Straight Connector 17"/>
          <p:cNvCxnSpPr>
            <a:stCxn id="32" idx="2"/>
            <a:endCxn id="26" idx="6"/>
          </p:cNvCxnSpPr>
          <p:nvPr/>
        </p:nvCxnSpPr>
        <p:spPr bwMode="auto">
          <a:xfrm flipH="1">
            <a:off x="5464231" y="2576540"/>
            <a:ext cx="119172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/>
          <p:cNvCxnSpPr>
            <a:stCxn id="30" idx="2"/>
            <a:endCxn id="26" idx="5"/>
          </p:cNvCxnSpPr>
          <p:nvPr/>
        </p:nvCxnSpPr>
        <p:spPr bwMode="auto">
          <a:xfrm flipH="1" flipV="1">
            <a:off x="5442661" y="2633822"/>
            <a:ext cx="1238499" cy="64479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/>
          <p:cNvCxnSpPr>
            <a:stCxn id="32" idx="4"/>
            <a:endCxn id="30" idx="0"/>
          </p:cNvCxnSpPr>
          <p:nvPr/>
        </p:nvCxnSpPr>
        <p:spPr bwMode="auto">
          <a:xfrm>
            <a:off x="6729596" y="2657549"/>
            <a:ext cx="25209" cy="54006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Straight Connector 20"/>
          <p:cNvCxnSpPr>
            <a:stCxn id="30" idx="3"/>
            <a:endCxn id="24" idx="6"/>
          </p:cNvCxnSpPr>
          <p:nvPr/>
        </p:nvCxnSpPr>
        <p:spPr bwMode="auto">
          <a:xfrm flipH="1" flipV="1">
            <a:off x="5471596" y="3278618"/>
            <a:ext cx="1231134" cy="5728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/>
          <p:cNvCxnSpPr>
            <a:stCxn id="32" idx="3"/>
            <a:endCxn id="24" idx="7"/>
          </p:cNvCxnSpPr>
          <p:nvPr/>
        </p:nvCxnSpPr>
        <p:spPr bwMode="auto">
          <a:xfrm flipH="1">
            <a:off x="5450026" y="2633822"/>
            <a:ext cx="1227495" cy="58751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089650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Assume k=4</a:t>
            </a:r>
          </a:p>
          <a:p>
            <a:pPr marL="342900" lvl="1" indent="0">
              <a:buNone/>
            </a:pPr>
            <a:endParaRPr lang="en-CA" dirty="0"/>
          </a:p>
          <a:p>
            <a:pPr marL="342900" lvl="1" indent="0">
              <a:buNone/>
            </a:pPr>
            <a:endParaRPr lang="en-CA" dirty="0"/>
          </a:p>
          <a:p>
            <a:pPr marL="342900" lvl="1" indent="0">
              <a:buNone/>
            </a:pPr>
            <a:r>
              <a:rPr lang="en-CA" dirty="0"/>
              <a:t>Remove </a:t>
            </a:r>
            <a:r>
              <a:rPr lang="en-CA" dirty="0">
                <a:solidFill>
                  <a:schemeClr val="accent2"/>
                </a:solidFill>
              </a:rPr>
              <a:t>b</a:t>
            </a:r>
          </a:p>
          <a:p>
            <a:pPr marL="342900" lvl="1" indent="0">
              <a:buNone/>
            </a:pPr>
            <a:endParaRPr lang="en-CA" dirty="0"/>
          </a:p>
          <a:p>
            <a:pPr marL="342900" lvl="1" indent="0">
              <a:buNone/>
            </a:pPr>
            <a:r>
              <a:rPr lang="en-CA" dirty="0"/>
              <a:t>stack={</a:t>
            </a:r>
            <a:r>
              <a:rPr lang="en-CA" dirty="0" err="1"/>
              <a:t>c,d,a</a:t>
            </a:r>
            <a:r>
              <a:rPr lang="en-CA" dirty="0"/>
              <a:t>}</a:t>
            </a:r>
          </a:p>
          <a:p>
            <a:pPr marL="342900" lvl="1" indent="0">
              <a:buNone/>
            </a:pPr>
            <a:endParaRPr lang="en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63D9E-7E5D-D141-B365-4BE0ED56F47E}" type="slidenum">
              <a:rPr lang="en-US" smtClean="0"/>
              <a:pPr/>
              <a:t>22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6655951" y="2257295"/>
            <a:ext cx="759861" cy="400255"/>
            <a:chOff x="4149772" y="2679303"/>
            <a:chExt cx="1013148" cy="533673"/>
          </a:xfrm>
        </p:grpSpPr>
        <p:sp>
          <p:nvSpPr>
            <p:cNvPr id="32" name="Oval 31"/>
            <p:cNvSpPr/>
            <p:nvPr/>
          </p:nvSpPr>
          <p:spPr bwMode="auto">
            <a:xfrm>
              <a:off x="4149772" y="2996952"/>
              <a:ext cx="196385" cy="216024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en-CA" sz="1800" dirty="0">
                <a:latin typeface="Calibri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380652" y="2679303"/>
              <a:ext cx="782268" cy="492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800" b="1" dirty="0">
                  <a:latin typeface="Calibri"/>
                </a:rPr>
                <a:t>b</a:t>
              </a:r>
              <a:endParaRPr lang="en-CA" sz="1800" b="1" dirty="0">
                <a:solidFill>
                  <a:srgbClr val="FF0000"/>
                </a:solidFill>
                <a:latin typeface="Calibri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985542" y="2300586"/>
            <a:ext cx="629566" cy="369332"/>
            <a:chOff x="3707905" y="2737023"/>
            <a:chExt cx="839421" cy="492442"/>
          </a:xfrm>
        </p:grpSpPr>
        <p:sp>
          <p:nvSpPr>
            <p:cNvPr id="26" name="Oval 25"/>
            <p:cNvSpPr/>
            <p:nvPr/>
          </p:nvSpPr>
          <p:spPr bwMode="auto">
            <a:xfrm>
              <a:off x="4149772" y="2996952"/>
              <a:ext cx="196385" cy="216024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en-CA" sz="1800" dirty="0">
                <a:latin typeface="Calibri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707905" y="2737023"/>
              <a:ext cx="839421" cy="492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800" b="1" dirty="0">
                  <a:latin typeface="Calibri"/>
                </a:rPr>
                <a:t>f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4950042" y="3067386"/>
            <a:ext cx="575560" cy="369332"/>
            <a:chOff x="3650752" y="2823319"/>
            <a:chExt cx="767413" cy="492442"/>
          </a:xfrm>
        </p:grpSpPr>
        <p:sp>
          <p:nvSpPr>
            <p:cNvPr id="24" name="Oval 23"/>
            <p:cNvSpPr/>
            <p:nvPr/>
          </p:nvSpPr>
          <p:spPr bwMode="auto">
            <a:xfrm>
              <a:off x="4149772" y="2996952"/>
              <a:ext cx="196385" cy="216024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en-CA" sz="1800" dirty="0">
                <a:latin typeface="Calibri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650752" y="2823319"/>
              <a:ext cx="767413" cy="492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800" b="1" dirty="0">
                  <a:latin typeface="Calibri"/>
                </a:rPr>
                <a:t>e</a:t>
              </a:r>
            </a:p>
          </p:txBody>
        </p:sp>
      </p:grpSp>
      <p:cxnSp>
        <p:nvCxnSpPr>
          <p:cNvPr id="14" name="Straight Connector 13"/>
          <p:cNvCxnSpPr>
            <a:stCxn id="24" idx="0"/>
            <a:endCxn id="26" idx="4"/>
          </p:cNvCxnSpPr>
          <p:nvPr/>
        </p:nvCxnSpPr>
        <p:spPr bwMode="auto">
          <a:xfrm flipH="1" flipV="1">
            <a:off x="5390587" y="2657549"/>
            <a:ext cx="7365" cy="54006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Straight Connector 17"/>
          <p:cNvCxnSpPr>
            <a:stCxn id="32" idx="2"/>
            <a:endCxn id="26" idx="6"/>
          </p:cNvCxnSpPr>
          <p:nvPr/>
        </p:nvCxnSpPr>
        <p:spPr bwMode="auto">
          <a:xfrm flipH="1">
            <a:off x="5464231" y="2576540"/>
            <a:ext cx="119172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/>
          <p:cNvCxnSpPr>
            <a:stCxn id="32" idx="3"/>
            <a:endCxn id="24" idx="7"/>
          </p:cNvCxnSpPr>
          <p:nvPr/>
        </p:nvCxnSpPr>
        <p:spPr bwMode="auto">
          <a:xfrm flipH="1">
            <a:off x="5450026" y="2633822"/>
            <a:ext cx="1227495" cy="58751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964703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Assume k=4</a:t>
            </a:r>
          </a:p>
          <a:p>
            <a:pPr marL="342900" lvl="1" indent="0">
              <a:buNone/>
            </a:pPr>
            <a:endParaRPr lang="en-CA" dirty="0"/>
          </a:p>
          <a:p>
            <a:pPr marL="342900" lvl="1" indent="0">
              <a:buNone/>
            </a:pPr>
            <a:endParaRPr lang="en-CA" dirty="0"/>
          </a:p>
          <a:p>
            <a:pPr marL="342900" lvl="1" indent="0">
              <a:buNone/>
            </a:pPr>
            <a:r>
              <a:rPr lang="en-CA" dirty="0"/>
              <a:t>Remove </a:t>
            </a:r>
            <a:r>
              <a:rPr lang="en-CA" dirty="0">
                <a:solidFill>
                  <a:schemeClr val="accent2"/>
                </a:solidFill>
              </a:rPr>
              <a:t>e</a:t>
            </a:r>
          </a:p>
          <a:p>
            <a:pPr marL="342900" lvl="1" indent="0">
              <a:buNone/>
            </a:pPr>
            <a:endParaRPr lang="en-CA" dirty="0"/>
          </a:p>
          <a:p>
            <a:pPr marL="342900" lvl="1" indent="0">
              <a:buNone/>
            </a:pPr>
            <a:r>
              <a:rPr lang="en-CA" dirty="0"/>
              <a:t>stack={</a:t>
            </a:r>
            <a:r>
              <a:rPr lang="en-CA" dirty="0" err="1"/>
              <a:t>b,c,d,a</a:t>
            </a:r>
            <a:r>
              <a:rPr lang="en-CA" dirty="0"/>
              <a:t>}</a:t>
            </a:r>
          </a:p>
          <a:p>
            <a:pPr marL="342900" lvl="1" indent="0">
              <a:buNone/>
            </a:pPr>
            <a:endParaRPr lang="en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63D9E-7E5D-D141-B365-4BE0ED56F47E}" type="slidenum">
              <a:rPr lang="en-US" smtClean="0"/>
              <a:pPr/>
              <a:t>23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4985542" y="2300586"/>
            <a:ext cx="629566" cy="369332"/>
            <a:chOff x="3707905" y="2737023"/>
            <a:chExt cx="839421" cy="492442"/>
          </a:xfrm>
        </p:grpSpPr>
        <p:sp>
          <p:nvSpPr>
            <p:cNvPr id="26" name="Oval 25"/>
            <p:cNvSpPr/>
            <p:nvPr/>
          </p:nvSpPr>
          <p:spPr bwMode="auto">
            <a:xfrm>
              <a:off x="4149772" y="2996952"/>
              <a:ext cx="196385" cy="216024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en-CA" sz="1800" dirty="0">
                <a:latin typeface="Calibri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707905" y="2737023"/>
              <a:ext cx="839421" cy="492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800" b="1" dirty="0">
                  <a:latin typeface="Calibri"/>
                </a:rPr>
                <a:t>f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4950042" y="3067386"/>
            <a:ext cx="575560" cy="369332"/>
            <a:chOff x="3650752" y="2823319"/>
            <a:chExt cx="767413" cy="492442"/>
          </a:xfrm>
        </p:grpSpPr>
        <p:sp>
          <p:nvSpPr>
            <p:cNvPr id="24" name="Oval 23"/>
            <p:cNvSpPr/>
            <p:nvPr/>
          </p:nvSpPr>
          <p:spPr bwMode="auto">
            <a:xfrm>
              <a:off x="4149772" y="2996952"/>
              <a:ext cx="196385" cy="216024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en-CA" sz="1800" dirty="0">
                <a:latin typeface="Calibri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650752" y="2823319"/>
              <a:ext cx="767413" cy="492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800" b="1" dirty="0">
                  <a:latin typeface="Calibri"/>
                </a:rPr>
                <a:t>e</a:t>
              </a:r>
            </a:p>
          </p:txBody>
        </p:sp>
      </p:grpSp>
      <p:cxnSp>
        <p:nvCxnSpPr>
          <p:cNvPr id="14" name="Straight Connector 13"/>
          <p:cNvCxnSpPr>
            <a:stCxn id="24" idx="0"/>
            <a:endCxn id="26" idx="4"/>
          </p:cNvCxnSpPr>
          <p:nvPr/>
        </p:nvCxnSpPr>
        <p:spPr bwMode="auto">
          <a:xfrm flipH="1" flipV="1">
            <a:off x="5390587" y="2657549"/>
            <a:ext cx="7365" cy="54006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696058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Assume k=4</a:t>
            </a:r>
          </a:p>
          <a:p>
            <a:pPr marL="342900" lvl="1" indent="0">
              <a:buNone/>
            </a:pPr>
            <a:endParaRPr lang="en-CA" dirty="0"/>
          </a:p>
          <a:p>
            <a:pPr marL="342900" lvl="1" indent="0">
              <a:buNone/>
            </a:pPr>
            <a:endParaRPr lang="en-CA" dirty="0"/>
          </a:p>
          <a:p>
            <a:pPr marL="342900" lvl="1" indent="0">
              <a:buNone/>
            </a:pPr>
            <a:r>
              <a:rPr lang="en-CA" dirty="0"/>
              <a:t>Remove </a:t>
            </a:r>
            <a:r>
              <a:rPr lang="en-CA" dirty="0">
                <a:solidFill>
                  <a:schemeClr val="accent2"/>
                </a:solidFill>
              </a:rPr>
              <a:t>f</a:t>
            </a:r>
          </a:p>
          <a:p>
            <a:pPr marL="342900" lvl="1" indent="0">
              <a:buNone/>
            </a:pPr>
            <a:endParaRPr lang="en-CA" dirty="0"/>
          </a:p>
          <a:p>
            <a:pPr marL="342900" lvl="1" indent="0">
              <a:buNone/>
            </a:pPr>
            <a:r>
              <a:rPr lang="en-CA" dirty="0"/>
              <a:t>stack={</a:t>
            </a:r>
            <a:r>
              <a:rPr lang="en-CA" dirty="0" err="1"/>
              <a:t>e,b,c,d,a</a:t>
            </a:r>
            <a:r>
              <a:rPr lang="en-CA" dirty="0"/>
              <a:t>}</a:t>
            </a:r>
          </a:p>
          <a:p>
            <a:pPr marL="342900" lvl="1" indent="0">
              <a:buNone/>
            </a:pPr>
            <a:endParaRPr lang="en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63D9E-7E5D-D141-B365-4BE0ED56F47E}" type="slidenum">
              <a:rPr lang="en-US" smtClean="0"/>
              <a:pPr/>
              <a:t>24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4985542" y="2300586"/>
            <a:ext cx="629566" cy="369332"/>
            <a:chOff x="3707905" y="2737023"/>
            <a:chExt cx="839421" cy="492442"/>
          </a:xfrm>
        </p:grpSpPr>
        <p:sp>
          <p:nvSpPr>
            <p:cNvPr id="26" name="Oval 25"/>
            <p:cNvSpPr/>
            <p:nvPr/>
          </p:nvSpPr>
          <p:spPr bwMode="auto">
            <a:xfrm>
              <a:off x="4149772" y="2996952"/>
              <a:ext cx="196385" cy="216024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en-CA" sz="1800" dirty="0">
                <a:latin typeface="Calibri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707905" y="2737023"/>
              <a:ext cx="839421" cy="492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800" b="1" dirty="0">
                  <a:latin typeface="Calibri"/>
                </a:rPr>
                <a:t>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16476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Assume k=4</a:t>
            </a:r>
          </a:p>
          <a:p>
            <a:pPr marL="342900" lvl="1" indent="0">
              <a:buNone/>
            </a:pPr>
            <a:r>
              <a:rPr lang="en-CA" dirty="0"/>
              <a:t>Empty graph – done with the first part</a:t>
            </a:r>
          </a:p>
          <a:p>
            <a:pPr marL="342900" lvl="1" indent="0">
              <a:buNone/>
            </a:pPr>
            <a:r>
              <a:rPr lang="en-CA" dirty="0"/>
              <a:t>Now we have the order for assigning colors to nodes, start coloring the nodes (from the top of the stack)</a:t>
            </a:r>
          </a:p>
          <a:p>
            <a:pPr marL="342900" lvl="1" indent="0">
              <a:buNone/>
            </a:pPr>
            <a:endParaRPr lang="en-CA" dirty="0"/>
          </a:p>
          <a:p>
            <a:pPr marL="342900" lvl="1" indent="0">
              <a:buNone/>
            </a:pPr>
            <a:r>
              <a:rPr lang="en-CA" dirty="0"/>
              <a:t>stack={</a:t>
            </a:r>
            <a:r>
              <a:rPr lang="en-CA" dirty="0" err="1"/>
              <a:t>f,e,b,c,d,a</a:t>
            </a:r>
            <a:r>
              <a:rPr lang="en-CA" dirty="0"/>
              <a:t>}</a:t>
            </a:r>
          </a:p>
          <a:p>
            <a:pPr marL="342900" lvl="1" indent="0">
              <a:buNone/>
            </a:pPr>
            <a:endParaRPr lang="en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63D9E-7E5D-D141-B365-4BE0ED56F47E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108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Assume k=4</a:t>
            </a:r>
          </a:p>
          <a:p>
            <a:pPr marL="342900" lvl="1" indent="0">
              <a:buNone/>
            </a:pPr>
            <a:endParaRPr lang="en-CA" dirty="0"/>
          </a:p>
          <a:p>
            <a:pPr marL="342900" lvl="1" indent="0">
              <a:buNone/>
            </a:pPr>
            <a:endParaRPr lang="en-CA" dirty="0"/>
          </a:p>
          <a:p>
            <a:pPr marL="342900" lvl="1" indent="0">
              <a:buNone/>
            </a:pPr>
            <a:r>
              <a:rPr lang="en-CA" dirty="0"/>
              <a:t>stack={</a:t>
            </a:r>
            <a:r>
              <a:rPr lang="en-CA" dirty="0" err="1"/>
              <a:t>e,b,c,d,a</a:t>
            </a:r>
            <a:r>
              <a:rPr lang="en-CA" dirty="0"/>
              <a:t>}</a:t>
            </a:r>
          </a:p>
          <a:p>
            <a:pPr marL="342900" lvl="1" indent="0">
              <a:buNone/>
            </a:pPr>
            <a:endParaRPr lang="en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63D9E-7E5D-D141-B365-4BE0ED56F47E}" type="slidenum">
              <a:rPr lang="en-US" smtClean="0"/>
              <a:pPr/>
              <a:t>26</a:t>
            </a:fld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4788024" y="2301721"/>
            <a:ext cx="676207" cy="369332"/>
            <a:chOff x="3444548" y="2738537"/>
            <a:chExt cx="901609" cy="492443"/>
          </a:xfrm>
        </p:grpSpPr>
        <p:sp>
          <p:nvSpPr>
            <p:cNvPr id="7" name="Oval 6"/>
            <p:cNvSpPr/>
            <p:nvPr/>
          </p:nvSpPr>
          <p:spPr bwMode="auto">
            <a:xfrm>
              <a:off x="4149772" y="2996952"/>
              <a:ext cx="196385" cy="216024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en-CA" sz="1800" dirty="0">
                <a:latin typeface="Calibri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444548" y="2738537"/>
              <a:ext cx="839421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800" b="1" dirty="0">
                  <a:solidFill>
                    <a:schemeClr val="accent2"/>
                  </a:solidFill>
                  <a:latin typeface="Calibri"/>
                </a:rPr>
                <a:t>r</a:t>
              </a:r>
              <a:r>
                <a:rPr lang="en-CA" sz="1800" b="1" baseline="-25000" dirty="0">
                  <a:solidFill>
                    <a:schemeClr val="accent2"/>
                  </a:solidFill>
                  <a:latin typeface="Calibri"/>
                </a:rPr>
                <a:t>1</a:t>
              </a:r>
              <a:r>
                <a:rPr lang="en-CA" sz="1800" b="1" dirty="0">
                  <a:latin typeface="Calibri"/>
                </a:rPr>
                <a:t> 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934831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Assume k=4</a:t>
            </a:r>
          </a:p>
          <a:p>
            <a:pPr marL="342900" lvl="1" indent="0">
              <a:buNone/>
            </a:pPr>
            <a:r>
              <a:rPr lang="en-CA" dirty="0">
                <a:solidFill>
                  <a:schemeClr val="accent2"/>
                </a:solidFill>
              </a:rPr>
              <a:t>e</a:t>
            </a:r>
            <a:r>
              <a:rPr lang="en-CA" dirty="0"/>
              <a:t> must be in a different register from </a:t>
            </a:r>
            <a:r>
              <a:rPr lang="en-CA" dirty="0">
                <a:solidFill>
                  <a:schemeClr val="accent2"/>
                </a:solidFill>
              </a:rPr>
              <a:t>f</a:t>
            </a:r>
          </a:p>
          <a:p>
            <a:pPr marL="342900" lvl="1" indent="0">
              <a:buNone/>
            </a:pPr>
            <a:endParaRPr lang="en-CA" dirty="0"/>
          </a:p>
          <a:p>
            <a:pPr marL="342900" lvl="1" indent="0">
              <a:buNone/>
            </a:pPr>
            <a:r>
              <a:rPr lang="en-CA" dirty="0"/>
              <a:t>stack={</a:t>
            </a:r>
            <a:r>
              <a:rPr lang="en-CA" dirty="0" err="1"/>
              <a:t>b,c,d,a</a:t>
            </a:r>
            <a:r>
              <a:rPr lang="en-CA" dirty="0"/>
              <a:t>}</a:t>
            </a:r>
          </a:p>
          <a:p>
            <a:pPr marL="342900" lvl="1" indent="0">
              <a:buNone/>
            </a:pPr>
            <a:endParaRPr lang="en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63D9E-7E5D-D141-B365-4BE0ED56F47E}" type="slidenum">
              <a:rPr lang="en-US" smtClean="0"/>
              <a:pPr/>
              <a:t>27</a:t>
            </a:fld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>
            <a:off x="4788024" y="3067386"/>
            <a:ext cx="683572" cy="369332"/>
            <a:chOff x="3434728" y="2823319"/>
            <a:chExt cx="911429" cy="492442"/>
          </a:xfrm>
        </p:grpSpPr>
        <p:sp>
          <p:nvSpPr>
            <p:cNvPr id="10" name="Oval 9"/>
            <p:cNvSpPr/>
            <p:nvPr/>
          </p:nvSpPr>
          <p:spPr bwMode="auto">
            <a:xfrm>
              <a:off x="4149772" y="2996952"/>
              <a:ext cx="196385" cy="216024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en-CA" sz="1800" dirty="0">
                <a:latin typeface="Calibri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434728" y="2823319"/>
              <a:ext cx="767413" cy="492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800" b="1" dirty="0">
                  <a:solidFill>
                    <a:srgbClr val="00B050"/>
                  </a:solidFill>
                  <a:latin typeface="Calibri"/>
                </a:rPr>
                <a:t>r</a:t>
              </a:r>
              <a:r>
                <a:rPr lang="en-CA" sz="1800" b="1" baseline="-25000" dirty="0">
                  <a:solidFill>
                    <a:srgbClr val="00B050"/>
                  </a:solidFill>
                  <a:latin typeface="Calibri"/>
                </a:rPr>
                <a:t>2</a:t>
              </a:r>
              <a:r>
                <a:rPr lang="en-CA" sz="1800" b="1" dirty="0">
                  <a:latin typeface="Calibri"/>
                </a:rPr>
                <a:t> e</a:t>
              </a:r>
            </a:p>
          </p:txBody>
        </p:sp>
      </p:grpSp>
      <p:cxnSp>
        <p:nvCxnSpPr>
          <p:cNvPr id="12" name="Straight Connector 11"/>
          <p:cNvCxnSpPr>
            <a:stCxn id="10" idx="0"/>
          </p:cNvCxnSpPr>
          <p:nvPr/>
        </p:nvCxnSpPr>
        <p:spPr bwMode="auto">
          <a:xfrm flipH="1" flipV="1">
            <a:off x="5390587" y="2657549"/>
            <a:ext cx="7365" cy="54006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3" name="Group 12"/>
          <p:cNvGrpSpPr/>
          <p:nvPr/>
        </p:nvGrpSpPr>
        <p:grpSpPr>
          <a:xfrm>
            <a:off x="4788024" y="2301721"/>
            <a:ext cx="676207" cy="369332"/>
            <a:chOff x="3444548" y="2738537"/>
            <a:chExt cx="901609" cy="492443"/>
          </a:xfrm>
        </p:grpSpPr>
        <p:sp>
          <p:nvSpPr>
            <p:cNvPr id="14" name="Oval 13"/>
            <p:cNvSpPr/>
            <p:nvPr/>
          </p:nvSpPr>
          <p:spPr bwMode="auto">
            <a:xfrm>
              <a:off x="4149772" y="2996952"/>
              <a:ext cx="196385" cy="216024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en-CA" sz="1800" dirty="0">
                <a:latin typeface="Calibri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444548" y="2738537"/>
              <a:ext cx="839421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800" b="1" dirty="0">
                  <a:solidFill>
                    <a:schemeClr val="accent2"/>
                  </a:solidFill>
                  <a:latin typeface="Calibri"/>
                </a:rPr>
                <a:t>r</a:t>
              </a:r>
              <a:r>
                <a:rPr lang="en-CA" sz="1800" b="1" baseline="-25000" dirty="0">
                  <a:solidFill>
                    <a:schemeClr val="accent2"/>
                  </a:solidFill>
                  <a:latin typeface="Calibri"/>
                </a:rPr>
                <a:t>1</a:t>
              </a:r>
              <a:r>
                <a:rPr lang="en-CA" sz="1800" b="1" dirty="0">
                  <a:latin typeface="Calibri"/>
                </a:rPr>
                <a:t> 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78783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Assume k=4</a:t>
            </a:r>
          </a:p>
          <a:p>
            <a:pPr marL="342900" lvl="1" indent="0">
              <a:buNone/>
            </a:pPr>
            <a:endParaRPr lang="en-CA" dirty="0"/>
          </a:p>
          <a:p>
            <a:pPr marL="342900" lvl="1" indent="0">
              <a:buNone/>
            </a:pPr>
            <a:endParaRPr lang="en-CA" dirty="0"/>
          </a:p>
          <a:p>
            <a:pPr marL="342900" lvl="1" indent="0">
              <a:buNone/>
            </a:pPr>
            <a:r>
              <a:rPr lang="en-CA" dirty="0"/>
              <a:t>stack={</a:t>
            </a:r>
            <a:r>
              <a:rPr lang="en-CA" dirty="0" err="1"/>
              <a:t>c,d,a</a:t>
            </a:r>
            <a:r>
              <a:rPr lang="en-CA" dirty="0"/>
              <a:t>}</a:t>
            </a:r>
          </a:p>
          <a:p>
            <a:pPr marL="342900" lvl="1" indent="0">
              <a:buNone/>
            </a:pPr>
            <a:endParaRPr lang="en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63D9E-7E5D-D141-B365-4BE0ED56F47E}" type="slidenum">
              <a:rPr lang="en-US" smtClean="0"/>
              <a:pPr/>
              <a:t>28</a:t>
            </a:fld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>
            <a:off x="4788024" y="3067386"/>
            <a:ext cx="683572" cy="369332"/>
            <a:chOff x="3434728" y="2823319"/>
            <a:chExt cx="911429" cy="492442"/>
          </a:xfrm>
        </p:grpSpPr>
        <p:sp>
          <p:nvSpPr>
            <p:cNvPr id="10" name="Oval 9"/>
            <p:cNvSpPr/>
            <p:nvPr/>
          </p:nvSpPr>
          <p:spPr bwMode="auto">
            <a:xfrm>
              <a:off x="4149772" y="2996952"/>
              <a:ext cx="196385" cy="216024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en-CA" sz="1800" dirty="0">
                <a:latin typeface="Calibri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434728" y="2823319"/>
              <a:ext cx="767413" cy="492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800" b="1" dirty="0">
                  <a:solidFill>
                    <a:srgbClr val="00B050"/>
                  </a:solidFill>
                  <a:latin typeface="Calibri"/>
                </a:rPr>
                <a:t>r</a:t>
              </a:r>
              <a:r>
                <a:rPr lang="en-CA" sz="1800" b="1" baseline="-25000" dirty="0">
                  <a:solidFill>
                    <a:srgbClr val="00B050"/>
                  </a:solidFill>
                  <a:latin typeface="Calibri"/>
                </a:rPr>
                <a:t>2</a:t>
              </a:r>
              <a:r>
                <a:rPr lang="en-CA" sz="1800" b="1" dirty="0">
                  <a:latin typeface="Calibri"/>
                </a:rPr>
                <a:t> e</a:t>
              </a:r>
            </a:p>
          </p:txBody>
        </p:sp>
      </p:grpSp>
      <p:cxnSp>
        <p:nvCxnSpPr>
          <p:cNvPr id="12" name="Straight Connector 11"/>
          <p:cNvCxnSpPr>
            <a:stCxn id="10" idx="0"/>
          </p:cNvCxnSpPr>
          <p:nvPr/>
        </p:nvCxnSpPr>
        <p:spPr bwMode="auto">
          <a:xfrm flipH="1" flipV="1">
            <a:off x="5390587" y="2657549"/>
            <a:ext cx="7365" cy="54006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3" name="Group 12"/>
          <p:cNvGrpSpPr/>
          <p:nvPr/>
        </p:nvGrpSpPr>
        <p:grpSpPr>
          <a:xfrm>
            <a:off x="4788024" y="2301721"/>
            <a:ext cx="676207" cy="369332"/>
            <a:chOff x="3444548" y="2738537"/>
            <a:chExt cx="901609" cy="492443"/>
          </a:xfrm>
        </p:grpSpPr>
        <p:sp>
          <p:nvSpPr>
            <p:cNvPr id="14" name="Oval 13"/>
            <p:cNvSpPr/>
            <p:nvPr/>
          </p:nvSpPr>
          <p:spPr bwMode="auto">
            <a:xfrm>
              <a:off x="4149772" y="2996952"/>
              <a:ext cx="196385" cy="216024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en-CA" sz="1800" dirty="0">
                <a:latin typeface="Calibri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444548" y="2738537"/>
              <a:ext cx="839421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800" b="1" dirty="0">
                  <a:solidFill>
                    <a:schemeClr val="accent2"/>
                  </a:solidFill>
                  <a:latin typeface="Calibri"/>
                </a:rPr>
                <a:t>r</a:t>
              </a:r>
              <a:r>
                <a:rPr lang="en-CA" sz="1800" b="1" baseline="-25000" dirty="0">
                  <a:solidFill>
                    <a:schemeClr val="accent2"/>
                  </a:solidFill>
                  <a:latin typeface="Calibri"/>
                </a:rPr>
                <a:t>1</a:t>
              </a:r>
              <a:r>
                <a:rPr lang="en-CA" sz="1800" b="1" dirty="0">
                  <a:latin typeface="Calibri"/>
                </a:rPr>
                <a:t> f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6655951" y="2257295"/>
            <a:ext cx="759861" cy="400255"/>
            <a:chOff x="4149772" y="2679303"/>
            <a:chExt cx="1013148" cy="533673"/>
          </a:xfrm>
        </p:grpSpPr>
        <p:sp>
          <p:nvSpPr>
            <p:cNvPr id="17" name="Oval 16"/>
            <p:cNvSpPr/>
            <p:nvPr/>
          </p:nvSpPr>
          <p:spPr bwMode="auto">
            <a:xfrm>
              <a:off x="4149772" y="2996952"/>
              <a:ext cx="196385" cy="216024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en-CA" sz="1800" dirty="0">
                <a:latin typeface="Calibri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380652" y="2679303"/>
              <a:ext cx="782268" cy="492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800" b="1" dirty="0">
                  <a:latin typeface="Calibri"/>
                </a:rPr>
                <a:t>b </a:t>
              </a:r>
              <a:r>
                <a:rPr lang="en-CA" sz="1800" b="1" dirty="0">
                  <a:solidFill>
                    <a:srgbClr val="FF0000"/>
                  </a:solidFill>
                  <a:latin typeface="Calibri"/>
                </a:rPr>
                <a:t>r</a:t>
              </a:r>
              <a:r>
                <a:rPr lang="en-CA" sz="1800" b="1" baseline="-25000" dirty="0">
                  <a:solidFill>
                    <a:srgbClr val="FF0000"/>
                  </a:solidFill>
                  <a:latin typeface="Calibri"/>
                </a:rPr>
                <a:t>3</a:t>
              </a:r>
              <a:endParaRPr lang="en-CA" sz="1800" b="1" dirty="0">
                <a:solidFill>
                  <a:srgbClr val="FF0000"/>
                </a:solidFill>
                <a:latin typeface="Calibri"/>
              </a:endParaRPr>
            </a:p>
          </p:txBody>
        </p:sp>
      </p:grpSp>
      <p:cxnSp>
        <p:nvCxnSpPr>
          <p:cNvPr id="19" name="Straight Connector 18"/>
          <p:cNvCxnSpPr>
            <a:stCxn id="17" idx="2"/>
          </p:cNvCxnSpPr>
          <p:nvPr/>
        </p:nvCxnSpPr>
        <p:spPr bwMode="auto">
          <a:xfrm flipH="1">
            <a:off x="5464231" y="2576540"/>
            <a:ext cx="119172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/>
          <p:cNvCxnSpPr>
            <a:stCxn id="17" idx="3"/>
          </p:cNvCxnSpPr>
          <p:nvPr/>
        </p:nvCxnSpPr>
        <p:spPr bwMode="auto">
          <a:xfrm flipH="1">
            <a:off x="5450026" y="2633822"/>
            <a:ext cx="1227495" cy="58751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9721205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Assume k=4</a:t>
            </a:r>
          </a:p>
          <a:p>
            <a:pPr marL="342900" lvl="1" indent="0">
              <a:buNone/>
            </a:pPr>
            <a:r>
              <a:rPr lang="en-CA" dirty="0">
                <a:solidFill>
                  <a:schemeClr val="accent2"/>
                </a:solidFill>
              </a:rPr>
              <a:t>The ordering insures we can find a color for all nodes</a:t>
            </a:r>
          </a:p>
          <a:p>
            <a:pPr marL="342900" lvl="1" indent="0">
              <a:buNone/>
            </a:pPr>
            <a:endParaRPr lang="en-CA" dirty="0"/>
          </a:p>
          <a:p>
            <a:pPr marL="342900" lvl="1" indent="0">
              <a:buNone/>
            </a:pPr>
            <a:r>
              <a:rPr lang="en-CA" dirty="0"/>
              <a:t>stack={</a:t>
            </a:r>
            <a:r>
              <a:rPr lang="en-CA" dirty="0" err="1"/>
              <a:t>d,a</a:t>
            </a:r>
            <a:r>
              <a:rPr lang="en-CA" dirty="0"/>
              <a:t>}</a:t>
            </a:r>
          </a:p>
          <a:p>
            <a:pPr marL="342900" lvl="1" indent="0">
              <a:buNone/>
            </a:pPr>
            <a:endParaRPr lang="en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63D9E-7E5D-D141-B365-4BE0ED56F47E}" type="slidenum">
              <a:rPr lang="en-US" smtClean="0"/>
              <a:pPr/>
              <a:t>29</a:t>
            </a:fld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>
            <a:off x="4788024" y="3067386"/>
            <a:ext cx="683572" cy="369332"/>
            <a:chOff x="3434728" y="2823319"/>
            <a:chExt cx="911429" cy="492442"/>
          </a:xfrm>
        </p:grpSpPr>
        <p:sp>
          <p:nvSpPr>
            <p:cNvPr id="10" name="Oval 9"/>
            <p:cNvSpPr/>
            <p:nvPr/>
          </p:nvSpPr>
          <p:spPr bwMode="auto">
            <a:xfrm>
              <a:off x="4149772" y="2996952"/>
              <a:ext cx="196385" cy="216024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en-CA" sz="1800" dirty="0">
                <a:latin typeface="Calibri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434728" y="2823319"/>
              <a:ext cx="767413" cy="492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800" b="1" dirty="0">
                  <a:solidFill>
                    <a:srgbClr val="00B050"/>
                  </a:solidFill>
                  <a:latin typeface="Calibri"/>
                </a:rPr>
                <a:t>r</a:t>
              </a:r>
              <a:r>
                <a:rPr lang="en-CA" sz="1800" b="1" baseline="-25000" dirty="0">
                  <a:solidFill>
                    <a:srgbClr val="00B050"/>
                  </a:solidFill>
                  <a:latin typeface="Calibri"/>
                </a:rPr>
                <a:t>2</a:t>
              </a:r>
              <a:r>
                <a:rPr lang="en-CA" sz="1800" b="1" dirty="0">
                  <a:latin typeface="Calibri"/>
                </a:rPr>
                <a:t> e</a:t>
              </a:r>
            </a:p>
          </p:txBody>
        </p:sp>
      </p:grpSp>
      <p:cxnSp>
        <p:nvCxnSpPr>
          <p:cNvPr id="12" name="Straight Connector 11"/>
          <p:cNvCxnSpPr>
            <a:stCxn id="10" idx="0"/>
          </p:cNvCxnSpPr>
          <p:nvPr/>
        </p:nvCxnSpPr>
        <p:spPr bwMode="auto">
          <a:xfrm flipH="1" flipV="1">
            <a:off x="5390587" y="2657549"/>
            <a:ext cx="7365" cy="54006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3" name="Group 12"/>
          <p:cNvGrpSpPr/>
          <p:nvPr/>
        </p:nvGrpSpPr>
        <p:grpSpPr>
          <a:xfrm>
            <a:off x="4788024" y="2301721"/>
            <a:ext cx="676207" cy="369332"/>
            <a:chOff x="3444548" y="2738537"/>
            <a:chExt cx="901609" cy="492443"/>
          </a:xfrm>
        </p:grpSpPr>
        <p:sp>
          <p:nvSpPr>
            <p:cNvPr id="14" name="Oval 13"/>
            <p:cNvSpPr/>
            <p:nvPr/>
          </p:nvSpPr>
          <p:spPr bwMode="auto">
            <a:xfrm>
              <a:off x="4149772" y="2996952"/>
              <a:ext cx="196385" cy="216024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en-CA" sz="1800" dirty="0">
                <a:latin typeface="Calibri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444548" y="2738537"/>
              <a:ext cx="839421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800" b="1" dirty="0">
                  <a:solidFill>
                    <a:schemeClr val="accent2"/>
                  </a:solidFill>
                  <a:latin typeface="Calibri"/>
                </a:rPr>
                <a:t>r</a:t>
              </a:r>
              <a:r>
                <a:rPr lang="en-CA" sz="1800" b="1" baseline="-25000" dirty="0">
                  <a:solidFill>
                    <a:schemeClr val="accent2"/>
                  </a:solidFill>
                  <a:latin typeface="Calibri"/>
                </a:rPr>
                <a:t>1</a:t>
              </a:r>
              <a:r>
                <a:rPr lang="en-CA" sz="1800" b="1" dirty="0">
                  <a:latin typeface="Calibri"/>
                </a:rPr>
                <a:t> f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6655951" y="2257295"/>
            <a:ext cx="759861" cy="400255"/>
            <a:chOff x="4149772" y="2679303"/>
            <a:chExt cx="1013148" cy="533673"/>
          </a:xfrm>
        </p:grpSpPr>
        <p:sp>
          <p:nvSpPr>
            <p:cNvPr id="17" name="Oval 16"/>
            <p:cNvSpPr/>
            <p:nvPr/>
          </p:nvSpPr>
          <p:spPr bwMode="auto">
            <a:xfrm>
              <a:off x="4149772" y="2996952"/>
              <a:ext cx="196385" cy="216024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en-CA" sz="1800" dirty="0">
                <a:latin typeface="Calibri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380652" y="2679303"/>
              <a:ext cx="782268" cy="492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800" b="1" dirty="0">
                  <a:latin typeface="Calibri"/>
                </a:rPr>
                <a:t>b </a:t>
              </a:r>
              <a:r>
                <a:rPr lang="en-CA" sz="1800" b="1" dirty="0">
                  <a:solidFill>
                    <a:srgbClr val="FF0000"/>
                  </a:solidFill>
                  <a:latin typeface="Calibri"/>
                </a:rPr>
                <a:t>r</a:t>
              </a:r>
              <a:r>
                <a:rPr lang="en-CA" sz="1800" b="1" baseline="-25000" dirty="0">
                  <a:solidFill>
                    <a:srgbClr val="FF0000"/>
                  </a:solidFill>
                  <a:latin typeface="Calibri"/>
                </a:rPr>
                <a:t>3</a:t>
              </a:r>
              <a:endParaRPr lang="en-CA" sz="1800" b="1" dirty="0">
                <a:solidFill>
                  <a:srgbClr val="FF0000"/>
                </a:solidFill>
                <a:latin typeface="Calibri"/>
              </a:endParaRPr>
            </a:p>
          </p:txBody>
        </p:sp>
      </p:grpSp>
      <p:cxnSp>
        <p:nvCxnSpPr>
          <p:cNvPr id="19" name="Straight Connector 18"/>
          <p:cNvCxnSpPr>
            <a:stCxn id="17" idx="2"/>
          </p:cNvCxnSpPr>
          <p:nvPr/>
        </p:nvCxnSpPr>
        <p:spPr bwMode="auto">
          <a:xfrm flipH="1">
            <a:off x="5464231" y="2576540"/>
            <a:ext cx="119172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/>
          <p:cNvCxnSpPr>
            <a:stCxn id="17" idx="3"/>
          </p:cNvCxnSpPr>
          <p:nvPr/>
        </p:nvCxnSpPr>
        <p:spPr bwMode="auto">
          <a:xfrm flipH="1">
            <a:off x="5450026" y="2633822"/>
            <a:ext cx="1227495" cy="58751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21" name="Group 20"/>
          <p:cNvGrpSpPr/>
          <p:nvPr/>
        </p:nvGrpSpPr>
        <p:grpSpPr>
          <a:xfrm>
            <a:off x="6681160" y="3067386"/>
            <a:ext cx="896670" cy="369332"/>
            <a:chOff x="4149772" y="2823319"/>
            <a:chExt cx="1195560" cy="492442"/>
          </a:xfrm>
        </p:grpSpPr>
        <p:sp>
          <p:nvSpPr>
            <p:cNvPr id="22" name="Oval 21"/>
            <p:cNvSpPr/>
            <p:nvPr/>
          </p:nvSpPr>
          <p:spPr bwMode="auto">
            <a:xfrm>
              <a:off x="4149772" y="2996952"/>
              <a:ext cx="196385" cy="216024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en-CA" sz="1800" dirty="0">
                <a:latin typeface="Calibri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419048" y="2823319"/>
              <a:ext cx="926284" cy="492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800" b="1" dirty="0">
                  <a:latin typeface="Calibri"/>
                </a:rPr>
                <a:t>c r</a:t>
              </a:r>
              <a:r>
                <a:rPr lang="en-CA" sz="1800" b="1" baseline="-25000" dirty="0">
                  <a:latin typeface="Calibri"/>
                </a:rPr>
                <a:t>4</a:t>
              </a:r>
              <a:endParaRPr lang="en-CA" sz="1800" b="1" dirty="0">
                <a:latin typeface="Calibri"/>
              </a:endParaRPr>
            </a:p>
          </p:txBody>
        </p:sp>
      </p:grpSp>
      <p:cxnSp>
        <p:nvCxnSpPr>
          <p:cNvPr id="24" name="Straight Connector 23"/>
          <p:cNvCxnSpPr>
            <a:stCxn id="22" idx="2"/>
          </p:cNvCxnSpPr>
          <p:nvPr/>
        </p:nvCxnSpPr>
        <p:spPr bwMode="auto">
          <a:xfrm flipH="1" flipV="1">
            <a:off x="5442661" y="2633822"/>
            <a:ext cx="1238499" cy="64479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Straight Connector 24"/>
          <p:cNvCxnSpPr>
            <a:endCxn id="22" idx="0"/>
          </p:cNvCxnSpPr>
          <p:nvPr/>
        </p:nvCxnSpPr>
        <p:spPr bwMode="auto">
          <a:xfrm>
            <a:off x="6729596" y="2657549"/>
            <a:ext cx="25209" cy="54006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6" name="Straight Connector 25"/>
          <p:cNvCxnSpPr>
            <a:stCxn id="22" idx="3"/>
          </p:cNvCxnSpPr>
          <p:nvPr/>
        </p:nvCxnSpPr>
        <p:spPr bwMode="auto">
          <a:xfrm flipH="1" flipV="1">
            <a:off x="5471596" y="3278618"/>
            <a:ext cx="1231134" cy="5728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515857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Assume k=4</a:t>
            </a:r>
          </a:p>
          <a:p>
            <a:pPr marL="342900" lvl="1" indent="0">
              <a:buNone/>
            </a:pPr>
            <a:r>
              <a:rPr lang="en-CA" dirty="0">
                <a:solidFill>
                  <a:schemeClr val="accent2"/>
                </a:solidFill>
              </a:rPr>
              <a:t>d</a:t>
            </a:r>
            <a:r>
              <a:rPr lang="en-CA" dirty="0"/>
              <a:t> can be in the same register as </a:t>
            </a:r>
            <a:r>
              <a:rPr lang="en-CA" dirty="0">
                <a:solidFill>
                  <a:schemeClr val="accent2"/>
                </a:solidFill>
              </a:rPr>
              <a:t>b</a:t>
            </a:r>
          </a:p>
          <a:p>
            <a:pPr marL="342900" lvl="1" indent="0">
              <a:buNone/>
            </a:pPr>
            <a:endParaRPr lang="en-CA" dirty="0"/>
          </a:p>
          <a:p>
            <a:pPr marL="342900" lvl="1" indent="0">
              <a:buNone/>
            </a:pPr>
            <a:r>
              <a:rPr lang="en-CA" dirty="0"/>
              <a:t>stack={a}</a:t>
            </a:r>
          </a:p>
          <a:p>
            <a:pPr marL="342900" lvl="1" indent="0">
              <a:buNone/>
            </a:pPr>
            <a:endParaRPr lang="en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63D9E-7E5D-D141-B365-4BE0ED56F47E}" type="slidenum">
              <a:rPr lang="en-US" smtClean="0"/>
              <a:pPr/>
              <a:t>30</a:t>
            </a:fld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>
            <a:off x="4788024" y="3067386"/>
            <a:ext cx="683572" cy="369332"/>
            <a:chOff x="3434728" y="2823319"/>
            <a:chExt cx="911429" cy="492442"/>
          </a:xfrm>
        </p:grpSpPr>
        <p:sp>
          <p:nvSpPr>
            <p:cNvPr id="10" name="Oval 9"/>
            <p:cNvSpPr/>
            <p:nvPr/>
          </p:nvSpPr>
          <p:spPr bwMode="auto">
            <a:xfrm>
              <a:off x="4149772" y="2996952"/>
              <a:ext cx="196385" cy="216024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en-CA" sz="1800" dirty="0">
                <a:latin typeface="Calibri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434728" y="2823319"/>
              <a:ext cx="767413" cy="492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800" b="1" dirty="0">
                  <a:solidFill>
                    <a:srgbClr val="00B050"/>
                  </a:solidFill>
                  <a:latin typeface="Calibri"/>
                </a:rPr>
                <a:t>r</a:t>
              </a:r>
              <a:r>
                <a:rPr lang="en-CA" sz="1800" b="1" baseline="-25000" dirty="0">
                  <a:solidFill>
                    <a:srgbClr val="00B050"/>
                  </a:solidFill>
                  <a:latin typeface="Calibri"/>
                </a:rPr>
                <a:t>2</a:t>
              </a:r>
              <a:r>
                <a:rPr lang="en-CA" sz="1800" b="1" dirty="0">
                  <a:latin typeface="Calibri"/>
                </a:rPr>
                <a:t> e</a:t>
              </a:r>
            </a:p>
          </p:txBody>
        </p:sp>
      </p:grpSp>
      <p:cxnSp>
        <p:nvCxnSpPr>
          <p:cNvPr id="12" name="Straight Connector 11"/>
          <p:cNvCxnSpPr>
            <a:stCxn id="10" idx="0"/>
          </p:cNvCxnSpPr>
          <p:nvPr/>
        </p:nvCxnSpPr>
        <p:spPr bwMode="auto">
          <a:xfrm flipH="1" flipV="1">
            <a:off x="5390587" y="2657549"/>
            <a:ext cx="7365" cy="54006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3" name="Group 12"/>
          <p:cNvGrpSpPr/>
          <p:nvPr/>
        </p:nvGrpSpPr>
        <p:grpSpPr>
          <a:xfrm>
            <a:off x="4788024" y="2301721"/>
            <a:ext cx="676207" cy="369332"/>
            <a:chOff x="3444548" y="2738537"/>
            <a:chExt cx="901609" cy="492443"/>
          </a:xfrm>
        </p:grpSpPr>
        <p:sp>
          <p:nvSpPr>
            <p:cNvPr id="14" name="Oval 13"/>
            <p:cNvSpPr/>
            <p:nvPr/>
          </p:nvSpPr>
          <p:spPr bwMode="auto">
            <a:xfrm>
              <a:off x="4149772" y="2996952"/>
              <a:ext cx="196385" cy="216024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en-CA" sz="1800" dirty="0">
                <a:latin typeface="Calibri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444548" y="2738537"/>
              <a:ext cx="839421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800" b="1" dirty="0">
                  <a:solidFill>
                    <a:schemeClr val="accent2"/>
                  </a:solidFill>
                  <a:latin typeface="Calibri"/>
                </a:rPr>
                <a:t>r</a:t>
              </a:r>
              <a:r>
                <a:rPr lang="en-CA" sz="1800" b="1" baseline="-25000" dirty="0">
                  <a:solidFill>
                    <a:schemeClr val="accent2"/>
                  </a:solidFill>
                  <a:latin typeface="Calibri"/>
                </a:rPr>
                <a:t>1</a:t>
              </a:r>
              <a:r>
                <a:rPr lang="en-CA" sz="1800" b="1" dirty="0">
                  <a:latin typeface="Calibri"/>
                </a:rPr>
                <a:t> f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6655951" y="2257295"/>
            <a:ext cx="759861" cy="400255"/>
            <a:chOff x="4149772" y="2679303"/>
            <a:chExt cx="1013148" cy="533673"/>
          </a:xfrm>
        </p:grpSpPr>
        <p:sp>
          <p:nvSpPr>
            <p:cNvPr id="17" name="Oval 16"/>
            <p:cNvSpPr/>
            <p:nvPr/>
          </p:nvSpPr>
          <p:spPr bwMode="auto">
            <a:xfrm>
              <a:off x="4149772" y="2996952"/>
              <a:ext cx="196385" cy="216024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en-CA" sz="1800" dirty="0">
                <a:latin typeface="Calibri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380652" y="2679303"/>
              <a:ext cx="782268" cy="492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800" b="1" dirty="0">
                  <a:latin typeface="Calibri"/>
                </a:rPr>
                <a:t>b </a:t>
              </a:r>
              <a:r>
                <a:rPr lang="en-CA" sz="1800" b="1" dirty="0">
                  <a:solidFill>
                    <a:srgbClr val="FF0000"/>
                  </a:solidFill>
                  <a:latin typeface="Calibri"/>
                </a:rPr>
                <a:t>r</a:t>
              </a:r>
              <a:r>
                <a:rPr lang="en-CA" sz="1800" b="1" baseline="-25000" dirty="0">
                  <a:solidFill>
                    <a:srgbClr val="FF0000"/>
                  </a:solidFill>
                  <a:latin typeface="Calibri"/>
                </a:rPr>
                <a:t>3</a:t>
              </a:r>
              <a:endParaRPr lang="en-CA" sz="1800" b="1" dirty="0">
                <a:solidFill>
                  <a:srgbClr val="FF0000"/>
                </a:solidFill>
                <a:latin typeface="Calibri"/>
              </a:endParaRPr>
            </a:p>
          </p:txBody>
        </p:sp>
      </p:grpSp>
      <p:cxnSp>
        <p:nvCxnSpPr>
          <p:cNvPr id="19" name="Straight Connector 18"/>
          <p:cNvCxnSpPr>
            <a:stCxn id="17" idx="2"/>
          </p:cNvCxnSpPr>
          <p:nvPr/>
        </p:nvCxnSpPr>
        <p:spPr bwMode="auto">
          <a:xfrm flipH="1">
            <a:off x="5464231" y="2576540"/>
            <a:ext cx="119172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/>
          <p:cNvCxnSpPr>
            <a:stCxn id="17" idx="3"/>
          </p:cNvCxnSpPr>
          <p:nvPr/>
        </p:nvCxnSpPr>
        <p:spPr bwMode="auto">
          <a:xfrm flipH="1">
            <a:off x="5450026" y="2633822"/>
            <a:ext cx="1227495" cy="58751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21" name="Group 20"/>
          <p:cNvGrpSpPr/>
          <p:nvPr/>
        </p:nvGrpSpPr>
        <p:grpSpPr>
          <a:xfrm>
            <a:off x="6681160" y="3067386"/>
            <a:ext cx="896670" cy="369332"/>
            <a:chOff x="4149772" y="2823319"/>
            <a:chExt cx="1195560" cy="492442"/>
          </a:xfrm>
        </p:grpSpPr>
        <p:sp>
          <p:nvSpPr>
            <p:cNvPr id="22" name="Oval 21"/>
            <p:cNvSpPr/>
            <p:nvPr/>
          </p:nvSpPr>
          <p:spPr bwMode="auto">
            <a:xfrm>
              <a:off x="4149772" y="2996952"/>
              <a:ext cx="196385" cy="216024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en-CA" sz="1800" dirty="0">
                <a:latin typeface="Calibri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419048" y="2823319"/>
              <a:ext cx="926284" cy="492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800" b="1" dirty="0">
                  <a:latin typeface="Calibri"/>
                </a:rPr>
                <a:t>c r</a:t>
              </a:r>
              <a:r>
                <a:rPr lang="en-CA" sz="1800" b="1" baseline="-25000" dirty="0">
                  <a:latin typeface="Calibri"/>
                </a:rPr>
                <a:t>4</a:t>
              </a:r>
              <a:endParaRPr lang="en-CA" sz="1800" b="1" dirty="0">
                <a:latin typeface="Calibri"/>
              </a:endParaRPr>
            </a:p>
          </p:txBody>
        </p:sp>
      </p:grpSp>
      <p:cxnSp>
        <p:nvCxnSpPr>
          <p:cNvPr id="24" name="Straight Connector 23"/>
          <p:cNvCxnSpPr>
            <a:stCxn id="22" idx="2"/>
          </p:cNvCxnSpPr>
          <p:nvPr/>
        </p:nvCxnSpPr>
        <p:spPr bwMode="auto">
          <a:xfrm flipH="1" flipV="1">
            <a:off x="5442661" y="2633822"/>
            <a:ext cx="1238499" cy="64479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Straight Connector 24"/>
          <p:cNvCxnSpPr>
            <a:endCxn id="22" idx="0"/>
          </p:cNvCxnSpPr>
          <p:nvPr/>
        </p:nvCxnSpPr>
        <p:spPr bwMode="auto">
          <a:xfrm>
            <a:off x="6729596" y="2657549"/>
            <a:ext cx="25209" cy="54006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6" name="Straight Connector 25"/>
          <p:cNvCxnSpPr>
            <a:stCxn id="22" idx="3"/>
          </p:cNvCxnSpPr>
          <p:nvPr/>
        </p:nvCxnSpPr>
        <p:spPr bwMode="auto">
          <a:xfrm flipH="1" flipV="1">
            <a:off x="5471596" y="3278618"/>
            <a:ext cx="1231134" cy="5728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27" name="Group 26"/>
          <p:cNvGrpSpPr/>
          <p:nvPr/>
        </p:nvGrpSpPr>
        <p:grpSpPr>
          <a:xfrm>
            <a:off x="5965015" y="3575650"/>
            <a:ext cx="690936" cy="477344"/>
            <a:chOff x="4092620" y="2996952"/>
            <a:chExt cx="921248" cy="636459"/>
          </a:xfrm>
        </p:grpSpPr>
        <p:sp>
          <p:nvSpPr>
            <p:cNvPr id="28" name="Oval 27"/>
            <p:cNvSpPr/>
            <p:nvPr/>
          </p:nvSpPr>
          <p:spPr bwMode="auto">
            <a:xfrm>
              <a:off x="4149772" y="2996952"/>
              <a:ext cx="196385" cy="216024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en-CA" sz="1800" dirty="0">
                <a:latin typeface="Calibri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092620" y="3140968"/>
              <a:ext cx="921248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800" b="1" dirty="0">
                  <a:latin typeface="Calibri"/>
                </a:rPr>
                <a:t>d  </a:t>
              </a:r>
              <a:r>
                <a:rPr lang="en-CA" sz="1800" b="1" dirty="0">
                  <a:solidFill>
                    <a:srgbClr val="FF0000"/>
                  </a:solidFill>
                  <a:latin typeface="Calibri"/>
                </a:rPr>
                <a:t>r</a:t>
              </a:r>
              <a:r>
                <a:rPr lang="en-CA" sz="1800" b="1" baseline="-25000" dirty="0">
                  <a:solidFill>
                    <a:srgbClr val="FF0000"/>
                  </a:solidFill>
                  <a:latin typeface="Calibri"/>
                </a:rPr>
                <a:t>3</a:t>
              </a:r>
              <a:r>
                <a:rPr lang="en-CA" sz="1800" b="1" dirty="0">
                  <a:latin typeface="Calibri"/>
                </a:rPr>
                <a:t> </a:t>
              </a:r>
              <a:endParaRPr lang="en-CA" sz="1800" b="1" dirty="0">
                <a:solidFill>
                  <a:srgbClr val="FF0000"/>
                </a:solidFill>
                <a:latin typeface="Calibri"/>
              </a:endParaRPr>
            </a:p>
          </p:txBody>
        </p:sp>
      </p:grpSp>
      <p:cxnSp>
        <p:nvCxnSpPr>
          <p:cNvPr id="30" name="Straight Connector 29"/>
          <p:cNvCxnSpPr>
            <a:stCxn id="28" idx="1"/>
          </p:cNvCxnSpPr>
          <p:nvPr/>
        </p:nvCxnSpPr>
        <p:spPr bwMode="auto">
          <a:xfrm flipH="1" flipV="1">
            <a:off x="5442661" y="2633822"/>
            <a:ext cx="586788" cy="96555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1" name="Straight Connector 30"/>
          <p:cNvCxnSpPr>
            <a:stCxn id="28" idx="2"/>
          </p:cNvCxnSpPr>
          <p:nvPr/>
        </p:nvCxnSpPr>
        <p:spPr bwMode="auto">
          <a:xfrm flipH="1" flipV="1">
            <a:off x="5450026" y="3335900"/>
            <a:ext cx="557853" cy="32076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2" name="Straight Connector 31"/>
          <p:cNvCxnSpPr>
            <a:endCxn id="28" idx="6"/>
          </p:cNvCxnSpPr>
          <p:nvPr/>
        </p:nvCxnSpPr>
        <p:spPr bwMode="auto">
          <a:xfrm flipH="1">
            <a:off x="6155168" y="3359627"/>
            <a:ext cx="599637" cy="29703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41024903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Assume k=4</a:t>
            </a:r>
          </a:p>
          <a:p>
            <a:pPr marL="342900" lvl="1" indent="0">
              <a:buNone/>
            </a:pPr>
            <a:endParaRPr lang="en-CA" dirty="0"/>
          </a:p>
          <a:p>
            <a:pPr marL="342900" lvl="1" indent="0">
              <a:buNone/>
            </a:pPr>
            <a:endParaRPr lang="en-CA" dirty="0"/>
          </a:p>
          <a:p>
            <a:pPr marL="342900" lvl="1" indent="0">
              <a:buNone/>
            </a:pPr>
            <a:r>
              <a:rPr lang="en-CA" dirty="0"/>
              <a:t>stack={}</a:t>
            </a:r>
          </a:p>
          <a:p>
            <a:pPr marL="342900" lvl="1" indent="0">
              <a:buNone/>
            </a:pPr>
            <a:endParaRPr lang="en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63D9E-7E5D-D141-B365-4BE0ED56F47E}" type="slidenum">
              <a:rPr lang="en-US" smtClean="0"/>
              <a:pPr/>
              <a:t>31</a:t>
            </a:fld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>
            <a:off x="4788024" y="3067386"/>
            <a:ext cx="683572" cy="369332"/>
            <a:chOff x="3434728" y="2823319"/>
            <a:chExt cx="911429" cy="492442"/>
          </a:xfrm>
        </p:grpSpPr>
        <p:sp>
          <p:nvSpPr>
            <p:cNvPr id="10" name="Oval 9"/>
            <p:cNvSpPr/>
            <p:nvPr/>
          </p:nvSpPr>
          <p:spPr bwMode="auto">
            <a:xfrm>
              <a:off x="4149772" y="2996952"/>
              <a:ext cx="196385" cy="216024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en-CA" sz="1800" dirty="0">
                <a:latin typeface="Calibri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434728" y="2823319"/>
              <a:ext cx="767413" cy="492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800" b="1" dirty="0">
                  <a:solidFill>
                    <a:srgbClr val="00B050"/>
                  </a:solidFill>
                  <a:latin typeface="Calibri"/>
                </a:rPr>
                <a:t>r</a:t>
              </a:r>
              <a:r>
                <a:rPr lang="en-CA" sz="1800" b="1" baseline="-25000" dirty="0">
                  <a:solidFill>
                    <a:srgbClr val="00B050"/>
                  </a:solidFill>
                  <a:latin typeface="Calibri"/>
                </a:rPr>
                <a:t>2</a:t>
              </a:r>
              <a:r>
                <a:rPr lang="en-CA" sz="1800" b="1" dirty="0">
                  <a:latin typeface="Calibri"/>
                </a:rPr>
                <a:t> e</a:t>
              </a:r>
            </a:p>
          </p:txBody>
        </p:sp>
      </p:grpSp>
      <p:cxnSp>
        <p:nvCxnSpPr>
          <p:cNvPr id="12" name="Straight Connector 11"/>
          <p:cNvCxnSpPr>
            <a:stCxn id="10" idx="0"/>
          </p:cNvCxnSpPr>
          <p:nvPr/>
        </p:nvCxnSpPr>
        <p:spPr bwMode="auto">
          <a:xfrm flipH="1" flipV="1">
            <a:off x="5390587" y="2657549"/>
            <a:ext cx="7365" cy="54006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3" name="Group 12"/>
          <p:cNvGrpSpPr/>
          <p:nvPr/>
        </p:nvGrpSpPr>
        <p:grpSpPr>
          <a:xfrm>
            <a:off x="4788024" y="2301721"/>
            <a:ext cx="676207" cy="369332"/>
            <a:chOff x="3444548" y="2738537"/>
            <a:chExt cx="901609" cy="492443"/>
          </a:xfrm>
        </p:grpSpPr>
        <p:sp>
          <p:nvSpPr>
            <p:cNvPr id="14" name="Oval 13"/>
            <p:cNvSpPr/>
            <p:nvPr/>
          </p:nvSpPr>
          <p:spPr bwMode="auto">
            <a:xfrm>
              <a:off x="4149772" y="2996952"/>
              <a:ext cx="196385" cy="216024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en-CA" sz="1800" dirty="0">
                <a:latin typeface="Calibri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444548" y="2738537"/>
              <a:ext cx="839421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800" b="1" dirty="0">
                  <a:solidFill>
                    <a:schemeClr val="accent2"/>
                  </a:solidFill>
                  <a:latin typeface="Calibri"/>
                </a:rPr>
                <a:t>r</a:t>
              </a:r>
              <a:r>
                <a:rPr lang="en-CA" sz="1800" b="1" baseline="-25000" dirty="0">
                  <a:solidFill>
                    <a:schemeClr val="accent2"/>
                  </a:solidFill>
                  <a:latin typeface="Calibri"/>
                </a:rPr>
                <a:t>1</a:t>
              </a:r>
              <a:r>
                <a:rPr lang="en-CA" sz="1800" b="1" dirty="0">
                  <a:latin typeface="Calibri"/>
                </a:rPr>
                <a:t> f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6655951" y="2257295"/>
            <a:ext cx="759861" cy="400255"/>
            <a:chOff x="4149772" y="2679303"/>
            <a:chExt cx="1013148" cy="533673"/>
          </a:xfrm>
        </p:grpSpPr>
        <p:sp>
          <p:nvSpPr>
            <p:cNvPr id="17" name="Oval 16"/>
            <p:cNvSpPr/>
            <p:nvPr/>
          </p:nvSpPr>
          <p:spPr bwMode="auto">
            <a:xfrm>
              <a:off x="4149772" y="2996952"/>
              <a:ext cx="196385" cy="216024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en-CA" sz="1800" dirty="0">
                <a:latin typeface="Calibri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380652" y="2679303"/>
              <a:ext cx="782268" cy="492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800" b="1" dirty="0">
                  <a:latin typeface="Calibri"/>
                </a:rPr>
                <a:t>b </a:t>
              </a:r>
              <a:r>
                <a:rPr lang="en-CA" sz="1800" b="1" dirty="0">
                  <a:solidFill>
                    <a:srgbClr val="FF0000"/>
                  </a:solidFill>
                  <a:latin typeface="Calibri"/>
                </a:rPr>
                <a:t>r</a:t>
              </a:r>
              <a:r>
                <a:rPr lang="en-CA" sz="1800" b="1" baseline="-25000" dirty="0">
                  <a:solidFill>
                    <a:srgbClr val="FF0000"/>
                  </a:solidFill>
                  <a:latin typeface="Calibri"/>
                </a:rPr>
                <a:t>3</a:t>
              </a:r>
              <a:endParaRPr lang="en-CA" sz="1800" b="1" dirty="0">
                <a:solidFill>
                  <a:srgbClr val="FF0000"/>
                </a:solidFill>
                <a:latin typeface="Calibri"/>
              </a:endParaRPr>
            </a:p>
          </p:txBody>
        </p:sp>
      </p:grpSp>
      <p:cxnSp>
        <p:nvCxnSpPr>
          <p:cNvPr id="19" name="Straight Connector 18"/>
          <p:cNvCxnSpPr>
            <a:stCxn id="17" idx="2"/>
          </p:cNvCxnSpPr>
          <p:nvPr/>
        </p:nvCxnSpPr>
        <p:spPr bwMode="auto">
          <a:xfrm flipH="1">
            <a:off x="5464231" y="2576540"/>
            <a:ext cx="119172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/>
          <p:cNvCxnSpPr>
            <a:stCxn id="17" idx="3"/>
          </p:cNvCxnSpPr>
          <p:nvPr/>
        </p:nvCxnSpPr>
        <p:spPr bwMode="auto">
          <a:xfrm flipH="1">
            <a:off x="5450026" y="2633822"/>
            <a:ext cx="1227495" cy="58751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21" name="Group 20"/>
          <p:cNvGrpSpPr/>
          <p:nvPr/>
        </p:nvGrpSpPr>
        <p:grpSpPr>
          <a:xfrm>
            <a:off x="6681160" y="3067386"/>
            <a:ext cx="896670" cy="369332"/>
            <a:chOff x="4149772" y="2823319"/>
            <a:chExt cx="1195560" cy="492442"/>
          </a:xfrm>
        </p:grpSpPr>
        <p:sp>
          <p:nvSpPr>
            <p:cNvPr id="22" name="Oval 21"/>
            <p:cNvSpPr/>
            <p:nvPr/>
          </p:nvSpPr>
          <p:spPr bwMode="auto">
            <a:xfrm>
              <a:off x="4149772" y="2996952"/>
              <a:ext cx="196385" cy="216024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en-CA" sz="1800" dirty="0">
                <a:latin typeface="Calibri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419048" y="2823319"/>
              <a:ext cx="926284" cy="492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800" b="1" dirty="0">
                  <a:latin typeface="Calibri"/>
                </a:rPr>
                <a:t>c r</a:t>
              </a:r>
              <a:r>
                <a:rPr lang="en-CA" sz="1800" b="1" baseline="-25000" dirty="0">
                  <a:latin typeface="Calibri"/>
                </a:rPr>
                <a:t>4</a:t>
              </a:r>
              <a:endParaRPr lang="en-CA" sz="1800" b="1" dirty="0">
                <a:latin typeface="Calibri"/>
              </a:endParaRPr>
            </a:p>
          </p:txBody>
        </p:sp>
      </p:grpSp>
      <p:cxnSp>
        <p:nvCxnSpPr>
          <p:cNvPr id="24" name="Straight Connector 23"/>
          <p:cNvCxnSpPr>
            <a:stCxn id="22" idx="2"/>
          </p:cNvCxnSpPr>
          <p:nvPr/>
        </p:nvCxnSpPr>
        <p:spPr bwMode="auto">
          <a:xfrm flipH="1" flipV="1">
            <a:off x="5442661" y="2633822"/>
            <a:ext cx="1238499" cy="64479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Straight Connector 24"/>
          <p:cNvCxnSpPr>
            <a:endCxn id="22" idx="0"/>
          </p:cNvCxnSpPr>
          <p:nvPr/>
        </p:nvCxnSpPr>
        <p:spPr bwMode="auto">
          <a:xfrm>
            <a:off x="6729596" y="2657549"/>
            <a:ext cx="25209" cy="54006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6" name="Straight Connector 25"/>
          <p:cNvCxnSpPr>
            <a:stCxn id="22" idx="3"/>
          </p:cNvCxnSpPr>
          <p:nvPr/>
        </p:nvCxnSpPr>
        <p:spPr bwMode="auto">
          <a:xfrm flipH="1" flipV="1">
            <a:off x="5471596" y="3278618"/>
            <a:ext cx="1231134" cy="5728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27" name="Group 26"/>
          <p:cNvGrpSpPr/>
          <p:nvPr/>
        </p:nvGrpSpPr>
        <p:grpSpPr>
          <a:xfrm>
            <a:off x="5965015" y="3575650"/>
            <a:ext cx="690936" cy="477344"/>
            <a:chOff x="4092620" y="2996952"/>
            <a:chExt cx="921248" cy="636459"/>
          </a:xfrm>
        </p:grpSpPr>
        <p:sp>
          <p:nvSpPr>
            <p:cNvPr id="28" name="Oval 27"/>
            <p:cNvSpPr/>
            <p:nvPr/>
          </p:nvSpPr>
          <p:spPr bwMode="auto">
            <a:xfrm>
              <a:off x="4149772" y="2996952"/>
              <a:ext cx="196385" cy="216024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en-CA" sz="1800" dirty="0">
                <a:latin typeface="Calibri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092620" y="3140968"/>
              <a:ext cx="921248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800" b="1" dirty="0">
                  <a:latin typeface="Calibri"/>
                </a:rPr>
                <a:t>d  </a:t>
              </a:r>
              <a:r>
                <a:rPr lang="en-CA" sz="1800" b="1" dirty="0">
                  <a:solidFill>
                    <a:srgbClr val="FF0000"/>
                  </a:solidFill>
                  <a:latin typeface="Calibri"/>
                </a:rPr>
                <a:t>r</a:t>
              </a:r>
              <a:r>
                <a:rPr lang="en-CA" sz="1800" b="1" baseline="-25000" dirty="0">
                  <a:solidFill>
                    <a:srgbClr val="FF0000"/>
                  </a:solidFill>
                  <a:latin typeface="Calibri"/>
                </a:rPr>
                <a:t>3</a:t>
              </a:r>
              <a:r>
                <a:rPr lang="en-CA" sz="1800" b="1" dirty="0">
                  <a:latin typeface="Calibri"/>
                </a:rPr>
                <a:t> </a:t>
              </a:r>
              <a:endParaRPr lang="en-CA" sz="1800" b="1" dirty="0">
                <a:solidFill>
                  <a:srgbClr val="FF0000"/>
                </a:solidFill>
                <a:latin typeface="Calibri"/>
              </a:endParaRPr>
            </a:p>
          </p:txBody>
        </p:sp>
      </p:grpSp>
      <p:cxnSp>
        <p:nvCxnSpPr>
          <p:cNvPr id="30" name="Straight Connector 29"/>
          <p:cNvCxnSpPr>
            <a:stCxn id="28" idx="1"/>
          </p:cNvCxnSpPr>
          <p:nvPr/>
        </p:nvCxnSpPr>
        <p:spPr bwMode="auto">
          <a:xfrm flipH="1" flipV="1">
            <a:off x="5442661" y="2633822"/>
            <a:ext cx="586788" cy="96555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1" name="Straight Connector 30"/>
          <p:cNvCxnSpPr>
            <a:stCxn id="28" idx="2"/>
          </p:cNvCxnSpPr>
          <p:nvPr/>
        </p:nvCxnSpPr>
        <p:spPr bwMode="auto">
          <a:xfrm flipH="1" flipV="1">
            <a:off x="5450026" y="3335900"/>
            <a:ext cx="557853" cy="32076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2" name="Straight Connector 31"/>
          <p:cNvCxnSpPr>
            <a:endCxn id="28" idx="6"/>
          </p:cNvCxnSpPr>
          <p:nvPr/>
        </p:nvCxnSpPr>
        <p:spPr bwMode="auto">
          <a:xfrm flipH="1">
            <a:off x="6155168" y="3359627"/>
            <a:ext cx="599637" cy="29703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33" name="Group 32"/>
          <p:cNvGrpSpPr/>
          <p:nvPr/>
        </p:nvGrpSpPr>
        <p:grpSpPr>
          <a:xfrm>
            <a:off x="5976157" y="1760525"/>
            <a:ext cx="679794" cy="572989"/>
            <a:chOff x="4092620" y="2448991"/>
            <a:chExt cx="906392" cy="763985"/>
          </a:xfrm>
        </p:grpSpPr>
        <p:sp>
          <p:nvSpPr>
            <p:cNvPr id="34" name="Oval 33"/>
            <p:cNvSpPr/>
            <p:nvPr/>
          </p:nvSpPr>
          <p:spPr bwMode="auto">
            <a:xfrm>
              <a:off x="4149772" y="2996952"/>
              <a:ext cx="196385" cy="216024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en-CA" sz="1800" dirty="0">
                <a:latin typeface="Calibri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092620" y="2448991"/>
              <a:ext cx="906392" cy="492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800" b="1" dirty="0">
                  <a:latin typeface="Calibri"/>
                </a:rPr>
                <a:t>a  </a:t>
              </a:r>
              <a:r>
                <a:rPr lang="en-CA" sz="1800" b="1" dirty="0">
                  <a:solidFill>
                    <a:srgbClr val="00B050"/>
                  </a:solidFill>
                  <a:latin typeface="Calibri"/>
                </a:rPr>
                <a:t>r</a:t>
              </a:r>
              <a:r>
                <a:rPr lang="en-CA" sz="1800" b="1" baseline="-25000" dirty="0">
                  <a:solidFill>
                    <a:srgbClr val="00B050"/>
                  </a:solidFill>
                  <a:latin typeface="Calibri"/>
                </a:rPr>
                <a:t>2</a:t>
              </a:r>
              <a:endParaRPr lang="en-CA" sz="1800" b="1" dirty="0">
                <a:solidFill>
                  <a:srgbClr val="00B050"/>
                </a:solidFill>
                <a:latin typeface="Calibri"/>
              </a:endParaRPr>
            </a:p>
          </p:txBody>
        </p:sp>
      </p:grpSp>
      <p:cxnSp>
        <p:nvCxnSpPr>
          <p:cNvPr id="36" name="Straight Connector 35"/>
          <p:cNvCxnSpPr>
            <a:stCxn id="34" idx="2"/>
          </p:cNvCxnSpPr>
          <p:nvPr/>
        </p:nvCxnSpPr>
        <p:spPr bwMode="auto">
          <a:xfrm flipH="1">
            <a:off x="5442661" y="2252504"/>
            <a:ext cx="576360" cy="26675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7" name="Straight Connector 36"/>
          <p:cNvCxnSpPr>
            <a:stCxn id="34" idx="5"/>
          </p:cNvCxnSpPr>
          <p:nvPr/>
        </p:nvCxnSpPr>
        <p:spPr bwMode="auto">
          <a:xfrm>
            <a:off x="6144740" y="2309786"/>
            <a:ext cx="557990" cy="91155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9EAD0B85-1666-B048-AB5B-E46AF67CFD22}"/>
              </a:ext>
            </a:extLst>
          </p:cNvPr>
          <p:cNvSpPr txBox="1"/>
          <p:nvPr/>
        </p:nvSpPr>
        <p:spPr>
          <a:xfrm>
            <a:off x="6488552" y="1596679"/>
            <a:ext cx="679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800" b="1" dirty="0">
                <a:latin typeface="Calibri"/>
              </a:rPr>
              <a:t>or  </a:t>
            </a:r>
            <a:r>
              <a:rPr lang="en-CA" sz="1800" b="1" dirty="0">
                <a:solidFill>
                  <a:srgbClr val="00B050"/>
                </a:solidFill>
                <a:latin typeface="Calibri"/>
              </a:rPr>
              <a:t>r</a:t>
            </a:r>
            <a:r>
              <a:rPr lang="en-CA" sz="1800" b="1" baseline="-25000" dirty="0">
                <a:solidFill>
                  <a:srgbClr val="00B050"/>
                </a:solidFill>
                <a:latin typeface="Calibri"/>
              </a:rPr>
              <a:t>3</a:t>
            </a:r>
            <a:endParaRPr lang="en-CA" sz="1800" b="1" dirty="0">
              <a:solidFill>
                <a:srgbClr val="00B05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56820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100" dirty="0"/>
              <a:t>Register allocation is a “must have” in compilers, because: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Intermediate code uses too many temporaries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It makes a big difference in performance</a:t>
            </a:r>
          </a:p>
          <a:p>
            <a:pPr>
              <a:lnSpc>
                <a:spcPct val="90000"/>
              </a:lnSpc>
            </a:pPr>
            <a:r>
              <a:rPr lang="en-US" sz="2100" dirty="0"/>
              <a:t>Register allocation can be reduced to a graph </a:t>
            </a:r>
            <a:r>
              <a:rPr lang="en-US" sz="2100" dirty="0" err="1"/>
              <a:t>colouring</a:t>
            </a:r>
            <a:r>
              <a:rPr lang="en-US" sz="2100" dirty="0"/>
              <a:t> problem where the number or registers equals the number of </a:t>
            </a:r>
            <a:r>
              <a:rPr lang="en-US" sz="2100" dirty="0" err="1"/>
              <a:t>colours</a:t>
            </a:r>
            <a:r>
              <a:rPr lang="en-US" sz="2100"/>
              <a:t>.</a:t>
            </a:r>
            <a:endParaRPr lang="en-US" sz="1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63D9E-7E5D-D141-B365-4BE0ED56F47E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5363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97FF6-EFD5-17B7-B071-5DAFE20DF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1DC39-96D0-6352-F2F3-5F7166366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SSA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76AE6D-6ABF-F47D-12CF-504EFE736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63D9E-7E5D-D141-B365-4BE0ED56F47E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39A440-741F-0DFF-00A8-5CDB30F47515}"/>
              </a:ext>
            </a:extLst>
          </p:cNvPr>
          <p:cNvSpPr/>
          <p:nvPr/>
        </p:nvSpPr>
        <p:spPr bwMode="auto">
          <a:xfrm>
            <a:off x="2843808" y="1679596"/>
            <a:ext cx="1728191" cy="125464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CA" sz="1800" dirty="0">
                <a:latin typeface="Calibri"/>
              </a:rPr>
              <a:t>b4 = </a:t>
            </a:r>
            <a:r>
              <a:rPr lang="en-US" sz="1800" dirty="0">
                <a:latin typeface="Calibri" panose="020F0502020204030204" pitchFamily="34" charset="0"/>
                <a:sym typeface="Symbol" charset="2"/>
              </a:rPr>
              <a:t>(b1,b3)</a:t>
            </a:r>
            <a:endParaRPr lang="en-CA" sz="1800" dirty="0">
              <a:latin typeface="Calibri"/>
            </a:endParaRPr>
          </a:p>
          <a:p>
            <a:pPr algn="ctr"/>
            <a:r>
              <a:rPr lang="en-CA" sz="1800" dirty="0">
                <a:latin typeface="Calibri"/>
              </a:rPr>
              <a:t>a1 = b4+c1</a:t>
            </a:r>
          </a:p>
          <a:p>
            <a:pPr algn="ctr"/>
            <a:r>
              <a:rPr lang="en-CA" sz="1800" dirty="0">
                <a:latin typeface="Calibri"/>
              </a:rPr>
              <a:t>d1 = -a1</a:t>
            </a:r>
          </a:p>
          <a:p>
            <a:pPr algn="ctr"/>
            <a:r>
              <a:rPr lang="en-CA" sz="1800" dirty="0">
                <a:latin typeface="Calibri"/>
              </a:rPr>
              <a:t>e1 = d1+f1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2006E7-0D4D-A52F-6EED-4ECE994A1AD2}"/>
              </a:ext>
            </a:extLst>
          </p:cNvPr>
          <p:cNvSpPr/>
          <p:nvPr/>
        </p:nvSpPr>
        <p:spPr bwMode="auto">
          <a:xfrm>
            <a:off x="1932107" y="3360942"/>
            <a:ext cx="1242138" cy="36650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00"/>
            <a:r>
              <a:rPr lang="en-CA" sz="1800" dirty="0">
                <a:latin typeface="Calibri"/>
              </a:rPr>
              <a:t>f1 = 2*e1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07366E-05BF-5790-8CC5-767E37D9F9DC}"/>
              </a:ext>
            </a:extLst>
          </p:cNvPr>
          <p:cNvSpPr/>
          <p:nvPr/>
        </p:nvSpPr>
        <p:spPr bwMode="auto">
          <a:xfrm>
            <a:off x="4362377" y="3201436"/>
            <a:ext cx="1242138" cy="60884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00"/>
            <a:r>
              <a:rPr lang="en-CA" sz="1800" dirty="0">
                <a:latin typeface="Calibri"/>
              </a:rPr>
              <a:t>b2 = d1+e1</a:t>
            </a:r>
          </a:p>
          <a:p>
            <a:pPr algn="ctr" defTabSz="685800"/>
            <a:r>
              <a:rPr lang="en-CA" sz="1800" dirty="0">
                <a:latin typeface="Calibri"/>
              </a:rPr>
              <a:t>e2 = e1-1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D4DCB4-8027-3452-9ADA-C84F7C38A6FD}"/>
              </a:ext>
            </a:extLst>
          </p:cNvPr>
          <p:cNvSpPr/>
          <p:nvPr/>
        </p:nvSpPr>
        <p:spPr bwMode="auto">
          <a:xfrm>
            <a:off x="3142096" y="4036915"/>
            <a:ext cx="1645927" cy="42670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00"/>
            <a:r>
              <a:rPr lang="en-US" sz="1800" dirty="0">
                <a:latin typeface="Calibri" panose="020F0502020204030204" pitchFamily="34" charset="0"/>
                <a:sym typeface="Symbol" charset="2"/>
              </a:rPr>
              <a:t>b3 = </a:t>
            </a:r>
            <a:r>
              <a:rPr lang="en-CA" sz="1800" dirty="0">
                <a:latin typeface="Calibri"/>
              </a:rPr>
              <a:t>f1+c1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576441D-F456-81F6-28FB-0ED964EF65A6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 bwMode="auto">
          <a:xfrm flipH="1">
            <a:off x="2553176" y="2934240"/>
            <a:ext cx="1154728" cy="426702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977A9F8-46EF-EB6E-E5B6-1EA2B796E9E8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 bwMode="auto">
          <a:xfrm>
            <a:off x="3707904" y="2934240"/>
            <a:ext cx="1275542" cy="267196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D756228-4346-9319-9F85-F085D64C4FC4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 bwMode="auto">
          <a:xfrm>
            <a:off x="2553176" y="3727451"/>
            <a:ext cx="1411884" cy="30946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80665B1-9007-F15A-31DC-2E1EA77BDD6F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 bwMode="auto">
          <a:xfrm flipH="1">
            <a:off x="3965060" y="3810277"/>
            <a:ext cx="1018386" cy="22663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8" name="Curved Connector 47">
            <a:extLst>
              <a:ext uri="{FF2B5EF4-FFF2-40B4-BE49-F238E27FC236}">
                <a16:creationId xmlns:a16="http://schemas.microsoft.com/office/drawing/2014/main" id="{8903E27A-83A6-395D-3AC0-BFFA6CD44EB5}"/>
              </a:ext>
            </a:extLst>
          </p:cNvPr>
          <p:cNvCxnSpPr>
            <a:cxnSpLocks/>
            <a:stCxn id="9" idx="2"/>
            <a:endCxn id="6" idx="0"/>
          </p:cNvCxnSpPr>
          <p:nvPr/>
        </p:nvCxnSpPr>
        <p:spPr bwMode="auto">
          <a:xfrm rot="5400000" flipH="1">
            <a:off x="2444471" y="2943029"/>
            <a:ext cx="2784021" cy="257156"/>
          </a:xfrm>
          <a:prstGeom prst="curvedConnector5">
            <a:avLst>
              <a:gd name="adj1" fmla="val -8211"/>
              <a:gd name="adj2" fmla="val 923957"/>
              <a:gd name="adj3" fmla="val 108211"/>
            </a:avLst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D4DFCC40-6360-607B-5933-643A1A5BFACD}"/>
              </a:ext>
            </a:extLst>
          </p:cNvPr>
          <p:cNvCxnSpPr>
            <a:cxnSpLocks/>
            <a:stCxn id="9" idx="2"/>
          </p:cNvCxnSpPr>
          <p:nvPr/>
        </p:nvCxnSpPr>
        <p:spPr bwMode="auto">
          <a:xfrm>
            <a:off x="3965060" y="4463617"/>
            <a:ext cx="102884" cy="57749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604E62F-FFFF-D2FB-1EB2-5218ECD737EC}"/>
              </a:ext>
            </a:extLst>
          </p:cNvPr>
          <p:cNvCxnSpPr>
            <a:cxnSpLocks/>
          </p:cNvCxnSpPr>
          <p:nvPr/>
        </p:nvCxnSpPr>
        <p:spPr bwMode="auto">
          <a:xfrm>
            <a:off x="3829383" y="1243242"/>
            <a:ext cx="0" cy="43204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DB909E8F-F690-A49D-320E-D29E89233A06}"/>
              </a:ext>
            </a:extLst>
          </p:cNvPr>
          <p:cNvSpPr/>
          <p:nvPr/>
        </p:nvSpPr>
        <p:spPr bwMode="auto">
          <a:xfrm>
            <a:off x="3282672" y="377626"/>
            <a:ext cx="1079705" cy="87526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CA" sz="1800" dirty="0">
                <a:latin typeface="Calibri"/>
              </a:rPr>
              <a:t>b1 = 0</a:t>
            </a:r>
          </a:p>
          <a:p>
            <a:pPr algn="ctr"/>
            <a:r>
              <a:rPr lang="en-CA" sz="1800" dirty="0">
                <a:latin typeface="Calibri"/>
              </a:rPr>
              <a:t>c1 = 0</a:t>
            </a:r>
          </a:p>
          <a:p>
            <a:pPr algn="ctr"/>
            <a:r>
              <a:rPr lang="en-CA" sz="1800" dirty="0">
                <a:latin typeface="Calibri"/>
              </a:rPr>
              <a:t>f1 = 0</a:t>
            </a:r>
          </a:p>
        </p:txBody>
      </p: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08F09A5D-8AAC-DF55-DAC0-D6467BB00020}"/>
              </a:ext>
            </a:extLst>
          </p:cNvPr>
          <p:cNvGrpSpPr/>
          <p:nvPr/>
        </p:nvGrpSpPr>
        <p:grpSpPr>
          <a:xfrm>
            <a:off x="5834149" y="2106688"/>
            <a:ext cx="754228" cy="369332"/>
            <a:chOff x="3340520" y="2823319"/>
            <a:chExt cx="1005637" cy="492442"/>
          </a:xfrm>
        </p:grpSpPr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D0E11A4A-9551-F506-9640-6FA5D0AA97D7}"/>
                </a:ext>
              </a:extLst>
            </p:cNvPr>
            <p:cNvSpPr/>
            <p:nvPr/>
          </p:nvSpPr>
          <p:spPr bwMode="auto">
            <a:xfrm>
              <a:off x="4149772" y="2996952"/>
              <a:ext cx="196385" cy="216024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en-CA" sz="1800" dirty="0">
                <a:latin typeface="Calibri"/>
              </a:endParaRP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A218E7BC-111D-19D5-74A7-243FD8F644A7}"/>
                </a:ext>
              </a:extLst>
            </p:cNvPr>
            <p:cNvSpPr txBox="1"/>
            <p:nvPr/>
          </p:nvSpPr>
          <p:spPr>
            <a:xfrm>
              <a:off x="3340520" y="2823319"/>
              <a:ext cx="861621" cy="492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800" b="1" dirty="0">
                  <a:solidFill>
                    <a:srgbClr val="00B050"/>
                  </a:solidFill>
                  <a:latin typeface="Calibri"/>
                </a:rPr>
                <a:t>r</a:t>
              </a:r>
              <a:r>
                <a:rPr lang="en-CA" sz="1800" b="1" baseline="-25000" dirty="0">
                  <a:solidFill>
                    <a:srgbClr val="00B050"/>
                  </a:solidFill>
                  <a:latin typeface="Calibri"/>
                </a:rPr>
                <a:t>2</a:t>
              </a:r>
              <a:r>
                <a:rPr lang="en-CA" sz="1800" b="1" dirty="0">
                  <a:latin typeface="Calibri"/>
                </a:rPr>
                <a:t> e1</a:t>
              </a:r>
            </a:p>
          </p:txBody>
        </p:sp>
      </p:grp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3494C1F8-B089-D437-D8BD-721A3541B031}"/>
              </a:ext>
            </a:extLst>
          </p:cNvPr>
          <p:cNvCxnSpPr>
            <a:stCxn id="150" idx="0"/>
          </p:cNvCxnSpPr>
          <p:nvPr/>
        </p:nvCxnSpPr>
        <p:spPr bwMode="auto">
          <a:xfrm flipH="1" flipV="1">
            <a:off x="6507368" y="1696851"/>
            <a:ext cx="7365" cy="54006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267412E3-1BE4-C825-B8B0-97C16560C7DD}"/>
              </a:ext>
            </a:extLst>
          </p:cNvPr>
          <p:cNvGrpSpPr/>
          <p:nvPr/>
        </p:nvGrpSpPr>
        <p:grpSpPr>
          <a:xfrm>
            <a:off x="5904805" y="1341023"/>
            <a:ext cx="676207" cy="369332"/>
            <a:chOff x="3444548" y="2738537"/>
            <a:chExt cx="901609" cy="492443"/>
          </a:xfrm>
        </p:grpSpPr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35FAD3D4-72A0-97F2-CF9C-CCDC15DC41A5}"/>
                </a:ext>
              </a:extLst>
            </p:cNvPr>
            <p:cNvSpPr/>
            <p:nvPr/>
          </p:nvSpPr>
          <p:spPr bwMode="auto">
            <a:xfrm>
              <a:off x="4149772" y="2996952"/>
              <a:ext cx="196385" cy="216024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en-CA" sz="1800" dirty="0">
                <a:latin typeface="Calibri"/>
              </a:endParaRP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B3935BB1-B0B4-C997-CFB3-D05C210CD1DB}"/>
                </a:ext>
              </a:extLst>
            </p:cNvPr>
            <p:cNvSpPr txBox="1"/>
            <p:nvPr/>
          </p:nvSpPr>
          <p:spPr>
            <a:xfrm>
              <a:off x="3444548" y="2738537"/>
              <a:ext cx="839421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800" b="1" dirty="0">
                  <a:solidFill>
                    <a:schemeClr val="accent2"/>
                  </a:solidFill>
                  <a:latin typeface="Calibri"/>
                </a:rPr>
                <a:t>r</a:t>
              </a:r>
              <a:r>
                <a:rPr lang="en-CA" sz="1800" b="1" baseline="-25000" dirty="0">
                  <a:solidFill>
                    <a:schemeClr val="accent2"/>
                  </a:solidFill>
                  <a:latin typeface="Calibri"/>
                </a:rPr>
                <a:t>1</a:t>
              </a:r>
              <a:r>
                <a:rPr lang="en-CA" sz="1800" b="1" dirty="0">
                  <a:latin typeface="Calibri"/>
                </a:rPr>
                <a:t> f1</a:t>
              </a:r>
            </a:p>
          </p:txBody>
        </p:sp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EE9D2B98-B185-0E17-79FE-341355C10E78}"/>
              </a:ext>
            </a:extLst>
          </p:cNvPr>
          <p:cNvGrpSpPr/>
          <p:nvPr/>
        </p:nvGrpSpPr>
        <p:grpSpPr>
          <a:xfrm>
            <a:off x="7772732" y="1296597"/>
            <a:ext cx="837060" cy="400255"/>
            <a:chOff x="4149772" y="2679303"/>
            <a:chExt cx="1116080" cy="533673"/>
          </a:xfrm>
        </p:grpSpPr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BAD34EF1-4DD1-0F8D-3B21-3F3723886686}"/>
                </a:ext>
              </a:extLst>
            </p:cNvPr>
            <p:cNvSpPr/>
            <p:nvPr/>
          </p:nvSpPr>
          <p:spPr bwMode="auto">
            <a:xfrm>
              <a:off x="4149772" y="2996952"/>
              <a:ext cx="196385" cy="216024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en-CA" sz="1800" dirty="0">
                <a:latin typeface="Calibri"/>
              </a:endParaRP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309AB7F0-79A1-4DF1-4EA1-7BFEAD07E04A}"/>
                </a:ext>
              </a:extLst>
            </p:cNvPr>
            <p:cNvSpPr txBox="1"/>
            <p:nvPr/>
          </p:nvSpPr>
          <p:spPr>
            <a:xfrm>
              <a:off x="4380652" y="2679303"/>
              <a:ext cx="885200" cy="492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800" b="1" dirty="0">
                  <a:latin typeface="Calibri"/>
                </a:rPr>
                <a:t>b1 </a:t>
              </a:r>
              <a:r>
                <a:rPr lang="en-CA" sz="1800" b="1" dirty="0">
                  <a:solidFill>
                    <a:srgbClr val="FF0000"/>
                  </a:solidFill>
                  <a:latin typeface="Calibri"/>
                </a:rPr>
                <a:t>r</a:t>
              </a:r>
              <a:r>
                <a:rPr lang="en-CA" sz="1800" b="1" baseline="-25000" dirty="0">
                  <a:solidFill>
                    <a:srgbClr val="FF0000"/>
                  </a:solidFill>
                  <a:latin typeface="Calibri"/>
                </a:rPr>
                <a:t>3</a:t>
              </a:r>
              <a:endParaRPr lang="en-CA" sz="1800" b="1" dirty="0">
                <a:solidFill>
                  <a:srgbClr val="FF0000"/>
                </a:solidFill>
                <a:latin typeface="Calibri"/>
              </a:endParaRPr>
            </a:p>
          </p:txBody>
        </p:sp>
      </p:grp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62820763-3D74-F120-D9C1-910000DFDDD6}"/>
              </a:ext>
            </a:extLst>
          </p:cNvPr>
          <p:cNvCxnSpPr>
            <a:stCxn id="157" idx="2"/>
          </p:cNvCxnSpPr>
          <p:nvPr/>
        </p:nvCxnSpPr>
        <p:spPr bwMode="auto">
          <a:xfrm flipH="1">
            <a:off x="6581012" y="1615842"/>
            <a:ext cx="119172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B20D3151-06FA-CC61-A049-30B044334EE9}"/>
              </a:ext>
            </a:extLst>
          </p:cNvPr>
          <p:cNvCxnSpPr>
            <a:stCxn id="157" idx="3"/>
          </p:cNvCxnSpPr>
          <p:nvPr/>
        </p:nvCxnSpPr>
        <p:spPr bwMode="auto">
          <a:xfrm flipH="1">
            <a:off x="6566807" y="1673124"/>
            <a:ext cx="1227495" cy="58751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40F1F419-20E9-DCA3-AB06-50F70E54D3AB}"/>
              </a:ext>
            </a:extLst>
          </p:cNvPr>
          <p:cNvGrpSpPr/>
          <p:nvPr/>
        </p:nvGrpSpPr>
        <p:grpSpPr>
          <a:xfrm>
            <a:off x="7797941" y="2106688"/>
            <a:ext cx="896670" cy="369332"/>
            <a:chOff x="4149772" y="2823319"/>
            <a:chExt cx="1195560" cy="492442"/>
          </a:xfrm>
        </p:grpSpPr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B8A941F2-5E61-E0E5-4C2F-AC201724E102}"/>
                </a:ext>
              </a:extLst>
            </p:cNvPr>
            <p:cNvSpPr/>
            <p:nvPr/>
          </p:nvSpPr>
          <p:spPr bwMode="auto">
            <a:xfrm>
              <a:off x="4149772" y="2996952"/>
              <a:ext cx="196385" cy="216024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en-CA" sz="1800" dirty="0">
                <a:latin typeface="Calibri"/>
              </a:endParaRP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B003636D-1633-D61D-AEB5-5DCA4B05AD9D}"/>
                </a:ext>
              </a:extLst>
            </p:cNvPr>
            <p:cNvSpPr txBox="1"/>
            <p:nvPr/>
          </p:nvSpPr>
          <p:spPr>
            <a:xfrm>
              <a:off x="4419048" y="2823319"/>
              <a:ext cx="926284" cy="492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800" b="1" dirty="0">
                  <a:latin typeface="Calibri"/>
                </a:rPr>
                <a:t>c1 r</a:t>
              </a:r>
              <a:r>
                <a:rPr lang="en-CA" sz="1800" b="1" baseline="-25000" dirty="0">
                  <a:latin typeface="Calibri"/>
                </a:rPr>
                <a:t>4</a:t>
              </a:r>
              <a:endParaRPr lang="en-CA" sz="1800" b="1" dirty="0">
                <a:latin typeface="Calibri"/>
              </a:endParaRPr>
            </a:p>
          </p:txBody>
        </p:sp>
      </p:grp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28721F1B-F6C3-C3F2-A4A7-8D4CDFBA4020}"/>
              </a:ext>
            </a:extLst>
          </p:cNvPr>
          <p:cNvCxnSpPr>
            <a:stCxn id="162" idx="2"/>
          </p:cNvCxnSpPr>
          <p:nvPr/>
        </p:nvCxnSpPr>
        <p:spPr bwMode="auto">
          <a:xfrm flipH="1" flipV="1">
            <a:off x="6559442" y="1673124"/>
            <a:ext cx="1238499" cy="64479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080DBB73-D42A-8612-FA25-AAE98982BEE5}"/>
              </a:ext>
            </a:extLst>
          </p:cNvPr>
          <p:cNvCxnSpPr>
            <a:endCxn id="162" idx="0"/>
          </p:cNvCxnSpPr>
          <p:nvPr/>
        </p:nvCxnSpPr>
        <p:spPr bwMode="auto">
          <a:xfrm>
            <a:off x="7846377" y="1696851"/>
            <a:ext cx="25209" cy="54006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B1DDE5F0-BBA5-936C-4B84-B29D1A3E1374}"/>
              </a:ext>
            </a:extLst>
          </p:cNvPr>
          <p:cNvCxnSpPr>
            <a:stCxn id="162" idx="3"/>
          </p:cNvCxnSpPr>
          <p:nvPr/>
        </p:nvCxnSpPr>
        <p:spPr bwMode="auto">
          <a:xfrm flipH="1" flipV="1">
            <a:off x="6588377" y="2317920"/>
            <a:ext cx="1231134" cy="5728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65AED5CD-D01E-3C9D-2728-77F2EAD34DF0}"/>
              </a:ext>
            </a:extLst>
          </p:cNvPr>
          <p:cNvGrpSpPr/>
          <p:nvPr/>
        </p:nvGrpSpPr>
        <p:grpSpPr>
          <a:xfrm>
            <a:off x="7081796" y="2614952"/>
            <a:ext cx="690936" cy="477344"/>
            <a:chOff x="4092620" y="2996952"/>
            <a:chExt cx="921248" cy="636459"/>
          </a:xfrm>
        </p:grpSpPr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24FF5089-D149-9ACA-6083-E9B848D8B707}"/>
                </a:ext>
              </a:extLst>
            </p:cNvPr>
            <p:cNvSpPr/>
            <p:nvPr/>
          </p:nvSpPr>
          <p:spPr bwMode="auto">
            <a:xfrm>
              <a:off x="4149772" y="2996952"/>
              <a:ext cx="196385" cy="216024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en-CA" sz="1800" dirty="0">
                <a:latin typeface="Calibri"/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306B070E-C65E-EA72-0CEF-51D5B7A85199}"/>
                </a:ext>
              </a:extLst>
            </p:cNvPr>
            <p:cNvSpPr txBox="1"/>
            <p:nvPr/>
          </p:nvSpPr>
          <p:spPr>
            <a:xfrm>
              <a:off x="4092620" y="3140968"/>
              <a:ext cx="921248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800" b="1" dirty="0">
                  <a:latin typeface="Calibri"/>
                </a:rPr>
                <a:t>d1  </a:t>
              </a:r>
              <a:r>
                <a:rPr lang="en-CA" sz="1800" b="1" dirty="0">
                  <a:solidFill>
                    <a:srgbClr val="FF0000"/>
                  </a:solidFill>
                  <a:latin typeface="Calibri"/>
                </a:rPr>
                <a:t>r</a:t>
              </a:r>
              <a:r>
                <a:rPr lang="en-CA" sz="1800" b="1" baseline="-25000" dirty="0">
                  <a:solidFill>
                    <a:srgbClr val="FF0000"/>
                  </a:solidFill>
                  <a:latin typeface="Calibri"/>
                </a:rPr>
                <a:t>3</a:t>
              </a:r>
              <a:r>
                <a:rPr lang="en-CA" sz="1800" b="1" dirty="0">
                  <a:latin typeface="Calibri"/>
                </a:rPr>
                <a:t> </a:t>
              </a:r>
              <a:endParaRPr lang="en-CA" sz="1800" b="1" dirty="0">
                <a:solidFill>
                  <a:srgbClr val="FF0000"/>
                </a:solidFill>
                <a:latin typeface="Calibri"/>
              </a:endParaRPr>
            </a:p>
          </p:txBody>
        </p:sp>
      </p:grp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C4F239C4-F70A-EF13-DB1E-16F8012C7F16}"/>
              </a:ext>
            </a:extLst>
          </p:cNvPr>
          <p:cNvCxnSpPr>
            <a:stCxn id="168" idx="1"/>
          </p:cNvCxnSpPr>
          <p:nvPr/>
        </p:nvCxnSpPr>
        <p:spPr bwMode="auto">
          <a:xfrm flipH="1" flipV="1">
            <a:off x="6559442" y="1673124"/>
            <a:ext cx="586788" cy="96555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353AFEC9-6605-09E0-CDEE-315B6B2544A3}"/>
              </a:ext>
            </a:extLst>
          </p:cNvPr>
          <p:cNvCxnSpPr>
            <a:stCxn id="168" idx="2"/>
          </p:cNvCxnSpPr>
          <p:nvPr/>
        </p:nvCxnSpPr>
        <p:spPr bwMode="auto">
          <a:xfrm flipH="1" flipV="1">
            <a:off x="6566807" y="2375202"/>
            <a:ext cx="557853" cy="32076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1000C229-3D85-5374-7860-6FDA8E66CA35}"/>
              </a:ext>
            </a:extLst>
          </p:cNvPr>
          <p:cNvCxnSpPr>
            <a:endCxn id="168" idx="6"/>
          </p:cNvCxnSpPr>
          <p:nvPr/>
        </p:nvCxnSpPr>
        <p:spPr bwMode="auto">
          <a:xfrm flipH="1">
            <a:off x="7271949" y="2398929"/>
            <a:ext cx="599637" cy="29703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CED2CC4C-6937-5FF5-855C-7977879CF664}"/>
              </a:ext>
            </a:extLst>
          </p:cNvPr>
          <p:cNvGrpSpPr/>
          <p:nvPr/>
        </p:nvGrpSpPr>
        <p:grpSpPr>
          <a:xfrm>
            <a:off x="7092938" y="799827"/>
            <a:ext cx="679794" cy="572989"/>
            <a:chOff x="4092620" y="2448991"/>
            <a:chExt cx="906392" cy="763985"/>
          </a:xfrm>
        </p:grpSpPr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B04BCF43-CC96-5B44-D823-0366E0976C59}"/>
                </a:ext>
              </a:extLst>
            </p:cNvPr>
            <p:cNvSpPr/>
            <p:nvPr/>
          </p:nvSpPr>
          <p:spPr bwMode="auto">
            <a:xfrm>
              <a:off x="4149772" y="2996952"/>
              <a:ext cx="196385" cy="216024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en-CA" sz="1800" dirty="0">
                <a:latin typeface="Calibri"/>
              </a:endParaRPr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E7FE47F9-1AE3-63DE-B642-A97367A590AB}"/>
                </a:ext>
              </a:extLst>
            </p:cNvPr>
            <p:cNvSpPr txBox="1"/>
            <p:nvPr/>
          </p:nvSpPr>
          <p:spPr>
            <a:xfrm>
              <a:off x="4092620" y="2448991"/>
              <a:ext cx="906392" cy="492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800" b="1" dirty="0">
                  <a:latin typeface="Calibri"/>
                </a:rPr>
                <a:t>a1  </a:t>
              </a:r>
              <a:r>
                <a:rPr lang="en-CA" sz="1800" b="1" dirty="0">
                  <a:solidFill>
                    <a:srgbClr val="00B050"/>
                  </a:solidFill>
                  <a:latin typeface="Calibri"/>
                </a:rPr>
                <a:t>r</a:t>
              </a:r>
              <a:r>
                <a:rPr lang="en-CA" sz="1800" b="1" baseline="-25000" dirty="0">
                  <a:solidFill>
                    <a:srgbClr val="00B050"/>
                  </a:solidFill>
                  <a:latin typeface="Calibri"/>
                </a:rPr>
                <a:t>2</a:t>
              </a:r>
              <a:endParaRPr lang="en-CA" sz="1800" b="1" dirty="0">
                <a:solidFill>
                  <a:srgbClr val="00B050"/>
                </a:solidFill>
                <a:latin typeface="Calibri"/>
              </a:endParaRPr>
            </a:p>
          </p:txBody>
        </p:sp>
      </p:grp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FDFDA77D-3A51-968A-66A8-B8DBFEFF4595}"/>
              </a:ext>
            </a:extLst>
          </p:cNvPr>
          <p:cNvCxnSpPr>
            <a:stCxn id="174" idx="2"/>
          </p:cNvCxnSpPr>
          <p:nvPr/>
        </p:nvCxnSpPr>
        <p:spPr bwMode="auto">
          <a:xfrm flipH="1">
            <a:off x="6559442" y="1291806"/>
            <a:ext cx="576360" cy="26675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CB859E6C-4E4A-079C-A121-0FF33AF9271B}"/>
              </a:ext>
            </a:extLst>
          </p:cNvPr>
          <p:cNvCxnSpPr>
            <a:stCxn id="174" idx="5"/>
          </p:cNvCxnSpPr>
          <p:nvPr/>
        </p:nvCxnSpPr>
        <p:spPr bwMode="auto">
          <a:xfrm>
            <a:off x="7261521" y="1349088"/>
            <a:ext cx="557990" cy="91155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8" name="TextBox 177">
            <a:extLst>
              <a:ext uri="{FF2B5EF4-FFF2-40B4-BE49-F238E27FC236}">
                <a16:creationId xmlns:a16="http://schemas.microsoft.com/office/drawing/2014/main" id="{3225EA36-4932-3550-A996-1AF513251857}"/>
              </a:ext>
            </a:extLst>
          </p:cNvPr>
          <p:cNvSpPr txBox="1"/>
          <p:nvPr/>
        </p:nvSpPr>
        <p:spPr>
          <a:xfrm>
            <a:off x="7605333" y="635981"/>
            <a:ext cx="679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800" b="1" dirty="0">
                <a:latin typeface="Calibri"/>
              </a:rPr>
              <a:t>or  </a:t>
            </a:r>
            <a:r>
              <a:rPr lang="en-CA" sz="1800" b="1" dirty="0">
                <a:solidFill>
                  <a:srgbClr val="00B050"/>
                </a:solidFill>
                <a:latin typeface="Calibri"/>
              </a:rPr>
              <a:t>r</a:t>
            </a:r>
            <a:r>
              <a:rPr lang="en-CA" sz="1800" b="1" baseline="-25000" dirty="0">
                <a:solidFill>
                  <a:srgbClr val="00B050"/>
                </a:solidFill>
                <a:latin typeface="Calibri"/>
              </a:rPr>
              <a:t>3</a:t>
            </a:r>
            <a:endParaRPr lang="en-CA" sz="1800" b="1" dirty="0">
              <a:solidFill>
                <a:srgbClr val="00B05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07953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" grpId="0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7020</TotalTime>
  <Words>1354</Words>
  <Application>Microsoft Macintosh PowerPoint</Application>
  <PresentationFormat>On-screen Show (16:9)</PresentationFormat>
  <Paragraphs>333</Paragraphs>
  <Slides>33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Times</vt:lpstr>
      <vt:lpstr>Arial</vt:lpstr>
      <vt:lpstr>Calibri</vt:lpstr>
      <vt:lpstr>Calibri Light</vt:lpstr>
      <vt:lpstr>Times New Roman</vt:lpstr>
      <vt:lpstr>1_Office Theme</vt:lpstr>
      <vt:lpstr>Register Allocation</vt:lpstr>
      <vt:lpstr>Register Allocation</vt:lpstr>
      <vt:lpstr>Register Allocation</vt:lpstr>
      <vt:lpstr>Example</vt:lpstr>
      <vt:lpstr>History </vt:lpstr>
      <vt:lpstr>Principles of Register Allocation</vt:lpstr>
      <vt:lpstr>Live Variables</vt:lpstr>
      <vt:lpstr>Register Interference Graph</vt:lpstr>
      <vt:lpstr>Register Interference Graph</vt:lpstr>
      <vt:lpstr>Register Interference Graph</vt:lpstr>
      <vt:lpstr>Graph Coloring</vt:lpstr>
      <vt:lpstr>Register Allocation as Graph Coloring</vt:lpstr>
      <vt:lpstr>Example</vt:lpstr>
      <vt:lpstr>Control Flow Graph</vt:lpstr>
      <vt:lpstr>Register Allocation</vt:lpstr>
      <vt:lpstr>Graph Coloring</vt:lpstr>
      <vt:lpstr>Register Allocation as Graph Coloring</vt:lpstr>
      <vt:lpstr>Register Allocation as Graph Coloring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Summary</vt:lpstr>
      <vt:lpstr>SSA</vt:lpstr>
    </vt:vector>
  </TitlesOfParts>
  <Company>SFU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CMPT 379  Compilers</dc:title>
  <dc:creator>Anoop Sarkar</dc:creator>
  <cp:lastModifiedBy>Anoop Sarkar</cp:lastModifiedBy>
  <cp:revision>1011</cp:revision>
  <cp:lastPrinted>2007-11-05T23:43:39Z</cp:lastPrinted>
  <dcterms:created xsi:type="dcterms:W3CDTF">2011-11-22T22:27:52Z</dcterms:created>
  <dcterms:modified xsi:type="dcterms:W3CDTF">2025-07-21T19:11:35Z</dcterms:modified>
</cp:coreProperties>
</file>